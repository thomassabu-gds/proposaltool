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6.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10.xml" ContentType="application/vnd.openxmlformats-officedocument.presentationml.notesSlide+xml"/>
  <Override PartName="/ppt/tags/tag9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5.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1"/>
  </p:notesMasterIdLst>
  <p:handoutMasterIdLst>
    <p:handoutMasterId r:id="rId52"/>
  </p:handoutMasterIdLst>
  <p:sldIdLst>
    <p:sldId id="320" r:id="rId5"/>
    <p:sldId id="504" r:id="rId6"/>
    <p:sldId id="571" r:id="rId7"/>
    <p:sldId id="572" r:id="rId8"/>
    <p:sldId id="372" r:id="rId9"/>
    <p:sldId id="592" r:id="rId10"/>
    <p:sldId id="535" r:id="rId11"/>
    <p:sldId id="595" r:id="rId12"/>
    <p:sldId id="573" r:id="rId13"/>
    <p:sldId id="538" r:id="rId14"/>
    <p:sldId id="524" r:id="rId15"/>
    <p:sldId id="570" r:id="rId16"/>
    <p:sldId id="539" r:id="rId17"/>
    <p:sldId id="522" r:id="rId18"/>
    <p:sldId id="509" r:id="rId19"/>
    <p:sldId id="513" r:id="rId20"/>
    <p:sldId id="533" r:id="rId21"/>
    <p:sldId id="511" r:id="rId22"/>
    <p:sldId id="577" r:id="rId23"/>
    <p:sldId id="574" r:id="rId24"/>
    <p:sldId id="549" r:id="rId25"/>
    <p:sldId id="532" r:id="rId26"/>
    <p:sldId id="580" r:id="rId27"/>
    <p:sldId id="542" r:id="rId28"/>
    <p:sldId id="537" r:id="rId29"/>
    <p:sldId id="581" r:id="rId30"/>
    <p:sldId id="545" r:id="rId31"/>
    <p:sldId id="548" r:id="rId32"/>
    <p:sldId id="578" r:id="rId33"/>
    <p:sldId id="582" r:id="rId34"/>
    <p:sldId id="541" r:id="rId35"/>
    <p:sldId id="594" r:id="rId36"/>
    <p:sldId id="586" r:id="rId37"/>
    <p:sldId id="588" r:id="rId38"/>
    <p:sldId id="589" r:id="rId39"/>
    <p:sldId id="590" r:id="rId40"/>
    <p:sldId id="593" r:id="rId41"/>
    <p:sldId id="591" r:id="rId42"/>
    <p:sldId id="327" r:id="rId43"/>
    <p:sldId id="527" r:id="rId44"/>
    <p:sldId id="584" r:id="rId45"/>
    <p:sldId id="583" r:id="rId46"/>
    <p:sldId id="528" r:id="rId47"/>
    <p:sldId id="529" r:id="rId48"/>
    <p:sldId id="530" r:id="rId49"/>
    <p:sldId id="531" r:id="rId50"/>
  </p:sldIdLst>
  <p:sldSz cx="12192000" cy="6858000"/>
  <p:notesSz cx="7315200" cy="9601200"/>
  <p:custDataLst>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hadija Mazouari" initials="KM" lastIdx="8" clrIdx="0">
    <p:extLst>
      <p:ext uri="{19B8F6BF-5375-455C-9EA6-DF929625EA0E}">
        <p15:presenceInfo xmlns:p15="http://schemas.microsoft.com/office/powerpoint/2012/main" userId="S-1-5-21-1644491937-1275210071-1417001333-5828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6BA"/>
    <a:srgbClr val="EAEAEA"/>
    <a:srgbClr val="00A3AE"/>
    <a:srgbClr val="E32726"/>
    <a:srgbClr val="1859A9"/>
    <a:srgbClr val="FAA22C"/>
    <a:srgbClr val="92D050"/>
    <a:srgbClr val="FFFFFF"/>
    <a:srgbClr val="7030A0"/>
    <a:srgbClr val="EE76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25" autoAdjust="0"/>
    <p:restoredTop sz="93838" autoAdjust="0"/>
  </p:normalViewPr>
  <p:slideViewPr>
    <p:cSldViewPr snapToGrid="0">
      <p:cViewPr>
        <p:scale>
          <a:sx n="100" d="100"/>
          <a:sy n="100" d="100"/>
        </p:scale>
        <p:origin x="600" y="16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Sabu" userId="b64b0aab-5ab9-45cd-a5b3-a95c691e648d" providerId="ADAL" clId="{281930C9-63D2-4C41-B656-8E2E4C3000D6}"/>
    <pc:docChg chg="undo redo custSel addSld delSld modSld">
      <pc:chgData name="Thomas Sabu" userId="b64b0aab-5ab9-45cd-a5b3-a95c691e648d" providerId="ADAL" clId="{281930C9-63D2-4C41-B656-8E2E4C3000D6}" dt="2026-02-19T06:59:23.184" v="2233" actId="20577"/>
      <pc:docMkLst>
        <pc:docMk/>
      </pc:docMkLst>
      <pc:sldChg chg="addSp delSp modSp mod">
        <pc:chgData name="Thomas Sabu" userId="b64b0aab-5ab9-45cd-a5b3-a95c691e648d" providerId="ADAL" clId="{281930C9-63D2-4C41-B656-8E2E4C3000D6}" dt="2026-02-18T07:14:02.671" v="154" actId="1076"/>
        <pc:sldMkLst>
          <pc:docMk/>
          <pc:sldMk cId="2821030519" sldId="372"/>
        </pc:sldMkLst>
        <pc:spChg chg="add mod">
          <ac:chgData name="Thomas Sabu" userId="b64b0aab-5ab9-45cd-a5b3-a95c691e648d" providerId="ADAL" clId="{281930C9-63D2-4C41-B656-8E2E4C3000D6}" dt="2026-02-18T07:13:05.304" v="144" actId="1076"/>
          <ac:spMkLst>
            <pc:docMk/>
            <pc:sldMk cId="2821030519" sldId="372"/>
            <ac:spMk id="4" creationId="{6A61CC1F-08D6-C137-A5A8-7348BDD0ACEB}"/>
          </ac:spMkLst>
        </pc:spChg>
        <pc:spChg chg="mod">
          <ac:chgData name="Thomas Sabu" userId="b64b0aab-5ab9-45cd-a5b3-a95c691e648d" providerId="ADAL" clId="{281930C9-63D2-4C41-B656-8E2E4C3000D6}" dt="2026-02-18T06:51:57.170" v="37" actId="20577"/>
          <ac:spMkLst>
            <pc:docMk/>
            <pc:sldMk cId="2821030519" sldId="372"/>
            <ac:spMk id="10" creationId="{00000000-0000-0000-0000-000000000000}"/>
          </ac:spMkLst>
        </pc:spChg>
        <pc:spChg chg="mod">
          <ac:chgData name="Thomas Sabu" userId="b64b0aab-5ab9-45cd-a5b3-a95c691e648d" providerId="ADAL" clId="{281930C9-63D2-4C41-B656-8E2E4C3000D6}" dt="2026-02-18T06:52:04.068" v="43" actId="20577"/>
          <ac:spMkLst>
            <pc:docMk/>
            <pc:sldMk cId="2821030519" sldId="372"/>
            <ac:spMk id="11" creationId="{00000000-0000-0000-0000-000000000000}"/>
          </ac:spMkLst>
        </pc:spChg>
        <pc:spChg chg="add mod">
          <ac:chgData name="Thomas Sabu" userId="b64b0aab-5ab9-45cd-a5b3-a95c691e648d" providerId="ADAL" clId="{281930C9-63D2-4C41-B656-8E2E4C3000D6}" dt="2026-02-18T07:12:58.104" v="143" actId="1076"/>
          <ac:spMkLst>
            <pc:docMk/>
            <pc:sldMk cId="2821030519" sldId="372"/>
            <ac:spMk id="12" creationId="{40F3ACC5-0659-B2B9-9247-3933B88D4555}"/>
          </ac:spMkLst>
        </pc:spChg>
        <pc:spChg chg="add mod">
          <ac:chgData name="Thomas Sabu" userId="b64b0aab-5ab9-45cd-a5b3-a95c691e648d" providerId="ADAL" clId="{281930C9-63D2-4C41-B656-8E2E4C3000D6}" dt="2026-02-18T07:13:51.431" v="152" actId="1076"/>
          <ac:spMkLst>
            <pc:docMk/>
            <pc:sldMk cId="2821030519" sldId="372"/>
            <ac:spMk id="13" creationId="{960298F8-F26D-EED8-B07E-04DE1A92240D}"/>
          </ac:spMkLst>
        </pc:spChg>
        <pc:spChg chg="add mod">
          <ac:chgData name="Thomas Sabu" userId="b64b0aab-5ab9-45cd-a5b3-a95c691e648d" providerId="ADAL" clId="{281930C9-63D2-4C41-B656-8E2E4C3000D6}" dt="2026-02-18T07:14:02.671" v="154" actId="1076"/>
          <ac:spMkLst>
            <pc:docMk/>
            <pc:sldMk cId="2821030519" sldId="372"/>
            <ac:spMk id="14" creationId="{1E363A03-B1B9-3D6C-5851-48A6F45E9D0C}"/>
          </ac:spMkLst>
        </pc:spChg>
        <pc:spChg chg="mod">
          <ac:chgData name="Thomas Sabu" userId="b64b0aab-5ab9-45cd-a5b3-a95c691e648d" providerId="ADAL" clId="{281930C9-63D2-4C41-B656-8E2E4C3000D6}" dt="2026-02-18T07:11:02.017" v="99" actId="20577"/>
          <ac:spMkLst>
            <pc:docMk/>
            <pc:sldMk cId="2821030519" sldId="372"/>
            <ac:spMk id="168" creationId="{1F64462F-04AD-40FC-AC49-E92F6071D1BF}"/>
          </ac:spMkLst>
        </pc:spChg>
        <pc:spChg chg="mod">
          <ac:chgData name="Thomas Sabu" userId="b64b0aab-5ab9-45cd-a5b3-a95c691e648d" providerId="ADAL" clId="{281930C9-63D2-4C41-B656-8E2E4C3000D6}" dt="2026-02-18T07:12:38.899" v="140" actId="20577"/>
          <ac:spMkLst>
            <pc:docMk/>
            <pc:sldMk cId="2821030519" sldId="372"/>
            <ac:spMk id="216" creationId="{922A2CD9-A101-4A0D-92F9-AD28D0F99273}"/>
          </ac:spMkLst>
        </pc:spChg>
        <pc:spChg chg="mod">
          <ac:chgData name="Thomas Sabu" userId="b64b0aab-5ab9-45cd-a5b3-a95c691e648d" providerId="ADAL" clId="{281930C9-63D2-4C41-B656-8E2E4C3000D6}" dt="2026-02-18T07:12:25.803" v="125" actId="20577"/>
          <ac:spMkLst>
            <pc:docMk/>
            <pc:sldMk cId="2821030519" sldId="372"/>
            <ac:spMk id="223" creationId="{CF390030-0D0D-4E1E-A4A0-6213C4AADF12}"/>
          </ac:spMkLst>
        </pc:spChg>
        <pc:spChg chg="mod">
          <ac:chgData name="Thomas Sabu" userId="b64b0aab-5ab9-45cd-a5b3-a95c691e648d" providerId="ADAL" clId="{281930C9-63D2-4C41-B656-8E2E4C3000D6}" dt="2026-02-18T07:13:19.069" v="147" actId="1076"/>
          <ac:spMkLst>
            <pc:docMk/>
            <pc:sldMk cId="2821030519" sldId="372"/>
            <ac:spMk id="228" creationId="{BE3F3E81-CB28-4462-868F-F463367ED7AC}"/>
          </ac:spMkLst>
        </pc:spChg>
        <pc:grpChg chg="mod">
          <ac:chgData name="Thomas Sabu" userId="b64b0aab-5ab9-45cd-a5b3-a95c691e648d" providerId="ADAL" clId="{281930C9-63D2-4C41-B656-8E2E4C3000D6}" dt="2026-02-18T07:13:11.958" v="146" actId="1076"/>
          <ac:grpSpMkLst>
            <pc:docMk/>
            <pc:sldMk cId="2821030519" sldId="372"/>
            <ac:grpSpMk id="2" creationId="{DAE3A205-7E16-4F19-8D5A-11D4E1DFA474}"/>
          </ac:grpSpMkLst>
        </pc:grpChg>
      </pc:sldChg>
      <pc:sldChg chg="delSp modSp mod">
        <pc:chgData name="Thomas Sabu" userId="b64b0aab-5ab9-45cd-a5b3-a95c691e648d" providerId="ADAL" clId="{281930C9-63D2-4C41-B656-8E2E4C3000D6}" dt="2026-02-19T06:59:13.847" v="2225" actId="20577"/>
        <pc:sldMkLst>
          <pc:docMk/>
          <pc:sldMk cId="1364998485" sldId="511"/>
        </pc:sldMkLst>
        <pc:spChg chg="mod">
          <ac:chgData name="Thomas Sabu" userId="b64b0aab-5ab9-45cd-a5b3-a95c691e648d" providerId="ADAL" clId="{281930C9-63D2-4C41-B656-8E2E4C3000D6}" dt="2026-02-19T06:59:13.847" v="2225" actId="20577"/>
          <ac:spMkLst>
            <pc:docMk/>
            <pc:sldMk cId="1364998485" sldId="511"/>
            <ac:spMk id="23" creationId="{00000000-0000-0000-0000-000000000000}"/>
          </ac:spMkLst>
        </pc:spChg>
        <pc:spChg chg="mod">
          <ac:chgData name="Thomas Sabu" userId="b64b0aab-5ab9-45cd-a5b3-a95c691e648d" providerId="ADAL" clId="{281930C9-63D2-4C41-B656-8E2E4C3000D6}" dt="2026-02-18T09:06:11.696" v="283" actId="20577"/>
          <ac:spMkLst>
            <pc:docMk/>
            <pc:sldMk cId="1364998485" sldId="511"/>
            <ac:spMk id="25" creationId="{00000000-0000-0000-0000-000000000000}"/>
          </ac:spMkLst>
        </pc:spChg>
        <pc:spChg chg="mod">
          <ac:chgData name="Thomas Sabu" userId="b64b0aab-5ab9-45cd-a5b3-a95c691e648d" providerId="ADAL" clId="{281930C9-63D2-4C41-B656-8E2E4C3000D6}" dt="2026-02-19T06:43:25.640" v="909"/>
          <ac:spMkLst>
            <pc:docMk/>
            <pc:sldMk cId="1364998485" sldId="511"/>
            <ac:spMk id="26" creationId="{00000000-0000-0000-0000-000000000000}"/>
          </ac:spMkLst>
        </pc:spChg>
      </pc:sldChg>
      <pc:sldChg chg="delSp mod">
        <pc:chgData name="Thomas Sabu" userId="b64b0aab-5ab9-45cd-a5b3-a95c691e648d" providerId="ADAL" clId="{281930C9-63D2-4C41-B656-8E2E4C3000D6}" dt="2026-02-18T07:32:30.975" v="268" actId="478"/>
        <pc:sldMkLst>
          <pc:docMk/>
          <pc:sldMk cId="3369962906" sldId="513"/>
        </pc:sldMkLst>
      </pc:sldChg>
      <pc:sldChg chg="modSp">
        <pc:chgData name="Thomas Sabu" userId="b64b0aab-5ab9-45cd-a5b3-a95c691e648d" providerId="ADAL" clId="{281930C9-63D2-4C41-B656-8E2E4C3000D6}" dt="2026-02-19T06:43:25.640" v="909"/>
        <pc:sldMkLst>
          <pc:docMk/>
          <pc:sldMk cId="2101186342" sldId="522"/>
        </pc:sldMkLst>
        <pc:spChg chg="mod">
          <ac:chgData name="Thomas Sabu" userId="b64b0aab-5ab9-45cd-a5b3-a95c691e648d" providerId="ADAL" clId="{281930C9-63D2-4C41-B656-8E2E4C3000D6}" dt="2026-02-19T06:43:25.640" v="909"/>
          <ac:spMkLst>
            <pc:docMk/>
            <pc:sldMk cId="2101186342" sldId="522"/>
            <ac:spMk id="37" creationId="{00000000-0000-0000-0000-000000000000}"/>
          </ac:spMkLst>
        </pc:spChg>
      </pc:sldChg>
      <pc:sldChg chg="modSp mod">
        <pc:chgData name="Thomas Sabu" userId="b64b0aab-5ab9-45cd-a5b3-a95c691e648d" providerId="ADAL" clId="{281930C9-63D2-4C41-B656-8E2E4C3000D6}" dt="2026-02-19T06:50:57.285" v="2029" actId="20577"/>
        <pc:sldMkLst>
          <pc:docMk/>
          <pc:sldMk cId="79465344" sldId="527"/>
        </pc:sldMkLst>
        <pc:graphicFrameChg chg="mod modGraphic">
          <ac:chgData name="Thomas Sabu" userId="b64b0aab-5ab9-45cd-a5b3-a95c691e648d" providerId="ADAL" clId="{281930C9-63D2-4C41-B656-8E2E4C3000D6}" dt="2026-02-19T06:50:18.928" v="2015"/>
          <ac:graphicFrameMkLst>
            <pc:docMk/>
            <pc:sldMk cId="79465344" sldId="527"/>
            <ac:graphicFrameMk id="13" creationId="{00000000-0000-0000-0000-000000000000}"/>
          </ac:graphicFrameMkLst>
        </pc:graphicFrameChg>
        <pc:graphicFrameChg chg="mod modGraphic">
          <ac:chgData name="Thomas Sabu" userId="b64b0aab-5ab9-45cd-a5b3-a95c691e648d" providerId="ADAL" clId="{281930C9-63D2-4C41-B656-8E2E4C3000D6}" dt="2026-02-19T06:50:57.285" v="2029" actId="20577"/>
          <ac:graphicFrameMkLst>
            <pc:docMk/>
            <pc:sldMk cId="79465344" sldId="527"/>
            <ac:graphicFrameMk id="16" creationId="{00000000-0000-0000-0000-000000000000}"/>
          </ac:graphicFrameMkLst>
        </pc:graphicFrameChg>
      </pc:sldChg>
      <pc:sldChg chg="modSp">
        <pc:chgData name="Thomas Sabu" userId="b64b0aab-5ab9-45cd-a5b3-a95c691e648d" providerId="ADAL" clId="{281930C9-63D2-4C41-B656-8E2E4C3000D6}" dt="2026-02-19T06:55:04.591" v="2067" actId="20577"/>
        <pc:sldMkLst>
          <pc:docMk/>
          <pc:sldMk cId="1770688381" sldId="530"/>
        </pc:sldMkLst>
        <pc:graphicFrameChg chg="mod">
          <ac:chgData name="Thomas Sabu" userId="b64b0aab-5ab9-45cd-a5b3-a95c691e648d" providerId="ADAL" clId="{281930C9-63D2-4C41-B656-8E2E4C3000D6}" dt="2026-02-19T06:55:04.591" v="2067" actId="20577"/>
          <ac:graphicFrameMkLst>
            <pc:docMk/>
            <pc:sldMk cId="1770688381" sldId="530"/>
            <ac:graphicFrameMk id="9" creationId="{00000000-0000-0000-0000-000000000000}"/>
          </ac:graphicFrameMkLst>
        </pc:graphicFrameChg>
      </pc:sldChg>
      <pc:sldChg chg="modSp">
        <pc:chgData name="Thomas Sabu" userId="b64b0aab-5ab9-45cd-a5b3-a95c691e648d" providerId="ADAL" clId="{281930C9-63D2-4C41-B656-8E2E4C3000D6}" dt="2026-02-19T06:43:25.640" v="909"/>
        <pc:sldMkLst>
          <pc:docMk/>
          <pc:sldMk cId="2891853299" sldId="532"/>
        </pc:sldMkLst>
        <pc:spChg chg="mod">
          <ac:chgData name="Thomas Sabu" userId="b64b0aab-5ab9-45cd-a5b3-a95c691e648d" providerId="ADAL" clId="{281930C9-63D2-4C41-B656-8E2E4C3000D6}" dt="2026-02-19T06:43:25.640" v="909"/>
          <ac:spMkLst>
            <pc:docMk/>
            <pc:sldMk cId="2891853299" sldId="532"/>
            <ac:spMk id="171" creationId="{00000000-0000-0000-0000-000000000000}"/>
          </ac:spMkLst>
        </pc:spChg>
      </pc:sldChg>
      <pc:sldChg chg="modSp mod">
        <pc:chgData name="Thomas Sabu" userId="b64b0aab-5ab9-45cd-a5b3-a95c691e648d" providerId="ADAL" clId="{281930C9-63D2-4C41-B656-8E2E4C3000D6}" dt="2026-02-19T06:59:23.184" v="2233" actId="20577"/>
        <pc:sldMkLst>
          <pc:docMk/>
          <pc:sldMk cId="2146134130" sldId="533"/>
        </pc:sldMkLst>
        <pc:spChg chg="mod">
          <ac:chgData name="Thomas Sabu" userId="b64b0aab-5ab9-45cd-a5b3-a95c691e648d" providerId="ADAL" clId="{281930C9-63D2-4C41-B656-8E2E4C3000D6}" dt="2026-02-19T06:59:23.184" v="2233" actId="20577"/>
          <ac:spMkLst>
            <pc:docMk/>
            <pc:sldMk cId="2146134130" sldId="533"/>
            <ac:spMk id="87" creationId="{00000000-0000-0000-0000-000000000000}"/>
          </ac:spMkLst>
        </pc:spChg>
      </pc:sldChg>
      <pc:sldChg chg="modSp mod">
        <pc:chgData name="Thomas Sabu" userId="b64b0aab-5ab9-45cd-a5b3-a95c691e648d" providerId="ADAL" clId="{281930C9-63D2-4C41-B656-8E2E4C3000D6}" dt="2026-02-19T06:43:25.640" v="909"/>
        <pc:sldMkLst>
          <pc:docMk/>
          <pc:sldMk cId="2988677655" sldId="535"/>
        </pc:sldMkLst>
        <pc:spChg chg="mod">
          <ac:chgData name="Thomas Sabu" userId="b64b0aab-5ab9-45cd-a5b3-a95c691e648d" providerId="ADAL" clId="{281930C9-63D2-4C41-B656-8E2E4C3000D6}" dt="2026-02-18T07:20:31.952" v="228" actId="20577"/>
          <ac:spMkLst>
            <pc:docMk/>
            <pc:sldMk cId="2988677655" sldId="535"/>
            <ac:spMk id="55" creationId="{EA4D336F-76C7-4F65-863D-20A422C6FCE7}"/>
          </ac:spMkLst>
        </pc:spChg>
        <pc:spChg chg="mod">
          <ac:chgData name="Thomas Sabu" userId="b64b0aab-5ab9-45cd-a5b3-a95c691e648d" providerId="ADAL" clId="{281930C9-63D2-4C41-B656-8E2E4C3000D6}" dt="2026-02-18T07:20:43.096" v="236" actId="20577"/>
          <ac:spMkLst>
            <pc:docMk/>
            <pc:sldMk cId="2988677655" sldId="535"/>
            <ac:spMk id="57" creationId="{9D78298E-2C40-4FE3-94DF-8BC2E9FEB452}"/>
          </ac:spMkLst>
        </pc:spChg>
        <pc:spChg chg="mod">
          <ac:chgData name="Thomas Sabu" userId="b64b0aab-5ab9-45cd-a5b3-a95c691e648d" providerId="ADAL" clId="{281930C9-63D2-4C41-B656-8E2E4C3000D6}" dt="2026-02-18T07:20:55.395" v="245" actId="20577"/>
          <ac:spMkLst>
            <pc:docMk/>
            <pc:sldMk cId="2988677655" sldId="535"/>
            <ac:spMk id="77" creationId="{49F425C3-310E-4379-A070-8C62D4D3FD38}"/>
          </ac:spMkLst>
        </pc:spChg>
        <pc:spChg chg="mod">
          <ac:chgData name="Thomas Sabu" userId="b64b0aab-5ab9-45cd-a5b3-a95c691e648d" providerId="ADAL" clId="{281930C9-63D2-4C41-B656-8E2E4C3000D6}" dt="2026-02-18T07:20:37.413" v="232" actId="20577"/>
          <ac:spMkLst>
            <pc:docMk/>
            <pc:sldMk cId="2988677655" sldId="535"/>
            <ac:spMk id="78" creationId="{DFD41FFE-847F-4284-9BB8-A9A09ED2D465}"/>
          </ac:spMkLst>
        </pc:spChg>
        <pc:spChg chg="mod">
          <ac:chgData name="Thomas Sabu" userId="b64b0aab-5ab9-45cd-a5b3-a95c691e648d" providerId="ADAL" clId="{281930C9-63D2-4C41-B656-8E2E4C3000D6}" dt="2026-02-18T07:20:47.554" v="240" actId="20577"/>
          <ac:spMkLst>
            <pc:docMk/>
            <pc:sldMk cId="2988677655" sldId="535"/>
            <ac:spMk id="80" creationId="{505B3142-7775-48BE-B01F-6A6F46578615}"/>
          </ac:spMkLst>
        </pc:spChg>
        <pc:spChg chg="mod">
          <ac:chgData name="Thomas Sabu" userId="b64b0aab-5ab9-45cd-a5b3-a95c691e648d" providerId="ADAL" clId="{281930C9-63D2-4C41-B656-8E2E4C3000D6}" dt="2026-02-18T07:21:01.082" v="250" actId="20577"/>
          <ac:spMkLst>
            <pc:docMk/>
            <pc:sldMk cId="2988677655" sldId="535"/>
            <ac:spMk id="81" creationId="{CF69972F-68DD-486E-B496-151178EE1FAF}"/>
          </ac:spMkLst>
        </pc:spChg>
        <pc:spChg chg="mod">
          <ac:chgData name="Thomas Sabu" userId="b64b0aab-5ab9-45cd-a5b3-a95c691e648d" providerId="ADAL" clId="{281930C9-63D2-4C41-B656-8E2E4C3000D6}" dt="2026-02-18T07:17:26.758" v="179" actId="20577"/>
          <ac:spMkLst>
            <pc:docMk/>
            <pc:sldMk cId="2988677655" sldId="535"/>
            <ac:spMk id="84" creationId="{579DBA85-7DA9-432D-BD4F-FED6588E74B5}"/>
          </ac:spMkLst>
        </pc:spChg>
        <pc:spChg chg="mod">
          <ac:chgData name="Thomas Sabu" userId="b64b0aab-5ab9-45cd-a5b3-a95c691e648d" providerId="ADAL" clId="{281930C9-63D2-4C41-B656-8E2E4C3000D6}" dt="2026-02-18T07:18:32.015" v="199" actId="20577"/>
          <ac:spMkLst>
            <pc:docMk/>
            <pc:sldMk cId="2988677655" sldId="535"/>
            <ac:spMk id="87" creationId="{075A2D62-65B4-4508-B604-D1CA4C0AAA4E}"/>
          </ac:spMkLst>
        </pc:spChg>
        <pc:spChg chg="mod">
          <ac:chgData name="Thomas Sabu" userId="b64b0aab-5ab9-45cd-a5b3-a95c691e648d" providerId="ADAL" clId="{281930C9-63D2-4C41-B656-8E2E4C3000D6}" dt="2026-02-18T07:18:39.611" v="203" actId="20577"/>
          <ac:spMkLst>
            <pc:docMk/>
            <pc:sldMk cId="2988677655" sldId="535"/>
            <ac:spMk id="90" creationId="{BEB28E1F-C079-4058-8C85-5798A9EB1CC4}"/>
          </ac:spMkLst>
        </pc:spChg>
        <pc:spChg chg="mod">
          <ac:chgData name="Thomas Sabu" userId="b64b0aab-5ab9-45cd-a5b3-a95c691e648d" providerId="ADAL" clId="{281930C9-63D2-4C41-B656-8E2E4C3000D6}" dt="2026-02-18T07:19:43.716" v="223" actId="20577"/>
          <ac:spMkLst>
            <pc:docMk/>
            <pc:sldMk cId="2988677655" sldId="535"/>
            <ac:spMk id="93" creationId="{CFD280B6-4E38-4B23-AA1B-2043412BEB1D}"/>
          </ac:spMkLst>
        </pc:spChg>
        <pc:spChg chg="mod">
          <ac:chgData name="Thomas Sabu" userId="b64b0aab-5ab9-45cd-a5b3-a95c691e648d" providerId="ADAL" clId="{281930C9-63D2-4C41-B656-8E2E4C3000D6}" dt="2026-02-18T07:19:37.633" v="222" actId="20577"/>
          <ac:spMkLst>
            <pc:docMk/>
            <pc:sldMk cId="2988677655" sldId="535"/>
            <ac:spMk id="95" creationId="{C1E5472B-1B26-40BA-A709-F426467BDF73}"/>
          </ac:spMkLst>
        </pc:spChg>
        <pc:spChg chg="mod">
          <ac:chgData name="Thomas Sabu" userId="b64b0aab-5ab9-45cd-a5b3-a95c691e648d" providerId="ADAL" clId="{281930C9-63D2-4C41-B656-8E2E4C3000D6}" dt="2026-02-19T06:43:25.640" v="909"/>
          <ac:spMkLst>
            <pc:docMk/>
            <pc:sldMk cId="2988677655" sldId="535"/>
            <ac:spMk id="130" creationId="{00000000-0000-0000-0000-000000000000}"/>
          </ac:spMkLst>
        </pc:spChg>
      </pc:sldChg>
      <pc:sldChg chg="delSp mod">
        <pc:chgData name="Thomas Sabu" userId="b64b0aab-5ab9-45cd-a5b3-a95c691e648d" providerId="ADAL" clId="{281930C9-63D2-4C41-B656-8E2E4C3000D6}" dt="2026-02-18T07:30:27.499" v="264" actId="478"/>
        <pc:sldMkLst>
          <pc:docMk/>
          <pc:sldMk cId="67856973" sldId="538"/>
        </pc:sldMkLst>
      </pc:sldChg>
      <pc:sldChg chg="modSp mod">
        <pc:chgData name="Thomas Sabu" userId="b64b0aab-5ab9-45cd-a5b3-a95c691e648d" providerId="ADAL" clId="{281930C9-63D2-4C41-B656-8E2E4C3000D6}" dt="2026-02-18T09:43:22.847" v="357" actId="20577"/>
        <pc:sldMkLst>
          <pc:docMk/>
          <pc:sldMk cId="767261037" sldId="542"/>
        </pc:sldMkLst>
        <pc:spChg chg="mod">
          <ac:chgData name="Thomas Sabu" userId="b64b0aab-5ab9-45cd-a5b3-a95c691e648d" providerId="ADAL" clId="{281930C9-63D2-4C41-B656-8E2E4C3000D6}" dt="2026-02-18T09:43:22.847" v="357" actId="20577"/>
          <ac:spMkLst>
            <pc:docMk/>
            <pc:sldMk cId="767261037" sldId="542"/>
            <ac:spMk id="15" creationId="{00000000-0000-0000-0000-000000000000}"/>
          </ac:spMkLst>
        </pc:spChg>
      </pc:sldChg>
      <pc:sldChg chg="modSp mod">
        <pc:chgData name="Thomas Sabu" userId="b64b0aab-5ab9-45cd-a5b3-a95c691e648d" providerId="ADAL" clId="{281930C9-63D2-4C41-B656-8E2E4C3000D6}" dt="2026-02-18T09:49:44.877" v="379" actId="20577"/>
        <pc:sldMkLst>
          <pc:docMk/>
          <pc:sldMk cId="1197387402" sldId="545"/>
        </pc:sldMkLst>
        <pc:graphicFrameChg chg="modGraphic">
          <ac:chgData name="Thomas Sabu" userId="b64b0aab-5ab9-45cd-a5b3-a95c691e648d" providerId="ADAL" clId="{281930C9-63D2-4C41-B656-8E2E4C3000D6}" dt="2026-02-18T09:49:44.877" v="379" actId="20577"/>
          <ac:graphicFrameMkLst>
            <pc:docMk/>
            <pc:sldMk cId="1197387402" sldId="545"/>
            <ac:graphicFrameMk id="91" creationId="{00000000-0000-0000-0000-000000000000}"/>
          </ac:graphicFrameMkLst>
        </pc:graphicFrameChg>
      </pc:sldChg>
      <pc:sldChg chg="modSp mod">
        <pc:chgData name="Thomas Sabu" userId="b64b0aab-5ab9-45cd-a5b3-a95c691e648d" providerId="ADAL" clId="{281930C9-63D2-4C41-B656-8E2E4C3000D6}" dt="2026-02-19T06:57:40.940" v="2167" actId="20577"/>
        <pc:sldMkLst>
          <pc:docMk/>
          <pc:sldMk cId="2622907318" sldId="548"/>
        </pc:sldMkLst>
        <pc:spChg chg="mod">
          <ac:chgData name="Thomas Sabu" userId="b64b0aab-5ab9-45cd-a5b3-a95c691e648d" providerId="ADAL" clId="{281930C9-63D2-4C41-B656-8E2E4C3000D6}" dt="2026-02-19T06:57:08.060" v="2143" actId="20577"/>
          <ac:spMkLst>
            <pc:docMk/>
            <pc:sldMk cId="2622907318" sldId="548"/>
            <ac:spMk id="63" creationId="{00000000-0000-0000-0000-000000000000}"/>
          </ac:spMkLst>
        </pc:spChg>
        <pc:spChg chg="mod">
          <ac:chgData name="Thomas Sabu" userId="b64b0aab-5ab9-45cd-a5b3-a95c691e648d" providerId="ADAL" clId="{281930C9-63D2-4C41-B656-8E2E4C3000D6}" dt="2026-02-19T06:57:40.940" v="2167" actId="20577"/>
          <ac:spMkLst>
            <pc:docMk/>
            <pc:sldMk cId="2622907318" sldId="548"/>
            <ac:spMk id="85" creationId="{00000000-0000-0000-0000-000000000000}"/>
          </ac:spMkLst>
        </pc:spChg>
        <pc:spChg chg="mod">
          <ac:chgData name="Thomas Sabu" userId="b64b0aab-5ab9-45cd-a5b3-a95c691e648d" providerId="ADAL" clId="{281930C9-63D2-4C41-B656-8E2E4C3000D6}" dt="2026-02-19T06:57:35.599" v="2159" actId="20577"/>
          <ac:spMkLst>
            <pc:docMk/>
            <pc:sldMk cId="2622907318" sldId="548"/>
            <ac:spMk id="91" creationId="{00000000-0000-0000-0000-000000000000}"/>
          </ac:spMkLst>
        </pc:spChg>
        <pc:spChg chg="mod">
          <ac:chgData name="Thomas Sabu" userId="b64b0aab-5ab9-45cd-a5b3-a95c691e648d" providerId="ADAL" clId="{281930C9-63D2-4C41-B656-8E2E4C3000D6}" dt="2026-02-19T06:57:22.773" v="2151" actId="20577"/>
          <ac:spMkLst>
            <pc:docMk/>
            <pc:sldMk cId="2622907318" sldId="548"/>
            <ac:spMk id="92" creationId="{00000000-0000-0000-0000-000000000000}"/>
          </ac:spMkLst>
        </pc:spChg>
      </pc:sldChg>
      <pc:sldChg chg="modSp mod">
        <pc:chgData name="Thomas Sabu" userId="b64b0aab-5ab9-45cd-a5b3-a95c691e648d" providerId="ADAL" clId="{281930C9-63D2-4C41-B656-8E2E4C3000D6}" dt="2026-02-19T06:43:25.640" v="909"/>
        <pc:sldMkLst>
          <pc:docMk/>
          <pc:sldMk cId="2555541565" sldId="549"/>
        </pc:sldMkLst>
        <pc:spChg chg="mod">
          <ac:chgData name="Thomas Sabu" userId="b64b0aab-5ab9-45cd-a5b3-a95c691e648d" providerId="ADAL" clId="{281930C9-63D2-4C41-B656-8E2E4C3000D6}" dt="2026-02-19T06:43:25.640" v="909"/>
          <ac:spMkLst>
            <pc:docMk/>
            <pc:sldMk cId="2555541565" sldId="549"/>
            <ac:spMk id="3" creationId="{00000000-0000-0000-0000-000000000000}"/>
          </ac:spMkLst>
        </pc:spChg>
        <pc:spChg chg="mod">
          <ac:chgData name="Thomas Sabu" userId="b64b0aab-5ab9-45cd-a5b3-a95c691e648d" providerId="ADAL" clId="{281930C9-63D2-4C41-B656-8E2E4C3000D6}" dt="2026-02-18T09:42:34.593" v="355" actId="20577"/>
          <ac:spMkLst>
            <pc:docMk/>
            <pc:sldMk cId="2555541565" sldId="549"/>
            <ac:spMk id="4" creationId="{00000000-0000-0000-0000-000000000000}"/>
          </ac:spMkLst>
        </pc:spChg>
      </pc:sldChg>
      <pc:sldChg chg="modSp mod">
        <pc:chgData name="Thomas Sabu" userId="b64b0aab-5ab9-45cd-a5b3-a95c691e648d" providerId="ADAL" clId="{281930C9-63D2-4C41-B656-8E2E4C3000D6}" dt="2026-02-18T07:29:07.835" v="263" actId="20577"/>
        <pc:sldMkLst>
          <pc:docMk/>
          <pc:sldMk cId="1317673867" sldId="570"/>
        </pc:sldMkLst>
        <pc:spChg chg="mod">
          <ac:chgData name="Thomas Sabu" userId="b64b0aab-5ab9-45cd-a5b3-a95c691e648d" providerId="ADAL" clId="{281930C9-63D2-4C41-B656-8E2E4C3000D6}" dt="2026-02-18T07:29:07.835" v="263" actId="20577"/>
          <ac:spMkLst>
            <pc:docMk/>
            <pc:sldMk cId="1317673867" sldId="570"/>
            <ac:spMk id="15" creationId="{00000000-0000-0000-0000-000000000000}"/>
          </ac:spMkLst>
        </pc:spChg>
      </pc:sldChg>
      <pc:sldChg chg="modSp mod">
        <pc:chgData name="Thomas Sabu" userId="b64b0aab-5ab9-45cd-a5b3-a95c691e648d" providerId="ADAL" clId="{281930C9-63D2-4C41-B656-8E2E4C3000D6}" dt="2026-02-19T06:43:25.640" v="909"/>
        <pc:sldMkLst>
          <pc:docMk/>
          <pc:sldMk cId="37446853" sldId="571"/>
        </pc:sldMkLst>
        <pc:spChg chg="mod">
          <ac:chgData name="Thomas Sabu" userId="b64b0aab-5ab9-45cd-a5b3-a95c691e648d" providerId="ADAL" clId="{281930C9-63D2-4C41-B656-8E2E4C3000D6}" dt="2026-02-19T06:43:25.640" v="909"/>
          <ac:spMkLst>
            <pc:docMk/>
            <pc:sldMk cId="37446853" sldId="571"/>
            <ac:spMk id="26" creationId="{00000000-0000-0000-0000-000000000000}"/>
          </ac:spMkLst>
        </pc:spChg>
      </pc:sldChg>
      <pc:sldChg chg="modSp mod">
        <pc:chgData name="Thomas Sabu" userId="b64b0aab-5ab9-45cd-a5b3-a95c691e648d" providerId="ADAL" clId="{281930C9-63D2-4C41-B656-8E2E4C3000D6}" dt="2026-02-18T07:07:11.940" v="61" actId="20577"/>
        <pc:sldMkLst>
          <pc:docMk/>
          <pc:sldMk cId="1669995167" sldId="572"/>
        </pc:sldMkLst>
        <pc:spChg chg="mod">
          <ac:chgData name="Thomas Sabu" userId="b64b0aab-5ab9-45cd-a5b3-a95c691e648d" providerId="ADAL" clId="{281930C9-63D2-4C41-B656-8E2E4C3000D6}" dt="2026-02-18T07:07:11.940" v="61" actId="20577"/>
          <ac:spMkLst>
            <pc:docMk/>
            <pc:sldMk cId="1669995167" sldId="572"/>
            <ac:spMk id="44" creationId="{C60338C6-222C-4827-A0C0-C4DF76946886}"/>
          </ac:spMkLst>
        </pc:spChg>
      </pc:sldChg>
      <pc:sldChg chg="modSp mod">
        <pc:chgData name="Thomas Sabu" userId="b64b0aab-5ab9-45cd-a5b3-a95c691e648d" providerId="ADAL" clId="{281930C9-63D2-4C41-B656-8E2E4C3000D6}" dt="2026-02-18T09:09:49.938" v="303" actId="20577"/>
        <pc:sldMkLst>
          <pc:docMk/>
          <pc:sldMk cId="1998655619" sldId="577"/>
        </pc:sldMkLst>
        <pc:spChg chg="mod">
          <ac:chgData name="Thomas Sabu" userId="b64b0aab-5ab9-45cd-a5b3-a95c691e648d" providerId="ADAL" clId="{281930C9-63D2-4C41-B656-8E2E4C3000D6}" dt="2026-02-18T09:09:26.920" v="287" actId="20577"/>
          <ac:spMkLst>
            <pc:docMk/>
            <pc:sldMk cId="1998655619" sldId="577"/>
            <ac:spMk id="82" creationId="{A0EF861D-72AA-452F-9827-EDAFC99AA17D}"/>
          </ac:spMkLst>
        </pc:spChg>
        <pc:spChg chg="mod">
          <ac:chgData name="Thomas Sabu" userId="b64b0aab-5ab9-45cd-a5b3-a95c691e648d" providerId="ADAL" clId="{281930C9-63D2-4C41-B656-8E2E4C3000D6}" dt="2026-02-18T09:09:34.692" v="295" actId="20577"/>
          <ac:spMkLst>
            <pc:docMk/>
            <pc:sldMk cId="1998655619" sldId="577"/>
            <ac:spMk id="93" creationId="{5B67532C-6F08-4EFA-81A7-09D284BAD0F4}"/>
          </ac:spMkLst>
        </pc:spChg>
        <pc:spChg chg="mod">
          <ac:chgData name="Thomas Sabu" userId="b64b0aab-5ab9-45cd-a5b3-a95c691e648d" providerId="ADAL" clId="{281930C9-63D2-4C41-B656-8E2E4C3000D6}" dt="2026-02-18T09:09:30.499" v="291" actId="20577"/>
          <ac:spMkLst>
            <pc:docMk/>
            <pc:sldMk cId="1998655619" sldId="577"/>
            <ac:spMk id="95" creationId="{09A380E6-E628-4F6D-B59E-C275D3273B8E}"/>
          </ac:spMkLst>
        </pc:spChg>
        <pc:spChg chg="mod">
          <ac:chgData name="Thomas Sabu" userId="b64b0aab-5ab9-45cd-a5b3-a95c691e648d" providerId="ADAL" clId="{281930C9-63D2-4C41-B656-8E2E4C3000D6}" dt="2026-02-18T09:09:43.977" v="299" actId="20577"/>
          <ac:spMkLst>
            <pc:docMk/>
            <pc:sldMk cId="1998655619" sldId="577"/>
            <ac:spMk id="100" creationId="{3C0C7648-16E0-4171-AF18-D0B60BA5E099}"/>
          </ac:spMkLst>
        </pc:spChg>
        <pc:spChg chg="mod">
          <ac:chgData name="Thomas Sabu" userId="b64b0aab-5ab9-45cd-a5b3-a95c691e648d" providerId="ADAL" clId="{281930C9-63D2-4C41-B656-8E2E4C3000D6}" dt="2026-02-18T09:09:49.938" v="303" actId="20577"/>
          <ac:spMkLst>
            <pc:docMk/>
            <pc:sldMk cId="1998655619" sldId="577"/>
            <ac:spMk id="104" creationId="{0410C79C-7737-4ED1-A64F-C73D06252C57}"/>
          </ac:spMkLst>
        </pc:spChg>
      </pc:sldChg>
      <pc:sldChg chg="modSp mod">
        <pc:chgData name="Thomas Sabu" userId="b64b0aab-5ab9-45cd-a5b3-a95c691e648d" providerId="ADAL" clId="{281930C9-63D2-4C41-B656-8E2E4C3000D6}" dt="2026-02-19T06:58:56.614" v="2215" actId="20577"/>
        <pc:sldMkLst>
          <pc:docMk/>
          <pc:sldMk cId="1845709383" sldId="580"/>
        </pc:sldMkLst>
        <pc:spChg chg="mod">
          <ac:chgData name="Thomas Sabu" userId="b64b0aab-5ab9-45cd-a5b3-a95c691e648d" providerId="ADAL" clId="{281930C9-63D2-4C41-B656-8E2E4C3000D6}" dt="2026-02-19T06:43:25.640" v="909"/>
          <ac:spMkLst>
            <pc:docMk/>
            <pc:sldMk cId="1845709383" sldId="580"/>
            <ac:spMk id="97" creationId="{00000000-0000-0000-0000-000000000000}"/>
          </ac:spMkLst>
        </pc:spChg>
        <pc:spChg chg="mod">
          <ac:chgData name="Thomas Sabu" userId="b64b0aab-5ab9-45cd-a5b3-a95c691e648d" providerId="ADAL" clId="{281930C9-63D2-4C41-B656-8E2E4C3000D6}" dt="2026-02-19T06:58:41.931" v="2199" actId="20577"/>
          <ac:spMkLst>
            <pc:docMk/>
            <pc:sldMk cId="1845709383" sldId="580"/>
            <ac:spMk id="114" creationId="{00000000-0000-0000-0000-000000000000}"/>
          </ac:spMkLst>
        </pc:spChg>
        <pc:spChg chg="mod">
          <ac:chgData name="Thomas Sabu" userId="b64b0aab-5ab9-45cd-a5b3-a95c691e648d" providerId="ADAL" clId="{281930C9-63D2-4C41-B656-8E2E4C3000D6}" dt="2026-02-19T06:58:34.368" v="2191" actId="20577"/>
          <ac:spMkLst>
            <pc:docMk/>
            <pc:sldMk cId="1845709383" sldId="580"/>
            <ac:spMk id="127" creationId="{00000000-0000-0000-0000-000000000000}"/>
          </ac:spMkLst>
        </pc:spChg>
        <pc:spChg chg="mod">
          <ac:chgData name="Thomas Sabu" userId="b64b0aab-5ab9-45cd-a5b3-a95c691e648d" providerId="ADAL" clId="{281930C9-63D2-4C41-B656-8E2E4C3000D6}" dt="2026-02-19T06:58:28.995" v="2183" actId="20577"/>
          <ac:spMkLst>
            <pc:docMk/>
            <pc:sldMk cId="1845709383" sldId="580"/>
            <ac:spMk id="128" creationId="{00000000-0000-0000-0000-000000000000}"/>
          </ac:spMkLst>
        </pc:spChg>
        <pc:spChg chg="mod">
          <ac:chgData name="Thomas Sabu" userId="b64b0aab-5ab9-45cd-a5b3-a95c691e648d" providerId="ADAL" clId="{281930C9-63D2-4C41-B656-8E2E4C3000D6}" dt="2026-02-19T06:58:49.921" v="2207" actId="20577"/>
          <ac:spMkLst>
            <pc:docMk/>
            <pc:sldMk cId="1845709383" sldId="580"/>
            <ac:spMk id="130" creationId="{00000000-0000-0000-0000-000000000000}"/>
          </ac:spMkLst>
        </pc:spChg>
        <pc:spChg chg="mod">
          <ac:chgData name="Thomas Sabu" userId="b64b0aab-5ab9-45cd-a5b3-a95c691e648d" providerId="ADAL" clId="{281930C9-63D2-4C41-B656-8E2E4C3000D6}" dt="2026-02-18T09:42:29.343" v="353" actId="20577"/>
          <ac:spMkLst>
            <pc:docMk/>
            <pc:sldMk cId="1845709383" sldId="580"/>
            <ac:spMk id="133" creationId="{00000000-0000-0000-0000-000000000000}"/>
          </ac:spMkLst>
        </pc:spChg>
        <pc:spChg chg="mod">
          <ac:chgData name="Thomas Sabu" userId="b64b0aab-5ab9-45cd-a5b3-a95c691e648d" providerId="ADAL" clId="{281930C9-63D2-4C41-B656-8E2E4C3000D6}" dt="2026-02-19T06:58:56.614" v="2215" actId="20577"/>
          <ac:spMkLst>
            <pc:docMk/>
            <pc:sldMk cId="1845709383" sldId="580"/>
            <ac:spMk id="135" creationId="{00000000-0000-0000-0000-000000000000}"/>
          </ac:spMkLst>
        </pc:spChg>
      </pc:sldChg>
      <pc:sldChg chg="modSp mod">
        <pc:chgData name="Thomas Sabu" userId="b64b0aab-5ab9-45cd-a5b3-a95c691e648d" providerId="ADAL" clId="{281930C9-63D2-4C41-B656-8E2E4C3000D6}" dt="2026-02-19T06:57:56.486" v="2175" actId="20577"/>
        <pc:sldMkLst>
          <pc:docMk/>
          <pc:sldMk cId="2271366022" sldId="581"/>
        </pc:sldMkLst>
        <pc:spChg chg="mod">
          <ac:chgData name="Thomas Sabu" userId="b64b0aab-5ab9-45cd-a5b3-a95c691e648d" providerId="ADAL" clId="{281930C9-63D2-4C41-B656-8E2E4C3000D6}" dt="2026-02-19T06:57:56.486" v="2175" actId="20577"/>
          <ac:spMkLst>
            <pc:docMk/>
            <pc:sldMk cId="2271366022" sldId="581"/>
            <ac:spMk id="64" creationId="{00000000-0000-0000-0000-000000000000}"/>
          </ac:spMkLst>
        </pc:spChg>
      </pc:sldChg>
      <pc:sldChg chg="modSp mod">
        <pc:chgData name="Thomas Sabu" userId="b64b0aab-5ab9-45cd-a5b3-a95c691e648d" providerId="ADAL" clId="{281930C9-63D2-4C41-B656-8E2E4C3000D6}" dt="2026-02-19T06:53:39.235" v="2059"/>
        <pc:sldMkLst>
          <pc:docMk/>
          <pc:sldMk cId="3006618955" sldId="583"/>
        </pc:sldMkLst>
        <pc:graphicFrameChg chg="mod modGraphic">
          <ac:chgData name="Thomas Sabu" userId="b64b0aab-5ab9-45cd-a5b3-a95c691e648d" providerId="ADAL" clId="{281930C9-63D2-4C41-B656-8E2E4C3000D6}" dt="2026-02-19T06:53:39.235" v="2059"/>
          <ac:graphicFrameMkLst>
            <pc:docMk/>
            <pc:sldMk cId="3006618955" sldId="583"/>
            <ac:graphicFrameMk id="18" creationId="{00000000-0000-0000-0000-000000000000}"/>
          </ac:graphicFrameMkLst>
        </pc:graphicFrameChg>
      </pc:sldChg>
      <pc:sldChg chg="modSp mod">
        <pc:chgData name="Thomas Sabu" userId="b64b0aab-5ab9-45cd-a5b3-a95c691e648d" providerId="ADAL" clId="{281930C9-63D2-4C41-B656-8E2E4C3000D6}" dt="2026-02-19T06:52:33.518" v="2051"/>
        <pc:sldMkLst>
          <pc:docMk/>
          <pc:sldMk cId="1026642237" sldId="584"/>
        </pc:sldMkLst>
        <pc:graphicFrameChg chg="mod modGraphic">
          <ac:chgData name="Thomas Sabu" userId="b64b0aab-5ab9-45cd-a5b3-a95c691e648d" providerId="ADAL" clId="{281930C9-63D2-4C41-B656-8E2E4C3000D6}" dt="2026-02-19T06:52:33.518" v="2051"/>
          <ac:graphicFrameMkLst>
            <pc:docMk/>
            <pc:sldMk cId="1026642237" sldId="584"/>
            <ac:graphicFrameMk id="18" creationId="{00000000-0000-0000-0000-000000000000}"/>
          </ac:graphicFrameMkLst>
        </pc:graphicFrameChg>
      </pc:sldChg>
      <pc:sldChg chg="modSp mod">
        <pc:chgData name="Thomas Sabu" userId="b64b0aab-5ab9-45cd-a5b3-a95c691e648d" providerId="ADAL" clId="{281930C9-63D2-4C41-B656-8E2E4C3000D6}" dt="2026-02-19T06:43:25.640" v="909"/>
        <pc:sldMkLst>
          <pc:docMk/>
          <pc:sldMk cId="2611728930" sldId="588"/>
        </pc:sldMkLst>
        <pc:spChg chg="mod">
          <ac:chgData name="Thomas Sabu" userId="b64b0aab-5ab9-45cd-a5b3-a95c691e648d" providerId="ADAL" clId="{281930C9-63D2-4C41-B656-8E2E4C3000D6}" dt="2026-02-19T06:43:25.640" v="909"/>
          <ac:spMkLst>
            <pc:docMk/>
            <pc:sldMk cId="2611728930" sldId="588"/>
            <ac:spMk id="14" creationId="{00000000-0000-0000-0000-000000000000}"/>
          </ac:spMkLst>
        </pc:spChg>
      </pc:sldChg>
      <pc:sldChg chg="modSp mod">
        <pc:chgData name="Thomas Sabu" userId="b64b0aab-5ab9-45cd-a5b3-a95c691e648d" providerId="ADAL" clId="{281930C9-63D2-4C41-B656-8E2E4C3000D6}" dt="2026-02-18T09:58:40.133" v="414" actId="20577"/>
        <pc:sldMkLst>
          <pc:docMk/>
          <pc:sldMk cId="1285352462" sldId="589"/>
        </pc:sldMkLst>
        <pc:spChg chg="mod">
          <ac:chgData name="Thomas Sabu" userId="b64b0aab-5ab9-45cd-a5b3-a95c691e648d" providerId="ADAL" clId="{281930C9-63D2-4C41-B656-8E2E4C3000D6}" dt="2026-02-18T09:58:40.133" v="414" actId="20577"/>
          <ac:spMkLst>
            <pc:docMk/>
            <pc:sldMk cId="1285352462" sldId="589"/>
            <ac:spMk id="18" creationId="{00000000-0000-0000-0000-000000000000}"/>
          </ac:spMkLst>
        </pc:spChg>
      </pc:sldChg>
      <pc:sldChg chg="modSp mod">
        <pc:chgData name="Thomas Sabu" userId="b64b0aab-5ab9-45cd-a5b3-a95c691e648d" providerId="ADAL" clId="{281930C9-63D2-4C41-B656-8E2E4C3000D6}" dt="2026-02-18T10:01:37.967" v="441" actId="20577"/>
        <pc:sldMkLst>
          <pc:docMk/>
          <pc:sldMk cId="1971406855" sldId="590"/>
        </pc:sldMkLst>
        <pc:graphicFrameChg chg="modGraphic">
          <ac:chgData name="Thomas Sabu" userId="b64b0aab-5ab9-45cd-a5b3-a95c691e648d" providerId="ADAL" clId="{281930C9-63D2-4C41-B656-8E2E4C3000D6}" dt="2026-02-18T10:01:37.967" v="441" actId="20577"/>
          <ac:graphicFrameMkLst>
            <pc:docMk/>
            <pc:sldMk cId="1971406855" sldId="590"/>
            <ac:graphicFrameMk id="24" creationId="{A670684C-6BE5-4527-96E6-67A7DF4078BB}"/>
          </ac:graphicFrameMkLst>
        </pc:graphicFrameChg>
      </pc:sldChg>
      <pc:sldChg chg="modSp mod">
        <pc:chgData name="Thomas Sabu" userId="b64b0aab-5ab9-45cd-a5b3-a95c691e648d" providerId="ADAL" clId="{281930C9-63D2-4C41-B656-8E2E4C3000D6}" dt="2026-02-18T07:14:50.528" v="168" actId="20577"/>
        <pc:sldMkLst>
          <pc:docMk/>
          <pc:sldMk cId="3037809255" sldId="592"/>
        </pc:sldMkLst>
        <pc:spChg chg="mod">
          <ac:chgData name="Thomas Sabu" userId="b64b0aab-5ab9-45cd-a5b3-a95c691e648d" providerId="ADAL" clId="{281930C9-63D2-4C41-B656-8E2E4C3000D6}" dt="2026-02-18T07:14:50.528" v="168" actId="20577"/>
          <ac:spMkLst>
            <pc:docMk/>
            <pc:sldMk cId="3037809255" sldId="592"/>
            <ac:spMk id="4" creationId="{00000000-0000-0000-0000-000000000000}"/>
          </ac:spMkLst>
        </pc:spChg>
      </pc:sldChg>
      <pc:sldChg chg="modSp mod">
        <pc:chgData name="Thomas Sabu" userId="b64b0aab-5ab9-45cd-a5b3-a95c691e648d" providerId="ADAL" clId="{281930C9-63D2-4C41-B656-8E2E4C3000D6}" dt="2026-02-19T06:56:33.211" v="2128" actId="20577"/>
        <pc:sldMkLst>
          <pc:docMk/>
          <pc:sldMk cId="4210516502" sldId="593"/>
        </pc:sldMkLst>
        <pc:spChg chg="mod">
          <ac:chgData name="Thomas Sabu" userId="b64b0aab-5ab9-45cd-a5b3-a95c691e648d" providerId="ADAL" clId="{281930C9-63D2-4C41-B656-8E2E4C3000D6}" dt="2026-02-19T06:43:25.640" v="909"/>
          <ac:spMkLst>
            <pc:docMk/>
            <pc:sldMk cId="4210516502" sldId="593"/>
            <ac:spMk id="32" creationId="{B7456D42-6DBD-4FA6-AF00-A7A399CFFCCC}"/>
          </ac:spMkLst>
        </pc:spChg>
        <pc:graphicFrameChg chg="mod modGraphic">
          <ac:chgData name="Thomas Sabu" userId="b64b0aab-5ab9-45cd-a5b3-a95c691e648d" providerId="ADAL" clId="{281930C9-63D2-4C41-B656-8E2E4C3000D6}" dt="2026-02-19T06:56:33.211" v="2128" actId="20577"/>
          <ac:graphicFrameMkLst>
            <pc:docMk/>
            <pc:sldMk cId="4210516502" sldId="593"/>
            <ac:graphicFrameMk id="7" creationId="{6A646B48-556E-4D2D-A42D-0AEA0EB4D568}"/>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Khadija.Mazouari\Downloads\SurveyReport-6307820-10-4-2018.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Khadija.Mazouari\Documents\Business%20Media\ADNOC\IT%20strategy\ITD%20Satisfaction%20Survey\Survey%20feedback\SurveyReport-6307820-10-4-2018-graphic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Khadija.Mazouari\Downloads\SurveyReport-6307820-10-4-2018.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Khadija.Mazouari\Downloads\SurveyReport-6307820-10-4-2018.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Khadija.Mazouari\Downloads\SurveyReport-6307820-10-4-2018.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Khadija.Mazouari\Downloads\SurveyReport-6307820-10-4-2018.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Khadija.Mazouari\Downloads\SurveyReport-6307820-10-4-2018.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Khadija.Mazouari\Downloads\SurveyReport-6307820-10-4-2018.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Plan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2870398573454388"/>
          <c:y val="0.28280991091984098"/>
          <c:w val="0.54567790165468799"/>
          <c:h val="0.56542312443462139"/>
        </c:manualLayout>
      </c:layout>
      <c:barChart>
        <c:barDir val="bar"/>
        <c:grouping val="stacked"/>
        <c:varyColors val="0"/>
        <c:ser>
          <c:idx val="0"/>
          <c:order val="0"/>
          <c:tx>
            <c:strRef>
              <c:f>Sheet1!$B$1</c:f>
              <c:strCache>
                <c:ptCount val="1"/>
                <c:pt idx="0">
                  <c:v>ITD</c:v>
                </c:pt>
              </c:strCache>
            </c:strRef>
          </c:tx>
          <c:spPr>
            <a:solidFill>
              <a:srgbClr val="0070C0"/>
            </a:solidFill>
            <a:ln>
              <a:noFill/>
            </a:ln>
            <a:effectLst/>
          </c:spPr>
          <c:invertIfNegative val="0"/>
          <c:cat>
            <c:strRef>
              <c:f>Sheet1!$A$2:$A$8</c:f>
              <c:strCache>
                <c:ptCount val="7"/>
                <c:pt idx="0">
                  <c:v>Enterprise Architecture</c:v>
                </c:pt>
                <c:pt idx="1">
                  <c:v>Financial Management</c:v>
                </c:pt>
                <c:pt idx="2">
                  <c:v>Sourcing &amp; Vendor Mgmt.</c:v>
                </c:pt>
                <c:pt idx="3">
                  <c:v>Manage Resource Planning</c:v>
                </c:pt>
                <c:pt idx="4">
                  <c:v>Manage IT Portfolio</c:v>
                </c:pt>
                <c:pt idx="5">
                  <c:v>Manage IT Governance</c:v>
                </c:pt>
                <c:pt idx="6">
                  <c:v>Tech. Strategy Planning</c:v>
                </c:pt>
              </c:strCache>
            </c:strRef>
          </c:cat>
          <c:val>
            <c:numRef>
              <c:f>Sheet1!$B$2:$B$8</c:f>
              <c:numCache>
                <c:formatCode>General</c:formatCode>
                <c:ptCount val="7"/>
                <c:pt idx="0">
                  <c:v>0</c:v>
                </c:pt>
                <c:pt idx="1">
                  <c:v>0.1</c:v>
                </c:pt>
                <c:pt idx="2">
                  <c:v>0</c:v>
                </c:pt>
                <c:pt idx="3">
                  <c:v>0.1</c:v>
                </c:pt>
                <c:pt idx="4">
                  <c:v>0.1</c:v>
                </c:pt>
                <c:pt idx="5">
                  <c:v>0.1</c:v>
                </c:pt>
                <c:pt idx="6">
                  <c:v>0.1</c:v>
                </c:pt>
              </c:numCache>
            </c:numRef>
          </c:val>
          <c:extLst>
            <c:ext xmlns:c16="http://schemas.microsoft.com/office/drawing/2014/chart" uri="{C3380CC4-5D6E-409C-BE32-E72D297353CC}">
              <c16:uniqueId val="{00000000-66A5-44D6-9970-55E58CD7073D}"/>
            </c:ext>
          </c:extLst>
        </c:ser>
        <c:ser>
          <c:idx val="1"/>
          <c:order val="1"/>
          <c:tx>
            <c:strRef>
              <c:f>Sheet1!$C$1</c:f>
              <c:strCache>
                <c:ptCount val="1"/>
                <c:pt idx="0">
                  <c:v>Global Benchmark</c:v>
                </c:pt>
              </c:strCache>
            </c:strRef>
          </c:tx>
          <c:spPr>
            <a:solidFill>
              <a:schemeClr val="accent5"/>
            </a:solidFill>
            <a:ln>
              <a:noFill/>
            </a:ln>
            <a:effectLst/>
          </c:spPr>
          <c:invertIfNegative val="0"/>
          <c:cat>
            <c:strRef>
              <c:f>Sheet1!$A$2:$A$8</c:f>
              <c:strCache>
                <c:ptCount val="7"/>
                <c:pt idx="0">
                  <c:v>Enterprise Architecture</c:v>
                </c:pt>
                <c:pt idx="1">
                  <c:v>Financial Management</c:v>
                </c:pt>
                <c:pt idx="2">
                  <c:v>Sourcing &amp; Vendor Mgmt.</c:v>
                </c:pt>
                <c:pt idx="3">
                  <c:v>Manage Resource Planning</c:v>
                </c:pt>
                <c:pt idx="4">
                  <c:v>Manage IT Portfolio</c:v>
                </c:pt>
                <c:pt idx="5">
                  <c:v>Manage IT Governance</c:v>
                </c:pt>
                <c:pt idx="6">
                  <c:v>Tech. Strategy Planning</c:v>
                </c:pt>
              </c:strCache>
            </c:strRef>
          </c:cat>
          <c:val>
            <c:numRef>
              <c:f>Sheet1!$C$2:$C$8</c:f>
              <c:numCache>
                <c:formatCode>General</c:formatCode>
                <c:ptCount val="7"/>
                <c:pt idx="0">
                  <c:v>0.7</c:v>
                </c:pt>
                <c:pt idx="1">
                  <c:v>0.7</c:v>
                </c:pt>
                <c:pt idx="2">
                  <c:v>0.7</c:v>
                </c:pt>
                <c:pt idx="3">
                  <c:v>0.7</c:v>
                </c:pt>
                <c:pt idx="4">
                  <c:v>0.9</c:v>
                </c:pt>
                <c:pt idx="5">
                  <c:v>0.7</c:v>
                </c:pt>
                <c:pt idx="6">
                  <c:v>1</c:v>
                </c:pt>
              </c:numCache>
            </c:numRef>
          </c:val>
          <c:extLst>
            <c:ext xmlns:c16="http://schemas.microsoft.com/office/drawing/2014/chart" uri="{C3380CC4-5D6E-409C-BE32-E72D297353CC}">
              <c16:uniqueId val="{00000001-66A5-44D6-9970-55E58CD7073D}"/>
            </c:ext>
          </c:extLst>
        </c:ser>
        <c:dLbls>
          <c:showLegendKey val="0"/>
          <c:showVal val="0"/>
          <c:showCatName val="0"/>
          <c:showSerName val="0"/>
          <c:showPercent val="0"/>
          <c:showBubbleSize val="0"/>
        </c:dLbls>
        <c:gapWidth val="75"/>
        <c:overlap val="100"/>
        <c:axId val="202384776"/>
        <c:axId val="202388304"/>
      </c:barChart>
      <c:catAx>
        <c:axId val="2023847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02388304"/>
        <c:crosses val="autoZero"/>
        <c:auto val="1"/>
        <c:lblAlgn val="ctr"/>
        <c:lblOffset val="100"/>
        <c:noMultiLvlLbl val="0"/>
      </c:catAx>
      <c:valAx>
        <c:axId val="202388304"/>
        <c:scaling>
          <c:orientation val="minMax"/>
          <c:max val="3"/>
        </c:scaling>
        <c:delete val="1"/>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crossAx val="202384776"/>
        <c:crosses val="autoZero"/>
        <c:crossBetween val="between"/>
        <c:minorUnit val="0.5"/>
      </c:valAx>
      <c:spPr>
        <a:noFill/>
        <a:ln>
          <a:noFill/>
        </a:ln>
        <a:effectLst/>
      </c:spPr>
    </c:plotArea>
    <c:plotVisOnly val="1"/>
    <c:dispBlanksAs val="gap"/>
    <c:showDLblsOverMax val="0"/>
  </c:chart>
  <c:spPr>
    <a:noFill/>
    <a:ln>
      <a:solidFill>
        <a:srgbClr val="2C973E"/>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Build</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2870398573454388"/>
          <c:y val="0.28280991091984098"/>
          <c:w val="0.54567790165468799"/>
          <c:h val="0.56542312443462139"/>
        </c:manualLayout>
      </c:layout>
      <c:barChart>
        <c:barDir val="bar"/>
        <c:grouping val="stacked"/>
        <c:varyColors val="0"/>
        <c:ser>
          <c:idx val="0"/>
          <c:order val="0"/>
          <c:tx>
            <c:strRef>
              <c:f>Sheet1!$B$1</c:f>
              <c:strCache>
                <c:ptCount val="1"/>
                <c:pt idx="0">
                  <c:v>ITD</c:v>
                </c:pt>
              </c:strCache>
            </c:strRef>
          </c:tx>
          <c:spPr>
            <a:solidFill>
              <a:srgbClr val="0070C0"/>
            </a:solidFill>
            <a:ln>
              <a:noFill/>
            </a:ln>
            <a:effectLst/>
          </c:spPr>
          <c:invertIfNegative val="0"/>
          <c:cat>
            <c:strRef>
              <c:f>Sheet1!$A$2:$A$5</c:f>
              <c:strCache>
                <c:ptCount val="4"/>
                <c:pt idx="0">
                  <c:v>IT PMO</c:v>
                </c:pt>
                <c:pt idx="1">
                  <c:v>Training &amp; Knowledge transfer</c:v>
                </c:pt>
                <c:pt idx="2">
                  <c:v>Solution Development &amp; Testing </c:v>
                </c:pt>
                <c:pt idx="3">
                  <c:v>Business Analysis &amp; Solution Design </c:v>
                </c:pt>
              </c:strCache>
            </c:strRef>
          </c:cat>
          <c:val>
            <c:numRef>
              <c:f>Sheet1!$B$2:$B$5</c:f>
              <c:numCache>
                <c:formatCode>General</c:formatCode>
                <c:ptCount val="4"/>
                <c:pt idx="0">
                  <c:v>0.3</c:v>
                </c:pt>
                <c:pt idx="1">
                  <c:v>0.1</c:v>
                </c:pt>
                <c:pt idx="2">
                  <c:v>0.1</c:v>
                </c:pt>
                <c:pt idx="3">
                  <c:v>0.1</c:v>
                </c:pt>
              </c:numCache>
            </c:numRef>
          </c:val>
          <c:extLst>
            <c:ext xmlns:c16="http://schemas.microsoft.com/office/drawing/2014/chart" uri="{C3380CC4-5D6E-409C-BE32-E72D297353CC}">
              <c16:uniqueId val="{00000000-D5B0-4AF1-9399-46248EA6A238}"/>
            </c:ext>
          </c:extLst>
        </c:ser>
        <c:ser>
          <c:idx val="1"/>
          <c:order val="1"/>
          <c:tx>
            <c:strRef>
              <c:f>Sheet1!$C$1</c:f>
              <c:strCache>
                <c:ptCount val="1"/>
                <c:pt idx="0">
                  <c:v>Global Benchmark</c:v>
                </c:pt>
              </c:strCache>
            </c:strRef>
          </c:tx>
          <c:spPr>
            <a:solidFill>
              <a:srgbClr val="9D9FA0"/>
            </a:solidFill>
            <a:ln>
              <a:noFill/>
            </a:ln>
            <a:effectLst/>
          </c:spPr>
          <c:invertIfNegative val="0"/>
          <c:cat>
            <c:strRef>
              <c:f>Sheet1!$A$2:$A$5</c:f>
              <c:strCache>
                <c:ptCount val="4"/>
                <c:pt idx="0">
                  <c:v>IT PMO</c:v>
                </c:pt>
                <c:pt idx="1">
                  <c:v>Training &amp; Knowledge transfer</c:v>
                </c:pt>
                <c:pt idx="2">
                  <c:v>Solution Development &amp; Testing </c:v>
                </c:pt>
                <c:pt idx="3">
                  <c:v>Business Analysis &amp; Solution Design </c:v>
                </c:pt>
              </c:strCache>
            </c:strRef>
          </c:cat>
          <c:val>
            <c:numRef>
              <c:f>Sheet1!$C$2:$C$5</c:f>
              <c:numCache>
                <c:formatCode>General</c:formatCode>
                <c:ptCount val="4"/>
                <c:pt idx="0">
                  <c:v>0.7</c:v>
                </c:pt>
                <c:pt idx="1">
                  <c:v>0.9</c:v>
                </c:pt>
                <c:pt idx="2">
                  <c:v>0.7</c:v>
                </c:pt>
                <c:pt idx="3">
                  <c:v>1</c:v>
                </c:pt>
              </c:numCache>
            </c:numRef>
          </c:val>
          <c:extLst>
            <c:ext xmlns:c16="http://schemas.microsoft.com/office/drawing/2014/chart" uri="{C3380CC4-5D6E-409C-BE32-E72D297353CC}">
              <c16:uniqueId val="{00000001-D5B0-4AF1-9399-46248EA6A238}"/>
            </c:ext>
          </c:extLst>
        </c:ser>
        <c:dLbls>
          <c:showLegendKey val="0"/>
          <c:showVal val="0"/>
          <c:showCatName val="0"/>
          <c:showSerName val="0"/>
          <c:showPercent val="0"/>
          <c:showBubbleSize val="0"/>
        </c:dLbls>
        <c:gapWidth val="75"/>
        <c:overlap val="100"/>
        <c:axId val="202389872"/>
        <c:axId val="202391048"/>
      </c:barChart>
      <c:catAx>
        <c:axId val="2023898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02391048"/>
        <c:crosses val="autoZero"/>
        <c:auto val="1"/>
        <c:lblAlgn val="ctr"/>
        <c:lblOffset val="100"/>
        <c:noMultiLvlLbl val="0"/>
      </c:catAx>
      <c:valAx>
        <c:axId val="202391048"/>
        <c:scaling>
          <c:orientation val="minMax"/>
          <c:max val="3"/>
        </c:scaling>
        <c:delete val="1"/>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crossAx val="202389872"/>
        <c:crosses val="autoZero"/>
        <c:crossBetween val="between"/>
        <c:minorUnit val="0.5"/>
      </c:valAx>
      <c:spPr>
        <a:noFill/>
        <a:ln>
          <a:noFill/>
        </a:ln>
        <a:effectLst/>
      </c:spPr>
    </c:plotArea>
    <c:plotVisOnly val="1"/>
    <c:dispBlanksAs val="gap"/>
    <c:showDLblsOverMax val="0"/>
  </c:chart>
  <c:spPr>
    <a:noFill/>
    <a:ln>
      <a:solidFill>
        <a:srgbClr val="2C973E"/>
      </a:solid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Run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2870398573454388"/>
          <c:y val="0.28280991091984098"/>
          <c:w val="0.54567790165468799"/>
          <c:h val="0.56542312443462139"/>
        </c:manualLayout>
      </c:layout>
      <c:barChart>
        <c:barDir val="bar"/>
        <c:grouping val="stacked"/>
        <c:varyColors val="0"/>
        <c:ser>
          <c:idx val="0"/>
          <c:order val="0"/>
          <c:tx>
            <c:strRef>
              <c:f>Sheet1!$B$1</c:f>
              <c:strCache>
                <c:ptCount val="1"/>
                <c:pt idx="0">
                  <c:v>ITD</c:v>
                </c:pt>
              </c:strCache>
            </c:strRef>
          </c:tx>
          <c:spPr>
            <a:solidFill>
              <a:srgbClr val="0070C0"/>
            </a:solidFill>
            <a:ln>
              <a:noFill/>
            </a:ln>
            <a:effectLst/>
          </c:spPr>
          <c:invertIfNegative val="0"/>
          <c:cat>
            <c:strRef>
              <c:f>Sheet1!$A$2:$A$5</c:f>
              <c:strCache>
                <c:ptCount val="4"/>
                <c:pt idx="0">
                  <c:v>IT Assets and Config.</c:v>
                </c:pt>
                <c:pt idx="1">
                  <c:v>Service Mgmt.</c:v>
                </c:pt>
                <c:pt idx="2">
                  <c:v>IT problems &amp; Incidents Resolution</c:v>
                </c:pt>
                <c:pt idx="3">
                  <c:v>Request Fulfilment (Help Desk)</c:v>
                </c:pt>
              </c:strCache>
            </c:strRef>
          </c:cat>
          <c:val>
            <c:numRef>
              <c:f>Sheet1!$B$2:$B$5</c:f>
              <c:numCache>
                <c:formatCode>General</c:formatCode>
                <c:ptCount val="4"/>
                <c:pt idx="0">
                  <c:v>0.2</c:v>
                </c:pt>
                <c:pt idx="1">
                  <c:v>0.3</c:v>
                </c:pt>
                <c:pt idx="2">
                  <c:v>0.1</c:v>
                </c:pt>
                <c:pt idx="3">
                  <c:v>0.3</c:v>
                </c:pt>
              </c:numCache>
            </c:numRef>
          </c:val>
          <c:extLst>
            <c:ext xmlns:c16="http://schemas.microsoft.com/office/drawing/2014/chart" uri="{C3380CC4-5D6E-409C-BE32-E72D297353CC}">
              <c16:uniqueId val="{00000000-AD4F-41DF-B10E-8AB88D7F8F2A}"/>
            </c:ext>
          </c:extLst>
        </c:ser>
        <c:ser>
          <c:idx val="1"/>
          <c:order val="1"/>
          <c:tx>
            <c:strRef>
              <c:f>Sheet1!$C$1</c:f>
              <c:strCache>
                <c:ptCount val="1"/>
                <c:pt idx="0">
                  <c:v>Global Benchmark</c:v>
                </c:pt>
              </c:strCache>
            </c:strRef>
          </c:tx>
          <c:spPr>
            <a:solidFill>
              <a:srgbClr val="9D9FA0"/>
            </a:solidFill>
            <a:ln>
              <a:noFill/>
            </a:ln>
            <a:effectLst/>
          </c:spPr>
          <c:invertIfNegative val="0"/>
          <c:cat>
            <c:strRef>
              <c:f>Sheet1!$A$2:$A$5</c:f>
              <c:strCache>
                <c:ptCount val="4"/>
                <c:pt idx="0">
                  <c:v>IT Assets and Config.</c:v>
                </c:pt>
                <c:pt idx="1">
                  <c:v>Service Mgmt.</c:v>
                </c:pt>
                <c:pt idx="2">
                  <c:v>IT problems &amp; Incidents Resolution</c:v>
                </c:pt>
                <c:pt idx="3">
                  <c:v>Request Fulfilment (Help Desk)</c:v>
                </c:pt>
              </c:strCache>
            </c:strRef>
          </c:cat>
          <c:val>
            <c:numRef>
              <c:f>Sheet1!$C$2:$C$5</c:f>
              <c:numCache>
                <c:formatCode>General</c:formatCode>
                <c:ptCount val="4"/>
                <c:pt idx="0">
                  <c:v>0.7</c:v>
                </c:pt>
                <c:pt idx="1">
                  <c:v>0.9</c:v>
                </c:pt>
                <c:pt idx="2">
                  <c:v>0.7</c:v>
                </c:pt>
                <c:pt idx="3">
                  <c:v>1</c:v>
                </c:pt>
              </c:numCache>
            </c:numRef>
          </c:val>
          <c:extLst>
            <c:ext xmlns:c16="http://schemas.microsoft.com/office/drawing/2014/chart" uri="{C3380CC4-5D6E-409C-BE32-E72D297353CC}">
              <c16:uniqueId val="{00000001-AD4F-41DF-B10E-8AB88D7F8F2A}"/>
            </c:ext>
          </c:extLst>
        </c:ser>
        <c:dLbls>
          <c:showLegendKey val="0"/>
          <c:showVal val="0"/>
          <c:showCatName val="0"/>
          <c:showSerName val="0"/>
          <c:showPercent val="0"/>
          <c:showBubbleSize val="0"/>
        </c:dLbls>
        <c:gapWidth val="75"/>
        <c:overlap val="100"/>
        <c:axId val="1278239464"/>
        <c:axId val="1278239072"/>
      </c:barChart>
      <c:catAx>
        <c:axId val="12782394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278239072"/>
        <c:crosses val="autoZero"/>
        <c:auto val="1"/>
        <c:lblAlgn val="ctr"/>
        <c:lblOffset val="100"/>
        <c:noMultiLvlLbl val="0"/>
      </c:catAx>
      <c:valAx>
        <c:axId val="1278239072"/>
        <c:scaling>
          <c:orientation val="minMax"/>
          <c:max val="3"/>
        </c:scaling>
        <c:delete val="1"/>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crossAx val="1278239464"/>
        <c:crosses val="autoZero"/>
        <c:crossBetween val="between"/>
        <c:minorUnit val="0.5"/>
      </c:valAx>
      <c:spPr>
        <a:noFill/>
        <a:ln>
          <a:noFill/>
        </a:ln>
        <a:effectLst/>
      </c:spPr>
    </c:plotArea>
    <c:plotVisOnly val="1"/>
    <c:dispBlanksAs val="gap"/>
    <c:showDLblsOverMax val="0"/>
  </c:chart>
  <c:spPr>
    <a:noFill/>
    <a:ln>
      <a:solidFill>
        <a:srgbClr val="2C973E"/>
      </a:solid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Deliver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2870398573454388"/>
          <c:y val="0.28280991091984098"/>
          <c:w val="0.54567790165468799"/>
          <c:h val="0.56542312443462139"/>
        </c:manualLayout>
      </c:layout>
      <c:barChart>
        <c:barDir val="bar"/>
        <c:grouping val="stacked"/>
        <c:varyColors val="0"/>
        <c:ser>
          <c:idx val="0"/>
          <c:order val="0"/>
          <c:tx>
            <c:strRef>
              <c:f>Sheet1!$B$1</c:f>
              <c:strCache>
                <c:ptCount val="1"/>
                <c:pt idx="0">
                  <c:v>ITD</c:v>
                </c:pt>
              </c:strCache>
            </c:strRef>
          </c:tx>
          <c:spPr>
            <a:solidFill>
              <a:srgbClr val="0070C0"/>
            </a:solidFill>
            <a:ln>
              <a:noFill/>
            </a:ln>
            <a:effectLst/>
          </c:spPr>
          <c:invertIfNegative val="0"/>
          <c:cat>
            <c:strRef>
              <c:f>Sheet1!$A$2:$A$5</c:f>
              <c:strCache>
                <c:ptCount val="4"/>
                <c:pt idx="0">
                  <c:v>System and services availability</c:v>
                </c:pt>
                <c:pt idx="1">
                  <c:v>Infra. &amp; Datacenter</c:v>
                </c:pt>
                <c:pt idx="2">
                  <c:v>Network &amp; Communications</c:v>
                </c:pt>
                <c:pt idx="3">
                  <c:v>Solutions Integration &amp; deployment</c:v>
                </c:pt>
              </c:strCache>
            </c:strRef>
          </c:cat>
          <c:val>
            <c:numRef>
              <c:f>Sheet1!$B$2:$B$5</c:f>
              <c:numCache>
                <c:formatCode>General</c:formatCode>
                <c:ptCount val="4"/>
                <c:pt idx="0">
                  <c:v>0.4</c:v>
                </c:pt>
                <c:pt idx="1">
                  <c:v>0.3</c:v>
                </c:pt>
                <c:pt idx="2">
                  <c:v>0.3</c:v>
                </c:pt>
                <c:pt idx="3">
                  <c:v>0.2</c:v>
                </c:pt>
              </c:numCache>
            </c:numRef>
          </c:val>
          <c:extLst>
            <c:ext xmlns:c16="http://schemas.microsoft.com/office/drawing/2014/chart" uri="{C3380CC4-5D6E-409C-BE32-E72D297353CC}">
              <c16:uniqueId val="{00000000-6F87-4991-A837-0480A88CB21B}"/>
            </c:ext>
          </c:extLst>
        </c:ser>
        <c:ser>
          <c:idx val="1"/>
          <c:order val="1"/>
          <c:tx>
            <c:strRef>
              <c:f>Sheet1!$C$1</c:f>
              <c:strCache>
                <c:ptCount val="1"/>
                <c:pt idx="0">
                  <c:v>Global Benchmark</c:v>
                </c:pt>
              </c:strCache>
            </c:strRef>
          </c:tx>
          <c:spPr>
            <a:solidFill>
              <a:srgbClr val="9D9FA0"/>
            </a:solidFill>
            <a:ln>
              <a:noFill/>
            </a:ln>
            <a:effectLst/>
          </c:spPr>
          <c:invertIfNegative val="0"/>
          <c:cat>
            <c:strRef>
              <c:f>Sheet1!$A$2:$A$5</c:f>
              <c:strCache>
                <c:ptCount val="4"/>
                <c:pt idx="0">
                  <c:v>System and services availability</c:v>
                </c:pt>
                <c:pt idx="1">
                  <c:v>Infra. &amp; Datacenter</c:v>
                </c:pt>
                <c:pt idx="2">
                  <c:v>Network &amp; Communications</c:v>
                </c:pt>
                <c:pt idx="3">
                  <c:v>Solutions Integration &amp; deployment</c:v>
                </c:pt>
              </c:strCache>
            </c:strRef>
          </c:cat>
          <c:val>
            <c:numRef>
              <c:f>Sheet1!$C$2:$C$5</c:f>
              <c:numCache>
                <c:formatCode>General</c:formatCode>
                <c:ptCount val="4"/>
                <c:pt idx="0">
                  <c:v>0.7</c:v>
                </c:pt>
                <c:pt idx="1">
                  <c:v>0.9</c:v>
                </c:pt>
                <c:pt idx="2">
                  <c:v>0.7</c:v>
                </c:pt>
                <c:pt idx="3">
                  <c:v>1</c:v>
                </c:pt>
              </c:numCache>
            </c:numRef>
          </c:val>
          <c:extLst>
            <c:ext xmlns:c16="http://schemas.microsoft.com/office/drawing/2014/chart" uri="{C3380CC4-5D6E-409C-BE32-E72D297353CC}">
              <c16:uniqueId val="{00000001-6F87-4991-A837-0480A88CB21B}"/>
            </c:ext>
          </c:extLst>
        </c:ser>
        <c:dLbls>
          <c:showLegendKey val="0"/>
          <c:showVal val="0"/>
          <c:showCatName val="0"/>
          <c:showSerName val="0"/>
          <c:showPercent val="0"/>
          <c:showBubbleSize val="0"/>
        </c:dLbls>
        <c:gapWidth val="75"/>
        <c:overlap val="100"/>
        <c:axId val="1278232408"/>
        <c:axId val="1278231624"/>
      </c:barChart>
      <c:catAx>
        <c:axId val="12782324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278231624"/>
        <c:crosses val="autoZero"/>
        <c:auto val="1"/>
        <c:lblAlgn val="ctr"/>
        <c:lblOffset val="100"/>
        <c:noMultiLvlLbl val="0"/>
      </c:catAx>
      <c:valAx>
        <c:axId val="1278231624"/>
        <c:scaling>
          <c:orientation val="minMax"/>
          <c:max val="3"/>
        </c:scaling>
        <c:delete val="1"/>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crossAx val="1278232408"/>
        <c:crosses val="autoZero"/>
        <c:crossBetween val="between"/>
        <c:minorUnit val="0.5"/>
      </c:valAx>
      <c:spPr>
        <a:noFill/>
        <a:ln>
          <a:noFill/>
        </a:ln>
        <a:effectLst/>
      </c:spPr>
    </c:plotArea>
    <c:plotVisOnly val="1"/>
    <c:dispBlanksAs val="gap"/>
    <c:showDLblsOverMax val="0"/>
  </c:chart>
  <c:spPr>
    <a:noFill/>
    <a:ln>
      <a:solidFill>
        <a:srgbClr val="2C973E"/>
      </a:solid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767114614522506"/>
          <c:y val="0.13100614616428341"/>
          <c:w val="0.59374099886169895"/>
          <c:h val="0.65778429989654019"/>
        </c:manualLayout>
      </c:layout>
      <c:barChart>
        <c:barDir val="bar"/>
        <c:grouping val="clustered"/>
        <c:varyColors val="0"/>
        <c:ser>
          <c:idx val="0"/>
          <c:order val="0"/>
          <c:tx>
            <c:strRef>
              <c:f>Sheet1!$B$1</c:f>
              <c:strCache>
                <c:ptCount val="1"/>
                <c:pt idx="0">
                  <c:v>Series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dPt>
            <c:idx val="0"/>
            <c:invertIfNegative val="0"/>
            <c:bubble3D val="0"/>
            <c:extLst>
              <c:ext xmlns:c16="http://schemas.microsoft.com/office/drawing/2014/chart" uri="{C3380CC4-5D6E-409C-BE32-E72D297353CC}">
                <c16:uniqueId val="{00000000-CCE8-4793-9E5B-2B79A682DAFB}"/>
              </c:ext>
            </c:extLst>
          </c:dPt>
          <c:dPt>
            <c:idx val="2"/>
            <c:invertIfNegative val="0"/>
            <c:bubble3D val="0"/>
            <c:extLst>
              <c:ext xmlns:c16="http://schemas.microsoft.com/office/drawing/2014/chart" uri="{C3380CC4-5D6E-409C-BE32-E72D297353CC}">
                <c16:uniqueId val="{00000001-CCE8-4793-9E5B-2B79A682DAFB}"/>
              </c:ext>
            </c:extLst>
          </c:dPt>
          <c:dLbls>
            <c:dLbl>
              <c:idx val="0"/>
              <c:layout>
                <c:manualLayout>
                  <c:x val="-1.112840398735231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CE8-4793-9E5B-2B79A682DAFB}"/>
                </c:ext>
              </c:extLst>
            </c:dLbl>
            <c:dLbl>
              <c:idx val="1"/>
              <c:layout>
                <c:manualLayout>
                  <c:x val="-3.5953305189908246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CE8-4793-9E5B-2B79A682DAFB}"/>
                </c:ext>
              </c:extLst>
            </c:dLbl>
            <c:dLbl>
              <c:idx val="2"/>
              <c:layout>
                <c:manualLayout>
                  <c:x val="-7.8754858987416347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CE8-4793-9E5B-2B79A682DAFB}"/>
                </c:ext>
              </c:extLst>
            </c:dLbl>
            <c:dLbl>
              <c:idx val="3"/>
              <c:layout>
                <c:manualLayout>
                  <c:x val="-1.3313136841622792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CE8-4793-9E5B-2B79A682DAFB}"/>
                </c:ext>
              </c:extLst>
            </c:dLbl>
            <c:dLbl>
              <c:idx val="4"/>
              <c:layout>
                <c:manualLayout>
                  <c:x val="-1.4295718968368044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CE8-4793-9E5B-2B79A682DAFB}"/>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ADNOC Distribution - Tech. Division</c:v>
                </c:pt>
                <c:pt idx="1">
                  <c:v>Retail Companies</c:v>
                </c:pt>
                <c:pt idx="2">
                  <c:v>Benchmark Average</c:v>
                </c:pt>
                <c:pt idx="3">
                  <c:v>Utilities</c:v>
                </c:pt>
                <c:pt idx="4">
                  <c:v>Energy</c:v>
                </c:pt>
              </c:strCache>
            </c:strRef>
          </c:cat>
          <c:val>
            <c:numRef>
              <c:f>Sheet1!$B$2:$B$6</c:f>
              <c:numCache>
                <c:formatCode>General</c:formatCode>
                <c:ptCount val="5"/>
                <c:pt idx="0">
                  <c:v>141</c:v>
                </c:pt>
                <c:pt idx="1">
                  <c:v>48</c:v>
                </c:pt>
                <c:pt idx="2">
                  <c:v>20</c:v>
                </c:pt>
                <c:pt idx="3">
                  <c:v>16</c:v>
                </c:pt>
                <c:pt idx="4">
                  <c:v>21</c:v>
                </c:pt>
              </c:numCache>
            </c:numRef>
          </c:val>
          <c:extLst>
            <c:ext xmlns:c16="http://schemas.microsoft.com/office/drawing/2014/chart" uri="{C3380CC4-5D6E-409C-BE32-E72D297353CC}">
              <c16:uniqueId val="{00000005-CCE8-4793-9E5B-2B79A682DAFB}"/>
            </c:ext>
          </c:extLst>
        </c:ser>
        <c:dLbls>
          <c:dLblPos val="inEnd"/>
          <c:showLegendKey val="0"/>
          <c:showVal val="1"/>
          <c:showCatName val="0"/>
          <c:showSerName val="0"/>
          <c:showPercent val="0"/>
          <c:showBubbleSize val="0"/>
        </c:dLbls>
        <c:gapWidth val="326"/>
        <c:overlap val="-58"/>
        <c:axId val="1100823144"/>
        <c:axId val="1100823928"/>
      </c:barChart>
      <c:dateAx>
        <c:axId val="1100823144"/>
        <c:scaling>
          <c:orientation val="minMax"/>
        </c:scaling>
        <c:delete val="0"/>
        <c:axPos val="l"/>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0823928"/>
        <c:crosses val="autoZero"/>
        <c:auto val="0"/>
        <c:lblOffset val="100"/>
        <c:baseTimeUnit val="days"/>
      </c:dateAx>
      <c:valAx>
        <c:axId val="1100823928"/>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008231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767114614522506"/>
          <c:y val="0.23096382776374905"/>
          <c:w val="0.59374099886169895"/>
          <c:h val="0.55782704227199675"/>
        </c:manualLayout>
      </c:layout>
      <c:barChart>
        <c:barDir val="bar"/>
        <c:grouping val="clustered"/>
        <c:varyColors val="0"/>
        <c:ser>
          <c:idx val="0"/>
          <c:order val="0"/>
          <c:tx>
            <c:strRef>
              <c:f>Sheet1!$B$1</c:f>
              <c:strCache>
                <c:ptCount val="1"/>
                <c:pt idx="0">
                  <c:v>Incidents vs requests</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dPt>
            <c:idx val="0"/>
            <c:invertIfNegative val="0"/>
            <c:bubble3D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extLst>
              <c:ext xmlns:c16="http://schemas.microsoft.com/office/drawing/2014/chart" uri="{C3380CC4-5D6E-409C-BE32-E72D297353CC}">
                <c16:uniqueId val="{00000001-3443-4A76-AB1A-CFFE333D3A95}"/>
              </c:ext>
            </c:extLst>
          </c:dPt>
          <c:dLbls>
            <c:dLbl>
              <c:idx val="0"/>
              <c:layout>
                <c:manualLayout>
                  <c:x val="8.1173022500856873E-4"/>
                  <c:y val="1.93871226762167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443-4A76-AB1A-CFFE333D3A95}"/>
                </c:ext>
              </c:extLst>
            </c:dLbl>
            <c:dLbl>
              <c:idx val="1"/>
              <c:layout>
                <c:manualLayout>
                  <c:x val="-2.0614516447796435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443-4A76-AB1A-CFFE333D3A9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c:f>
              <c:strCache>
                <c:ptCount val="2"/>
                <c:pt idx="0">
                  <c:v>ADNOC Distribution</c:v>
                </c:pt>
                <c:pt idx="1">
                  <c:v>Benchmark Max</c:v>
                </c:pt>
              </c:strCache>
            </c:strRef>
          </c:cat>
          <c:val>
            <c:numRef>
              <c:f>Sheet1!$B$2:$B$3</c:f>
              <c:numCache>
                <c:formatCode>0</c:formatCode>
                <c:ptCount val="2"/>
                <c:pt idx="0">
                  <c:v>1751</c:v>
                </c:pt>
                <c:pt idx="1">
                  <c:v>808</c:v>
                </c:pt>
              </c:numCache>
            </c:numRef>
          </c:val>
          <c:extLst>
            <c:ext xmlns:c16="http://schemas.microsoft.com/office/drawing/2014/chart" uri="{C3380CC4-5D6E-409C-BE32-E72D297353CC}">
              <c16:uniqueId val="{00000003-3443-4A76-AB1A-CFFE333D3A95}"/>
            </c:ext>
          </c:extLst>
        </c:ser>
        <c:dLbls>
          <c:showLegendKey val="0"/>
          <c:showVal val="0"/>
          <c:showCatName val="0"/>
          <c:showSerName val="0"/>
          <c:showPercent val="0"/>
          <c:showBubbleSize val="0"/>
        </c:dLbls>
        <c:gapWidth val="326"/>
        <c:overlap val="-58"/>
        <c:axId val="663730856"/>
        <c:axId val="663734776"/>
      </c:barChart>
      <c:catAx>
        <c:axId val="663730856"/>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3734776"/>
        <c:crosses val="autoZero"/>
        <c:auto val="1"/>
        <c:lblAlgn val="ctr"/>
        <c:lblOffset val="100"/>
        <c:noMultiLvlLbl val="0"/>
      </c:catAx>
      <c:valAx>
        <c:axId val="663734776"/>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37308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b="1">
                <a:solidFill>
                  <a:schemeClr val="tx1"/>
                </a:solidFill>
              </a:rPr>
              <a:t>In your opinion, which areas below represents the IT Division?</a:t>
            </a:r>
          </a:p>
        </c:rich>
      </c:tx>
      <c:layout>
        <c:manualLayout>
          <c:xMode val="edge"/>
          <c:yMode val="edge"/>
          <c:x val="2.5908417536200681E-2"/>
          <c:y val="8.172302219413556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35923937174167908"/>
          <c:y val="0.16708333333333336"/>
          <c:w val="0.48831585837327235"/>
          <c:h val="0.77736111111111106"/>
        </c:manualLayout>
      </c:layout>
      <c:barChart>
        <c:barDir val="bar"/>
        <c:grouping val="clustered"/>
        <c:varyColors val="0"/>
        <c:ser>
          <c:idx val="0"/>
          <c:order val="0"/>
          <c:spPr>
            <a:solidFill>
              <a:schemeClr val="accent1"/>
            </a:solidFill>
            <a:ln>
              <a:noFill/>
            </a:ln>
            <a:effectLst/>
          </c:spPr>
          <c:invertIfNegative val="0"/>
          <c:cat>
            <c:strRef>
              <c:f>'[SurveyReport-6307820-10-4-2018.xlsx]Q1 - Q14'!$A$18:$A$22</c:f>
              <c:strCache>
                <c:ptCount val="5"/>
                <c:pt idx="0">
                  <c:v>Other</c:v>
                </c:pt>
                <c:pt idx="1">
                  <c:v>Creative &amp; Innovative ideas</c:v>
                </c:pt>
                <c:pt idx="2">
                  <c:v>Business Process Knowledge</c:v>
                </c:pt>
                <c:pt idx="3">
                  <c:v>Product/Systems Knowledge &amp; Experience</c:v>
                </c:pt>
                <c:pt idx="4">
                  <c:v>Technical Solutions</c:v>
                </c:pt>
              </c:strCache>
            </c:strRef>
          </c:cat>
          <c:val>
            <c:numRef>
              <c:f>'[SurveyReport-6307820-10-4-2018.xlsx]Q1 - Q14'!$B$18:$B$22</c:f>
            </c:numRef>
          </c:val>
          <c:extLst>
            <c:ext xmlns:c16="http://schemas.microsoft.com/office/drawing/2014/chart" uri="{C3380CC4-5D6E-409C-BE32-E72D297353CC}">
              <c16:uniqueId val="{00000000-AD05-4213-8166-0D1B475C0239}"/>
            </c:ext>
          </c:extLst>
        </c:ser>
        <c:ser>
          <c:idx val="1"/>
          <c:order val="1"/>
          <c:spPr>
            <a:solidFill>
              <a:schemeClr val="accent2"/>
            </a:solidFill>
            <a:ln>
              <a:noFill/>
            </a:ln>
            <a:effectLst/>
          </c:spPr>
          <c:invertIfNegative val="0"/>
          <c:dPt>
            <c:idx val="0"/>
            <c:invertIfNegative val="0"/>
            <c:bubble3D val="0"/>
            <c:spPr>
              <a:solidFill>
                <a:schemeClr val="bg2"/>
              </a:solidFill>
              <a:ln>
                <a:noFill/>
              </a:ln>
              <a:effectLst/>
            </c:spPr>
            <c:extLst>
              <c:ext xmlns:c16="http://schemas.microsoft.com/office/drawing/2014/chart" uri="{C3380CC4-5D6E-409C-BE32-E72D297353CC}">
                <c16:uniqueId val="{00000002-AD05-4213-8166-0D1B475C0239}"/>
              </c:ext>
            </c:extLst>
          </c:dPt>
          <c:dPt>
            <c:idx val="1"/>
            <c:invertIfNegative val="0"/>
            <c:bubble3D val="0"/>
            <c:spPr>
              <a:solidFill>
                <a:schemeClr val="bg2">
                  <a:lumMod val="75000"/>
                </a:schemeClr>
              </a:solidFill>
              <a:ln>
                <a:noFill/>
              </a:ln>
              <a:effectLst/>
            </c:spPr>
            <c:extLst>
              <c:ext xmlns:c16="http://schemas.microsoft.com/office/drawing/2014/chart" uri="{C3380CC4-5D6E-409C-BE32-E72D297353CC}">
                <c16:uniqueId val="{00000004-AD05-4213-8166-0D1B475C0239}"/>
              </c:ext>
            </c:extLst>
          </c:dPt>
          <c:dPt>
            <c:idx val="2"/>
            <c:invertIfNegative val="0"/>
            <c:bubble3D val="0"/>
            <c:spPr>
              <a:solidFill>
                <a:schemeClr val="bg2">
                  <a:lumMod val="50000"/>
                </a:schemeClr>
              </a:solidFill>
              <a:ln>
                <a:noFill/>
              </a:ln>
              <a:effectLst/>
            </c:spPr>
            <c:extLst>
              <c:ext xmlns:c16="http://schemas.microsoft.com/office/drawing/2014/chart" uri="{C3380CC4-5D6E-409C-BE32-E72D297353CC}">
                <c16:uniqueId val="{00000006-AD05-4213-8166-0D1B475C0239}"/>
              </c:ext>
            </c:extLst>
          </c:dPt>
          <c:dPt>
            <c:idx val="3"/>
            <c:invertIfNegative val="0"/>
            <c:bubble3D val="0"/>
            <c:spPr>
              <a:solidFill>
                <a:srgbClr val="0070C0"/>
              </a:solidFill>
              <a:ln>
                <a:noFill/>
              </a:ln>
              <a:effectLst/>
            </c:spPr>
            <c:extLst>
              <c:ext xmlns:c16="http://schemas.microsoft.com/office/drawing/2014/chart" uri="{C3380CC4-5D6E-409C-BE32-E72D297353CC}">
                <c16:uniqueId val="{00000008-AD05-4213-8166-0D1B475C0239}"/>
              </c:ext>
            </c:extLst>
          </c:dPt>
          <c:dPt>
            <c:idx val="4"/>
            <c:invertIfNegative val="0"/>
            <c:bubble3D val="0"/>
            <c:spPr>
              <a:solidFill>
                <a:srgbClr val="002060"/>
              </a:solidFill>
              <a:ln>
                <a:noFill/>
              </a:ln>
              <a:effectLst/>
            </c:spPr>
            <c:extLst>
              <c:ext xmlns:c16="http://schemas.microsoft.com/office/drawing/2014/chart" uri="{C3380CC4-5D6E-409C-BE32-E72D297353CC}">
                <c16:uniqueId val="{0000000A-AD05-4213-8166-0D1B475C0239}"/>
              </c:ext>
            </c:extLst>
          </c:dPt>
          <c:dLbls>
            <c:dLbl>
              <c:idx val="1"/>
              <c:layout>
                <c:manualLayout>
                  <c:x val="-0.19231047691033021"/>
                  <c:y val="-1.0332676545642169E-16"/>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D05-4213-8166-0D1B475C0239}"/>
                </c:ext>
              </c:extLst>
            </c:dLbl>
            <c:dLbl>
              <c:idx val="2"/>
              <c:layout>
                <c:manualLayout>
                  <c:x val="-0.21323206423546318"/>
                  <c:y val="4.629565938252631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D05-4213-8166-0D1B475C0239}"/>
                </c:ext>
              </c:extLst>
            </c:dLbl>
            <c:dLbl>
              <c:idx val="3"/>
              <c:layout>
                <c:manualLayout>
                  <c:x val="-0.27499812365421039"/>
                  <c:y val="2.8180352480735881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D05-4213-8166-0D1B475C0239}"/>
                </c:ext>
              </c:extLst>
            </c:dLbl>
            <c:dLbl>
              <c:idx val="4"/>
              <c:layout>
                <c:manualLayout>
                  <c:x val="-0.41821395768290981"/>
                  <c:y val="2.5831691364105423E-1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D05-4213-8166-0D1B475C023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'[SurveyReport-6307820-10-4-2018.xlsx]Q1 - Q14'!$A$18:$A$22</c:f>
              <c:strCache>
                <c:ptCount val="5"/>
                <c:pt idx="0">
                  <c:v>Other</c:v>
                </c:pt>
                <c:pt idx="1">
                  <c:v>Creative &amp; Innovative ideas</c:v>
                </c:pt>
                <c:pt idx="2">
                  <c:v>Business Process Knowledge</c:v>
                </c:pt>
                <c:pt idx="3">
                  <c:v>Product/Systems Knowledge &amp; Experience</c:v>
                </c:pt>
                <c:pt idx="4">
                  <c:v>Technical Solutions</c:v>
                </c:pt>
              </c:strCache>
            </c:strRef>
          </c:cat>
          <c:val>
            <c:numRef>
              <c:f>'[SurveyReport-6307820-10-4-2018.xlsx]Q1 - Q14'!$C$18:$C$22</c:f>
              <c:numCache>
                <c:formatCode>0%</c:formatCode>
                <c:ptCount val="5"/>
                <c:pt idx="0">
                  <c:v>9.2951200619674663E-3</c:v>
                </c:pt>
                <c:pt idx="1">
                  <c:v>0.17660728117738186</c:v>
                </c:pt>
                <c:pt idx="2">
                  <c:v>0.19907048799380325</c:v>
                </c:pt>
                <c:pt idx="3">
                  <c:v>0.25174283501161893</c:v>
                </c:pt>
                <c:pt idx="4">
                  <c:v>0.36328427575522848</c:v>
                </c:pt>
              </c:numCache>
            </c:numRef>
          </c:val>
          <c:extLst>
            <c:ext xmlns:c16="http://schemas.microsoft.com/office/drawing/2014/chart" uri="{C3380CC4-5D6E-409C-BE32-E72D297353CC}">
              <c16:uniqueId val="{0000000B-AD05-4213-8166-0D1B475C0239}"/>
            </c:ext>
          </c:extLst>
        </c:ser>
        <c:dLbls>
          <c:showLegendKey val="0"/>
          <c:showVal val="0"/>
          <c:showCatName val="0"/>
          <c:showSerName val="0"/>
          <c:showPercent val="0"/>
          <c:showBubbleSize val="0"/>
        </c:dLbls>
        <c:gapWidth val="182"/>
        <c:axId val="1100816088"/>
        <c:axId val="1100818440"/>
      </c:barChart>
      <c:catAx>
        <c:axId val="11008160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100818440"/>
        <c:crosses val="autoZero"/>
        <c:auto val="1"/>
        <c:lblAlgn val="ctr"/>
        <c:lblOffset val="100"/>
        <c:noMultiLvlLbl val="0"/>
      </c:catAx>
      <c:valAx>
        <c:axId val="1100818440"/>
        <c:scaling>
          <c:orientation val="minMax"/>
        </c:scaling>
        <c:delete val="1"/>
        <c:axPos val="b"/>
        <c:numFmt formatCode="0%" sourceLinked="1"/>
        <c:majorTickMark val="none"/>
        <c:minorTickMark val="none"/>
        <c:tickLblPos val="nextTo"/>
        <c:crossAx val="11008160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baseline="0" dirty="0">
                <a:solidFill>
                  <a:schemeClr val="tx1"/>
                </a:solidFill>
                <a:effectLst/>
              </a:rPr>
              <a:t>Rate your overall experience with the services and support provided by the IT Division</a:t>
            </a:r>
            <a:endParaRPr lang="en-US" sz="1100" dirty="0">
              <a:solidFill>
                <a:schemeClr val="tx1"/>
              </a:solidFill>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1048944026072708"/>
          <c:y val="0.20781236229395406"/>
          <c:w val="0.48587854504090849"/>
          <c:h val="0.6223870462959511"/>
        </c:manualLayout>
      </c:layout>
      <c:doughnutChart>
        <c:varyColors val="1"/>
        <c:ser>
          <c:idx val="0"/>
          <c:order val="0"/>
          <c:cat>
            <c:strRef>
              <c:f>'Q1 - Q14'!$A$66:$A$71</c:f>
              <c:strCache>
                <c:ptCount val="6"/>
                <c:pt idx="0">
                  <c:v>Excellent</c:v>
                </c:pt>
                <c:pt idx="1">
                  <c:v>Very Good</c:v>
                </c:pt>
                <c:pt idx="2">
                  <c:v>Good</c:v>
                </c:pt>
                <c:pt idx="3">
                  <c:v>Neutral</c:v>
                </c:pt>
                <c:pt idx="4">
                  <c:v>Poor to Very Poor</c:v>
                </c:pt>
                <c:pt idx="5">
                  <c:v>Very Poor</c:v>
                </c:pt>
              </c:strCache>
            </c:strRef>
          </c:cat>
          <c:val>
            <c:numRef>
              <c:f>'Q1 - Q14'!$B$66:$B$71</c:f>
            </c:numRef>
          </c:val>
          <c:extLst>
            <c:ext xmlns:c16="http://schemas.microsoft.com/office/drawing/2014/chart" uri="{C3380CC4-5D6E-409C-BE32-E72D297353CC}">
              <c16:uniqueId val="{00000000-602E-4A3F-94AA-A8DBC56D3397}"/>
            </c:ext>
          </c:extLst>
        </c:ser>
        <c:ser>
          <c:idx val="1"/>
          <c:order val="1"/>
          <c:spPr>
            <a:ln>
              <a:noFill/>
            </a:ln>
          </c:spPr>
          <c:explosion val="1"/>
          <c:dPt>
            <c:idx val="0"/>
            <c:bubble3D val="0"/>
            <c:spPr>
              <a:solidFill>
                <a:schemeClr val="bg2">
                  <a:lumMod val="50000"/>
                </a:schemeClr>
              </a:solidFill>
              <a:ln w="19050">
                <a:noFill/>
              </a:ln>
              <a:effectLst/>
            </c:spPr>
            <c:extLst>
              <c:ext xmlns:c16="http://schemas.microsoft.com/office/drawing/2014/chart" uri="{C3380CC4-5D6E-409C-BE32-E72D297353CC}">
                <c16:uniqueId val="{00000002-602E-4A3F-94AA-A8DBC56D3397}"/>
              </c:ext>
            </c:extLst>
          </c:dPt>
          <c:dPt>
            <c:idx val="1"/>
            <c:bubble3D val="0"/>
            <c:spPr>
              <a:solidFill>
                <a:srgbClr val="002060"/>
              </a:solidFill>
              <a:ln w="19050">
                <a:noFill/>
              </a:ln>
              <a:effectLst/>
            </c:spPr>
            <c:extLst>
              <c:ext xmlns:c16="http://schemas.microsoft.com/office/drawing/2014/chart" uri="{C3380CC4-5D6E-409C-BE32-E72D297353CC}">
                <c16:uniqueId val="{00000004-602E-4A3F-94AA-A8DBC56D3397}"/>
              </c:ext>
            </c:extLst>
          </c:dPt>
          <c:dPt>
            <c:idx val="2"/>
            <c:bubble3D val="0"/>
            <c:spPr>
              <a:solidFill>
                <a:srgbClr val="0070C0"/>
              </a:solidFill>
              <a:ln w="19050">
                <a:noFill/>
              </a:ln>
              <a:effectLst/>
            </c:spPr>
            <c:extLst>
              <c:ext xmlns:c16="http://schemas.microsoft.com/office/drawing/2014/chart" uri="{C3380CC4-5D6E-409C-BE32-E72D297353CC}">
                <c16:uniqueId val="{00000006-602E-4A3F-94AA-A8DBC56D3397}"/>
              </c:ext>
            </c:extLst>
          </c:dPt>
          <c:dPt>
            <c:idx val="3"/>
            <c:bubble3D val="0"/>
            <c:spPr>
              <a:solidFill>
                <a:schemeClr val="bg2">
                  <a:lumMod val="90000"/>
                </a:schemeClr>
              </a:solidFill>
              <a:ln w="19050">
                <a:noFill/>
              </a:ln>
              <a:effectLst/>
            </c:spPr>
            <c:extLst>
              <c:ext xmlns:c16="http://schemas.microsoft.com/office/drawing/2014/chart" uri="{C3380CC4-5D6E-409C-BE32-E72D297353CC}">
                <c16:uniqueId val="{00000008-602E-4A3F-94AA-A8DBC56D3397}"/>
              </c:ext>
            </c:extLst>
          </c:dPt>
          <c:dPt>
            <c:idx val="4"/>
            <c:bubble3D val="0"/>
            <c:spPr>
              <a:solidFill>
                <a:schemeClr val="bg1">
                  <a:lumMod val="95000"/>
                </a:schemeClr>
              </a:solidFill>
              <a:ln w="19050">
                <a:noFill/>
              </a:ln>
              <a:effectLst/>
            </c:spPr>
            <c:extLst>
              <c:ext xmlns:c16="http://schemas.microsoft.com/office/drawing/2014/chart" uri="{C3380CC4-5D6E-409C-BE32-E72D297353CC}">
                <c16:uniqueId val="{0000000A-602E-4A3F-94AA-A8DBC56D3397}"/>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C-602E-4A3F-94AA-A8DBC56D3397}"/>
              </c:ext>
            </c:extLst>
          </c:dPt>
          <c:dLbls>
            <c:dLbl>
              <c:idx val="0"/>
              <c:layout>
                <c:manualLayout>
                  <c:x val="5.5555555555555558E-3"/>
                  <c:y val="-1.3888888888888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02E-4A3F-94AA-A8DBC56D3397}"/>
                </c:ext>
              </c:extLst>
            </c:dLbl>
            <c:dLbl>
              <c:idx val="4"/>
              <c:layout>
                <c:manualLayout>
                  <c:x val="-1.1111111111111112E-2"/>
                  <c:y val="-8.333333333333332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02E-4A3F-94AA-A8DBC56D3397}"/>
                </c:ext>
              </c:extLst>
            </c:dLbl>
            <c:dLbl>
              <c:idx val="5"/>
              <c:delete val="1"/>
              <c:extLst>
                <c:ext xmlns:c15="http://schemas.microsoft.com/office/drawing/2012/chart" uri="{CE6537A1-D6FC-4f65-9D91-7224C49458BB}"/>
                <c:ext xmlns:c16="http://schemas.microsoft.com/office/drawing/2014/chart" uri="{C3380CC4-5D6E-409C-BE32-E72D297353CC}">
                  <c16:uniqueId val="{0000000C-602E-4A3F-94AA-A8DBC56D339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'Q1 - Q14'!$A$66:$A$71</c:f>
              <c:strCache>
                <c:ptCount val="6"/>
                <c:pt idx="0">
                  <c:v>Excellent</c:v>
                </c:pt>
                <c:pt idx="1">
                  <c:v>Very Good</c:v>
                </c:pt>
                <c:pt idx="2">
                  <c:v>Good</c:v>
                </c:pt>
                <c:pt idx="3">
                  <c:v>Neutral</c:v>
                </c:pt>
                <c:pt idx="4">
                  <c:v>Poor to Very Poor</c:v>
                </c:pt>
                <c:pt idx="5">
                  <c:v>Very Poor</c:v>
                </c:pt>
              </c:strCache>
            </c:strRef>
          </c:cat>
          <c:val>
            <c:numRef>
              <c:f>'Q1 - Q14'!$C$66:$C$71</c:f>
              <c:numCache>
                <c:formatCode>0%</c:formatCode>
                <c:ptCount val="6"/>
                <c:pt idx="0">
                  <c:v>0.1787941787941788</c:v>
                </c:pt>
                <c:pt idx="1">
                  <c:v>0.44282744282744285</c:v>
                </c:pt>
                <c:pt idx="2">
                  <c:v>0.27442827442827444</c:v>
                </c:pt>
                <c:pt idx="3">
                  <c:v>7.6923076923076927E-2</c:v>
                </c:pt>
                <c:pt idx="4">
                  <c:v>1.8711018711018712E-2</c:v>
                </c:pt>
                <c:pt idx="5">
                  <c:v>6.2370062370062374E-3</c:v>
                </c:pt>
              </c:numCache>
            </c:numRef>
          </c:val>
          <c:extLst>
            <c:ext xmlns:c16="http://schemas.microsoft.com/office/drawing/2014/chart" uri="{C3380CC4-5D6E-409C-BE32-E72D297353CC}">
              <c16:uniqueId val="{0000000D-602E-4A3F-94AA-A8DBC56D3397}"/>
            </c:ext>
          </c:extLst>
        </c:ser>
        <c:dLbls>
          <c:showLegendKey val="0"/>
          <c:showVal val="0"/>
          <c:showCatName val="0"/>
          <c:showSerName val="0"/>
          <c:showPercent val="0"/>
          <c:showBubbleSize val="0"/>
          <c:showLeaderLines val="1"/>
        </c:dLbls>
        <c:firstSliceAng val="0"/>
        <c:holeSize val="55"/>
      </c:doughnutChart>
      <c:spPr>
        <a:noFill/>
        <a:ln>
          <a:noFill/>
        </a:ln>
        <a:effectLst/>
      </c:spPr>
    </c:plotArea>
    <c:legend>
      <c:legendPos val="b"/>
      <c:legendEntry>
        <c:idx val="5"/>
        <c:delete val="1"/>
      </c:legendEntry>
      <c:layout>
        <c:manualLayout>
          <c:xMode val="edge"/>
          <c:yMode val="edge"/>
          <c:x val="0.71143004070748495"/>
          <c:y val="0.28424079350573711"/>
          <c:w val="0.22833902012248472"/>
          <c:h val="0.50868110236220476"/>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solidFill>
                  <a:schemeClr val="tx1"/>
                </a:solidFill>
              </a:rPr>
              <a:t>Rate your experience with IT to resolve your problem/issue</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514183923235488"/>
          <c:y val="0.26171114027413234"/>
          <c:w val="0.50009118013322296"/>
          <c:h val="0.73828885972586755"/>
        </c:manualLayout>
      </c:layout>
      <c:doughnutChart>
        <c:varyColors val="1"/>
        <c:ser>
          <c:idx val="0"/>
          <c:order val="0"/>
          <c:cat>
            <c:strRef>
              <c:f>'[SurveyReport-6307820-10-4-2018.xlsx]Q1 - Q14'!$A$112:$A$117</c:f>
              <c:strCache>
                <c:ptCount val="6"/>
                <c:pt idx="0">
                  <c:v>Excellent</c:v>
                </c:pt>
                <c:pt idx="1">
                  <c:v>Very Good</c:v>
                </c:pt>
                <c:pt idx="2">
                  <c:v>Good</c:v>
                </c:pt>
                <c:pt idx="3">
                  <c:v>Neutral</c:v>
                </c:pt>
                <c:pt idx="4">
                  <c:v>Poor</c:v>
                </c:pt>
                <c:pt idx="5">
                  <c:v>Very Poor</c:v>
                </c:pt>
              </c:strCache>
            </c:strRef>
          </c:cat>
          <c:val>
            <c:numRef>
              <c:f>'[SurveyReport-6307820-10-4-2018.xlsx]Q1 - Q14'!$B$112:$B$117</c:f>
            </c:numRef>
          </c:val>
          <c:extLst>
            <c:ext xmlns:c16="http://schemas.microsoft.com/office/drawing/2014/chart" uri="{C3380CC4-5D6E-409C-BE32-E72D297353CC}">
              <c16:uniqueId val="{00000000-48DE-428E-9CC4-3CF06CC470A4}"/>
            </c:ext>
          </c:extLst>
        </c:ser>
        <c:ser>
          <c:idx val="1"/>
          <c:order val="1"/>
          <c:spPr>
            <a:ln>
              <a:noFill/>
            </a:ln>
          </c:spPr>
          <c:explosion val="1"/>
          <c:dPt>
            <c:idx val="0"/>
            <c:bubble3D val="0"/>
            <c:spPr>
              <a:solidFill>
                <a:schemeClr val="bg2">
                  <a:lumMod val="50000"/>
                </a:schemeClr>
              </a:solidFill>
              <a:ln w="19050">
                <a:noFill/>
              </a:ln>
              <a:effectLst/>
            </c:spPr>
            <c:extLst>
              <c:ext xmlns:c16="http://schemas.microsoft.com/office/drawing/2014/chart" uri="{C3380CC4-5D6E-409C-BE32-E72D297353CC}">
                <c16:uniqueId val="{00000002-48DE-428E-9CC4-3CF06CC470A4}"/>
              </c:ext>
            </c:extLst>
          </c:dPt>
          <c:dPt>
            <c:idx val="1"/>
            <c:bubble3D val="0"/>
            <c:spPr>
              <a:solidFill>
                <a:srgbClr val="002060"/>
              </a:solidFill>
              <a:ln w="19050">
                <a:noFill/>
              </a:ln>
              <a:effectLst/>
            </c:spPr>
            <c:extLst>
              <c:ext xmlns:c16="http://schemas.microsoft.com/office/drawing/2014/chart" uri="{C3380CC4-5D6E-409C-BE32-E72D297353CC}">
                <c16:uniqueId val="{00000004-48DE-428E-9CC4-3CF06CC470A4}"/>
              </c:ext>
            </c:extLst>
          </c:dPt>
          <c:dPt>
            <c:idx val="2"/>
            <c:bubble3D val="0"/>
            <c:spPr>
              <a:solidFill>
                <a:srgbClr val="0070C0"/>
              </a:solidFill>
              <a:ln w="19050">
                <a:noFill/>
              </a:ln>
              <a:effectLst/>
            </c:spPr>
            <c:extLst>
              <c:ext xmlns:c16="http://schemas.microsoft.com/office/drawing/2014/chart" uri="{C3380CC4-5D6E-409C-BE32-E72D297353CC}">
                <c16:uniqueId val="{00000006-48DE-428E-9CC4-3CF06CC470A4}"/>
              </c:ext>
            </c:extLst>
          </c:dPt>
          <c:dPt>
            <c:idx val="3"/>
            <c:bubble3D val="0"/>
            <c:spPr>
              <a:solidFill>
                <a:schemeClr val="bg2">
                  <a:lumMod val="90000"/>
                </a:schemeClr>
              </a:solidFill>
              <a:ln w="19050">
                <a:noFill/>
              </a:ln>
              <a:effectLst/>
            </c:spPr>
            <c:extLst>
              <c:ext xmlns:c16="http://schemas.microsoft.com/office/drawing/2014/chart" uri="{C3380CC4-5D6E-409C-BE32-E72D297353CC}">
                <c16:uniqueId val="{00000008-48DE-428E-9CC4-3CF06CC470A4}"/>
              </c:ext>
            </c:extLst>
          </c:dPt>
          <c:dPt>
            <c:idx val="4"/>
            <c:bubble3D val="0"/>
            <c:spPr>
              <a:solidFill>
                <a:schemeClr val="bg1">
                  <a:lumMod val="95000"/>
                </a:schemeClr>
              </a:solidFill>
              <a:ln w="19050">
                <a:noFill/>
              </a:ln>
              <a:effectLst/>
            </c:spPr>
            <c:extLst>
              <c:ext xmlns:c16="http://schemas.microsoft.com/office/drawing/2014/chart" uri="{C3380CC4-5D6E-409C-BE32-E72D297353CC}">
                <c16:uniqueId val="{0000000A-48DE-428E-9CC4-3CF06CC470A4}"/>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C-48DE-428E-9CC4-3CF06CC470A4}"/>
              </c:ext>
            </c:extLst>
          </c:dPt>
          <c:dLbls>
            <c:dLbl>
              <c:idx val="0"/>
              <c:layout>
                <c:manualLayout>
                  <c:x val="5.5555555555555558E-3"/>
                  <c:y val="-1.3888888888888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8DE-428E-9CC4-3CF06CC470A4}"/>
                </c:ext>
              </c:extLst>
            </c:dLbl>
            <c:dLbl>
              <c:idx val="4"/>
              <c:layout>
                <c:manualLayout>
                  <c:x val="-1.1111111111111112E-2"/>
                  <c:y val="-8.333333333333332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8DE-428E-9CC4-3CF06CC470A4}"/>
                </c:ext>
              </c:extLst>
            </c:dLbl>
            <c:dLbl>
              <c:idx val="5"/>
              <c:delete val="1"/>
              <c:extLst>
                <c:ext xmlns:c15="http://schemas.microsoft.com/office/drawing/2012/chart" uri="{CE6537A1-D6FC-4f65-9D91-7224C49458BB}"/>
                <c:ext xmlns:c16="http://schemas.microsoft.com/office/drawing/2014/chart" uri="{C3380CC4-5D6E-409C-BE32-E72D297353CC}">
                  <c16:uniqueId val="{0000000C-48DE-428E-9CC4-3CF06CC470A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'[SurveyReport-6307820-10-4-2018.xlsx]Q1 - Q14'!$A$112:$A$117</c:f>
              <c:strCache>
                <c:ptCount val="6"/>
                <c:pt idx="0">
                  <c:v>Excellent</c:v>
                </c:pt>
                <c:pt idx="1">
                  <c:v>Very Good</c:v>
                </c:pt>
                <c:pt idx="2">
                  <c:v>Good</c:v>
                </c:pt>
                <c:pt idx="3">
                  <c:v>Neutral</c:v>
                </c:pt>
                <c:pt idx="4">
                  <c:v>Poor</c:v>
                </c:pt>
                <c:pt idx="5">
                  <c:v>Very Poor</c:v>
                </c:pt>
              </c:strCache>
            </c:strRef>
          </c:cat>
          <c:val>
            <c:numRef>
              <c:f>'[SurveyReport-6307820-10-4-2018.xlsx]Q1 - Q14'!$C$112:$C$117</c:f>
              <c:numCache>
                <c:formatCode>0%</c:formatCode>
                <c:ptCount val="6"/>
                <c:pt idx="0">
                  <c:v>0.21305182341650672</c:v>
                </c:pt>
                <c:pt idx="1">
                  <c:v>0.43570057581573896</c:v>
                </c:pt>
                <c:pt idx="2">
                  <c:v>0.24472168905950095</c:v>
                </c:pt>
                <c:pt idx="3">
                  <c:v>7.6775431861804216E-2</c:v>
                </c:pt>
                <c:pt idx="4">
                  <c:v>2.0153550863723606E-2</c:v>
                </c:pt>
                <c:pt idx="5">
                  <c:v>5.7581573896353169E-3</c:v>
                </c:pt>
              </c:numCache>
            </c:numRef>
          </c:val>
          <c:extLst>
            <c:ext xmlns:c16="http://schemas.microsoft.com/office/drawing/2014/chart" uri="{C3380CC4-5D6E-409C-BE32-E72D297353CC}">
              <c16:uniqueId val="{0000000D-48DE-428E-9CC4-3CF06CC470A4}"/>
            </c:ext>
          </c:extLst>
        </c:ser>
        <c:dLbls>
          <c:showLegendKey val="0"/>
          <c:showVal val="0"/>
          <c:showCatName val="0"/>
          <c:showSerName val="0"/>
          <c:showPercent val="0"/>
          <c:showBubbleSize val="0"/>
          <c:showLeaderLines val="1"/>
        </c:dLbls>
        <c:firstSliceAng val="0"/>
        <c:holeSize val="55"/>
      </c:doughnutChart>
      <c:spPr>
        <a:noFill/>
        <a:ln>
          <a:noFill/>
        </a:ln>
        <a:effectLst/>
      </c:spPr>
    </c:plotArea>
    <c:legend>
      <c:legendPos val="b"/>
      <c:legendEntry>
        <c:idx val="5"/>
        <c:delete val="1"/>
      </c:legendEntry>
      <c:layout>
        <c:manualLayout>
          <c:xMode val="edge"/>
          <c:yMode val="edge"/>
          <c:x val="0.69861166127240226"/>
          <c:y val="0.30613371245261006"/>
          <c:w val="0.22833902012248472"/>
          <c:h val="0.60590332458442686"/>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b="1">
                <a:solidFill>
                  <a:schemeClr val="tx1"/>
                </a:solidFill>
              </a:rPr>
              <a:t>How do you contact the IT support to request assistance in resolving your IT problem/issue</a:t>
            </a:r>
          </a:p>
        </c:rich>
      </c:tx>
      <c:layout>
        <c:manualLayout>
          <c:xMode val="edge"/>
          <c:yMode val="edge"/>
          <c:x val="2.312446238337856E-2"/>
          <c:y val="2.98852652895782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35465577497999917"/>
          <c:y val="0.1670831981143355"/>
          <c:w val="0.61752937165853217"/>
          <c:h val="0.77736111111111106"/>
        </c:manualLayout>
      </c:layout>
      <c:barChart>
        <c:barDir val="bar"/>
        <c:grouping val="clustered"/>
        <c:varyColors val="0"/>
        <c:ser>
          <c:idx val="0"/>
          <c:order val="0"/>
          <c:spPr>
            <a:solidFill>
              <a:schemeClr val="dk1">
                <a:tint val="88500"/>
              </a:schemeClr>
            </a:solidFill>
            <a:ln>
              <a:noFill/>
            </a:ln>
            <a:effectLst/>
          </c:spPr>
          <c:invertIfNegative val="0"/>
          <c:cat>
            <c:strRef>
              <c:f>'[SurveyReport-6307820-10-4-2018.xlsx]Q1 - Q14'!$A$85:$A$94</c:f>
              <c:strCache>
                <c:ptCount val="10"/>
                <c:pt idx="0">
                  <c:v>Other</c:v>
                </c:pt>
                <c:pt idx="1">
                  <c:v>Memo</c:v>
                </c:pt>
                <c:pt idx="2">
                  <c:v>VIP Hotline</c:v>
                </c:pt>
                <c:pt idx="3">
                  <c:v>Contact Department Manager / VP directly</c:v>
                </c:pt>
                <c:pt idx="4">
                  <c:v>Walk In </c:v>
                </c:pt>
                <c:pt idx="5">
                  <c:v>IT Staff Email </c:v>
                </c:pt>
                <c:pt idx="6">
                  <c:v>IT Staff Phone Number</c:v>
                </c:pt>
                <c:pt idx="7">
                  <c:v>Online IT Help Desk System</c:v>
                </c:pt>
                <c:pt idx="8">
                  <c:v>Help Desk Email </c:v>
                </c:pt>
                <c:pt idx="9">
                  <c:v>The Hotline (1444 or 8003000) </c:v>
                </c:pt>
              </c:strCache>
            </c:strRef>
          </c:cat>
          <c:val>
            <c:numRef>
              <c:f>'[SurveyReport-6307820-10-4-2018.xlsx]Q1 - Q14'!$B$85:$B$94</c:f>
            </c:numRef>
          </c:val>
          <c:extLst>
            <c:ext xmlns:c16="http://schemas.microsoft.com/office/drawing/2014/chart" uri="{C3380CC4-5D6E-409C-BE32-E72D297353CC}">
              <c16:uniqueId val="{00000000-192A-45B4-9AAD-2EFF5C0EA7FB}"/>
            </c:ext>
          </c:extLst>
        </c:ser>
        <c:ser>
          <c:idx val="1"/>
          <c:order val="1"/>
          <c:spPr>
            <a:solidFill>
              <a:schemeClr val="dk1">
                <a:tint val="55000"/>
              </a:schemeClr>
            </a:solidFill>
            <a:ln>
              <a:noFill/>
            </a:ln>
            <a:effectLst/>
          </c:spPr>
          <c:invertIfNegative val="0"/>
          <c:dPt>
            <c:idx val="0"/>
            <c:invertIfNegative val="0"/>
            <c:bubble3D val="0"/>
            <c:spPr>
              <a:solidFill>
                <a:schemeClr val="bg1">
                  <a:lumMod val="95000"/>
                </a:schemeClr>
              </a:solidFill>
              <a:ln>
                <a:noFill/>
              </a:ln>
              <a:effectLst/>
            </c:spPr>
            <c:extLst>
              <c:ext xmlns:c16="http://schemas.microsoft.com/office/drawing/2014/chart" uri="{C3380CC4-5D6E-409C-BE32-E72D297353CC}">
                <c16:uniqueId val="{00000002-192A-45B4-9AAD-2EFF5C0EA7FB}"/>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4-192A-45B4-9AAD-2EFF5C0EA7FB}"/>
              </c:ext>
            </c:extLst>
          </c:dPt>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6-192A-45B4-9AAD-2EFF5C0EA7FB}"/>
              </c:ext>
            </c:extLst>
          </c:dPt>
          <c:dPt>
            <c:idx val="3"/>
            <c:invertIfNegative val="0"/>
            <c:bubble3D val="0"/>
            <c:spPr>
              <a:solidFill>
                <a:schemeClr val="bg2">
                  <a:lumMod val="90000"/>
                </a:schemeClr>
              </a:solidFill>
              <a:ln>
                <a:noFill/>
              </a:ln>
              <a:effectLst/>
            </c:spPr>
            <c:extLst>
              <c:ext xmlns:c16="http://schemas.microsoft.com/office/drawing/2014/chart" uri="{C3380CC4-5D6E-409C-BE32-E72D297353CC}">
                <c16:uniqueId val="{00000008-192A-45B4-9AAD-2EFF5C0EA7FB}"/>
              </c:ext>
            </c:extLst>
          </c:dPt>
          <c:dPt>
            <c:idx val="4"/>
            <c:invertIfNegative val="0"/>
            <c:bubble3D val="0"/>
            <c:spPr>
              <a:solidFill>
                <a:schemeClr val="bg2">
                  <a:lumMod val="75000"/>
                </a:schemeClr>
              </a:solidFill>
              <a:ln>
                <a:noFill/>
              </a:ln>
              <a:effectLst/>
            </c:spPr>
            <c:extLst>
              <c:ext xmlns:c16="http://schemas.microsoft.com/office/drawing/2014/chart" uri="{C3380CC4-5D6E-409C-BE32-E72D297353CC}">
                <c16:uniqueId val="{0000000A-192A-45B4-9AAD-2EFF5C0EA7FB}"/>
              </c:ext>
            </c:extLst>
          </c:dPt>
          <c:dPt>
            <c:idx val="5"/>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192A-45B4-9AAD-2EFF5C0EA7FB}"/>
              </c:ext>
            </c:extLst>
          </c:dPt>
          <c:dPt>
            <c:idx val="6"/>
            <c:invertIfNegative val="0"/>
            <c:bubble3D val="0"/>
            <c:spPr>
              <a:solidFill>
                <a:schemeClr val="tx1">
                  <a:lumMod val="65000"/>
                  <a:lumOff val="35000"/>
                </a:schemeClr>
              </a:solidFill>
              <a:ln>
                <a:noFill/>
              </a:ln>
              <a:effectLst/>
            </c:spPr>
            <c:extLst>
              <c:ext xmlns:c16="http://schemas.microsoft.com/office/drawing/2014/chart" uri="{C3380CC4-5D6E-409C-BE32-E72D297353CC}">
                <c16:uniqueId val="{0000000E-192A-45B4-9AAD-2EFF5C0EA7FB}"/>
              </c:ext>
            </c:extLst>
          </c:dPt>
          <c:dPt>
            <c:idx val="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0-192A-45B4-9AAD-2EFF5C0EA7FB}"/>
              </c:ext>
            </c:extLst>
          </c:dPt>
          <c:dPt>
            <c:idx val="8"/>
            <c:invertIfNegative val="0"/>
            <c:bubble3D val="0"/>
            <c:spPr>
              <a:solidFill>
                <a:schemeClr val="tx1">
                  <a:lumMod val="85000"/>
                  <a:lumOff val="15000"/>
                </a:schemeClr>
              </a:solidFill>
              <a:ln>
                <a:noFill/>
              </a:ln>
              <a:effectLst/>
            </c:spPr>
            <c:extLst>
              <c:ext xmlns:c16="http://schemas.microsoft.com/office/drawing/2014/chart" uri="{C3380CC4-5D6E-409C-BE32-E72D297353CC}">
                <c16:uniqueId val="{00000012-192A-45B4-9AAD-2EFF5C0EA7FB}"/>
              </c:ext>
            </c:extLst>
          </c:dPt>
          <c:dPt>
            <c:idx val="9"/>
            <c:invertIfNegative val="0"/>
            <c:bubble3D val="0"/>
            <c:spPr>
              <a:solidFill>
                <a:schemeClr val="tx1">
                  <a:lumMod val="95000"/>
                  <a:lumOff val="5000"/>
                </a:schemeClr>
              </a:solidFill>
              <a:ln>
                <a:noFill/>
              </a:ln>
              <a:effectLst/>
            </c:spPr>
            <c:extLst>
              <c:ext xmlns:c16="http://schemas.microsoft.com/office/drawing/2014/chart" uri="{C3380CC4-5D6E-409C-BE32-E72D297353CC}">
                <c16:uniqueId val="{00000014-192A-45B4-9AAD-2EFF5C0EA7FB}"/>
              </c:ext>
            </c:extLst>
          </c:dPt>
          <c:dLbls>
            <c:dLbl>
              <c:idx val="1"/>
              <c:layout>
                <c:manualLayout>
                  <c:x val="-2.9944117947823365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92A-45B4-9AAD-2EFF5C0EA7FB}"/>
                </c:ext>
              </c:extLst>
            </c:dLbl>
            <c:dLbl>
              <c:idx val="2"/>
              <c:layout>
                <c:manualLayout>
                  <c:x val="-2.2280637380220521E-3"/>
                  <c:y val="4.629784617486646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92A-45B4-9AAD-2EFF5C0EA7FB}"/>
                </c:ext>
              </c:extLst>
            </c:dLbl>
            <c:dLbl>
              <c:idx val="3"/>
              <c:layout>
                <c:manualLayout>
                  <c:x val="-5.5990327412287625E-4"/>
                  <c:y val="-4.338394793926167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92A-45B4-9AAD-2EFF5C0EA7FB}"/>
                </c:ext>
              </c:extLst>
            </c:dLbl>
            <c:dLbl>
              <c:idx val="4"/>
              <c:layout>
                <c:manualLayout>
                  <c:x val="-8.0701142303736095E-4"/>
                  <c:y val="4.33839479392624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92A-45B4-9AAD-2EFF5C0EA7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'[SurveyReport-6307820-10-4-2018.xlsx]Q1 - Q14'!$A$85:$A$94</c:f>
              <c:strCache>
                <c:ptCount val="10"/>
                <c:pt idx="0">
                  <c:v>Other</c:v>
                </c:pt>
                <c:pt idx="1">
                  <c:v>Memo</c:v>
                </c:pt>
                <c:pt idx="2">
                  <c:v>VIP Hotline</c:v>
                </c:pt>
                <c:pt idx="3">
                  <c:v>Contact Department Manager / VP directly</c:v>
                </c:pt>
                <c:pt idx="4">
                  <c:v>Walk In </c:v>
                </c:pt>
                <c:pt idx="5">
                  <c:v>IT Staff Email </c:v>
                </c:pt>
                <c:pt idx="6">
                  <c:v>IT Staff Phone Number</c:v>
                </c:pt>
                <c:pt idx="7">
                  <c:v>Online IT Help Desk System</c:v>
                </c:pt>
                <c:pt idx="8">
                  <c:v>Help Desk Email </c:v>
                </c:pt>
                <c:pt idx="9">
                  <c:v>The Hotline (1444 or 8003000) </c:v>
                </c:pt>
              </c:strCache>
            </c:strRef>
          </c:cat>
          <c:val>
            <c:numRef>
              <c:f>'[SurveyReport-6307820-10-4-2018.xlsx]Q1 - Q14'!$C$85:$C$94</c:f>
              <c:numCache>
                <c:formatCode>0%</c:formatCode>
                <c:ptCount val="10"/>
                <c:pt idx="0">
                  <c:v>3.937007874015748E-3</c:v>
                </c:pt>
                <c:pt idx="1">
                  <c:v>2.2834645669291338E-2</c:v>
                </c:pt>
                <c:pt idx="2">
                  <c:v>2.3622047244094488E-2</c:v>
                </c:pt>
                <c:pt idx="3">
                  <c:v>2.6771653543307086E-2</c:v>
                </c:pt>
                <c:pt idx="4">
                  <c:v>4.4094488188976377E-2</c:v>
                </c:pt>
                <c:pt idx="5">
                  <c:v>0.10393700787401575</c:v>
                </c:pt>
                <c:pt idx="6">
                  <c:v>0.15590551181102363</c:v>
                </c:pt>
                <c:pt idx="7">
                  <c:v>0.15826771653543306</c:v>
                </c:pt>
                <c:pt idx="8">
                  <c:v>0.18818897637795276</c:v>
                </c:pt>
                <c:pt idx="9">
                  <c:v>0.27244094488188975</c:v>
                </c:pt>
              </c:numCache>
            </c:numRef>
          </c:val>
          <c:extLst>
            <c:ext xmlns:c16="http://schemas.microsoft.com/office/drawing/2014/chart" uri="{C3380CC4-5D6E-409C-BE32-E72D297353CC}">
              <c16:uniqueId val="{00000015-192A-45B4-9AAD-2EFF5C0EA7FB}"/>
            </c:ext>
          </c:extLst>
        </c:ser>
        <c:dLbls>
          <c:showLegendKey val="0"/>
          <c:showVal val="0"/>
          <c:showCatName val="0"/>
          <c:showSerName val="0"/>
          <c:showPercent val="0"/>
          <c:showBubbleSize val="0"/>
        </c:dLbls>
        <c:gapWidth val="105"/>
        <c:axId val="476276368"/>
        <c:axId val="476299888"/>
      </c:barChart>
      <c:catAx>
        <c:axId val="4762763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476299888"/>
        <c:crosses val="autoZero"/>
        <c:auto val="1"/>
        <c:lblAlgn val="ctr"/>
        <c:lblOffset val="100"/>
        <c:noMultiLvlLbl val="0"/>
      </c:catAx>
      <c:valAx>
        <c:axId val="476299888"/>
        <c:scaling>
          <c:orientation val="minMax"/>
        </c:scaling>
        <c:delete val="1"/>
        <c:axPos val="b"/>
        <c:numFmt formatCode="0%" sourceLinked="1"/>
        <c:majorTickMark val="none"/>
        <c:minorTickMark val="none"/>
        <c:tickLblPos val="nextTo"/>
        <c:crossAx val="4762763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Rate your experience with the quality, performance and availability of the IT assets</a:t>
            </a:r>
          </a:p>
        </c:rich>
      </c:tx>
      <c:layout>
        <c:manualLayout>
          <c:xMode val="edge"/>
          <c:yMode val="edge"/>
          <c:x val="4.7599336586351869E-2"/>
          <c:y val="2.064896835098476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2883450624375554"/>
          <c:y val="0.2582695459963899"/>
          <c:w val="0.34487685914260718"/>
          <c:h val="0.57479476523767858"/>
        </c:manualLayout>
      </c:layout>
      <c:doughnutChart>
        <c:varyColors val="1"/>
        <c:ser>
          <c:idx val="0"/>
          <c:order val="0"/>
          <c:cat>
            <c:strRef>
              <c:f>'[SurveyReport-6307820-10-4-2018.xlsx]Q1 - Q14'!$A$196:$A$200</c:f>
              <c:strCache>
                <c:ptCount val="5"/>
                <c:pt idx="0">
                  <c:v>Excellent</c:v>
                </c:pt>
                <c:pt idx="1">
                  <c:v>Very Good</c:v>
                </c:pt>
                <c:pt idx="2">
                  <c:v>Good</c:v>
                </c:pt>
                <c:pt idx="3">
                  <c:v>Neutral</c:v>
                </c:pt>
                <c:pt idx="4">
                  <c:v>Poor</c:v>
                </c:pt>
              </c:strCache>
            </c:strRef>
          </c:cat>
          <c:val>
            <c:numRef>
              <c:f>'[SurveyReport-6307820-10-4-2018.xlsx]Q1 - Q14'!$B$196:$B$200</c:f>
            </c:numRef>
          </c:val>
          <c:extLst>
            <c:ext xmlns:c16="http://schemas.microsoft.com/office/drawing/2014/chart" uri="{C3380CC4-5D6E-409C-BE32-E72D297353CC}">
              <c16:uniqueId val="{00000000-4671-4E3C-9D5B-22C85CCF3146}"/>
            </c:ext>
          </c:extLst>
        </c:ser>
        <c:ser>
          <c:idx val="1"/>
          <c:order val="1"/>
          <c:spPr>
            <a:ln>
              <a:noFill/>
            </a:ln>
          </c:spPr>
          <c:explosion val="1"/>
          <c:dPt>
            <c:idx val="0"/>
            <c:bubble3D val="0"/>
            <c:spPr>
              <a:solidFill>
                <a:schemeClr val="bg2">
                  <a:lumMod val="50000"/>
                </a:schemeClr>
              </a:solidFill>
              <a:ln w="19050">
                <a:noFill/>
              </a:ln>
              <a:effectLst/>
            </c:spPr>
            <c:extLst>
              <c:ext xmlns:c16="http://schemas.microsoft.com/office/drawing/2014/chart" uri="{C3380CC4-5D6E-409C-BE32-E72D297353CC}">
                <c16:uniqueId val="{00000002-4671-4E3C-9D5B-22C85CCF3146}"/>
              </c:ext>
            </c:extLst>
          </c:dPt>
          <c:dPt>
            <c:idx val="1"/>
            <c:bubble3D val="0"/>
            <c:spPr>
              <a:solidFill>
                <a:srgbClr val="002060"/>
              </a:solidFill>
              <a:ln w="19050">
                <a:noFill/>
              </a:ln>
              <a:effectLst/>
            </c:spPr>
            <c:extLst>
              <c:ext xmlns:c16="http://schemas.microsoft.com/office/drawing/2014/chart" uri="{C3380CC4-5D6E-409C-BE32-E72D297353CC}">
                <c16:uniqueId val="{00000004-4671-4E3C-9D5B-22C85CCF3146}"/>
              </c:ext>
            </c:extLst>
          </c:dPt>
          <c:dPt>
            <c:idx val="2"/>
            <c:bubble3D val="0"/>
            <c:spPr>
              <a:solidFill>
                <a:srgbClr val="0070C0"/>
              </a:solidFill>
              <a:ln w="19050">
                <a:noFill/>
              </a:ln>
              <a:effectLst/>
            </c:spPr>
            <c:extLst>
              <c:ext xmlns:c16="http://schemas.microsoft.com/office/drawing/2014/chart" uri="{C3380CC4-5D6E-409C-BE32-E72D297353CC}">
                <c16:uniqueId val="{00000006-4671-4E3C-9D5B-22C85CCF3146}"/>
              </c:ext>
            </c:extLst>
          </c:dPt>
          <c:dPt>
            <c:idx val="3"/>
            <c:bubble3D val="0"/>
            <c:spPr>
              <a:solidFill>
                <a:schemeClr val="bg2">
                  <a:lumMod val="90000"/>
                </a:schemeClr>
              </a:solidFill>
              <a:ln w="19050">
                <a:noFill/>
              </a:ln>
              <a:effectLst/>
            </c:spPr>
            <c:extLst>
              <c:ext xmlns:c16="http://schemas.microsoft.com/office/drawing/2014/chart" uri="{C3380CC4-5D6E-409C-BE32-E72D297353CC}">
                <c16:uniqueId val="{00000008-4671-4E3C-9D5B-22C85CCF3146}"/>
              </c:ext>
            </c:extLst>
          </c:dPt>
          <c:dPt>
            <c:idx val="4"/>
            <c:bubble3D val="0"/>
            <c:spPr>
              <a:solidFill>
                <a:schemeClr val="bg1">
                  <a:lumMod val="95000"/>
                </a:schemeClr>
              </a:solidFill>
              <a:ln w="19050">
                <a:noFill/>
              </a:ln>
              <a:effectLst/>
            </c:spPr>
            <c:extLst>
              <c:ext xmlns:c16="http://schemas.microsoft.com/office/drawing/2014/chart" uri="{C3380CC4-5D6E-409C-BE32-E72D297353CC}">
                <c16:uniqueId val="{0000000A-4671-4E3C-9D5B-22C85CCF3146}"/>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C-4671-4E3C-9D5B-22C85CCF3146}"/>
              </c:ext>
            </c:extLst>
          </c:dPt>
          <c:dLbls>
            <c:dLbl>
              <c:idx val="0"/>
              <c:layout>
                <c:manualLayout>
                  <c:x val="5.5555555555555558E-3"/>
                  <c:y val="-1.3888888888888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671-4E3C-9D5B-22C85CCF3146}"/>
                </c:ext>
              </c:extLst>
            </c:dLbl>
            <c:dLbl>
              <c:idx val="4"/>
              <c:layout>
                <c:manualLayout>
                  <c:x val="-1.1111111111111112E-2"/>
                  <c:y val="-8.333333333333332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671-4E3C-9D5B-22C85CCF3146}"/>
                </c:ext>
              </c:extLst>
            </c:dLbl>
            <c:dLbl>
              <c:idx val="5"/>
              <c:delete val="1"/>
              <c:extLst>
                <c:ext xmlns:c15="http://schemas.microsoft.com/office/drawing/2012/chart" uri="{CE6537A1-D6FC-4f65-9D91-7224C49458BB}"/>
                <c:ext xmlns:c16="http://schemas.microsoft.com/office/drawing/2014/chart" uri="{C3380CC4-5D6E-409C-BE32-E72D297353CC}">
                  <c16:uniqueId val="{0000000C-4671-4E3C-9D5B-22C85CCF314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'[SurveyReport-6307820-10-4-2018.xlsx]Q1 - Q14'!$A$196:$A$200</c:f>
              <c:strCache>
                <c:ptCount val="5"/>
                <c:pt idx="0">
                  <c:v>Excellent</c:v>
                </c:pt>
                <c:pt idx="1">
                  <c:v>Very Good</c:v>
                </c:pt>
                <c:pt idx="2">
                  <c:v>Good</c:v>
                </c:pt>
                <c:pt idx="3">
                  <c:v>Neutral</c:v>
                </c:pt>
                <c:pt idx="4">
                  <c:v>Poor</c:v>
                </c:pt>
              </c:strCache>
            </c:strRef>
          </c:cat>
          <c:val>
            <c:numRef>
              <c:f>'[SurveyReport-6307820-10-4-2018.xlsx]Q1 - Q14'!$C$196:$C$200</c:f>
              <c:numCache>
                <c:formatCode>0%</c:formatCode>
                <c:ptCount val="5"/>
                <c:pt idx="0">
                  <c:v>0.18042226487523993</c:v>
                </c:pt>
                <c:pt idx="1">
                  <c:v>0.43186180422264875</c:v>
                </c:pt>
                <c:pt idx="2">
                  <c:v>0.28023032629558542</c:v>
                </c:pt>
                <c:pt idx="3">
                  <c:v>7.1017274472168906E-2</c:v>
                </c:pt>
                <c:pt idx="4">
                  <c:v>2.8790786948176585E-2</c:v>
                </c:pt>
              </c:numCache>
            </c:numRef>
          </c:val>
          <c:extLst>
            <c:ext xmlns:c16="http://schemas.microsoft.com/office/drawing/2014/chart" uri="{C3380CC4-5D6E-409C-BE32-E72D297353CC}">
              <c16:uniqueId val="{0000000D-4671-4E3C-9D5B-22C85CCF3146}"/>
            </c:ext>
          </c:extLst>
        </c:ser>
        <c:dLbls>
          <c:showLegendKey val="0"/>
          <c:showVal val="0"/>
          <c:showCatName val="0"/>
          <c:showSerName val="0"/>
          <c:showPercent val="0"/>
          <c:showBubbleSize val="0"/>
          <c:showLeaderLines val="1"/>
        </c:dLbls>
        <c:firstSliceAng val="0"/>
        <c:holeSize val="55"/>
      </c:doughnutChart>
      <c:spPr>
        <a:noFill/>
        <a:ln>
          <a:noFill/>
        </a:ln>
        <a:effectLst/>
      </c:spPr>
    </c:plotArea>
    <c:legend>
      <c:legendPos val="b"/>
      <c:layout>
        <c:manualLayout>
          <c:xMode val="edge"/>
          <c:yMode val="edge"/>
          <c:x val="0.79872704308975839"/>
          <c:y val="0.27516023951719354"/>
          <c:w val="0.1687463739189628"/>
          <c:h val="0.6050429550028629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Rate your overall experience with the IT systems and applications available</a:t>
            </a:r>
          </a:p>
        </c:rich>
      </c:tx>
      <c:layout>
        <c:manualLayout>
          <c:xMode val="edge"/>
          <c:yMode val="edge"/>
          <c:x val="0.17183098406437794"/>
          <c:y val="3.0215809080498299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3867279090113733"/>
          <c:y val="0.26171114027413234"/>
          <c:w val="0.34487685914260718"/>
          <c:h val="0.57479476523767858"/>
        </c:manualLayout>
      </c:layout>
      <c:doughnutChart>
        <c:varyColors val="1"/>
        <c:ser>
          <c:idx val="0"/>
          <c:order val="0"/>
          <c:cat>
            <c:strRef>
              <c:f>'[SurveyReport-6307820-10-4-2018.xlsx]Q1 - Q14'!$A$234:$A$238</c:f>
              <c:strCache>
                <c:ptCount val="5"/>
                <c:pt idx="0">
                  <c:v>Excellent</c:v>
                </c:pt>
                <c:pt idx="1">
                  <c:v>Very Good</c:v>
                </c:pt>
                <c:pt idx="2">
                  <c:v>Good</c:v>
                </c:pt>
                <c:pt idx="3">
                  <c:v>Neutral</c:v>
                </c:pt>
                <c:pt idx="4">
                  <c:v>Poor</c:v>
                </c:pt>
              </c:strCache>
            </c:strRef>
          </c:cat>
          <c:val>
            <c:numRef>
              <c:f>'[SurveyReport-6307820-10-4-2018.xlsx]Q1 - Q14'!$B$234:$B$238</c:f>
            </c:numRef>
          </c:val>
          <c:extLst>
            <c:ext xmlns:c16="http://schemas.microsoft.com/office/drawing/2014/chart" uri="{C3380CC4-5D6E-409C-BE32-E72D297353CC}">
              <c16:uniqueId val="{00000000-6F65-407B-ABB2-BF64020FE3D3}"/>
            </c:ext>
          </c:extLst>
        </c:ser>
        <c:ser>
          <c:idx val="1"/>
          <c:order val="1"/>
          <c:spPr>
            <a:ln>
              <a:noFill/>
            </a:ln>
          </c:spPr>
          <c:explosion val="1"/>
          <c:dPt>
            <c:idx val="0"/>
            <c:bubble3D val="0"/>
            <c:spPr>
              <a:solidFill>
                <a:schemeClr val="bg2">
                  <a:lumMod val="50000"/>
                </a:schemeClr>
              </a:solidFill>
              <a:ln w="19050">
                <a:noFill/>
              </a:ln>
              <a:effectLst/>
            </c:spPr>
            <c:extLst>
              <c:ext xmlns:c16="http://schemas.microsoft.com/office/drawing/2014/chart" uri="{C3380CC4-5D6E-409C-BE32-E72D297353CC}">
                <c16:uniqueId val="{00000002-6F65-407B-ABB2-BF64020FE3D3}"/>
              </c:ext>
            </c:extLst>
          </c:dPt>
          <c:dPt>
            <c:idx val="1"/>
            <c:bubble3D val="0"/>
            <c:spPr>
              <a:solidFill>
                <a:srgbClr val="002060"/>
              </a:solidFill>
              <a:ln w="19050">
                <a:noFill/>
              </a:ln>
              <a:effectLst/>
            </c:spPr>
            <c:extLst>
              <c:ext xmlns:c16="http://schemas.microsoft.com/office/drawing/2014/chart" uri="{C3380CC4-5D6E-409C-BE32-E72D297353CC}">
                <c16:uniqueId val="{00000004-6F65-407B-ABB2-BF64020FE3D3}"/>
              </c:ext>
            </c:extLst>
          </c:dPt>
          <c:dPt>
            <c:idx val="2"/>
            <c:bubble3D val="0"/>
            <c:spPr>
              <a:solidFill>
                <a:srgbClr val="0070C0"/>
              </a:solidFill>
              <a:ln w="19050">
                <a:noFill/>
              </a:ln>
              <a:effectLst/>
            </c:spPr>
            <c:extLst>
              <c:ext xmlns:c16="http://schemas.microsoft.com/office/drawing/2014/chart" uri="{C3380CC4-5D6E-409C-BE32-E72D297353CC}">
                <c16:uniqueId val="{00000006-6F65-407B-ABB2-BF64020FE3D3}"/>
              </c:ext>
            </c:extLst>
          </c:dPt>
          <c:dPt>
            <c:idx val="3"/>
            <c:bubble3D val="0"/>
            <c:spPr>
              <a:solidFill>
                <a:schemeClr val="bg2">
                  <a:lumMod val="90000"/>
                </a:schemeClr>
              </a:solidFill>
              <a:ln w="19050">
                <a:noFill/>
              </a:ln>
              <a:effectLst/>
            </c:spPr>
            <c:extLst>
              <c:ext xmlns:c16="http://schemas.microsoft.com/office/drawing/2014/chart" uri="{C3380CC4-5D6E-409C-BE32-E72D297353CC}">
                <c16:uniqueId val="{00000008-6F65-407B-ABB2-BF64020FE3D3}"/>
              </c:ext>
            </c:extLst>
          </c:dPt>
          <c:dPt>
            <c:idx val="4"/>
            <c:bubble3D val="0"/>
            <c:spPr>
              <a:solidFill>
                <a:schemeClr val="bg1">
                  <a:lumMod val="95000"/>
                </a:schemeClr>
              </a:solidFill>
              <a:ln w="19050">
                <a:noFill/>
              </a:ln>
              <a:effectLst/>
            </c:spPr>
            <c:extLst>
              <c:ext xmlns:c16="http://schemas.microsoft.com/office/drawing/2014/chart" uri="{C3380CC4-5D6E-409C-BE32-E72D297353CC}">
                <c16:uniqueId val="{0000000A-6F65-407B-ABB2-BF64020FE3D3}"/>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C-6F65-407B-ABB2-BF64020FE3D3}"/>
              </c:ext>
            </c:extLst>
          </c:dPt>
          <c:dLbls>
            <c:dLbl>
              <c:idx val="0"/>
              <c:layout>
                <c:manualLayout>
                  <c:x val="5.5555555555555558E-3"/>
                  <c:y val="-1.3888888888888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F65-407B-ABB2-BF64020FE3D3}"/>
                </c:ext>
              </c:extLst>
            </c:dLbl>
            <c:dLbl>
              <c:idx val="4"/>
              <c:layout>
                <c:manualLayout>
                  <c:x val="-1.1111111111111112E-2"/>
                  <c:y val="-8.333333333333332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F65-407B-ABB2-BF64020FE3D3}"/>
                </c:ext>
              </c:extLst>
            </c:dLbl>
            <c:dLbl>
              <c:idx val="5"/>
              <c:delete val="1"/>
              <c:extLst>
                <c:ext xmlns:c15="http://schemas.microsoft.com/office/drawing/2012/chart" uri="{CE6537A1-D6FC-4f65-9D91-7224C49458BB}"/>
                <c:ext xmlns:c16="http://schemas.microsoft.com/office/drawing/2014/chart" uri="{C3380CC4-5D6E-409C-BE32-E72D297353CC}">
                  <c16:uniqueId val="{0000000C-6F65-407B-ABB2-BF64020FE3D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'[SurveyReport-6307820-10-4-2018.xlsx]Q1 - Q14'!$A$234:$A$238</c:f>
              <c:strCache>
                <c:ptCount val="5"/>
                <c:pt idx="0">
                  <c:v>Excellent</c:v>
                </c:pt>
                <c:pt idx="1">
                  <c:v>Very Good</c:v>
                </c:pt>
                <c:pt idx="2">
                  <c:v>Good</c:v>
                </c:pt>
                <c:pt idx="3">
                  <c:v>Neutral</c:v>
                </c:pt>
                <c:pt idx="4">
                  <c:v>Poor</c:v>
                </c:pt>
              </c:strCache>
            </c:strRef>
          </c:cat>
          <c:val>
            <c:numRef>
              <c:f>'[SurveyReport-6307820-10-4-2018.xlsx]Q1 - Q14'!$C$234:$C$238</c:f>
              <c:numCache>
                <c:formatCode>0%</c:formatCode>
                <c:ptCount val="5"/>
                <c:pt idx="0">
                  <c:v>0.16122840690978887</c:v>
                </c:pt>
                <c:pt idx="1">
                  <c:v>0.40115163147792704</c:v>
                </c:pt>
                <c:pt idx="2">
                  <c:v>0.31861804222648754</c:v>
                </c:pt>
                <c:pt idx="3">
                  <c:v>7.6775431861804216E-2</c:v>
                </c:pt>
                <c:pt idx="4">
                  <c:v>4.0307101727447239E-2</c:v>
                </c:pt>
              </c:numCache>
            </c:numRef>
          </c:val>
          <c:extLst>
            <c:ext xmlns:c16="http://schemas.microsoft.com/office/drawing/2014/chart" uri="{C3380CC4-5D6E-409C-BE32-E72D297353CC}">
              <c16:uniqueId val="{0000000D-6F65-407B-ABB2-BF64020FE3D3}"/>
            </c:ext>
          </c:extLst>
        </c:ser>
        <c:dLbls>
          <c:showLegendKey val="0"/>
          <c:showVal val="0"/>
          <c:showCatName val="0"/>
          <c:showSerName val="0"/>
          <c:showPercent val="0"/>
          <c:showBubbleSize val="0"/>
          <c:showLeaderLines val="1"/>
        </c:dLbls>
        <c:firstSliceAng val="0"/>
        <c:holeSize val="5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When do you involve IT when planning new business needs? </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5465577497999917"/>
          <c:y val="0.1670831981143355"/>
          <c:w val="0.61752937165853217"/>
          <c:h val="0.77736111111111106"/>
        </c:manualLayout>
      </c:layout>
      <c:barChart>
        <c:barDir val="bar"/>
        <c:grouping val="clustered"/>
        <c:varyColors val="0"/>
        <c:ser>
          <c:idx val="0"/>
          <c:order val="0"/>
          <c:spPr>
            <a:solidFill>
              <a:schemeClr val="dk1">
                <a:tint val="88500"/>
              </a:schemeClr>
            </a:solidFill>
            <a:ln>
              <a:noFill/>
            </a:ln>
            <a:effectLst/>
          </c:spPr>
          <c:invertIfNegative val="0"/>
          <c:cat>
            <c:strRef>
              <c:f>'[SurveyReport-6307820-10-4-2018.xlsx]Q1 - Q14'!$A$253:$A$255</c:f>
              <c:strCache>
                <c:ptCount val="3"/>
                <c:pt idx="0">
                  <c:v>Late, for execution</c:v>
                </c:pt>
                <c:pt idx="1">
                  <c:v>When starting a project</c:v>
                </c:pt>
                <c:pt idx="2">
                  <c:v>Early, in research phase</c:v>
                </c:pt>
              </c:strCache>
            </c:strRef>
          </c:cat>
          <c:val>
            <c:numRef>
              <c:f>'[SurveyReport-6307820-10-4-2018.xlsx]Q1 - Q14'!$B$253:$B$255</c:f>
            </c:numRef>
          </c:val>
          <c:extLst>
            <c:ext xmlns:c16="http://schemas.microsoft.com/office/drawing/2014/chart" uri="{C3380CC4-5D6E-409C-BE32-E72D297353CC}">
              <c16:uniqueId val="{00000000-AC72-4E71-A500-A38402D51338}"/>
            </c:ext>
          </c:extLst>
        </c:ser>
        <c:ser>
          <c:idx val="1"/>
          <c:order val="1"/>
          <c:spPr>
            <a:solidFill>
              <a:schemeClr val="dk1">
                <a:tint val="55000"/>
              </a:schemeClr>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2-AC72-4E71-A500-A38402D51338}"/>
              </c:ext>
            </c:extLst>
          </c:dPt>
          <c:dPt>
            <c:idx val="1"/>
            <c:invertIfNegative val="0"/>
            <c:bubble3D val="0"/>
            <c:spPr>
              <a:solidFill>
                <a:schemeClr val="tx1">
                  <a:lumMod val="65000"/>
                  <a:lumOff val="35000"/>
                </a:schemeClr>
              </a:solidFill>
              <a:ln>
                <a:noFill/>
              </a:ln>
              <a:effectLst/>
            </c:spPr>
            <c:extLst>
              <c:ext xmlns:c16="http://schemas.microsoft.com/office/drawing/2014/chart" uri="{C3380CC4-5D6E-409C-BE32-E72D297353CC}">
                <c16:uniqueId val="{00000004-AC72-4E71-A500-A38402D51338}"/>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6-AC72-4E71-A500-A38402D51338}"/>
              </c:ext>
            </c:extLst>
          </c:dPt>
          <c:dPt>
            <c:idx val="3"/>
            <c:invertIfNegative val="0"/>
            <c:bubble3D val="0"/>
            <c:spPr>
              <a:solidFill>
                <a:schemeClr val="bg2">
                  <a:lumMod val="90000"/>
                </a:schemeClr>
              </a:solidFill>
              <a:ln>
                <a:noFill/>
              </a:ln>
              <a:effectLst/>
            </c:spPr>
            <c:extLst>
              <c:ext xmlns:c16="http://schemas.microsoft.com/office/drawing/2014/chart" uri="{C3380CC4-5D6E-409C-BE32-E72D297353CC}">
                <c16:uniqueId val="{00000008-AC72-4E71-A500-A38402D51338}"/>
              </c:ext>
            </c:extLst>
          </c:dPt>
          <c:dPt>
            <c:idx val="4"/>
            <c:invertIfNegative val="0"/>
            <c:bubble3D val="0"/>
            <c:spPr>
              <a:solidFill>
                <a:schemeClr val="bg2">
                  <a:lumMod val="75000"/>
                </a:schemeClr>
              </a:solidFill>
              <a:ln>
                <a:noFill/>
              </a:ln>
              <a:effectLst/>
            </c:spPr>
            <c:extLst>
              <c:ext xmlns:c16="http://schemas.microsoft.com/office/drawing/2014/chart" uri="{C3380CC4-5D6E-409C-BE32-E72D297353CC}">
                <c16:uniqueId val="{0000000A-AC72-4E71-A500-A38402D51338}"/>
              </c:ext>
            </c:extLst>
          </c:dPt>
          <c:dPt>
            <c:idx val="5"/>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AC72-4E71-A500-A38402D51338}"/>
              </c:ext>
            </c:extLst>
          </c:dPt>
          <c:dPt>
            <c:idx val="6"/>
            <c:invertIfNegative val="0"/>
            <c:bubble3D val="0"/>
            <c:spPr>
              <a:solidFill>
                <a:schemeClr val="tx1">
                  <a:lumMod val="65000"/>
                  <a:lumOff val="35000"/>
                </a:schemeClr>
              </a:solidFill>
              <a:ln>
                <a:noFill/>
              </a:ln>
              <a:effectLst/>
            </c:spPr>
            <c:extLst>
              <c:ext xmlns:c16="http://schemas.microsoft.com/office/drawing/2014/chart" uri="{C3380CC4-5D6E-409C-BE32-E72D297353CC}">
                <c16:uniqueId val="{0000000E-AC72-4E71-A500-A38402D51338}"/>
              </c:ext>
            </c:extLst>
          </c:dPt>
          <c:dPt>
            <c:idx val="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0-AC72-4E71-A500-A38402D51338}"/>
              </c:ext>
            </c:extLst>
          </c:dPt>
          <c:dPt>
            <c:idx val="8"/>
            <c:invertIfNegative val="0"/>
            <c:bubble3D val="0"/>
            <c:spPr>
              <a:solidFill>
                <a:schemeClr val="tx1">
                  <a:lumMod val="85000"/>
                  <a:lumOff val="15000"/>
                </a:schemeClr>
              </a:solidFill>
              <a:ln>
                <a:noFill/>
              </a:ln>
              <a:effectLst/>
            </c:spPr>
            <c:extLst>
              <c:ext xmlns:c16="http://schemas.microsoft.com/office/drawing/2014/chart" uri="{C3380CC4-5D6E-409C-BE32-E72D297353CC}">
                <c16:uniqueId val="{00000012-AC72-4E71-A500-A38402D51338}"/>
              </c:ext>
            </c:extLst>
          </c:dPt>
          <c:dPt>
            <c:idx val="9"/>
            <c:invertIfNegative val="0"/>
            <c:bubble3D val="0"/>
            <c:spPr>
              <a:solidFill>
                <a:schemeClr val="tx1">
                  <a:lumMod val="95000"/>
                  <a:lumOff val="5000"/>
                </a:schemeClr>
              </a:solidFill>
              <a:ln>
                <a:noFill/>
              </a:ln>
              <a:effectLst/>
            </c:spPr>
            <c:extLst>
              <c:ext xmlns:c16="http://schemas.microsoft.com/office/drawing/2014/chart" uri="{C3380CC4-5D6E-409C-BE32-E72D297353CC}">
                <c16:uniqueId val="{00000014-AC72-4E71-A500-A38402D51338}"/>
              </c:ext>
            </c:extLst>
          </c:dPt>
          <c:dLbls>
            <c:dLbl>
              <c:idx val="0"/>
              <c:layout>
                <c:manualLayout>
                  <c:x val="-4.1252864782276605E-2"/>
                  <c:y val="-1.5907263815660555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C72-4E71-A500-A38402D51338}"/>
                </c:ext>
              </c:extLst>
            </c:dLbl>
            <c:dLbl>
              <c:idx val="1"/>
              <c:layout>
                <c:manualLayout>
                  <c:x val="-0.27954139422411778"/>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72-4E71-A500-A38402D51338}"/>
                </c:ext>
              </c:extLst>
            </c:dLbl>
            <c:dLbl>
              <c:idx val="2"/>
              <c:layout>
                <c:manualLayout>
                  <c:x val="-0.50031820888699086"/>
                  <c:y val="2.9138982356055821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72-4E71-A500-A38402D51338}"/>
                </c:ext>
              </c:extLst>
            </c:dLbl>
            <c:dLbl>
              <c:idx val="3"/>
              <c:layout>
                <c:manualLayout>
                  <c:x val="-5.5990327412287625E-4"/>
                  <c:y val="-4.338394793926167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72-4E71-A500-A38402D51338}"/>
                </c:ext>
              </c:extLst>
            </c:dLbl>
            <c:dLbl>
              <c:idx val="4"/>
              <c:layout>
                <c:manualLayout>
                  <c:x val="-8.0701142303736095E-4"/>
                  <c:y val="4.33839479392624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72-4E71-A500-A38402D51338}"/>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'[SurveyReport-6307820-10-4-2018.xlsx]Q1 - Q14'!$A$253:$A$255</c:f>
              <c:strCache>
                <c:ptCount val="3"/>
                <c:pt idx="0">
                  <c:v>Late, for execution</c:v>
                </c:pt>
                <c:pt idx="1">
                  <c:v>When starting a project</c:v>
                </c:pt>
                <c:pt idx="2">
                  <c:v>Early, in research phase</c:v>
                </c:pt>
              </c:strCache>
            </c:strRef>
          </c:cat>
          <c:val>
            <c:numRef>
              <c:f>'[SurveyReport-6307820-10-4-2018.xlsx]Q1 - Q14'!$C$253:$C$255</c:f>
              <c:numCache>
                <c:formatCode>0%</c:formatCode>
                <c:ptCount val="3"/>
                <c:pt idx="0">
                  <c:v>4.2226487523992322E-2</c:v>
                </c:pt>
                <c:pt idx="1">
                  <c:v>0.25911708253358923</c:v>
                </c:pt>
                <c:pt idx="2">
                  <c:v>0.43378119001919385</c:v>
                </c:pt>
              </c:numCache>
            </c:numRef>
          </c:val>
          <c:extLst>
            <c:ext xmlns:c16="http://schemas.microsoft.com/office/drawing/2014/chart" uri="{C3380CC4-5D6E-409C-BE32-E72D297353CC}">
              <c16:uniqueId val="{00000015-AC72-4E71-A500-A38402D51338}"/>
            </c:ext>
          </c:extLst>
        </c:ser>
        <c:dLbls>
          <c:showLegendKey val="0"/>
          <c:showVal val="0"/>
          <c:showCatName val="0"/>
          <c:showSerName val="0"/>
          <c:showPercent val="0"/>
          <c:showBubbleSize val="0"/>
        </c:dLbls>
        <c:gapWidth val="182"/>
        <c:axId val="202378896"/>
        <c:axId val="202383992"/>
      </c:barChart>
      <c:catAx>
        <c:axId val="2023788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202383992"/>
        <c:crosses val="autoZero"/>
        <c:auto val="1"/>
        <c:lblAlgn val="ctr"/>
        <c:lblOffset val="100"/>
        <c:noMultiLvlLbl val="0"/>
      </c:catAx>
      <c:valAx>
        <c:axId val="202383992"/>
        <c:scaling>
          <c:orientation val="minMax"/>
        </c:scaling>
        <c:delete val="1"/>
        <c:axPos val="b"/>
        <c:numFmt formatCode="0%" sourceLinked="1"/>
        <c:majorTickMark val="none"/>
        <c:minorTickMark val="none"/>
        <c:tickLblPos val="nextTo"/>
        <c:crossAx val="2023788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Rate your overall experience in relation with project execution </a:t>
            </a:r>
          </a:p>
        </c:rich>
      </c:tx>
      <c:layout>
        <c:manualLayout>
          <c:xMode val="edge"/>
          <c:yMode val="edge"/>
          <c:x val="0.2360843910162104"/>
          <c:y val="0.10685706422361978"/>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4338495377387512"/>
          <c:y val="0.26515805590168828"/>
          <c:w val="0.41556019191717181"/>
          <c:h val="0.60796702603246533"/>
        </c:manualLayout>
      </c:layout>
      <c:doughnutChart>
        <c:varyColors val="1"/>
        <c:ser>
          <c:idx val="0"/>
          <c:order val="0"/>
          <c:cat>
            <c:strRef>
              <c:f>'[SurveyReport-6307820-10-4-2018.xlsx]Q1 - Q14'!$A$269:$A$273</c:f>
              <c:strCache>
                <c:ptCount val="5"/>
                <c:pt idx="0">
                  <c:v>Excellent</c:v>
                </c:pt>
                <c:pt idx="1">
                  <c:v>Very Good</c:v>
                </c:pt>
                <c:pt idx="2">
                  <c:v>Good</c:v>
                </c:pt>
                <c:pt idx="3">
                  <c:v>Neutral</c:v>
                </c:pt>
                <c:pt idx="4">
                  <c:v>Poor</c:v>
                </c:pt>
              </c:strCache>
            </c:strRef>
          </c:cat>
          <c:val>
            <c:numRef>
              <c:f>'[SurveyReport-6307820-10-4-2018.xlsx]Q1 - Q14'!$B$269:$B$273</c:f>
            </c:numRef>
          </c:val>
          <c:extLst>
            <c:ext xmlns:c16="http://schemas.microsoft.com/office/drawing/2014/chart" uri="{C3380CC4-5D6E-409C-BE32-E72D297353CC}">
              <c16:uniqueId val="{00000000-9173-44CD-A160-97765E605E93}"/>
            </c:ext>
          </c:extLst>
        </c:ser>
        <c:ser>
          <c:idx val="1"/>
          <c:order val="1"/>
          <c:spPr>
            <a:ln>
              <a:noFill/>
            </a:ln>
          </c:spPr>
          <c:explosion val="1"/>
          <c:dPt>
            <c:idx val="0"/>
            <c:bubble3D val="0"/>
            <c:spPr>
              <a:solidFill>
                <a:schemeClr val="bg2">
                  <a:lumMod val="50000"/>
                </a:schemeClr>
              </a:solidFill>
              <a:ln w="19050">
                <a:noFill/>
              </a:ln>
              <a:effectLst/>
            </c:spPr>
            <c:extLst>
              <c:ext xmlns:c16="http://schemas.microsoft.com/office/drawing/2014/chart" uri="{C3380CC4-5D6E-409C-BE32-E72D297353CC}">
                <c16:uniqueId val="{00000002-9173-44CD-A160-97765E605E93}"/>
              </c:ext>
            </c:extLst>
          </c:dPt>
          <c:dPt>
            <c:idx val="1"/>
            <c:bubble3D val="0"/>
            <c:spPr>
              <a:solidFill>
                <a:srgbClr val="002060"/>
              </a:solidFill>
              <a:ln w="19050">
                <a:noFill/>
              </a:ln>
              <a:effectLst/>
            </c:spPr>
            <c:extLst>
              <c:ext xmlns:c16="http://schemas.microsoft.com/office/drawing/2014/chart" uri="{C3380CC4-5D6E-409C-BE32-E72D297353CC}">
                <c16:uniqueId val="{00000004-9173-44CD-A160-97765E605E93}"/>
              </c:ext>
            </c:extLst>
          </c:dPt>
          <c:dPt>
            <c:idx val="2"/>
            <c:bubble3D val="0"/>
            <c:spPr>
              <a:solidFill>
                <a:srgbClr val="0070C0"/>
              </a:solidFill>
              <a:ln w="19050">
                <a:noFill/>
              </a:ln>
              <a:effectLst/>
            </c:spPr>
            <c:extLst>
              <c:ext xmlns:c16="http://schemas.microsoft.com/office/drawing/2014/chart" uri="{C3380CC4-5D6E-409C-BE32-E72D297353CC}">
                <c16:uniqueId val="{00000006-9173-44CD-A160-97765E605E93}"/>
              </c:ext>
            </c:extLst>
          </c:dPt>
          <c:dPt>
            <c:idx val="3"/>
            <c:bubble3D val="0"/>
            <c:spPr>
              <a:solidFill>
                <a:schemeClr val="bg2">
                  <a:lumMod val="90000"/>
                </a:schemeClr>
              </a:solidFill>
              <a:ln w="19050">
                <a:noFill/>
              </a:ln>
              <a:effectLst/>
            </c:spPr>
            <c:extLst>
              <c:ext xmlns:c16="http://schemas.microsoft.com/office/drawing/2014/chart" uri="{C3380CC4-5D6E-409C-BE32-E72D297353CC}">
                <c16:uniqueId val="{00000008-9173-44CD-A160-97765E605E93}"/>
              </c:ext>
            </c:extLst>
          </c:dPt>
          <c:dPt>
            <c:idx val="4"/>
            <c:bubble3D val="0"/>
            <c:spPr>
              <a:solidFill>
                <a:schemeClr val="bg1">
                  <a:lumMod val="95000"/>
                </a:schemeClr>
              </a:solidFill>
              <a:ln w="19050">
                <a:noFill/>
              </a:ln>
              <a:effectLst/>
            </c:spPr>
            <c:extLst>
              <c:ext xmlns:c16="http://schemas.microsoft.com/office/drawing/2014/chart" uri="{C3380CC4-5D6E-409C-BE32-E72D297353CC}">
                <c16:uniqueId val="{0000000A-9173-44CD-A160-97765E605E93}"/>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C-9173-44CD-A160-97765E605E93}"/>
              </c:ext>
            </c:extLst>
          </c:dPt>
          <c:dLbls>
            <c:dLbl>
              <c:idx val="0"/>
              <c:layout>
                <c:manualLayout>
                  <c:x val="5.5555555555555558E-3"/>
                  <c:y val="-1.3888888888888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173-44CD-A160-97765E605E93}"/>
                </c:ext>
              </c:extLst>
            </c:dLbl>
            <c:dLbl>
              <c:idx val="4"/>
              <c:layout>
                <c:manualLayout>
                  <c:x val="-1.1111111111111112E-2"/>
                  <c:y val="-8.333333333333332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173-44CD-A160-97765E605E93}"/>
                </c:ext>
              </c:extLst>
            </c:dLbl>
            <c:dLbl>
              <c:idx val="5"/>
              <c:delete val="1"/>
              <c:extLst>
                <c:ext xmlns:c15="http://schemas.microsoft.com/office/drawing/2012/chart" uri="{CE6537A1-D6FC-4f65-9D91-7224C49458BB}"/>
                <c:ext xmlns:c16="http://schemas.microsoft.com/office/drawing/2014/chart" uri="{C3380CC4-5D6E-409C-BE32-E72D297353CC}">
                  <c16:uniqueId val="{0000000C-9173-44CD-A160-97765E605E9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'[SurveyReport-6307820-10-4-2018.xlsx]Q1 - Q14'!$A$269:$A$273</c:f>
              <c:strCache>
                <c:ptCount val="5"/>
                <c:pt idx="0">
                  <c:v>Excellent</c:v>
                </c:pt>
                <c:pt idx="1">
                  <c:v>Very Good</c:v>
                </c:pt>
                <c:pt idx="2">
                  <c:v>Good</c:v>
                </c:pt>
                <c:pt idx="3">
                  <c:v>Neutral</c:v>
                </c:pt>
                <c:pt idx="4">
                  <c:v>Poor</c:v>
                </c:pt>
              </c:strCache>
            </c:strRef>
          </c:cat>
          <c:val>
            <c:numRef>
              <c:f>'[SurveyReport-6307820-10-4-2018.xlsx]Q1 - Q14'!$C$269:$C$273</c:f>
              <c:numCache>
                <c:formatCode>0%</c:formatCode>
                <c:ptCount val="5"/>
                <c:pt idx="0">
                  <c:v>0.12859884836852206</c:v>
                </c:pt>
                <c:pt idx="1">
                  <c:v>0.34357005758157388</c:v>
                </c:pt>
                <c:pt idx="2">
                  <c:v>0.2667946257197697</c:v>
                </c:pt>
                <c:pt idx="3">
                  <c:v>7.4856046065259113E-2</c:v>
                </c:pt>
                <c:pt idx="4">
                  <c:v>2.3032629558541268E-2</c:v>
                </c:pt>
              </c:numCache>
            </c:numRef>
          </c:val>
          <c:extLst>
            <c:ext xmlns:c16="http://schemas.microsoft.com/office/drawing/2014/chart" uri="{C3380CC4-5D6E-409C-BE32-E72D297353CC}">
              <c16:uniqueId val="{0000000D-9173-44CD-A160-97765E605E93}"/>
            </c:ext>
          </c:extLst>
        </c:ser>
        <c:dLbls>
          <c:showLegendKey val="0"/>
          <c:showVal val="0"/>
          <c:showCatName val="0"/>
          <c:showSerName val="0"/>
          <c:showPercent val="0"/>
          <c:showBubbleSize val="0"/>
          <c:showLeaderLines val="1"/>
        </c:dLbls>
        <c:firstSliceAng val="0"/>
        <c:holeSize val="55"/>
      </c:doughnutChart>
      <c:spPr>
        <a:noFill/>
        <a:ln>
          <a:noFill/>
        </a:ln>
        <a:effectLst/>
      </c:spPr>
    </c:plotArea>
    <c:legend>
      <c:legendPos val="b"/>
      <c:layout>
        <c:manualLayout>
          <c:xMode val="edge"/>
          <c:yMode val="edge"/>
          <c:x val="0.76498123831917009"/>
          <c:y val="0.31390762197298255"/>
          <c:w val="0.19771950869738317"/>
          <c:h val="0.49746021087510151"/>
        </c:manualLayout>
      </c:layout>
      <c:overlay val="0"/>
      <c:spPr>
        <a:noFill/>
        <a:ln>
          <a:no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4">
  <a:schemeClr val="accent4"/>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withinLinear" id="18">
  <a:schemeClr val="accent5"/>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717" cy="48059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2775" y="0"/>
            <a:ext cx="3170717" cy="480598"/>
          </a:xfrm>
          <a:prstGeom prst="rect">
            <a:avLst/>
          </a:prstGeom>
        </p:spPr>
        <p:txBody>
          <a:bodyPr vert="horz" lIns="91440" tIns="45720" rIns="91440" bIns="45720" rtlCol="0"/>
          <a:lstStyle>
            <a:lvl1pPr algn="r">
              <a:defRPr sz="1200"/>
            </a:lvl1pPr>
          </a:lstStyle>
          <a:p>
            <a:fld id="{5C96DE8F-FECC-4105-A9A0-7E6567492EB5}" type="datetimeFigureOut">
              <a:rPr lang="en-US" smtClean="0"/>
              <a:t>2/26/2026</a:t>
            </a:fld>
            <a:endParaRPr lang="en-US"/>
          </a:p>
        </p:txBody>
      </p:sp>
      <p:sp>
        <p:nvSpPr>
          <p:cNvPr id="4" name="Footer Placeholder 3"/>
          <p:cNvSpPr>
            <a:spLocks noGrp="1"/>
          </p:cNvSpPr>
          <p:nvPr>
            <p:ph type="ftr" sz="quarter" idx="2"/>
          </p:nvPr>
        </p:nvSpPr>
        <p:spPr>
          <a:xfrm>
            <a:off x="0" y="9120602"/>
            <a:ext cx="3170717" cy="48059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2775" y="9120602"/>
            <a:ext cx="3170717" cy="480598"/>
          </a:xfrm>
          <a:prstGeom prst="rect">
            <a:avLst/>
          </a:prstGeom>
        </p:spPr>
        <p:txBody>
          <a:bodyPr vert="horz" lIns="91440" tIns="45720" rIns="91440" bIns="45720" rtlCol="0" anchor="b"/>
          <a:lstStyle>
            <a:lvl1pPr algn="r">
              <a:defRPr sz="1200"/>
            </a:lvl1pPr>
          </a:lstStyle>
          <a:p>
            <a:fld id="{D8625DA0-EF61-4C09-B3CA-0227B94B2283}" type="slidenum">
              <a:rPr lang="en-US" smtClean="0"/>
              <a:t>‹#›</a:t>
            </a:fld>
            <a:endParaRPr lang="en-US"/>
          </a:p>
        </p:txBody>
      </p:sp>
    </p:spTree>
    <p:extLst>
      <p:ext uri="{BB962C8B-B14F-4D97-AF65-F5344CB8AC3E}">
        <p14:creationId xmlns:p14="http://schemas.microsoft.com/office/powerpoint/2010/main" val="25608200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143588" y="0"/>
            <a:ext cx="3169920" cy="481728"/>
          </a:xfrm>
          <a:prstGeom prst="rect">
            <a:avLst/>
          </a:prstGeom>
        </p:spPr>
        <p:txBody>
          <a:bodyPr vert="horz" lIns="91440" tIns="45720" rIns="91440" bIns="45720" rtlCol="0"/>
          <a:lstStyle>
            <a:lvl1pPr algn="r">
              <a:defRPr sz="1200"/>
            </a:lvl1pPr>
          </a:lstStyle>
          <a:p>
            <a:fld id="{75AD8355-8617-4854-8BB3-6B917B8E523F}" type="datetimeFigureOut">
              <a:rPr lang="en-US" smtClean="0"/>
              <a:t>2/26/2026</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31521" y="4620577"/>
            <a:ext cx="5852160" cy="378047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8" y="9119475"/>
            <a:ext cx="3169920" cy="481727"/>
          </a:xfrm>
          <a:prstGeom prst="rect">
            <a:avLst/>
          </a:prstGeom>
        </p:spPr>
        <p:txBody>
          <a:bodyPr vert="horz" lIns="91440" tIns="45720" rIns="91440" bIns="45720" rtlCol="0" anchor="b"/>
          <a:lstStyle>
            <a:lvl1pPr algn="r">
              <a:defRPr sz="1200"/>
            </a:lvl1pPr>
          </a:lstStyle>
          <a:p>
            <a:fld id="{44A53FCF-832A-4967-9F77-8F44ED010DCF}" type="slidenum">
              <a:rPr lang="en-US" smtClean="0"/>
              <a:t>‹#›</a:t>
            </a:fld>
            <a:endParaRPr lang="en-US" dirty="0"/>
          </a:p>
        </p:txBody>
      </p:sp>
    </p:spTree>
    <p:extLst>
      <p:ext uri="{BB962C8B-B14F-4D97-AF65-F5344CB8AC3E}">
        <p14:creationId xmlns:p14="http://schemas.microsoft.com/office/powerpoint/2010/main" val="36634404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2</a:t>
            </a:fld>
            <a:endParaRPr lang="en-US" dirty="0"/>
          </a:p>
        </p:txBody>
      </p:sp>
    </p:spTree>
    <p:extLst>
      <p:ext uri="{BB962C8B-B14F-4D97-AF65-F5344CB8AC3E}">
        <p14:creationId xmlns:p14="http://schemas.microsoft.com/office/powerpoint/2010/main" val="1074756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lvl="1" indent="-285750">
              <a:lnSpc>
                <a:spcPct val="114000"/>
              </a:lnSpc>
              <a:buFont typeface="Arial" panose="020B0604020202020204" pitchFamily="34" charset="0"/>
              <a:buChar char="•"/>
            </a:pPr>
            <a:r>
              <a:rPr lang="en-US" sz="1400" b="1" dirty="0">
                <a:solidFill>
                  <a:schemeClr val="accent4"/>
                </a:solidFill>
              </a:rPr>
              <a:t>External</a:t>
            </a:r>
            <a:r>
              <a:rPr lang="en-US" sz="1400" dirty="0">
                <a:solidFill>
                  <a:schemeClr val="accent4"/>
                </a:solidFill>
              </a:rPr>
              <a:t> to ITD – Managing quality of delivery for Business strategy and  business capabilities that drive growth in revenue and efficiency in Operations</a:t>
            </a:r>
          </a:p>
          <a:p>
            <a:pPr marL="742950" lvl="1" indent="-285750">
              <a:lnSpc>
                <a:spcPct val="114000"/>
              </a:lnSpc>
              <a:buFont typeface="Arial" panose="020B0604020202020204" pitchFamily="34" charset="0"/>
              <a:buChar char="•"/>
            </a:pPr>
            <a:r>
              <a:rPr lang="en-US" sz="1400" b="1" dirty="0">
                <a:solidFill>
                  <a:schemeClr val="accent4"/>
                </a:solidFill>
              </a:rPr>
              <a:t>Internal to ITD </a:t>
            </a:r>
            <a:r>
              <a:rPr lang="en-US" sz="1400" dirty="0">
                <a:solidFill>
                  <a:schemeClr val="accent4"/>
                </a:solidFill>
              </a:rPr>
              <a:t>– Supporting IT reorganization and stabilization by breaking down silos and building up missing governance</a:t>
            </a:r>
          </a:p>
          <a:p>
            <a:pPr marL="742950" lvl="1" indent="-285750">
              <a:lnSpc>
                <a:spcPct val="114000"/>
              </a:lnSpc>
              <a:buFont typeface="Arial" panose="020B0604020202020204" pitchFamily="34" charset="0"/>
              <a:buChar char="•"/>
            </a:pPr>
            <a:r>
              <a:rPr lang="en-US" sz="1400" b="1" dirty="0">
                <a:solidFill>
                  <a:schemeClr val="accent4"/>
                </a:solidFill>
              </a:rPr>
              <a:t>Innovation and transformation </a:t>
            </a:r>
            <a:r>
              <a:rPr lang="en-US" sz="1400" dirty="0">
                <a:solidFill>
                  <a:schemeClr val="accent4"/>
                </a:solidFill>
              </a:rPr>
              <a:t>- Creating initiatives and roadmap to arrive at “Future Tech Division” (e.g. Create IP)</a:t>
            </a:r>
          </a:p>
        </p:txBody>
      </p:sp>
      <p:sp>
        <p:nvSpPr>
          <p:cNvPr id="4" name="Slide Number Placeholder 3"/>
          <p:cNvSpPr>
            <a:spLocks noGrp="1"/>
          </p:cNvSpPr>
          <p:nvPr>
            <p:ph type="sldNum" sz="quarter" idx="10"/>
          </p:nvPr>
        </p:nvSpPr>
        <p:spPr/>
        <p:txBody>
          <a:bodyPr/>
          <a:lstStyle/>
          <a:p>
            <a:fld id="{44A53FCF-832A-4967-9F77-8F44ED010DCF}" type="slidenum">
              <a:rPr lang="en-US" smtClean="0"/>
              <a:t>3</a:t>
            </a:fld>
            <a:endParaRPr lang="en-US" dirty="0"/>
          </a:p>
        </p:txBody>
      </p:sp>
    </p:spTree>
    <p:extLst>
      <p:ext uri="{BB962C8B-B14F-4D97-AF65-F5344CB8AC3E}">
        <p14:creationId xmlns:p14="http://schemas.microsoft.com/office/powerpoint/2010/main" val="2795158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C03F44-0BF6-446D-88F6-2F7DD1799C50}" type="slidenum">
              <a:rPr lang="en-US" smtClean="0"/>
              <a:t>5</a:t>
            </a:fld>
            <a:endParaRPr lang="en-US"/>
          </a:p>
        </p:txBody>
      </p:sp>
    </p:spTree>
    <p:extLst>
      <p:ext uri="{BB962C8B-B14F-4D97-AF65-F5344CB8AC3E}">
        <p14:creationId xmlns:p14="http://schemas.microsoft.com/office/powerpoint/2010/main" val="928248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6</a:t>
            </a:fld>
            <a:endParaRPr lang="en-US" dirty="0"/>
          </a:p>
        </p:txBody>
      </p:sp>
    </p:spTree>
    <p:extLst>
      <p:ext uri="{BB962C8B-B14F-4D97-AF65-F5344CB8AC3E}">
        <p14:creationId xmlns:p14="http://schemas.microsoft.com/office/powerpoint/2010/main" val="1969372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10</a:t>
            </a:fld>
            <a:endParaRPr lang="en-US" dirty="0"/>
          </a:p>
        </p:txBody>
      </p:sp>
    </p:spTree>
    <p:extLst>
      <p:ext uri="{BB962C8B-B14F-4D97-AF65-F5344CB8AC3E}">
        <p14:creationId xmlns:p14="http://schemas.microsoft.com/office/powerpoint/2010/main" val="2425302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13</a:t>
            </a:fld>
            <a:endParaRPr lang="en-US" dirty="0"/>
          </a:p>
        </p:txBody>
      </p:sp>
    </p:spTree>
    <p:extLst>
      <p:ext uri="{BB962C8B-B14F-4D97-AF65-F5344CB8AC3E}">
        <p14:creationId xmlns:p14="http://schemas.microsoft.com/office/powerpoint/2010/main" val="1602457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20</a:t>
            </a:fld>
            <a:endParaRPr lang="en-US" dirty="0"/>
          </a:p>
        </p:txBody>
      </p:sp>
    </p:spTree>
    <p:extLst>
      <p:ext uri="{BB962C8B-B14F-4D97-AF65-F5344CB8AC3E}">
        <p14:creationId xmlns:p14="http://schemas.microsoft.com/office/powerpoint/2010/main" val="47038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22</a:t>
            </a:fld>
            <a:endParaRPr lang="en-US" dirty="0"/>
          </a:p>
        </p:txBody>
      </p:sp>
    </p:spTree>
    <p:extLst>
      <p:ext uri="{BB962C8B-B14F-4D97-AF65-F5344CB8AC3E}">
        <p14:creationId xmlns:p14="http://schemas.microsoft.com/office/powerpoint/2010/main" val="1212870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23</a:t>
            </a:fld>
            <a:endParaRPr lang="en-US" dirty="0"/>
          </a:p>
        </p:txBody>
      </p:sp>
    </p:spTree>
    <p:extLst>
      <p:ext uri="{BB962C8B-B14F-4D97-AF65-F5344CB8AC3E}">
        <p14:creationId xmlns:p14="http://schemas.microsoft.com/office/powerpoint/2010/main" val="1556780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29</a:t>
            </a:fld>
            <a:endParaRPr lang="en-US" dirty="0"/>
          </a:p>
        </p:txBody>
      </p:sp>
    </p:spTree>
    <p:extLst>
      <p:ext uri="{BB962C8B-B14F-4D97-AF65-F5344CB8AC3E}">
        <p14:creationId xmlns:p14="http://schemas.microsoft.com/office/powerpoint/2010/main" val="3782686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31</a:t>
            </a:fld>
            <a:endParaRPr lang="en-US" dirty="0"/>
          </a:p>
        </p:txBody>
      </p:sp>
    </p:spTree>
    <p:extLst>
      <p:ext uri="{BB962C8B-B14F-4D97-AF65-F5344CB8AC3E}">
        <p14:creationId xmlns:p14="http://schemas.microsoft.com/office/powerpoint/2010/main" val="1206181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32</a:t>
            </a:fld>
            <a:endParaRPr lang="en-US" dirty="0"/>
          </a:p>
        </p:txBody>
      </p:sp>
    </p:spTree>
    <p:extLst>
      <p:ext uri="{BB962C8B-B14F-4D97-AF65-F5344CB8AC3E}">
        <p14:creationId xmlns:p14="http://schemas.microsoft.com/office/powerpoint/2010/main" val="1052479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38</a:t>
            </a:fld>
            <a:endParaRPr lang="en-US" dirty="0"/>
          </a:p>
        </p:txBody>
      </p:sp>
    </p:spTree>
    <p:extLst>
      <p:ext uri="{BB962C8B-B14F-4D97-AF65-F5344CB8AC3E}">
        <p14:creationId xmlns:p14="http://schemas.microsoft.com/office/powerpoint/2010/main" val="1793594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A53FCF-832A-4967-9F77-8F44ED010DCF}" type="slidenum">
              <a:rPr lang="en-US" smtClean="0"/>
              <a:t>40</a:t>
            </a:fld>
            <a:endParaRPr lang="en-US" dirty="0"/>
          </a:p>
        </p:txBody>
      </p:sp>
    </p:spTree>
    <p:extLst>
      <p:ext uri="{BB962C8B-B14F-4D97-AF65-F5344CB8AC3E}">
        <p14:creationId xmlns:p14="http://schemas.microsoft.com/office/powerpoint/2010/main" val="3721150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4A53FCF-832A-4967-9F77-8F44ED010DCF}" type="slidenum">
              <a:rPr lang="en-US" smtClean="0"/>
              <a:t>45</a:t>
            </a:fld>
            <a:endParaRPr lang="en-US" dirty="0"/>
          </a:p>
        </p:txBody>
      </p:sp>
    </p:spTree>
    <p:extLst>
      <p:ext uri="{BB962C8B-B14F-4D97-AF65-F5344CB8AC3E}">
        <p14:creationId xmlns:p14="http://schemas.microsoft.com/office/powerpoint/2010/main" val="468453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273063-0DF6-4043-B522-0B02E7572AC0}"/>
              </a:ext>
            </a:extLst>
          </p:cNvPr>
          <p:cNvSpPr/>
          <p:nvPr userDrawn="1"/>
        </p:nvSpPr>
        <p:spPr>
          <a:xfrm>
            <a:off x="240600" y="239400"/>
            <a:ext cx="11710800" cy="637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 name="Rectangle 3"/>
          <p:cNvSpPr/>
          <p:nvPr userDrawn="1"/>
        </p:nvSpPr>
        <p:spPr bwMode="white">
          <a:xfrm>
            <a:off x="10546428" y="0"/>
            <a:ext cx="923259" cy="1627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678844D0-934B-47B2-976A-5DC706F184DB}"/>
              </a:ext>
            </a:extLst>
          </p:cNvPr>
          <p:cNvSpPr>
            <a:spLocks noGrp="1"/>
          </p:cNvSpPr>
          <p:nvPr>
            <p:ph type="ctrTitle"/>
          </p:nvPr>
        </p:nvSpPr>
        <p:spPr>
          <a:xfrm>
            <a:off x="947738" y="2420938"/>
            <a:ext cx="8921749" cy="2418262"/>
          </a:xfrm>
        </p:spPr>
        <p:txBody>
          <a:bodyPr anchor="t"/>
          <a:lstStyle>
            <a:lvl1pPr algn="l">
              <a:defRPr sz="670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84DE0155-5A26-4810-BD12-030B4D703061}"/>
              </a:ext>
            </a:extLst>
          </p:cNvPr>
          <p:cNvSpPr>
            <a:spLocks noGrp="1"/>
          </p:cNvSpPr>
          <p:nvPr>
            <p:ph type="subTitle" idx="1"/>
          </p:nvPr>
        </p:nvSpPr>
        <p:spPr>
          <a:xfrm>
            <a:off x="947737" y="5787109"/>
            <a:ext cx="5148262" cy="252000"/>
          </a:xfrm>
        </p:spPr>
        <p:txBody>
          <a:bodyPr/>
          <a:lstStyle>
            <a:lvl1pPr marL="0" indent="0" algn="l">
              <a:spcBef>
                <a:spcPts val="0"/>
              </a:spcBef>
              <a:buNone/>
              <a:defRPr sz="16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cxnSp>
        <p:nvCxnSpPr>
          <p:cNvPr id="13" name="Straight Connector 12">
            <a:extLst>
              <a:ext uri="{FF2B5EF4-FFF2-40B4-BE49-F238E27FC236}">
                <a16:creationId xmlns:a16="http://schemas.microsoft.com/office/drawing/2014/main" id="{8EAD42DE-DDCB-4B3A-8426-83D77A703FC9}"/>
              </a:ext>
            </a:extLst>
          </p:cNvPr>
          <p:cNvCxnSpPr>
            <a:cxnSpLocks/>
          </p:cNvCxnSpPr>
          <p:nvPr userDrawn="1"/>
        </p:nvCxnSpPr>
        <p:spPr>
          <a:xfrm>
            <a:off x="725488" y="6138000"/>
            <a:ext cx="10746513"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19BBB8-DB32-437A-919F-970F1C8615B6}"/>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srgbClr val="1859A9"/>
                </a:solidFill>
              </a:rPr>
              <a:t>ABU DHABI NATIONAL OIL COMPANY</a:t>
            </a:r>
          </a:p>
        </p:txBody>
      </p:sp>
      <p:cxnSp>
        <p:nvCxnSpPr>
          <p:cNvPr id="28" name="Straight Connector 27">
            <a:extLst>
              <a:ext uri="{FF2B5EF4-FFF2-40B4-BE49-F238E27FC236}">
                <a16:creationId xmlns:a16="http://schemas.microsoft.com/office/drawing/2014/main" id="{A820B125-6366-4323-A287-39A0472EAB2B}"/>
              </a:ext>
            </a:extLst>
          </p:cNvPr>
          <p:cNvCxnSpPr>
            <a:cxnSpLocks/>
          </p:cNvCxnSpPr>
          <p:nvPr userDrawn="1"/>
        </p:nvCxnSpPr>
        <p:spPr>
          <a:xfrm>
            <a:off x="946800"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D37BEDD-DE22-453C-BDA6-052325CFC0E3}"/>
              </a:ext>
            </a:extLst>
          </p:cNvPr>
          <p:cNvSpPr txBox="1"/>
          <p:nvPr userDrawn="1"/>
        </p:nvSpPr>
        <p:spPr>
          <a:xfrm>
            <a:off x="7750800" y="6181200"/>
            <a:ext cx="3719733" cy="375864"/>
          </a:xfrm>
          <a:prstGeom prst="rect">
            <a:avLst/>
          </a:prstGeom>
          <a:noFill/>
        </p:spPr>
        <p:txBody>
          <a:bodyPr wrap="square" lIns="0" tIns="0" rIns="0" bIns="0" rtlCol="0">
            <a:noAutofit/>
          </a:bodyPr>
          <a:lstStyle/>
          <a:p>
            <a:pPr algn="r">
              <a:spcBef>
                <a:spcPts val="800"/>
              </a:spcBef>
            </a:pPr>
            <a:r>
              <a:rPr lang="en-GB" sz="1600" b="1" dirty="0">
                <a:solidFill>
                  <a:prstClr val="white"/>
                </a:solidFill>
              </a:rPr>
              <a:t>Client DISTRIBUTION</a:t>
            </a:r>
          </a:p>
        </p:txBody>
      </p:sp>
      <p:sp>
        <p:nvSpPr>
          <p:cNvPr id="5" name="Date Placeholder 4"/>
          <p:cNvSpPr>
            <a:spLocks noGrp="1"/>
          </p:cNvSpPr>
          <p:nvPr>
            <p:ph type="dt" sz="half" idx="10"/>
          </p:nvPr>
        </p:nvSpPr>
        <p:spPr>
          <a:xfrm>
            <a:off x="947737" y="5499315"/>
            <a:ext cx="5148261" cy="252000"/>
          </a:xfrm>
        </p:spPr>
        <p:txBody>
          <a:bodyPr/>
          <a:lstStyle>
            <a:lvl1pPr>
              <a:defRPr sz="1600" b="1" cap="all" baseline="0">
                <a:solidFill>
                  <a:schemeClr val="bg1"/>
                </a:solidFill>
              </a:defRPr>
            </a:lvl1pPr>
          </a:lstStyle>
          <a:p>
            <a:fld id="{CB7A7803-ADC6-5849-815D-88DD54DCEB59}" type="datetime4">
              <a:rPr lang="en-GB" smtClean="0">
                <a:solidFill>
                  <a:prstClr val="white"/>
                </a:solidFill>
              </a:rPr>
              <a:pPr/>
              <a:t>26 February 2026</a:t>
            </a:fld>
            <a:endParaRPr lang="en-GB" dirty="0">
              <a:solidFill>
                <a:prstClr val="white"/>
              </a:solidFill>
            </a:endParaRPr>
          </a:p>
        </p:txBody>
      </p:sp>
    </p:spTree>
    <p:extLst>
      <p:ext uri="{BB962C8B-B14F-4D97-AF65-F5344CB8AC3E}">
        <p14:creationId xmlns:p14="http://schemas.microsoft.com/office/powerpoint/2010/main" val="3863248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Gre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273063-0DF6-4043-B522-0B02E7572AC0}"/>
              </a:ext>
            </a:extLst>
          </p:cNvPr>
          <p:cNvSpPr/>
          <p:nvPr userDrawn="1"/>
        </p:nvSpPr>
        <p:spPr>
          <a:xfrm>
            <a:off x="240600" y="239400"/>
            <a:ext cx="11710800" cy="6379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678844D0-934B-47B2-976A-5DC706F184DB}"/>
              </a:ext>
            </a:extLst>
          </p:cNvPr>
          <p:cNvSpPr>
            <a:spLocks noGrp="1"/>
          </p:cNvSpPr>
          <p:nvPr>
            <p:ph type="ctrTitle"/>
          </p:nvPr>
        </p:nvSpPr>
        <p:spPr>
          <a:xfrm>
            <a:off x="947738" y="2420938"/>
            <a:ext cx="8921750" cy="2418262"/>
          </a:xfrm>
        </p:spPr>
        <p:txBody>
          <a:bodyPr anchor="t"/>
          <a:lstStyle>
            <a:lvl1pPr algn="l">
              <a:defRPr sz="6700">
                <a:solidFill>
                  <a:schemeClr val="bg1"/>
                </a:solidFill>
              </a:defRPr>
            </a:lvl1pPr>
          </a:lstStyle>
          <a:p>
            <a:r>
              <a:rPr lang="en-US"/>
              <a:t>Click to edit Master title style</a:t>
            </a:r>
            <a:endParaRPr lang="en-GB" dirty="0"/>
          </a:p>
        </p:txBody>
      </p:sp>
      <p:cxnSp>
        <p:nvCxnSpPr>
          <p:cNvPr id="13" name="Straight Connector 12">
            <a:extLst>
              <a:ext uri="{FF2B5EF4-FFF2-40B4-BE49-F238E27FC236}">
                <a16:creationId xmlns:a16="http://schemas.microsoft.com/office/drawing/2014/main" id="{8EAD42DE-DDCB-4B3A-8426-83D77A703FC9}"/>
              </a:ext>
            </a:extLst>
          </p:cNvPr>
          <p:cNvCxnSpPr>
            <a:cxnSpLocks/>
          </p:cNvCxnSpPr>
          <p:nvPr userDrawn="1"/>
        </p:nvCxnSpPr>
        <p:spPr>
          <a:xfrm>
            <a:off x="725488" y="6138000"/>
            <a:ext cx="10746513"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820B125-6366-4323-A287-39A0472EAB2B}"/>
              </a:ext>
            </a:extLst>
          </p:cNvPr>
          <p:cNvCxnSpPr>
            <a:cxnSpLocks/>
          </p:cNvCxnSpPr>
          <p:nvPr userDrawn="1"/>
        </p:nvCxnSpPr>
        <p:spPr>
          <a:xfrm>
            <a:off x="946800"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Subtitle 2">
            <a:extLst>
              <a:ext uri="{FF2B5EF4-FFF2-40B4-BE49-F238E27FC236}">
                <a16:creationId xmlns:a16="http://schemas.microsoft.com/office/drawing/2014/main" id="{84DE0155-5A26-4810-BD12-030B4D703061}"/>
              </a:ext>
            </a:extLst>
          </p:cNvPr>
          <p:cNvSpPr>
            <a:spLocks noGrp="1"/>
          </p:cNvSpPr>
          <p:nvPr>
            <p:ph type="subTitle" idx="1"/>
          </p:nvPr>
        </p:nvSpPr>
        <p:spPr>
          <a:xfrm>
            <a:off x="946800" y="5787109"/>
            <a:ext cx="5149199" cy="252000"/>
          </a:xfrm>
        </p:spPr>
        <p:txBody>
          <a:bodyPr/>
          <a:lstStyle>
            <a:lvl1pPr marL="0" indent="0" algn="l">
              <a:spcBef>
                <a:spcPts val="0"/>
              </a:spcBef>
              <a:buNone/>
              <a:defRPr sz="16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7" name="Date Placeholder 4"/>
          <p:cNvSpPr>
            <a:spLocks noGrp="1"/>
          </p:cNvSpPr>
          <p:nvPr>
            <p:ph type="dt" sz="half" idx="10"/>
          </p:nvPr>
        </p:nvSpPr>
        <p:spPr>
          <a:xfrm>
            <a:off x="947737" y="5499315"/>
            <a:ext cx="5148261" cy="252000"/>
          </a:xfrm>
        </p:spPr>
        <p:txBody>
          <a:bodyPr/>
          <a:lstStyle>
            <a:lvl1pPr>
              <a:defRPr sz="1600" b="1" cap="all" baseline="0">
                <a:solidFill>
                  <a:schemeClr val="bg1"/>
                </a:solidFill>
              </a:defRPr>
            </a:lvl1pPr>
          </a:lstStyle>
          <a:p>
            <a:fld id="{A726DC3A-078F-EE4C-A7CB-FDA7288E35B3}" type="datetime4">
              <a:rPr lang="en-GB" smtClean="0">
                <a:solidFill>
                  <a:prstClr val="white"/>
                </a:solidFill>
              </a:rPr>
              <a:pPr/>
              <a:t>26 February 2026</a:t>
            </a:fld>
            <a:endParaRPr lang="en-GB" dirty="0">
              <a:solidFill>
                <a:prstClr val="white"/>
              </a:solidFill>
            </a:endParaRPr>
          </a:p>
        </p:txBody>
      </p:sp>
      <p:sp>
        <p:nvSpPr>
          <p:cNvPr id="30" name="TextBox 29">
            <a:extLst>
              <a:ext uri="{FF2B5EF4-FFF2-40B4-BE49-F238E27FC236}">
                <a16:creationId xmlns:a16="http://schemas.microsoft.com/office/drawing/2014/main" id="{0D37BEDD-DE22-453C-BDA6-052325CFC0E3}"/>
              </a:ext>
            </a:extLst>
          </p:cNvPr>
          <p:cNvSpPr txBox="1"/>
          <p:nvPr userDrawn="1"/>
        </p:nvSpPr>
        <p:spPr>
          <a:xfrm>
            <a:off x="7750800" y="6181200"/>
            <a:ext cx="3719733" cy="375864"/>
          </a:xfrm>
          <a:prstGeom prst="rect">
            <a:avLst/>
          </a:prstGeom>
          <a:noFill/>
        </p:spPr>
        <p:txBody>
          <a:bodyPr wrap="square" lIns="0" tIns="0" rIns="0" bIns="0" rtlCol="0">
            <a:noAutofit/>
          </a:bodyPr>
          <a:lstStyle/>
          <a:p>
            <a:pPr algn="r">
              <a:spcBef>
                <a:spcPts val="800"/>
              </a:spcBef>
            </a:pPr>
            <a:r>
              <a:rPr lang="en-GB" sz="1600" b="1" dirty="0">
                <a:solidFill>
                  <a:prstClr val="white"/>
                </a:solidFill>
              </a:rPr>
              <a:t>Client DISTRIBUTION</a:t>
            </a:r>
          </a:p>
          <a:p>
            <a:pPr algn="r">
              <a:spcBef>
                <a:spcPts val="800"/>
              </a:spcBef>
            </a:pPr>
            <a:endParaRPr lang="en-GB" sz="1600" b="1" dirty="0">
              <a:solidFill>
                <a:prstClr val="white"/>
              </a:solidFill>
            </a:endParaRPr>
          </a:p>
        </p:txBody>
      </p:sp>
    </p:spTree>
    <p:extLst>
      <p:ext uri="{BB962C8B-B14F-4D97-AF65-F5344CB8AC3E}">
        <p14:creationId xmlns:p14="http://schemas.microsoft.com/office/powerpoint/2010/main" val="3496988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ight gre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273063-0DF6-4043-B522-0B02E7572AC0}"/>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 name="Rectangle 3"/>
          <p:cNvSpPr/>
          <p:nvPr userDrawn="1"/>
        </p:nvSpPr>
        <p:spPr bwMode="white">
          <a:xfrm>
            <a:off x="10546428" y="0"/>
            <a:ext cx="923259" cy="1627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678844D0-934B-47B2-976A-5DC706F184DB}"/>
              </a:ext>
            </a:extLst>
          </p:cNvPr>
          <p:cNvSpPr>
            <a:spLocks noGrp="1"/>
          </p:cNvSpPr>
          <p:nvPr>
            <p:ph type="ctrTitle"/>
          </p:nvPr>
        </p:nvSpPr>
        <p:spPr>
          <a:xfrm>
            <a:off x="947738" y="2420938"/>
            <a:ext cx="8921750" cy="2418262"/>
          </a:xfrm>
        </p:spPr>
        <p:txBody>
          <a:bodyPr anchor="t"/>
          <a:lstStyle>
            <a:lvl1pPr algn="l">
              <a:defRPr sz="6700">
                <a:solidFill>
                  <a:schemeClr val="tx2"/>
                </a:solidFill>
              </a:defRPr>
            </a:lvl1pPr>
          </a:lstStyle>
          <a:p>
            <a:r>
              <a:rPr lang="en-US"/>
              <a:t>Click to edit Master title style</a:t>
            </a:r>
            <a:endParaRPr lang="en-GB" dirty="0"/>
          </a:p>
        </p:txBody>
      </p:sp>
      <p:sp>
        <p:nvSpPr>
          <p:cNvPr id="15" name="TextBox 14">
            <a:extLst>
              <a:ext uri="{FF2B5EF4-FFF2-40B4-BE49-F238E27FC236}">
                <a16:creationId xmlns:a16="http://schemas.microsoft.com/office/drawing/2014/main" id="{4219BBB8-DB32-437A-919F-970F1C8615B6}"/>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srgbClr val="1859A9"/>
                </a:solidFill>
              </a:rPr>
              <a:t>Client DISTRIBUTION</a:t>
            </a:r>
          </a:p>
          <a:p>
            <a:pPr algn="r">
              <a:spcBef>
                <a:spcPts val="800"/>
              </a:spcBef>
            </a:pPr>
            <a:endParaRPr lang="en-GB" sz="1600" b="1" dirty="0">
              <a:solidFill>
                <a:srgbClr val="1859A9"/>
              </a:solidFill>
            </a:endParaRPr>
          </a:p>
        </p:txBody>
      </p:sp>
      <p:cxnSp>
        <p:nvCxnSpPr>
          <p:cNvPr id="28" name="Straight Connector 27">
            <a:extLst>
              <a:ext uri="{FF2B5EF4-FFF2-40B4-BE49-F238E27FC236}">
                <a16:creationId xmlns:a16="http://schemas.microsoft.com/office/drawing/2014/main" id="{A820B125-6366-4323-A287-39A0472EAB2B}"/>
              </a:ext>
            </a:extLst>
          </p:cNvPr>
          <p:cNvCxnSpPr>
            <a:cxnSpLocks/>
          </p:cNvCxnSpPr>
          <p:nvPr userDrawn="1"/>
        </p:nvCxnSpPr>
        <p:spPr>
          <a:xfrm>
            <a:off x="946800" y="6138000"/>
            <a:ext cx="10522888"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Subtitle 2">
            <a:extLst>
              <a:ext uri="{FF2B5EF4-FFF2-40B4-BE49-F238E27FC236}">
                <a16:creationId xmlns:a16="http://schemas.microsoft.com/office/drawing/2014/main" id="{84DE0155-5A26-4810-BD12-030B4D703061}"/>
              </a:ext>
            </a:extLst>
          </p:cNvPr>
          <p:cNvSpPr>
            <a:spLocks noGrp="1"/>
          </p:cNvSpPr>
          <p:nvPr>
            <p:ph type="subTitle" idx="1"/>
          </p:nvPr>
        </p:nvSpPr>
        <p:spPr>
          <a:xfrm>
            <a:off x="947737" y="5787109"/>
            <a:ext cx="5148262" cy="252000"/>
          </a:xfrm>
        </p:spPr>
        <p:txBody>
          <a:bodyPr/>
          <a:lstStyle>
            <a:lvl1pPr marL="0" indent="0" algn="l">
              <a:spcBef>
                <a:spcPts val="0"/>
              </a:spcBef>
              <a:buNone/>
              <a:defRPr sz="1600" b="1"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7" name="Date Placeholder 4"/>
          <p:cNvSpPr>
            <a:spLocks noGrp="1"/>
          </p:cNvSpPr>
          <p:nvPr>
            <p:ph type="dt" sz="half" idx="10"/>
          </p:nvPr>
        </p:nvSpPr>
        <p:spPr>
          <a:xfrm>
            <a:off x="947737" y="5499315"/>
            <a:ext cx="5148261" cy="252000"/>
          </a:xfrm>
        </p:spPr>
        <p:txBody>
          <a:bodyPr/>
          <a:lstStyle>
            <a:lvl1pPr>
              <a:defRPr sz="1600" b="1" cap="all" baseline="0">
                <a:solidFill>
                  <a:schemeClr val="tx2"/>
                </a:solidFill>
              </a:defRPr>
            </a:lvl1pPr>
          </a:lstStyle>
          <a:p>
            <a:fld id="{AFBC657B-D37C-7244-81B4-69C3E5C25F4C}" type="datetime4">
              <a:rPr lang="en-GB" smtClean="0">
                <a:solidFill>
                  <a:srgbClr val="1859A9"/>
                </a:solidFill>
              </a:rPr>
              <a:pPr/>
              <a:t>26 February 2026</a:t>
            </a:fld>
            <a:endParaRPr lang="en-GB" dirty="0">
              <a:solidFill>
                <a:srgbClr val="1859A9"/>
              </a:solidFill>
            </a:endParaRPr>
          </a:p>
        </p:txBody>
      </p:sp>
    </p:spTree>
    <p:extLst>
      <p:ext uri="{BB962C8B-B14F-4D97-AF65-F5344CB8AC3E}">
        <p14:creationId xmlns:p14="http://schemas.microsoft.com/office/powerpoint/2010/main" val="2406555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fld id="{5833A850-45E8-2F4A-A61B-E914215FA773}" type="datetime4">
              <a:rPr lang="en-GB" smtClean="0">
                <a:solidFill>
                  <a:srgbClr val="4D5156"/>
                </a:solidFill>
              </a:rPr>
              <a:pPr/>
              <a:t>26 February 2026</a:t>
            </a:fld>
            <a:endParaRPr lang="en-GB" dirty="0">
              <a:solidFill>
                <a:srgbClr val="4D5156"/>
              </a:solidFill>
            </a:endParaRPr>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8" y="1620000"/>
            <a:ext cx="5364162"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1"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70269" y="6395775"/>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3258561878"/>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38" y="2060575"/>
            <a:ext cx="10521950" cy="3998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fld id="{80EEE8D9-E591-A74A-B20B-E196EA598E83}" type="datetime4">
              <a:rPr lang="en-GB" smtClean="0">
                <a:solidFill>
                  <a:srgbClr val="4D5156"/>
                </a:solidFill>
              </a:rPr>
              <a:pPr/>
              <a:t>26 February 2026</a:t>
            </a:fld>
            <a:endParaRPr lang="en-GB" dirty="0">
              <a:solidFill>
                <a:srgbClr val="4D5156"/>
              </a:solidFill>
            </a:endParaRPr>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8" y="1620000"/>
            <a:ext cx="5364162"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0" name="TextBox 9"/>
          <p:cNvSpPr txBox="1"/>
          <p:nvPr userDrawn="1"/>
        </p:nvSpPr>
        <p:spPr>
          <a:xfrm rot="2400896">
            <a:off x="4230896" y="3204231"/>
            <a:ext cx="3730209" cy="449538"/>
          </a:xfrm>
          <a:prstGeom prst="rect">
            <a:avLst/>
          </a:prstGeom>
          <a:noFill/>
        </p:spPr>
        <p:txBody>
          <a:bodyPr wrap="square" lIns="0" tIns="0" rIns="0" bIns="0" rtlCol="0" anchor="ctr">
            <a:noAutofit/>
          </a:bodyPr>
          <a:lstStyle/>
          <a:p>
            <a:pPr algn="ctr">
              <a:spcBef>
                <a:spcPts val="800"/>
              </a:spcBef>
            </a:pPr>
            <a:r>
              <a:rPr lang="en-US" sz="5400" dirty="0">
                <a:solidFill>
                  <a:srgbClr val="FF0000"/>
                </a:solidFill>
              </a:rPr>
              <a:t>DRAFT</a:t>
            </a:r>
          </a:p>
        </p:txBody>
      </p:sp>
      <p:sp>
        <p:nvSpPr>
          <p:cNvPr id="11"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3141266551"/>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 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0" y="239400"/>
            <a:ext cx="11710800" cy="637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38" y="2732401"/>
            <a:ext cx="10521949" cy="2322200"/>
          </a:xfrm>
        </p:spPr>
        <p:txBody>
          <a:bodyPr anchor="t"/>
          <a:lstStyle>
            <a:lvl1pPr>
              <a:defRPr sz="6700">
                <a:solidFill>
                  <a:schemeClr val="bg1"/>
                </a:solidFill>
              </a:defRPr>
            </a:lvl1pPr>
          </a:lstStyle>
          <a:p>
            <a:r>
              <a:rPr lang="en-US"/>
              <a:t>Click to edit Master title style</a:t>
            </a:r>
            <a:endParaRPr lang="en-GB" dirty="0"/>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a:off x="946800"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prstClr val="white"/>
                </a:solidFill>
              </a:rPr>
              <a:t>Client DISTRIBUTION</a:t>
            </a:r>
          </a:p>
        </p:txBody>
      </p:sp>
      <p:grpSp>
        <p:nvGrpSpPr>
          <p:cNvPr id="12" name="Group 11"/>
          <p:cNvGrpSpPr>
            <a:grpSpLocks noChangeAspect="1"/>
          </p:cNvGrpSpPr>
          <p:nvPr userDrawn="1"/>
        </p:nvGrpSpPr>
        <p:grpSpPr>
          <a:xfrm>
            <a:off x="10639077" y="333830"/>
            <a:ext cx="767941" cy="1201994"/>
            <a:chOff x="3986213" y="0"/>
            <a:chExt cx="4381501" cy="6858001"/>
          </a:xfrm>
          <a:solidFill>
            <a:schemeClr val="tx2"/>
          </a:solidFill>
        </p:grpSpPr>
        <p:sp>
          <p:nvSpPr>
            <p:cNvPr id="13"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14"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15"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16"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17"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18"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19"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0"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1"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2"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3"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4"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5"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6"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grpSp>
    </p:spTree>
    <p:extLst>
      <p:ext uri="{BB962C8B-B14F-4D97-AF65-F5344CB8AC3E}">
        <p14:creationId xmlns:p14="http://schemas.microsoft.com/office/powerpoint/2010/main" val="2033445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 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0" y="239400"/>
            <a:ext cx="11710800" cy="6379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38" y="2732401"/>
            <a:ext cx="10521950" cy="2340278"/>
          </a:xfrm>
        </p:spPr>
        <p:txBody>
          <a:bodyPr anchor="t"/>
          <a:lstStyle>
            <a:lvl1pPr>
              <a:defRPr sz="6700">
                <a:solidFill>
                  <a:schemeClr val="bg1"/>
                </a:solidFill>
              </a:defRPr>
            </a:lvl1pPr>
          </a:lstStyle>
          <a:p>
            <a:r>
              <a:rPr lang="en-US"/>
              <a:t>Click to edit Master title style</a:t>
            </a:r>
            <a:endParaRPr lang="en-GB" dirty="0"/>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flipV="1">
            <a:off x="946800" y="6137329"/>
            <a:ext cx="10522888" cy="67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prstClr val="white"/>
                </a:solidFill>
              </a:rPr>
              <a:t>Client DISTRIBUTION</a:t>
            </a:r>
          </a:p>
          <a:p>
            <a:pPr algn="r">
              <a:spcBef>
                <a:spcPts val="800"/>
              </a:spcBef>
            </a:pPr>
            <a:endParaRPr lang="en-GB" sz="1600" b="1" dirty="0">
              <a:solidFill>
                <a:prstClr val="white"/>
              </a:solidFill>
            </a:endParaRPr>
          </a:p>
        </p:txBody>
      </p:sp>
    </p:spTree>
    <p:extLst>
      <p:ext uri="{BB962C8B-B14F-4D97-AF65-F5344CB8AC3E}">
        <p14:creationId xmlns:p14="http://schemas.microsoft.com/office/powerpoint/2010/main" val="416229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 Light 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38" y="2732401"/>
            <a:ext cx="10521950" cy="2340278"/>
          </a:xfrm>
        </p:spPr>
        <p:txBody>
          <a:bodyPr anchor="t"/>
          <a:lstStyle>
            <a:lvl1pPr>
              <a:defRPr sz="6700">
                <a:solidFill>
                  <a:schemeClr val="tx2"/>
                </a:solidFill>
              </a:defRPr>
            </a:lvl1pPr>
          </a:lstStyle>
          <a:p>
            <a:r>
              <a:rPr lang="en-US"/>
              <a:t>Click to edit Master title style</a:t>
            </a:r>
            <a:endParaRPr lang="en-GB" dirty="0"/>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flipV="1">
            <a:off x="946800" y="6137329"/>
            <a:ext cx="10522888" cy="671"/>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srgbClr val="1859A9"/>
                </a:solidFill>
              </a:rPr>
              <a:t>Client DISTRIBUTION</a:t>
            </a:r>
          </a:p>
        </p:txBody>
      </p:sp>
      <p:sp>
        <p:nvSpPr>
          <p:cNvPr id="11" name="Rectangle 10"/>
          <p:cNvSpPr/>
          <p:nvPr userDrawn="1"/>
        </p:nvSpPr>
        <p:spPr bwMode="white">
          <a:xfrm>
            <a:off x="10546428" y="0"/>
            <a:ext cx="923259" cy="1627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Tree>
    <p:extLst>
      <p:ext uri="{BB962C8B-B14F-4D97-AF65-F5344CB8AC3E}">
        <p14:creationId xmlns:p14="http://schemas.microsoft.com/office/powerpoint/2010/main" val="3388839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9756D81-CD19-4A02-8677-592C3864EA14}"/>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3EC5D0F6-4EAA-42EE-BA30-5B67AEFCE0D2}"/>
              </a:ext>
            </a:extLst>
          </p:cNvPr>
          <p:cNvSpPr>
            <a:spLocks noGrp="1"/>
          </p:cNvSpPr>
          <p:nvPr>
            <p:ph type="title"/>
          </p:nvPr>
        </p:nvSpPr>
        <p:spPr/>
        <p:txBody>
          <a:bodyPr/>
          <a:lstStyle/>
          <a:p>
            <a:r>
              <a:rPr lang="en-US"/>
              <a:t>Click to edit Master title style</a:t>
            </a:r>
            <a:endParaRPr lang="en-GB"/>
          </a:p>
        </p:txBody>
      </p:sp>
      <p:sp>
        <p:nvSpPr>
          <p:cNvPr id="5" name="Date Placeholder 4">
            <a:extLst>
              <a:ext uri="{FF2B5EF4-FFF2-40B4-BE49-F238E27FC236}">
                <a16:creationId xmlns:a16="http://schemas.microsoft.com/office/drawing/2014/main" id="{CC9F8B9E-AB46-4BE2-A5B1-941246A1F110}"/>
              </a:ext>
            </a:extLst>
          </p:cNvPr>
          <p:cNvSpPr>
            <a:spLocks noGrp="1"/>
          </p:cNvSpPr>
          <p:nvPr>
            <p:ph type="dt" sz="half" idx="10"/>
          </p:nvPr>
        </p:nvSpPr>
        <p:spPr/>
        <p:txBody>
          <a:bodyPr/>
          <a:lstStyle/>
          <a:p>
            <a:fld id="{179AE24B-CF05-A84F-BDD6-B78E191B6114}" type="datetime4">
              <a:rPr lang="en-GB" smtClean="0">
                <a:solidFill>
                  <a:srgbClr val="4D5156"/>
                </a:solidFill>
              </a:rPr>
              <a:pPr/>
              <a:t>26 February 2026</a:t>
            </a:fld>
            <a:endParaRPr lang="en-GB" dirty="0">
              <a:solidFill>
                <a:srgbClr val="4D5156"/>
              </a:solidFill>
            </a:endParaRPr>
          </a:p>
        </p:txBody>
      </p:sp>
      <p:sp>
        <p:nvSpPr>
          <p:cNvPr id="6" name="Footer Placeholder 5">
            <a:extLst>
              <a:ext uri="{FF2B5EF4-FFF2-40B4-BE49-F238E27FC236}">
                <a16:creationId xmlns:a16="http://schemas.microsoft.com/office/drawing/2014/main" id="{186C26A8-6FE0-43C7-AA4D-547FADAB69F4}"/>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7" name="Slide Number Placeholder 6">
            <a:extLst>
              <a:ext uri="{FF2B5EF4-FFF2-40B4-BE49-F238E27FC236}">
                <a16:creationId xmlns:a16="http://schemas.microsoft.com/office/drawing/2014/main" id="{3C9E20F6-0D16-4E7A-8505-96573591AAC9}"/>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1" name="Text Placeholder 11">
            <a:extLst>
              <a:ext uri="{FF2B5EF4-FFF2-40B4-BE49-F238E27FC236}">
                <a16:creationId xmlns:a16="http://schemas.microsoft.com/office/drawing/2014/main" id="{A4B1A43A-BE05-43C8-BBC6-DC87AA89C650}"/>
              </a:ext>
            </a:extLst>
          </p:cNvPr>
          <p:cNvSpPr>
            <a:spLocks noGrp="1"/>
          </p:cNvSpPr>
          <p:nvPr>
            <p:ph type="body" sz="quarter" idx="13"/>
          </p:nvPr>
        </p:nvSpPr>
        <p:spPr>
          <a:xfrm>
            <a:off x="947738" y="1620000"/>
            <a:ext cx="5364162"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2" name="Content Placeholder 2">
            <a:extLst>
              <a:ext uri="{FF2B5EF4-FFF2-40B4-BE49-F238E27FC236}">
                <a16:creationId xmlns:a16="http://schemas.microsoft.com/office/drawing/2014/main" id="{9F860E4C-5CCD-49F3-831A-52D4B2B97E80}"/>
              </a:ext>
            </a:extLst>
          </p:cNvPr>
          <p:cNvSpPr>
            <a:spLocks noGrp="1"/>
          </p:cNvSpPr>
          <p:nvPr>
            <p:ph idx="1"/>
          </p:nvPr>
        </p:nvSpPr>
        <p:spPr>
          <a:xfrm>
            <a:off x="947736" y="2060575"/>
            <a:ext cx="5148264"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Content Placeholder 2">
            <a:extLst>
              <a:ext uri="{FF2B5EF4-FFF2-40B4-BE49-F238E27FC236}">
                <a16:creationId xmlns:a16="http://schemas.microsoft.com/office/drawing/2014/main" id="{58E6AD55-6843-479D-8C8B-5E75C90FD94A}"/>
              </a:ext>
            </a:extLst>
          </p:cNvPr>
          <p:cNvSpPr>
            <a:spLocks noGrp="1"/>
          </p:cNvSpPr>
          <p:nvPr>
            <p:ph idx="14"/>
          </p:nvPr>
        </p:nvSpPr>
        <p:spPr>
          <a:xfrm>
            <a:off x="6311900" y="2059425"/>
            <a:ext cx="5160101" cy="40000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888770008"/>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5689" y="442800"/>
            <a:ext cx="5366211" cy="1101600"/>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38" y="2060575"/>
            <a:ext cx="5148262"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fld id="{9A580D92-0156-6646-974E-36306353A721}" type="datetime4">
              <a:rPr lang="en-GB" smtClean="0">
                <a:solidFill>
                  <a:srgbClr val="4D5156"/>
                </a:solidFill>
              </a:rPr>
              <a:pPr/>
              <a:t>26 February 2026</a:t>
            </a:fld>
            <a:endParaRPr lang="en-GB" dirty="0">
              <a:solidFill>
                <a:srgbClr val="4D5156"/>
              </a:solidFill>
            </a:endParaRPr>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7" y="1620000"/>
            <a:ext cx="5364163"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3" name="Picture Placeholder 13">
            <a:extLst>
              <a:ext uri="{FF2B5EF4-FFF2-40B4-BE49-F238E27FC236}">
                <a16:creationId xmlns:a16="http://schemas.microsoft.com/office/drawing/2014/main" id="{987CEB89-FE4D-43FC-A6AA-6981A9E76680}"/>
              </a:ext>
            </a:extLst>
          </p:cNvPr>
          <p:cNvSpPr>
            <a:spLocks noGrp="1"/>
          </p:cNvSpPr>
          <p:nvPr>
            <p:ph type="pic" sz="quarter" idx="17"/>
          </p:nvPr>
        </p:nvSpPr>
        <p:spPr>
          <a:xfrm>
            <a:off x="7129467" y="239400"/>
            <a:ext cx="4821933" cy="6379893"/>
          </a:xfrm>
          <a:custGeom>
            <a:avLst/>
            <a:gdLst>
              <a:gd name="connsiteX0" fmla="*/ 0 w 4821933"/>
              <a:gd name="connsiteY0" fmla="*/ 0 h 3056400"/>
              <a:gd name="connsiteX1" fmla="*/ 4821933 w 4821933"/>
              <a:gd name="connsiteY1" fmla="*/ 0 h 3056400"/>
              <a:gd name="connsiteX2" fmla="*/ 4821933 w 4821933"/>
              <a:gd name="connsiteY2" fmla="*/ 3056400 h 3056400"/>
              <a:gd name="connsiteX3" fmla="*/ 0 w 4821933"/>
              <a:gd name="connsiteY3" fmla="*/ 3056400 h 3056400"/>
              <a:gd name="connsiteX4" fmla="*/ 0 w 4821933"/>
              <a:gd name="connsiteY4" fmla="*/ 0 h 3056400"/>
              <a:gd name="connsiteX0" fmla="*/ 0 w 4821933"/>
              <a:gd name="connsiteY0" fmla="*/ 1959 h 3058359"/>
              <a:gd name="connsiteX1" fmla="*/ 3415603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5603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1959 h 3058359"/>
              <a:gd name="connsiteX1" fmla="*/ 3418971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8971 w 4821933"/>
              <a:gd name="connsiteY1" fmla="*/ 67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679 h 3056400"/>
              <a:gd name="connsiteX2" fmla="*/ 4343416 w 4821933"/>
              <a:gd name="connsiteY2" fmla="*/ 745 h 3056400"/>
              <a:gd name="connsiteX3" fmla="*/ 4821933 w 4821933"/>
              <a:gd name="connsiteY3" fmla="*/ 0 h 3056400"/>
              <a:gd name="connsiteX4" fmla="*/ 4821933 w 4821933"/>
              <a:gd name="connsiteY4" fmla="*/ 3056400 h 3056400"/>
              <a:gd name="connsiteX5" fmla="*/ 0 w 4821933"/>
              <a:gd name="connsiteY5" fmla="*/ 3056400 h 3056400"/>
              <a:gd name="connsiteX6" fmla="*/ 0 w 4821933"/>
              <a:gd name="connsiteY6" fmla="*/ 0 h 3056400"/>
              <a:gd name="connsiteX0" fmla="*/ 0 w 4821933"/>
              <a:gd name="connsiteY0" fmla="*/ 0 h 3056400"/>
              <a:gd name="connsiteX1" fmla="*/ 3418971 w 4821933"/>
              <a:gd name="connsiteY1" fmla="*/ 679 h 3056400"/>
              <a:gd name="connsiteX2" fmla="*/ 3744372 w 4821933"/>
              <a:gd name="connsiteY2" fmla="*/ 745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8971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3989795 w 4821933"/>
              <a:gd name="connsiteY3" fmla="*/ 531177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65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38654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6379893"/>
              <a:gd name="connsiteX1" fmla="*/ 3416332 w 4821933"/>
              <a:gd name="connsiteY1" fmla="*/ 679 h 6379893"/>
              <a:gd name="connsiteX2" fmla="*/ 3416947 w 4821933"/>
              <a:gd name="connsiteY2" fmla="*/ 1388839 h 6379893"/>
              <a:gd name="connsiteX3" fmla="*/ 4340777 w 4821933"/>
              <a:gd name="connsiteY3" fmla="*/ 1388839 h 6379893"/>
              <a:gd name="connsiteX4" fmla="*/ 4341035 w 4821933"/>
              <a:gd name="connsiteY4" fmla="*/ 745 h 6379893"/>
              <a:gd name="connsiteX5" fmla="*/ 4821933 w 4821933"/>
              <a:gd name="connsiteY5" fmla="*/ 0 h 6379893"/>
              <a:gd name="connsiteX6" fmla="*/ 4821933 w 4821933"/>
              <a:gd name="connsiteY6" fmla="*/ 3056400 h 6379893"/>
              <a:gd name="connsiteX7" fmla="*/ 0 w 4821933"/>
              <a:gd name="connsiteY7" fmla="*/ 6379893 h 6379893"/>
              <a:gd name="connsiteX8" fmla="*/ 0 w 4821933"/>
              <a:gd name="connsiteY8" fmla="*/ 0 h 6379893"/>
              <a:gd name="connsiteX0" fmla="*/ 0 w 4821933"/>
              <a:gd name="connsiteY0" fmla="*/ 0 h 6391616"/>
              <a:gd name="connsiteX1" fmla="*/ 3416332 w 4821933"/>
              <a:gd name="connsiteY1" fmla="*/ 679 h 6391616"/>
              <a:gd name="connsiteX2" fmla="*/ 3416947 w 4821933"/>
              <a:gd name="connsiteY2" fmla="*/ 1388839 h 6391616"/>
              <a:gd name="connsiteX3" fmla="*/ 4340777 w 4821933"/>
              <a:gd name="connsiteY3" fmla="*/ 1388839 h 6391616"/>
              <a:gd name="connsiteX4" fmla="*/ 4341035 w 4821933"/>
              <a:gd name="connsiteY4" fmla="*/ 745 h 6391616"/>
              <a:gd name="connsiteX5" fmla="*/ 4821933 w 4821933"/>
              <a:gd name="connsiteY5" fmla="*/ 0 h 6391616"/>
              <a:gd name="connsiteX6" fmla="*/ 4821933 w 4821933"/>
              <a:gd name="connsiteY6" fmla="*/ 6391616 h 6391616"/>
              <a:gd name="connsiteX7" fmla="*/ 0 w 4821933"/>
              <a:gd name="connsiteY7" fmla="*/ 6379893 h 6391616"/>
              <a:gd name="connsiteX8" fmla="*/ 0 w 4821933"/>
              <a:gd name="connsiteY8" fmla="*/ 0 h 6391616"/>
              <a:gd name="connsiteX0" fmla="*/ 0 w 4821933"/>
              <a:gd name="connsiteY0" fmla="*/ 0 h 6385754"/>
              <a:gd name="connsiteX1" fmla="*/ 3416332 w 4821933"/>
              <a:gd name="connsiteY1" fmla="*/ 679 h 6385754"/>
              <a:gd name="connsiteX2" fmla="*/ 3416947 w 4821933"/>
              <a:gd name="connsiteY2" fmla="*/ 1388839 h 6385754"/>
              <a:gd name="connsiteX3" fmla="*/ 4340777 w 4821933"/>
              <a:gd name="connsiteY3" fmla="*/ 1388839 h 6385754"/>
              <a:gd name="connsiteX4" fmla="*/ 4341035 w 4821933"/>
              <a:gd name="connsiteY4" fmla="*/ 745 h 6385754"/>
              <a:gd name="connsiteX5" fmla="*/ 4821933 w 4821933"/>
              <a:gd name="connsiteY5" fmla="*/ 0 h 6385754"/>
              <a:gd name="connsiteX6" fmla="*/ 4821933 w 4821933"/>
              <a:gd name="connsiteY6" fmla="*/ 6385754 h 6385754"/>
              <a:gd name="connsiteX7" fmla="*/ 0 w 4821933"/>
              <a:gd name="connsiteY7" fmla="*/ 6379893 h 6385754"/>
              <a:gd name="connsiteX8" fmla="*/ 0 w 4821933"/>
              <a:gd name="connsiteY8" fmla="*/ 0 h 6385754"/>
              <a:gd name="connsiteX0" fmla="*/ 0 w 4821933"/>
              <a:gd name="connsiteY0" fmla="*/ 0 h 6379893"/>
              <a:gd name="connsiteX1" fmla="*/ 3416332 w 4821933"/>
              <a:gd name="connsiteY1" fmla="*/ 679 h 6379893"/>
              <a:gd name="connsiteX2" fmla="*/ 3416947 w 4821933"/>
              <a:gd name="connsiteY2" fmla="*/ 1388839 h 6379893"/>
              <a:gd name="connsiteX3" fmla="*/ 4340777 w 4821933"/>
              <a:gd name="connsiteY3" fmla="*/ 1388839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416332 w 4821933"/>
              <a:gd name="connsiteY1" fmla="*/ 679 h 6379893"/>
              <a:gd name="connsiteX2" fmla="*/ 3416947 w 4821933"/>
              <a:gd name="connsiteY2" fmla="*/ 1388839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416332 w 4821933"/>
              <a:gd name="connsiteY1" fmla="*/ 679 h 6379893"/>
              <a:gd name="connsiteX2" fmla="*/ 3416947 w 4821933"/>
              <a:gd name="connsiteY2" fmla="*/ 984027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416332 w 4821933"/>
              <a:gd name="connsiteY1" fmla="*/ 679 h 6379893"/>
              <a:gd name="connsiteX2" fmla="*/ 3681266 w 4821933"/>
              <a:gd name="connsiteY2" fmla="*/ 984027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678270 w 4821933"/>
              <a:gd name="connsiteY1" fmla="*/ 679 h 6379893"/>
              <a:gd name="connsiteX2" fmla="*/ 3681266 w 4821933"/>
              <a:gd name="connsiteY2" fmla="*/ 984027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1933" h="6379893">
                <a:moveTo>
                  <a:pt x="0" y="0"/>
                </a:moveTo>
                <a:lnTo>
                  <a:pt x="3678270" y="679"/>
                </a:lnTo>
                <a:cubicBezTo>
                  <a:pt x="3678540" y="463399"/>
                  <a:pt x="3680996" y="521307"/>
                  <a:pt x="3681266" y="984027"/>
                </a:cubicBezTo>
                <a:lnTo>
                  <a:pt x="4340777" y="984026"/>
                </a:lnTo>
                <a:cubicBezTo>
                  <a:pt x="4339275" y="521328"/>
                  <a:pt x="4340155" y="463443"/>
                  <a:pt x="4341035" y="745"/>
                </a:cubicBezTo>
                <a:lnTo>
                  <a:pt x="4821933" y="0"/>
                </a:lnTo>
                <a:lnTo>
                  <a:pt x="4821933" y="6379893"/>
                </a:lnTo>
                <a:lnTo>
                  <a:pt x="0" y="6379893"/>
                </a:lnTo>
                <a:lnTo>
                  <a:pt x="0" y="0"/>
                </a:lnTo>
                <a:close/>
              </a:path>
            </a:pathLst>
          </a:custGeom>
        </p:spPr>
        <p:txBody>
          <a:bodyPr/>
          <a:lstStyle/>
          <a:p>
            <a:r>
              <a:rPr lang="en-US" dirty="0"/>
              <a:t>Drag picture to placeholder or click icon to add</a:t>
            </a:r>
            <a:endParaRPr lang="en-GB" dirty="0"/>
          </a:p>
        </p:txBody>
      </p:sp>
      <p:sp>
        <p:nvSpPr>
          <p:cNvPr id="11"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1275334295"/>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picture alternativ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5689" y="442800"/>
            <a:ext cx="5366211" cy="1101600"/>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38" y="2060575"/>
            <a:ext cx="5148262"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fld id="{12D54369-62E9-8943-AAD0-BE70946066F1}" type="datetime4">
              <a:rPr lang="en-GB" smtClean="0">
                <a:solidFill>
                  <a:srgbClr val="4D5156"/>
                </a:solidFill>
              </a:rPr>
              <a:pPr/>
              <a:t>26 February 2026</a:t>
            </a:fld>
            <a:endParaRPr lang="en-GB" dirty="0">
              <a:solidFill>
                <a:srgbClr val="4D5156"/>
              </a:solidFill>
            </a:endParaRPr>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7" y="1620000"/>
            <a:ext cx="5364163"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3" name="Picture Placeholder 13">
            <a:extLst>
              <a:ext uri="{FF2B5EF4-FFF2-40B4-BE49-F238E27FC236}">
                <a16:creationId xmlns:a16="http://schemas.microsoft.com/office/drawing/2014/main" id="{987CEB89-FE4D-43FC-A6AA-6981A9E76680}"/>
              </a:ext>
            </a:extLst>
          </p:cNvPr>
          <p:cNvSpPr>
            <a:spLocks noGrp="1"/>
          </p:cNvSpPr>
          <p:nvPr>
            <p:ph type="pic" sz="quarter" idx="17"/>
          </p:nvPr>
        </p:nvSpPr>
        <p:spPr>
          <a:xfrm>
            <a:off x="7129467" y="239400"/>
            <a:ext cx="5062533" cy="6379893"/>
          </a:xfrm>
          <a:prstGeom prst="rect">
            <a:avLst/>
          </a:prstGeom>
        </p:spPr>
        <p:txBody>
          <a:bodyPr/>
          <a:lstStyle/>
          <a:p>
            <a:r>
              <a:rPr lang="en-US" dirty="0"/>
              <a:t>Drag picture to placeholder or click icon to add</a:t>
            </a:r>
            <a:endParaRPr lang="en-GB" dirty="0"/>
          </a:p>
        </p:txBody>
      </p:sp>
      <p:sp>
        <p:nvSpPr>
          <p:cNvPr id="10"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146396968"/>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945690" y="2059425"/>
            <a:ext cx="10526311" cy="4353649"/>
          </a:xfrm>
        </p:spPr>
        <p:txBody>
          <a:bodyPr/>
          <a:lstStyle/>
          <a:p>
            <a:r>
              <a:rPr lang="en-US" dirty="0"/>
              <a:t>Drag picture to placeholder or click icon to add</a:t>
            </a:r>
            <a:endParaRPr lang="en-GB" dirty="0"/>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5689" y="442800"/>
            <a:ext cx="5366211" cy="1101600"/>
          </a:xfrm>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7" y="1620000"/>
            <a:ext cx="5364163"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9"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1291205109"/>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7737" y="442800"/>
            <a:ext cx="5364164" cy="1101600"/>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38" y="2060575"/>
            <a:ext cx="5148262"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fld id="{E1D47818-DC2A-BC4F-BE0E-733EA5B22E0D}" type="datetime4">
              <a:rPr lang="en-GB" smtClean="0">
                <a:solidFill>
                  <a:srgbClr val="4D5156"/>
                </a:solidFill>
              </a:rPr>
              <a:pPr/>
              <a:t>26 February 2026</a:t>
            </a:fld>
            <a:endParaRPr lang="en-GB" dirty="0">
              <a:solidFill>
                <a:srgbClr val="4D5156"/>
              </a:solidFill>
            </a:endParaRPr>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7" y="1620000"/>
            <a:ext cx="5364163"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7129465" y="3546000"/>
            <a:ext cx="4821933" cy="2833200"/>
          </a:xfrm>
        </p:spPr>
        <p:txBody>
          <a:bodyPr/>
          <a:lstStyle/>
          <a:p>
            <a:r>
              <a:rPr lang="en-US" dirty="0"/>
              <a:t>Drag picture to placeholder or click icon to add</a:t>
            </a:r>
            <a:endParaRPr lang="en-GB" dirty="0"/>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7129463" y="3330000"/>
            <a:ext cx="4821237" cy="198437"/>
          </a:xfrm>
        </p:spPr>
        <p:txBody>
          <a:bodyPr/>
          <a:lstStyle>
            <a:lvl1pPr>
              <a:defRPr sz="900"/>
            </a:lvl1pPr>
          </a:lstStyle>
          <a:p>
            <a:pPr lvl="0"/>
            <a:r>
              <a:rPr lang="en-US"/>
              <a:t>Click to edit Master text styles</a:t>
            </a:r>
          </a:p>
        </p:txBody>
      </p:sp>
      <p:sp>
        <p:nvSpPr>
          <p:cNvPr id="15" name="Text Placeholder 8">
            <a:extLst>
              <a:ext uri="{FF2B5EF4-FFF2-40B4-BE49-F238E27FC236}">
                <a16:creationId xmlns:a16="http://schemas.microsoft.com/office/drawing/2014/main" id="{E3B36841-9718-4708-982C-EA49B38DD3D8}"/>
              </a:ext>
            </a:extLst>
          </p:cNvPr>
          <p:cNvSpPr>
            <a:spLocks noGrp="1"/>
          </p:cNvSpPr>
          <p:nvPr>
            <p:ph type="body" sz="quarter" idx="18"/>
          </p:nvPr>
        </p:nvSpPr>
        <p:spPr>
          <a:xfrm>
            <a:off x="7129463" y="6415200"/>
            <a:ext cx="4821237" cy="198437"/>
          </a:xfrm>
        </p:spPr>
        <p:txBody>
          <a:bodyPr/>
          <a:lstStyle>
            <a:lvl1pPr>
              <a:defRPr sz="900"/>
            </a:lvl1pPr>
          </a:lstStyle>
          <a:p>
            <a:pPr lvl="0"/>
            <a:r>
              <a:rPr lang="en-US"/>
              <a:t>Click to edit Master text styles</a:t>
            </a: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7129467" y="239400"/>
            <a:ext cx="4821933" cy="3056400"/>
          </a:xfrm>
          <a:custGeom>
            <a:avLst/>
            <a:gdLst>
              <a:gd name="connsiteX0" fmla="*/ 0 w 4821933"/>
              <a:gd name="connsiteY0" fmla="*/ 0 h 3056400"/>
              <a:gd name="connsiteX1" fmla="*/ 4821933 w 4821933"/>
              <a:gd name="connsiteY1" fmla="*/ 0 h 3056400"/>
              <a:gd name="connsiteX2" fmla="*/ 4821933 w 4821933"/>
              <a:gd name="connsiteY2" fmla="*/ 3056400 h 3056400"/>
              <a:gd name="connsiteX3" fmla="*/ 0 w 4821933"/>
              <a:gd name="connsiteY3" fmla="*/ 3056400 h 3056400"/>
              <a:gd name="connsiteX4" fmla="*/ 0 w 4821933"/>
              <a:gd name="connsiteY4" fmla="*/ 0 h 3056400"/>
              <a:gd name="connsiteX0" fmla="*/ 0 w 4821933"/>
              <a:gd name="connsiteY0" fmla="*/ 1959 h 3058359"/>
              <a:gd name="connsiteX1" fmla="*/ 3415603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5603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1959 h 3058359"/>
              <a:gd name="connsiteX1" fmla="*/ 3418971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8971 w 4821933"/>
              <a:gd name="connsiteY1" fmla="*/ 67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679 h 3056400"/>
              <a:gd name="connsiteX2" fmla="*/ 4343416 w 4821933"/>
              <a:gd name="connsiteY2" fmla="*/ 745 h 3056400"/>
              <a:gd name="connsiteX3" fmla="*/ 4821933 w 4821933"/>
              <a:gd name="connsiteY3" fmla="*/ 0 h 3056400"/>
              <a:gd name="connsiteX4" fmla="*/ 4821933 w 4821933"/>
              <a:gd name="connsiteY4" fmla="*/ 3056400 h 3056400"/>
              <a:gd name="connsiteX5" fmla="*/ 0 w 4821933"/>
              <a:gd name="connsiteY5" fmla="*/ 3056400 h 3056400"/>
              <a:gd name="connsiteX6" fmla="*/ 0 w 4821933"/>
              <a:gd name="connsiteY6" fmla="*/ 0 h 3056400"/>
              <a:gd name="connsiteX0" fmla="*/ 0 w 4821933"/>
              <a:gd name="connsiteY0" fmla="*/ 0 h 3056400"/>
              <a:gd name="connsiteX1" fmla="*/ 3418971 w 4821933"/>
              <a:gd name="connsiteY1" fmla="*/ 679 h 3056400"/>
              <a:gd name="connsiteX2" fmla="*/ 3744372 w 4821933"/>
              <a:gd name="connsiteY2" fmla="*/ 745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8971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3989795 w 4821933"/>
              <a:gd name="connsiteY3" fmla="*/ 531177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65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38654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981646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678885 w 4821933"/>
              <a:gd name="connsiteY2" fmla="*/ 981646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678270 w 4821933"/>
              <a:gd name="connsiteY1" fmla="*/ 679 h 3056400"/>
              <a:gd name="connsiteX2" fmla="*/ 3678885 w 4821933"/>
              <a:gd name="connsiteY2" fmla="*/ 981646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1933" h="3056400">
                <a:moveTo>
                  <a:pt x="0" y="0"/>
                </a:moveTo>
                <a:lnTo>
                  <a:pt x="3678270" y="679"/>
                </a:lnTo>
                <a:cubicBezTo>
                  <a:pt x="3678540" y="463399"/>
                  <a:pt x="3678615" y="518926"/>
                  <a:pt x="3678885" y="981646"/>
                </a:cubicBezTo>
                <a:lnTo>
                  <a:pt x="4340777" y="984026"/>
                </a:lnTo>
                <a:cubicBezTo>
                  <a:pt x="4339275" y="521328"/>
                  <a:pt x="4340155" y="463443"/>
                  <a:pt x="4341035" y="745"/>
                </a:cubicBezTo>
                <a:lnTo>
                  <a:pt x="4821933" y="0"/>
                </a:lnTo>
                <a:lnTo>
                  <a:pt x="4821933" y="3056400"/>
                </a:lnTo>
                <a:lnTo>
                  <a:pt x="0" y="3056400"/>
                </a:lnTo>
                <a:lnTo>
                  <a:pt x="0" y="0"/>
                </a:lnTo>
                <a:close/>
              </a:path>
            </a:pathLst>
          </a:custGeom>
        </p:spPr>
        <p:txBody>
          <a:bodyPr/>
          <a:lstStyle/>
          <a:p>
            <a:r>
              <a:rPr lang="en-US" dirty="0"/>
              <a:t>Drag picture to placeholder or click icon to add</a:t>
            </a:r>
            <a:endParaRPr lang="en-GB" dirty="0"/>
          </a:p>
        </p:txBody>
      </p:sp>
      <p:sp>
        <p:nvSpPr>
          <p:cNvPr id="16"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3707122044"/>
      </p:ext>
    </p:extLst>
  </p:cSld>
  <p:clrMapOvr>
    <a:masterClrMapping/>
  </p:clrMapOvr>
  <p:extLst>
    <p:ext uri="{DCECCB84-F9BA-43D5-87BE-67443E8EF086}">
      <p15:sldGuideLst xmlns:p15="http://schemas.microsoft.com/office/powerpoint/2012/main">
        <p15:guide id="1" pos="3976">
          <p15:clr>
            <a:srgbClr val="FBAE40"/>
          </p15:clr>
        </p15:guide>
        <p15:guide id="2" pos="449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four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6311900" y="239401"/>
            <a:ext cx="2700000" cy="3056400"/>
          </a:xfrm>
        </p:spPr>
        <p:txBody>
          <a:bodyPr/>
          <a:lstStyle/>
          <a:p>
            <a:r>
              <a:rPr lang="en-US" dirty="0"/>
              <a:t>Drag picture to placeholder or click icon to add</a:t>
            </a:r>
            <a:endParaRPr lang="en-GB" dirty="0"/>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7737" y="442800"/>
            <a:ext cx="5364164" cy="1101600"/>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38" y="2059425"/>
            <a:ext cx="5148262" cy="40000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fld id="{55D7B58A-4E0B-AC4A-B728-D9CF02CDEE14}" type="datetime4">
              <a:rPr lang="en-GB" smtClean="0">
                <a:solidFill>
                  <a:srgbClr val="4D5156"/>
                </a:solidFill>
              </a:rPr>
              <a:pPr/>
              <a:t>26 February 2026</a:t>
            </a:fld>
            <a:endParaRPr lang="en-GB" dirty="0">
              <a:solidFill>
                <a:srgbClr val="4D5156"/>
              </a:solidFill>
            </a:endParaRPr>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7" y="1620000"/>
            <a:ext cx="5364163"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6311901" y="3526637"/>
            <a:ext cx="2700000" cy="2854800"/>
          </a:xfrm>
        </p:spPr>
        <p:txBody>
          <a:bodyPr/>
          <a:lstStyle/>
          <a:p>
            <a:r>
              <a:rPr lang="en-US" dirty="0"/>
              <a:t>Drag picture to placeholder or click icon to add</a:t>
            </a:r>
            <a:endParaRPr lang="en-GB" dirty="0"/>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6311902" y="3321873"/>
            <a:ext cx="5627750" cy="198437"/>
          </a:xfrm>
        </p:spPr>
        <p:txBody>
          <a:bodyPr/>
          <a:lstStyle>
            <a:lvl1pPr>
              <a:defRPr sz="900"/>
            </a:lvl1pPr>
          </a:lstStyle>
          <a:p>
            <a:pPr lvl="0"/>
            <a:r>
              <a:rPr lang="en-US"/>
              <a:t>Click to edit Master text styles</a:t>
            </a:r>
          </a:p>
        </p:txBody>
      </p:sp>
      <p:sp>
        <p:nvSpPr>
          <p:cNvPr id="15" name="Text Placeholder 8">
            <a:extLst>
              <a:ext uri="{FF2B5EF4-FFF2-40B4-BE49-F238E27FC236}">
                <a16:creationId xmlns:a16="http://schemas.microsoft.com/office/drawing/2014/main" id="{E3B36841-9718-4708-982C-EA49B38DD3D8}"/>
              </a:ext>
            </a:extLst>
          </p:cNvPr>
          <p:cNvSpPr>
            <a:spLocks noGrp="1"/>
          </p:cNvSpPr>
          <p:nvPr>
            <p:ph type="body" sz="quarter" idx="18"/>
          </p:nvPr>
        </p:nvSpPr>
        <p:spPr>
          <a:xfrm>
            <a:off x="6311900" y="6413836"/>
            <a:ext cx="5627750" cy="198437"/>
          </a:xfrm>
        </p:spPr>
        <p:txBody>
          <a:bodyPr/>
          <a:lstStyle>
            <a:lvl1pPr>
              <a:defRPr sz="900"/>
            </a:lvl1pPr>
          </a:lstStyle>
          <a:p>
            <a:pPr lvl="0"/>
            <a:r>
              <a:rPr lang="en-US"/>
              <a:t>Click to edit Master text styles</a:t>
            </a:r>
          </a:p>
        </p:txBody>
      </p:sp>
      <p:sp>
        <p:nvSpPr>
          <p:cNvPr id="19" name="Picture Placeholder 13">
            <a:extLst>
              <a:ext uri="{FF2B5EF4-FFF2-40B4-BE49-F238E27FC236}">
                <a16:creationId xmlns:a16="http://schemas.microsoft.com/office/drawing/2014/main" id="{4D409324-02BA-4D89-BA1E-35E575BEC378}"/>
              </a:ext>
            </a:extLst>
          </p:cNvPr>
          <p:cNvSpPr>
            <a:spLocks noGrp="1"/>
          </p:cNvSpPr>
          <p:nvPr>
            <p:ph type="pic" sz="quarter" idx="21"/>
          </p:nvPr>
        </p:nvSpPr>
        <p:spPr>
          <a:xfrm>
            <a:off x="9251400" y="3526637"/>
            <a:ext cx="2700000" cy="2854800"/>
          </a:xfrm>
        </p:spPr>
        <p:txBody>
          <a:bodyPr/>
          <a:lstStyle/>
          <a:p>
            <a:r>
              <a:rPr lang="en-US" dirty="0"/>
              <a:t>Drag picture to placeholder or click icon to add</a:t>
            </a:r>
            <a:endParaRPr lang="en-GB" dirty="0"/>
          </a:p>
        </p:txBody>
      </p:sp>
      <p:sp>
        <p:nvSpPr>
          <p:cNvPr id="36" name="Picture Placeholder 13">
            <a:extLst>
              <a:ext uri="{FF2B5EF4-FFF2-40B4-BE49-F238E27FC236}">
                <a16:creationId xmlns:a16="http://schemas.microsoft.com/office/drawing/2014/main" id="{4C1F9084-752D-48B8-88F3-623CB20E30B2}"/>
              </a:ext>
            </a:extLst>
          </p:cNvPr>
          <p:cNvSpPr>
            <a:spLocks noGrp="1"/>
          </p:cNvSpPr>
          <p:nvPr>
            <p:ph type="pic" sz="quarter" idx="22"/>
          </p:nvPr>
        </p:nvSpPr>
        <p:spPr>
          <a:xfrm>
            <a:off x="9251215" y="239400"/>
            <a:ext cx="2700185" cy="3056400"/>
          </a:xfrm>
          <a:custGeom>
            <a:avLst/>
            <a:gdLst>
              <a:gd name="connsiteX0" fmla="*/ 0 w 4821933"/>
              <a:gd name="connsiteY0" fmla="*/ 0 h 3056400"/>
              <a:gd name="connsiteX1" fmla="*/ 4821933 w 4821933"/>
              <a:gd name="connsiteY1" fmla="*/ 0 h 3056400"/>
              <a:gd name="connsiteX2" fmla="*/ 4821933 w 4821933"/>
              <a:gd name="connsiteY2" fmla="*/ 3056400 h 3056400"/>
              <a:gd name="connsiteX3" fmla="*/ 0 w 4821933"/>
              <a:gd name="connsiteY3" fmla="*/ 3056400 h 3056400"/>
              <a:gd name="connsiteX4" fmla="*/ 0 w 4821933"/>
              <a:gd name="connsiteY4" fmla="*/ 0 h 3056400"/>
              <a:gd name="connsiteX0" fmla="*/ 0 w 4821933"/>
              <a:gd name="connsiteY0" fmla="*/ 1959 h 3058359"/>
              <a:gd name="connsiteX1" fmla="*/ 3415603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5603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1959 h 3058359"/>
              <a:gd name="connsiteX1" fmla="*/ 3418971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8971 w 4821933"/>
              <a:gd name="connsiteY1" fmla="*/ 67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679 h 3056400"/>
              <a:gd name="connsiteX2" fmla="*/ 4343416 w 4821933"/>
              <a:gd name="connsiteY2" fmla="*/ 745 h 3056400"/>
              <a:gd name="connsiteX3" fmla="*/ 4821933 w 4821933"/>
              <a:gd name="connsiteY3" fmla="*/ 0 h 3056400"/>
              <a:gd name="connsiteX4" fmla="*/ 4821933 w 4821933"/>
              <a:gd name="connsiteY4" fmla="*/ 3056400 h 3056400"/>
              <a:gd name="connsiteX5" fmla="*/ 0 w 4821933"/>
              <a:gd name="connsiteY5" fmla="*/ 3056400 h 3056400"/>
              <a:gd name="connsiteX6" fmla="*/ 0 w 4821933"/>
              <a:gd name="connsiteY6" fmla="*/ 0 h 3056400"/>
              <a:gd name="connsiteX0" fmla="*/ 0 w 4821933"/>
              <a:gd name="connsiteY0" fmla="*/ 0 h 3056400"/>
              <a:gd name="connsiteX1" fmla="*/ 3418971 w 4821933"/>
              <a:gd name="connsiteY1" fmla="*/ 679 h 3056400"/>
              <a:gd name="connsiteX2" fmla="*/ 3744372 w 4821933"/>
              <a:gd name="connsiteY2" fmla="*/ 745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8971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3989795 w 4821933"/>
              <a:gd name="connsiteY3" fmla="*/ 531177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65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38654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2132587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2132587 w 4821933"/>
              <a:gd name="connsiteY8" fmla="*/ 0 h 3056400"/>
              <a:gd name="connsiteX0" fmla="*/ 2132587 w 4821933"/>
              <a:gd name="connsiteY0" fmla="*/ 6076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2132587 w 4821933"/>
              <a:gd name="connsiteY8" fmla="*/ 6076 h 3056400"/>
              <a:gd name="connsiteX0" fmla="*/ 2132587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2132587 w 4821933"/>
              <a:gd name="connsiteY8" fmla="*/ 0 h 3056400"/>
              <a:gd name="connsiteX0" fmla="*/ 6076 w 2695422"/>
              <a:gd name="connsiteY0" fmla="*/ 0 h 3056400"/>
              <a:gd name="connsiteX1" fmla="*/ 1289821 w 2695422"/>
              <a:gd name="connsiteY1" fmla="*/ 679 h 3056400"/>
              <a:gd name="connsiteX2" fmla="*/ 1290436 w 2695422"/>
              <a:gd name="connsiteY2" fmla="*/ 1388839 h 3056400"/>
              <a:gd name="connsiteX3" fmla="*/ 2214266 w 2695422"/>
              <a:gd name="connsiteY3" fmla="*/ 1388839 h 3056400"/>
              <a:gd name="connsiteX4" fmla="*/ 2214524 w 2695422"/>
              <a:gd name="connsiteY4" fmla="*/ 745 h 3056400"/>
              <a:gd name="connsiteX5" fmla="*/ 2695422 w 2695422"/>
              <a:gd name="connsiteY5" fmla="*/ 0 h 3056400"/>
              <a:gd name="connsiteX6" fmla="*/ 2695422 w 2695422"/>
              <a:gd name="connsiteY6" fmla="*/ 3056400 h 3056400"/>
              <a:gd name="connsiteX7" fmla="*/ 0 w 2695422"/>
              <a:gd name="connsiteY7" fmla="*/ 3056400 h 3056400"/>
              <a:gd name="connsiteX8" fmla="*/ 6076 w 2695422"/>
              <a:gd name="connsiteY8" fmla="*/ 0 h 3056400"/>
              <a:gd name="connsiteX0" fmla="*/ 1314 w 2690660"/>
              <a:gd name="connsiteY0" fmla="*/ 0 h 3056400"/>
              <a:gd name="connsiteX1" fmla="*/ 1285059 w 2690660"/>
              <a:gd name="connsiteY1" fmla="*/ 679 h 3056400"/>
              <a:gd name="connsiteX2" fmla="*/ 1285674 w 2690660"/>
              <a:gd name="connsiteY2" fmla="*/ 1388839 h 3056400"/>
              <a:gd name="connsiteX3" fmla="*/ 2209504 w 2690660"/>
              <a:gd name="connsiteY3" fmla="*/ 1388839 h 3056400"/>
              <a:gd name="connsiteX4" fmla="*/ 2209762 w 2690660"/>
              <a:gd name="connsiteY4" fmla="*/ 745 h 3056400"/>
              <a:gd name="connsiteX5" fmla="*/ 2690660 w 2690660"/>
              <a:gd name="connsiteY5" fmla="*/ 0 h 3056400"/>
              <a:gd name="connsiteX6" fmla="*/ 2690660 w 2690660"/>
              <a:gd name="connsiteY6" fmla="*/ 3056400 h 3056400"/>
              <a:gd name="connsiteX7" fmla="*/ 0 w 2690660"/>
              <a:gd name="connsiteY7" fmla="*/ 3056400 h 3056400"/>
              <a:gd name="connsiteX8" fmla="*/ 1314 w 2690660"/>
              <a:gd name="connsiteY8" fmla="*/ 0 h 3056400"/>
              <a:gd name="connsiteX0" fmla="*/ 226 w 2699097"/>
              <a:gd name="connsiteY0" fmla="*/ 0 h 3056400"/>
              <a:gd name="connsiteX1" fmla="*/ 1293496 w 2699097"/>
              <a:gd name="connsiteY1" fmla="*/ 679 h 3056400"/>
              <a:gd name="connsiteX2" fmla="*/ 1294111 w 2699097"/>
              <a:gd name="connsiteY2" fmla="*/ 1388839 h 3056400"/>
              <a:gd name="connsiteX3" fmla="*/ 2217941 w 2699097"/>
              <a:gd name="connsiteY3" fmla="*/ 1388839 h 3056400"/>
              <a:gd name="connsiteX4" fmla="*/ 2218199 w 2699097"/>
              <a:gd name="connsiteY4" fmla="*/ 745 h 3056400"/>
              <a:gd name="connsiteX5" fmla="*/ 2699097 w 2699097"/>
              <a:gd name="connsiteY5" fmla="*/ 0 h 3056400"/>
              <a:gd name="connsiteX6" fmla="*/ 2699097 w 2699097"/>
              <a:gd name="connsiteY6" fmla="*/ 3056400 h 3056400"/>
              <a:gd name="connsiteX7" fmla="*/ 8437 w 2699097"/>
              <a:gd name="connsiteY7" fmla="*/ 3056400 h 3056400"/>
              <a:gd name="connsiteX8" fmla="*/ 226 w 2699097"/>
              <a:gd name="connsiteY8" fmla="*/ 0 h 3056400"/>
              <a:gd name="connsiteX0" fmla="*/ 1314 w 2700185"/>
              <a:gd name="connsiteY0" fmla="*/ 0 h 3056400"/>
              <a:gd name="connsiteX1" fmla="*/ 1294584 w 2700185"/>
              <a:gd name="connsiteY1" fmla="*/ 679 h 3056400"/>
              <a:gd name="connsiteX2" fmla="*/ 1295199 w 2700185"/>
              <a:gd name="connsiteY2" fmla="*/ 1388839 h 3056400"/>
              <a:gd name="connsiteX3" fmla="*/ 2219029 w 2700185"/>
              <a:gd name="connsiteY3" fmla="*/ 1388839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294584 w 2700185"/>
              <a:gd name="connsiteY1" fmla="*/ 679 h 3056400"/>
              <a:gd name="connsiteX2" fmla="*/ 1295199 w 2700185"/>
              <a:gd name="connsiteY2" fmla="*/ 1388839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294584 w 2700185"/>
              <a:gd name="connsiteY1" fmla="*/ 679 h 3056400"/>
              <a:gd name="connsiteX2" fmla="*/ 1295199 w 2700185"/>
              <a:gd name="connsiteY2" fmla="*/ 984026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294584 w 2700185"/>
              <a:gd name="connsiteY1" fmla="*/ 679 h 3056400"/>
              <a:gd name="connsiteX2" fmla="*/ 1559518 w 2700185"/>
              <a:gd name="connsiteY2" fmla="*/ 984026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558903 w 2700185"/>
              <a:gd name="connsiteY1" fmla="*/ 679 h 3056400"/>
              <a:gd name="connsiteX2" fmla="*/ 1559518 w 2700185"/>
              <a:gd name="connsiteY2" fmla="*/ 984026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0185" h="3056400">
                <a:moveTo>
                  <a:pt x="1314" y="0"/>
                </a:moveTo>
                <a:lnTo>
                  <a:pt x="1558903" y="679"/>
                </a:lnTo>
                <a:cubicBezTo>
                  <a:pt x="1559173" y="463399"/>
                  <a:pt x="1559248" y="521306"/>
                  <a:pt x="1559518" y="984026"/>
                </a:cubicBezTo>
                <a:lnTo>
                  <a:pt x="2219029" y="984027"/>
                </a:lnTo>
                <a:cubicBezTo>
                  <a:pt x="2217527" y="521329"/>
                  <a:pt x="2218407" y="463443"/>
                  <a:pt x="2219287" y="745"/>
                </a:cubicBezTo>
                <a:lnTo>
                  <a:pt x="2700185" y="0"/>
                </a:lnTo>
                <a:lnTo>
                  <a:pt x="2700185" y="3056400"/>
                </a:lnTo>
                <a:lnTo>
                  <a:pt x="0" y="3056400"/>
                </a:lnTo>
                <a:cubicBezTo>
                  <a:pt x="2025" y="2037600"/>
                  <a:pt x="-711" y="1018800"/>
                  <a:pt x="1314" y="0"/>
                </a:cubicBezTo>
                <a:close/>
              </a:path>
            </a:pathLst>
          </a:custGeom>
        </p:spPr>
        <p:txBody>
          <a:bodyPr/>
          <a:lstStyle/>
          <a:p>
            <a:r>
              <a:rPr lang="en-US" dirty="0"/>
              <a:t>Drag picture to placeholder or click icon to add</a:t>
            </a:r>
            <a:endParaRPr lang="en-GB" dirty="0"/>
          </a:p>
        </p:txBody>
      </p:sp>
      <p:sp>
        <p:nvSpPr>
          <p:cNvPr id="16"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1629607416"/>
      </p:ext>
    </p:extLst>
  </p:cSld>
  <p:clrMapOvr>
    <a:masterClrMapping/>
  </p:clrMapOvr>
  <p:extLst>
    <p:ext uri="{DCECCB84-F9BA-43D5-87BE-67443E8EF086}">
      <p15:sldGuideLst xmlns:p15="http://schemas.microsoft.com/office/powerpoint/2012/main">
        <p15:guide id="1" pos="3976">
          <p15:clr>
            <a:srgbClr val="FBAE40"/>
          </p15:clr>
        </p15:guide>
        <p15:guide id="2" pos="5677">
          <p15:clr>
            <a:srgbClr val="FBAE40"/>
          </p15:clr>
        </p15:guide>
        <p15:guide id="3" pos="582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1296000" y="982663"/>
            <a:ext cx="3996000" cy="2088000"/>
          </a:xfrm>
        </p:spPr>
        <p:txBody>
          <a:bodyPr/>
          <a:lstStyle/>
          <a:p>
            <a:r>
              <a:rPr lang="en-US" dirty="0"/>
              <a:t>Drag picture to placeholder or click icon to add</a:t>
            </a:r>
            <a:endParaRPr lang="en-GB" dirty="0"/>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1296000" y="3526637"/>
            <a:ext cx="3996000" cy="2088000"/>
          </a:xfrm>
        </p:spPr>
        <p:txBody>
          <a:bodyPr/>
          <a:lstStyle/>
          <a:p>
            <a:r>
              <a:rPr lang="en-US" dirty="0"/>
              <a:t>Drag picture to placeholder or click icon to add</a:t>
            </a:r>
            <a:endParaRPr lang="en-GB" dirty="0"/>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1296000" y="3106269"/>
            <a:ext cx="3995998" cy="420368"/>
          </a:xfrm>
        </p:spPr>
        <p:txBody>
          <a:bodyPr/>
          <a:lstStyle>
            <a:lvl1pPr>
              <a:defRPr sz="900"/>
            </a:lvl1pPr>
          </a:lstStyle>
          <a:p>
            <a:pPr lvl="0"/>
            <a:r>
              <a:rPr lang="en-US"/>
              <a:t>Click to edit Master text styles</a:t>
            </a:r>
          </a:p>
        </p:txBody>
      </p:sp>
      <p:sp>
        <p:nvSpPr>
          <p:cNvPr id="18" name="Picture Placeholder 13">
            <a:extLst>
              <a:ext uri="{FF2B5EF4-FFF2-40B4-BE49-F238E27FC236}">
                <a16:creationId xmlns:a16="http://schemas.microsoft.com/office/drawing/2014/main" id="{4D409324-02BA-4D89-BA1E-35E575BEC378}"/>
              </a:ext>
            </a:extLst>
          </p:cNvPr>
          <p:cNvSpPr>
            <a:spLocks noGrp="1"/>
          </p:cNvSpPr>
          <p:nvPr>
            <p:ph type="pic" sz="quarter" idx="20"/>
          </p:nvPr>
        </p:nvSpPr>
        <p:spPr>
          <a:xfrm>
            <a:off x="5832000" y="982663"/>
            <a:ext cx="3996000" cy="2088000"/>
          </a:xfrm>
        </p:spPr>
        <p:txBody>
          <a:bodyPr/>
          <a:lstStyle/>
          <a:p>
            <a:r>
              <a:rPr lang="en-US" dirty="0"/>
              <a:t>Drag picture to placeholder or click icon to add</a:t>
            </a:r>
            <a:endParaRPr lang="en-GB" dirty="0"/>
          </a:p>
        </p:txBody>
      </p:sp>
      <p:sp>
        <p:nvSpPr>
          <p:cNvPr id="19" name="Picture Placeholder 13">
            <a:extLst>
              <a:ext uri="{FF2B5EF4-FFF2-40B4-BE49-F238E27FC236}">
                <a16:creationId xmlns:a16="http://schemas.microsoft.com/office/drawing/2014/main" id="{4D409324-02BA-4D89-BA1E-35E575BEC378}"/>
              </a:ext>
            </a:extLst>
          </p:cNvPr>
          <p:cNvSpPr>
            <a:spLocks noGrp="1"/>
          </p:cNvSpPr>
          <p:nvPr>
            <p:ph type="pic" sz="quarter" idx="21"/>
          </p:nvPr>
        </p:nvSpPr>
        <p:spPr>
          <a:xfrm>
            <a:off x="5832000" y="3526637"/>
            <a:ext cx="3996000" cy="2088000"/>
          </a:xfrm>
        </p:spPr>
        <p:txBody>
          <a:bodyPr/>
          <a:lstStyle/>
          <a:p>
            <a:r>
              <a:rPr lang="en-US" dirty="0"/>
              <a:t>Drag picture to placeholder or click icon to add</a:t>
            </a:r>
            <a:endParaRPr lang="en-GB" dirty="0"/>
          </a:p>
        </p:txBody>
      </p:sp>
      <p:sp>
        <p:nvSpPr>
          <p:cNvPr id="21" name="Text Placeholder 8">
            <a:extLst>
              <a:ext uri="{FF2B5EF4-FFF2-40B4-BE49-F238E27FC236}">
                <a16:creationId xmlns:a16="http://schemas.microsoft.com/office/drawing/2014/main" id="{A90E2089-F7F1-4029-A7C8-A39659E5D28E}"/>
              </a:ext>
            </a:extLst>
          </p:cNvPr>
          <p:cNvSpPr>
            <a:spLocks noGrp="1"/>
          </p:cNvSpPr>
          <p:nvPr>
            <p:ph type="body" sz="quarter" idx="22"/>
          </p:nvPr>
        </p:nvSpPr>
        <p:spPr>
          <a:xfrm>
            <a:off x="5796000" y="3099878"/>
            <a:ext cx="3995998" cy="420368"/>
          </a:xfrm>
        </p:spPr>
        <p:txBody>
          <a:bodyPr/>
          <a:lstStyle>
            <a:lvl1pPr>
              <a:defRPr sz="900"/>
            </a:lvl1pPr>
          </a:lstStyle>
          <a:p>
            <a:pPr lvl="0"/>
            <a:r>
              <a:rPr lang="en-US"/>
              <a:t>Click to edit Master text styles</a:t>
            </a:r>
          </a:p>
        </p:txBody>
      </p:sp>
      <p:sp>
        <p:nvSpPr>
          <p:cNvPr id="22" name="Text Placeholder 8">
            <a:extLst>
              <a:ext uri="{FF2B5EF4-FFF2-40B4-BE49-F238E27FC236}">
                <a16:creationId xmlns:a16="http://schemas.microsoft.com/office/drawing/2014/main" id="{A90E2089-F7F1-4029-A7C8-A39659E5D28E}"/>
              </a:ext>
            </a:extLst>
          </p:cNvPr>
          <p:cNvSpPr>
            <a:spLocks noGrp="1"/>
          </p:cNvSpPr>
          <p:nvPr>
            <p:ph type="body" sz="quarter" idx="23"/>
          </p:nvPr>
        </p:nvSpPr>
        <p:spPr>
          <a:xfrm>
            <a:off x="1296000" y="5645322"/>
            <a:ext cx="3995998" cy="420368"/>
          </a:xfrm>
        </p:spPr>
        <p:txBody>
          <a:bodyPr/>
          <a:lstStyle>
            <a:lvl1pPr>
              <a:defRPr sz="900"/>
            </a:lvl1pPr>
          </a:lstStyle>
          <a:p>
            <a:pPr lvl="0"/>
            <a:r>
              <a:rPr lang="en-US"/>
              <a:t>Click to edit Master text styles</a:t>
            </a:r>
          </a:p>
        </p:txBody>
      </p:sp>
      <p:sp>
        <p:nvSpPr>
          <p:cNvPr id="23" name="Text Placeholder 8">
            <a:extLst>
              <a:ext uri="{FF2B5EF4-FFF2-40B4-BE49-F238E27FC236}">
                <a16:creationId xmlns:a16="http://schemas.microsoft.com/office/drawing/2014/main" id="{A90E2089-F7F1-4029-A7C8-A39659E5D28E}"/>
              </a:ext>
            </a:extLst>
          </p:cNvPr>
          <p:cNvSpPr>
            <a:spLocks noGrp="1"/>
          </p:cNvSpPr>
          <p:nvPr>
            <p:ph type="body" sz="quarter" idx="24"/>
          </p:nvPr>
        </p:nvSpPr>
        <p:spPr>
          <a:xfrm>
            <a:off x="5832000" y="5645322"/>
            <a:ext cx="3995998" cy="420368"/>
          </a:xfrm>
        </p:spPr>
        <p:txBody>
          <a:bodyPr/>
          <a:lstStyle>
            <a:lvl1pPr>
              <a:defRPr sz="900"/>
            </a:lvl1pPr>
          </a:lstStyle>
          <a:p>
            <a:pPr lvl="0"/>
            <a:r>
              <a:rPr lang="en-US"/>
              <a:t>Click to edit Master text styles</a:t>
            </a:r>
          </a:p>
        </p:txBody>
      </p:sp>
      <p:sp>
        <p:nvSpPr>
          <p:cNvPr id="11" name="Date Placeholder 10"/>
          <p:cNvSpPr>
            <a:spLocks noGrp="1"/>
          </p:cNvSpPr>
          <p:nvPr>
            <p:ph type="dt" sz="half" idx="25"/>
          </p:nvPr>
        </p:nvSpPr>
        <p:spPr/>
        <p:txBody>
          <a:bodyPr/>
          <a:lstStyle/>
          <a:p>
            <a:fld id="{576183A7-4E72-264B-B64C-06C430AB68AA}" type="datetime4">
              <a:rPr lang="en-GB" smtClean="0">
                <a:solidFill>
                  <a:srgbClr val="4D5156"/>
                </a:solidFill>
              </a:rPr>
              <a:pPr/>
              <a:t>26 February 2026</a:t>
            </a:fld>
            <a:endParaRPr lang="en-GB" dirty="0">
              <a:solidFill>
                <a:srgbClr val="4D5156"/>
              </a:solidFill>
            </a:endParaRPr>
          </a:p>
        </p:txBody>
      </p:sp>
      <p:sp>
        <p:nvSpPr>
          <p:cNvPr id="24" name="Footer Placeholder 23"/>
          <p:cNvSpPr>
            <a:spLocks noGrp="1"/>
          </p:cNvSpPr>
          <p:nvPr>
            <p:ph type="ftr" sz="quarter" idx="26"/>
          </p:nvPr>
        </p:nvSpPr>
        <p:spPr/>
        <p:txBody>
          <a:bodyPr/>
          <a:lstStyle/>
          <a:p>
            <a:r>
              <a:rPr lang="en-GB" dirty="0">
                <a:solidFill>
                  <a:srgbClr val="1859A9"/>
                </a:solidFill>
              </a:rPr>
              <a:t>Client Distribution | Presentation title</a:t>
            </a:r>
          </a:p>
        </p:txBody>
      </p:sp>
      <p:sp>
        <p:nvSpPr>
          <p:cNvPr id="25" name="Slide Number Placeholder 24"/>
          <p:cNvSpPr>
            <a:spLocks noGrp="1"/>
          </p:cNvSpPr>
          <p:nvPr>
            <p:ph type="sldNum" sz="quarter" idx="27"/>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15"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1433056047"/>
      </p:ext>
    </p:extLst>
  </p:cSld>
  <p:clrMapOvr>
    <a:masterClrMapping/>
  </p:clrMapOvr>
  <p:extLst>
    <p:ext uri="{DCECCB84-F9BA-43D5-87BE-67443E8EF086}">
      <p15:sldGuideLst xmlns:p15="http://schemas.microsoft.com/office/powerpoint/2012/main">
        <p15:guide id="1" pos="3335">
          <p15:clr>
            <a:srgbClr val="FBAE40"/>
          </p15:clr>
        </p15:guide>
        <p15:guide id="2" pos="3650">
          <p15:clr>
            <a:srgbClr val="FBAE40"/>
          </p15:clr>
        </p15:guide>
        <p15:guide id="3" pos="616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1296000" y="982663"/>
            <a:ext cx="2484000" cy="2088000"/>
          </a:xfrm>
        </p:spPr>
        <p:txBody>
          <a:bodyPr/>
          <a:lstStyle/>
          <a:p>
            <a:r>
              <a:rPr lang="en-US" dirty="0"/>
              <a:t>Drag picture to placeholder or click icon to add</a:t>
            </a:r>
            <a:endParaRPr lang="en-GB" dirty="0"/>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1296000" y="3526637"/>
            <a:ext cx="2484000" cy="2088000"/>
          </a:xfrm>
        </p:spPr>
        <p:txBody>
          <a:bodyPr/>
          <a:lstStyle/>
          <a:p>
            <a:r>
              <a:rPr lang="en-US" dirty="0"/>
              <a:t>Drag picture to placeholder or click icon to add</a:t>
            </a:r>
            <a:endParaRPr lang="en-GB" dirty="0"/>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1296000" y="3106269"/>
            <a:ext cx="2484000" cy="420368"/>
          </a:xfrm>
        </p:spPr>
        <p:txBody>
          <a:bodyPr/>
          <a:lstStyle>
            <a:lvl1pPr>
              <a:defRPr sz="900"/>
            </a:lvl1pPr>
          </a:lstStyle>
          <a:p>
            <a:pPr lvl="0"/>
            <a:r>
              <a:rPr lang="en-US"/>
              <a:t>Click to edit Master text styles</a:t>
            </a:r>
          </a:p>
        </p:txBody>
      </p:sp>
      <p:sp>
        <p:nvSpPr>
          <p:cNvPr id="18" name="Picture Placeholder 13">
            <a:extLst>
              <a:ext uri="{FF2B5EF4-FFF2-40B4-BE49-F238E27FC236}">
                <a16:creationId xmlns:a16="http://schemas.microsoft.com/office/drawing/2014/main" id="{4D409324-02BA-4D89-BA1E-35E575BEC378}"/>
              </a:ext>
            </a:extLst>
          </p:cNvPr>
          <p:cNvSpPr>
            <a:spLocks noGrp="1"/>
          </p:cNvSpPr>
          <p:nvPr>
            <p:ph type="pic" sz="quarter" idx="20"/>
          </p:nvPr>
        </p:nvSpPr>
        <p:spPr>
          <a:xfrm>
            <a:off x="4320000" y="982663"/>
            <a:ext cx="2484000" cy="2088000"/>
          </a:xfrm>
        </p:spPr>
        <p:txBody>
          <a:bodyPr/>
          <a:lstStyle/>
          <a:p>
            <a:r>
              <a:rPr lang="en-US" dirty="0"/>
              <a:t>Drag picture to placeholder or click icon to add</a:t>
            </a:r>
            <a:endParaRPr lang="en-GB" dirty="0"/>
          </a:p>
        </p:txBody>
      </p:sp>
      <p:sp>
        <p:nvSpPr>
          <p:cNvPr id="19" name="Picture Placeholder 13">
            <a:extLst>
              <a:ext uri="{FF2B5EF4-FFF2-40B4-BE49-F238E27FC236}">
                <a16:creationId xmlns:a16="http://schemas.microsoft.com/office/drawing/2014/main" id="{4D409324-02BA-4D89-BA1E-35E575BEC378}"/>
              </a:ext>
            </a:extLst>
          </p:cNvPr>
          <p:cNvSpPr>
            <a:spLocks noGrp="1"/>
          </p:cNvSpPr>
          <p:nvPr>
            <p:ph type="pic" sz="quarter" idx="21"/>
          </p:nvPr>
        </p:nvSpPr>
        <p:spPr>
          <a:xfrm>
            <a:off x="4320000" y="3526637"/>
            <a:ext cx="2484000" cy="2088000"/>
          </a:xfrm>
        </p:spPr>
        <p:txBody>
          <a:bodyPr/>
          <a:lstStyle/>
          <a:p>
            <a:r>
              <a:rPr lang="en-US" dirty="0"/>
              <a:t>Drag picture to placeholder or click icon to add</a:t>
            </a:r>
            <a:endParaRPr lang="en-GB" dirty="0"/>
          </a:p>
        </p:txBody>
      </p:sp>
      <p:sp>
        <p:nvSpPr>
          <p:cNvPr id="21" name="Text Placeholder 8">
            <a:extLst>
              <a:ext uri="{FF2B5EF4-FFF2-40B4-BE49-F238E27FC236}">
                <a16:creationId xmlns:a16="http://schemas.microsoft.com/office/drawing/2014/main" id="{A90E2089-F7F1-4029-A7C8-A39659E5D28E}"/>
              </a:ext>
            </a:extLst>
          </p:cNvPr>
          <p:cNvSpPr>
            <a:spLocks noGrp="1"/>
          </p:cNvSpPr>
          <p:nvPr>
            <p:ph type="body" sz="quarter" idx="22"/>
          </p:nvPr>
        </p:nvSpPr>
        <p:spPr>
          <a:xfrm>
            <a:off x="4320000" y="3099878"/>
            <a:ext cx="2484000" cy="420368"/>
          </a:xfrm>
        </p:spPr>
        <p:txBody>
          <a:bodyPr/>
          <a:lstStyle>
            <a:lvl1pPr>
              <a:defRPr sz="900"/>
            </a:lvl1pPr>
          </a:lstStyle>
          <a:p>
            <a:pPr lvl="0"/>
            <a:r>
              <a:rPr lang="en-US"/>
              <a:t>Click to edit Master text styles</a:t>
            </a:r>
          </a:p>
        </p:txBody>
      </p:sp>
      <p:sp>
        <p:nvSpPr>
          <p:cNvPr id="22" name="Text Placeholder 8">
            <a:extLst>
              <a:ext uri="{FF2B5EF4-FFF2-40B4-BE49-F238E27FC236}">
                <a16:creationId xmlns:a16="http://schemas.microsoft.com/office/drawing/2014/main" id="{A90E2089-F7F1-4029-A7C8-A39659E5D28E}"/>
              </a:ext>
            </a:extLst>
          </p:cNvPr>
          <p:cNvSpPr>
            <a:spLocks noGrp="1"/>
          </p:cNvSpPr>
          <p:nvPr>
            <p:ph type="body" sz="quarter" idx="23"/>
          </p:nvPr>
        </p:nvSpPr>
        <p:spPr>
          <a:xfrm>
            <a:off x="1296000" y="5645322"/>
            <a:ext cx="2484000" cy="420368"/>
          </a:xfrm>
        </p:spPr>
        <p:txBody>
          <a:bodyPr/>
          <a:lstStyle>
            <a:lvl1pPr>
              <a:defRPr sz="900"/>
            </a:lvl1pPr>
          </a:lstStyle>
          <a:p>
            <a:pPr lvl="0"/>
            <a:r>
              <a:rPr lang="en-US"/>
              <a:t>Click to edit Master text styles</a:t>
            </a:r>
          </a:p>
        </p:txBody>
      </p:sp>
      <p:sp>
        <p:nvSpPr>
          <p:cNvPr id="23" name="Text Placeholder 8">
            <a:extLst>
              <a:ext uri="{FF2B5EF4-FFF2-40B4-BE49-F238E27FC236}">
                <a16:creationId xmlns:a16="http://schemas.microsoft.com/office/drawing/2014/main" id="{A90E2089-F7F1-4029-A7C8-A39659E5D28E}"/>
              </a:ext>
            </a:extLst>
          </p:cNvPr>
          <p:cNvSpPr>
            <a:spLocks noGrp="1"/>
          </p:cNvSpPr>
          <p:nvPr>
            <p:ph type="body" sz="quarter" idx="24"/>
          </p:nvPr>
        </p:nvSpPr>
        <p:spPr>
          <a:xfrm>
            <a:off x="4320000" y="5645322"/>
            <a:ext cx="2484000" cy="420368"/>
          </a:xfrm>
        </p:spPr>
        <p:txBody>
          <a:bodyPr/>
          <a:lstStyle>
            <a:lvl1pPr>
              <a:defRPr sz="900"/>
            </a:lvl1pPr>
          </a:lstStyle>
          <a:p>
            <a:pPr lvl="0"/>
            <a:r>
              <a:rPr lang="en-US"/>
              <a:t>Click to edit Master text styles</a:t>
            </a:r>
          </a:p>
        </p:txBody>
      </p:sp>
      <p:sp>
        <p:nvSpPr>
          <p:cNvPr id="11" name="Date Placeholder 10"/>
          <p:cNvSpPr>
            <a:spLocks noGrp="1"/>
          </p:cNvSpPr>
          <p:nvPr>
            <p:ph type="dt" sz="half" idx="25"/>
          </p:nvPr>
        </p:nvSpPr>
        <p:spPr/>
        <p:txBody>
          <a:bodyPr/>
          <a:lstStyle/>
          <a:p>
            <a:fld id="{487B0552-E121-8E4A-8A0A-82A2A1C6CDD5}" type="datetime4">
              <a:rPr lang="en-GB" smtClean="0">
                <a:solidFill>
                  <a:srgbClr val="4D5156"/>
                </a:solidFill>
              </a:rPr>
              <a:pPr/>
              <a:t>26 February 2026</a:t>
            </a:fld>
            <a:endParaRPr lang="en-GB" dirty="0">
              <a:solidFill>
                <a:srgbClr val="4D5156"/>
              </a:solidFill>
            </a:endParaRPr>
          </a:p>
        </p:txBody>
      </p:sp>
      <p:sp>
        <p:nvSpPr>
          <p:cNvPr id="24" name="Footer Placeholder 23"/>
          <p:cNvSpPr>
            <a:spLocks noGrp="1"/>
          </p:cNvSpPr>
          <p:nvPr>
            <p:ph type="ftr" sz="quarter" idx="26"/>
          </p:nvPr>
        </p:nvSpPr>
        <p:spPr/>
        <p:txBody>
          <a:bodyPr/>
          <a:lstStyle/>
          <a:p>
            <a:r>
              <a:rPr lang="en-GB" dirty="0">
                <a:solidFill>
                  <a:srgbClr val="1859A9"/>
                </a:solidFill>
              </a:rPr>
              <a:t>Client Distribution | Presentation title</a:t>
            </a:r>
          </a:p>
        </p:txBody>
      </p:sp>
      <p:sp>
        <p:nvSpPr>
          <p:cNvPr id="25" name="Slide Number Placeholder 24"/>
          <p:cNvSpPr>
            <a:spLocks noGrp="1"/>
          </p:cNvSpPr>
          <p:nvPr>
            <p:ph type="sldNum" sz="quarter" idx="27"/>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26" name="Picture Placeholder 13">
            <a:extLst>
              <a:ext uri="{FF2B5EF4-FFF2-40B4-BE49-F238E27FC236}">
                <a16:creationId xmlns:a16="http://schemas.microsoft.com/office/drawing/2014/main" id="{4D409324-02BA-4D89-BA1E-35E575BEC378}"/>
              </a:ext>
            </a:extLst>
          </p:cNvPr>
          <p:cNvSpPr>
            <a:spLocks noGrp="1"/>
          </p:cNvSpPr>
          <p:nvPr>
            <p:ph type="pic" sz="quarter" idx="28"/>
          </p:nvPr>
        </p:nvSpPr>
        <p:spPr>
          <a:xfrm>
            <a:off x="7344000" y="982663"/>
            <a:ext cx="2484000" cy="2088000"/>
          </a:xfrm>
        </p:spPr>
        <p:txBody>
          <a:bodyPr/>
          <a:lstStyle/>
          <a:p>
            <a:r>
              <a:rPr lang="en-US" dirty="0"/>
              <a:t>Drag picture to placeholder or click icon to add</a:t>
            </a:r>
            <a:endParaRPr lang="en-GB" dirty="0"/>
          </a:p>
        </p:txBody>
      </p:sp>
      <p:sp>
        <p:nvSpPr>
          <p:cNvPr id="27" name="Picture Placeholder 13">
            <a:extLst>
              <a:ext uri="{FF2B5EF4-FFF2-40B4-BE49-F238E27FC236}">
                <a16:creationId xmlns:a16="http://schemas.microsoft.com/office/drawing/2014/main" id="{4D409324-02BA-4D89-BA1E-35E575BEC378}"/>
              </a:ext>
            </a:extLst>
          </p:cNvPr>
          <p:cNvSpPr>
            <a:spLocks noGrp="1"/>
          </p:cNvSpPr>
          <p:nvPr>
            <p:ph type="pic" sz="quarter" idx="29"/>
          </p:nvPr>
        </p:nvSpPr>
        <p:spPr>
          <a:xfrm>
            <a:off x="7344000" y="3526637"/>
            <a:ext cx="2484000" cy="2088000"/>
          </a:xfrm>
        </p:spPr>
        <p:txBody>
          <a:bodyPr/>
          <a:lstStyle/>
          <a:p>
            <a:r>
              <a:rPr lang="en-US" dirty="0"/>
              <a:t>Drag picture to placeholder or click icon to add</a:t>
            </a:r>
            <a:endParaRPr lang="en-GB" dirty="0"/>
          </a:p>
        </p:txBody>
      </p:sp>
      <p:sp>
        <p:nvSpPr>
          <p:cNvPr id="28" name="Text Placeholder 8">
            <a:extLst>
              <a:ext uri="{FF2B5EF4-FFF2-40B4-BE49-F238E27FC236}">
                <a16:creationId xmlns:a16="http://schemas.microsoft.com/office/drawing/2014/main" id="{A90E2089-F7F1-4029-A7C8-A39659E5D28E}"/>
              </a:ext>
            </a:extLst>
          </p:cNvPr>
          <p:cNvSpPr>
            <a:spLocks noGrp="1"/>
          </p:cNvSpPr>
          <p:nvPr>
            <p:ph type="body" sz="quarter" idx="30"/>
          </p:nvPr>
        </p:nvSpPr>
        <p:spPr>
          <a:xfrm>
            <a:off x="7344000" y="3099878"/>
            <a:ext cx="2484000" cy="420368"/>
          </a:xfrm>
        </p:spPr>
        <p:txBody>
          <a:bodyPr/>
          <a:lstStyle>
            <a:lvl1pPr>
              <a:defRPr sz="900"/>
            </a:lvl1pPr>
          </a:lstStyle>
          <a:p>
            <a:pPr lvl="0"/>
            <a:r>
              <a:rPr lang="en-US"/>
              <a:t>Click to edit Master text styles</a:t>
            </a:r>
          </a:p>
        </p:txBody>
      </p:sp>
      <p:sp>
        <p:nvSpPr>
          <p:cNvPr id="29" name="Text Placeholder 8">
            <a:extLst>
              <a:ext uri="{FF2B5EF4-FFF2-40B4-BE49-F238E27FC236}">
                <a16:creationId xmlns:a16="http://schemas.microsoft.com/office/drawing/2014/main" id="{A90E2089-F7F1-4029-A7C8-A39659E5D28E}"/>
              </a:ext>
            </a:extLst>
          </p:cNvPr>
          <p:cNvSpPr>
            <a:spLocks noGrp="1"/>
          </p:cNvSpPr>
          <p:nvPr>
            <p:ph type="body" sz="quarter" idx="31"/>
          </p:nvPr>
        </p:nvSpPr>
        <p:spPr>
          <a:xfrm>
            <a:off x="7344000" y="5645322"/>
            <a:ext cx="2484000" cy="420368"/>
          </a:xfrm>
        </p:spPr>
        <p:txBody>
          <a:bodyPr/>
          <a:lstStyle>
            <a:lvl1pPr>
              <a:defRPr sz="900"/>
            </a:lvl1pPr>
          </a:lstStyle>
          <a:p>
            <a:pPr lvl="0"/>
            <a:r>
              <a:rPr lang="en-US"/>
              <a:t>Click to edit Master text styles</a:t>
            </a:r>
          </a:p>
        </p:txBody>
      </p:sp>
      <p:sp>
        <p:nvSpPr>
          <p:cNvPr id="20"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821024712"/>
      </p:ext>
    </p:extLst>
  </p:cSld>
  <p:clrMapOvr>
    <a:masterClrMapping/>
  </p:clrMapOvr>
  <p:extLst>
    <p:ext uri="{DCECCB84-F9BA-43D5-87BE-67443E8EF086}">
      <p15:sldGuideLst xmlns:p15="http://schemas.microsoft.com/office/powerpoint/2012/main">
        <p15:guide id="1" pos="3335">
          <p15:clr>
            <a:srgbClr val="FBAE40"/>
          </p15:clr>
        </p15:guide>
        <p15:guide id="2" pos="3650">
          <p15:clr>
            <a:srgbClr val="FBAE40"/>
          </p15:clr>
        </p15:guide>
        <p15:guide id="3" pos="616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CB26E28-DC1C-47D2-A361-3497C18906A4}"/>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263F4CDB-1518-4581-97E4-25089FE564B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E59EA8F0-61E3-4C3E-9042-E35E99EBAA89}"/>
              </a:ext>
            </a:extLst>
          </p:cNvPr>
          <p:cNvSpPr>
            <a:spLocks noGrp="1"/>
          </p:cNvSpPr>
          <p:nvPr>
            <p:ph type="dt" sz="half" idx="10"/>
          </p:nvPr>
        </p:nvSpPr>
        <p:spPr/>
        <p:txBody>
          <a:bodyPr/>
          <a:lstStyle/>
          <a:p>
            <a:fld id="{1BDDB814-8238-764E-A776-46852D3C5E2B}" type="datetime4">
              <a:rPr lang="en-GB" smtClean="0">
                <a:solidFill>
                  <a:srgbClr val="4D5156"/>
                </a:solidFill>
              </a:rPr>
              <a:pPr/>
              <a:t>26 February 2026</a:t>
            </a:fld>
            <a:endParaRPr lang="en-GB" dirty="0">
              <a:solidFill>
                <a:srgbClr val="4D5156"/>
              </a:solidFill>
            </a:endParaRPr>
          </a:p>
        </p:txBody>
      </p:sp>
      <p:sp>
        <p:nvSpPr>
          <p:cNvPr id="4" name="Footer Placeholder 3">
            <a:extLst>
              <a:ext uri="{FF2B5EF4-FFF2-40B4-BE49-F238E27FC236}">
                <a16:creationId xmlns:a16="http://schemas.microsoft.com/office/drawing/2014/main" id="{90E362B4-12AF-4CAD-BA8A-57B829FB7C1F}"/>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5" name="Slide Number Placeholder 4">
            <a:extLst>
              <a:ext uri="{FF2B5EF4-FFF2-40B4-BE49-F238E27FC236}">
                <a16:creationId xmlns:a16="http://schemas.microsoft.com/office/drawing/2014/main" id="{DCDEBC9F-B446-4417-95B2-C71369B21712}"/>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9" name="Text Placeholder 11">
            <a:extLst>
              <a:ext uri="{FF2B5EF4-FFF2-40B4-BE49-F238E27FC236}">
                <a16:creationId xmlns:a16="http://schemas.microsoft.com/office/drawing/2014/main" id="{54E28843-A433-4785-8AE9-5F9461E39707}"/>
              </a:ext>
            </a:extLst>
          </p:cNvPr>
          <p:cNvSpPr>
            <a:spLocks noGrp="1"/>
          </p:cNvSpPr>
          <p:nvPr>
            <p:ph type="body" sz="quarter" idx="13"/>
          </p:nvPr>
        </p:nvSpPr>
        <p:spPr>
          <a:xfrm>
            <a:off x="947738" y="1620000"/>
            <a:ext cx="5364162"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sp>
        <p:nvSpPr>
          <p:cNvPr id="10"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81875" y="642345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404661314"/>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DB259-62B2-468B-9E8E-5B1097662955}"/>
              </a:ext>
            </a:extLst>
          </p:cNvPr>
          <p:cNvSpPr>
            <a:spLocks noGrp="1"/>
          </p:cNvSpPr>
          <p:nvPr>
            <p:ph type="dt" sz="half" idx="10"/>
          </p:nvPr>
        </p:nvSpPr>
        <p:spPr/>
        <p:txBody>
          <a:bodyPr/>
          <a:lstStyle/>
          <a:p>
            <a:fld id="{EF61CCA2-D385-4D44-B88A-3AD819866B87}" type="datetime4">
              <a:rPr lang="en-GB" smtClean="0">
                <a:solidFill>
                  <a:srgbClr val="4D5156"/>
                </a:solidFill>
              </a:rPr>
              <a:pPr/>
              <a:t>26 February 2026</a:t>
            </a:fld>
            <a:endParaRPr lang="en-GB" dirty="0">
              <a:solidFill>
                <a:srgbClr val="4D5156"/>
              </a:solidFill>
            </a:endParaRPr>
          </a:p>
        </p:txBody>
      </p:sp>
      <p:sp>
        <p:nvSpPr>
          <p:cNvPr id="3" name="Footer Placeholder 2">
            <a:extLst>
              <a:ext uri="{FF2B5EF4-FFF2-40B4-BE49-F238E27FC236}">
                <a16:creationId xmlns:a16="http://schemas.microsoft.com/office/drawing/2014/main" id="{81749B0C-377B-4F10-B4B2-B6DE52385952}"/>
              </a:ext>
            </a:extLst>
          </p:cNvPr>
          <p:cNvSpPr>
            <a:spLocks noGrp="1"/>
          </p:cNvSpPr>
          <p:nvPr>
            <p:ph type="ftr" sz="quarter" idx="11"/>
          </p:nvPr>
        </p:nvSpPr>
        <p:spPr/>
        <p:txBody>
          <a:bodyPr/>
          <a:lstStyle/>
          <a:p>
            <a:r>
              <a:rPr lang="en-GB" dirty="0">
                <a:solidFill>
                  <a:srgbClr val="1859A9"/>
                </a:solidFill>
              </a:rPr>
              <a:t>Client Distribution | Presentation title</a:t>
            </a:r>
          </a:p>
        </p:txBody>
      </p:sp>
      <p:sp>
        <p:nvSpPr>
          <p:cNvPr id="7" name="Slide Number Placeholder 3">
            <a:extLst>
              <a:ext uri="{FF2B5EF4-FFF2-40B4-BE49-F238E27FC236}">
                <a16:creationId xmlns:a16="http://schemas.microsoft.com/office/drawing/2014/main" id="{163E29DE-0751-4942-AB31-6C2A8C061799}"/>
              </a:ext>
            </a:extLst>
          </p:cNvPr>
          <p:cNvSpPr>
            <a:spLocks noGrp="1"/>
          </p:cNvSpPr>
          <p:nvPr>
            <p:ph type="sldNum" sz="quarter" idx="12"/>
          </p:nvPr>
        </p:nvSpPr>
        <p:spPr>
          <a:xfrm>
            <a:off x="270000" y="6325200"/>
            <a:ext cx="360000" cy="180000"/>
          </a:xfrm>
        </p:spPr>
        <p:txBody>
          <a:bodyPr/>
          <a:lstStyle/>
          <a:p>
            <a:fld id="{F7641956-BF2E-4170-9809-8254439A8799}" type="slidenum">
              <a:rPr lang="en-GB" smtClean="0">
                <a:solidFill>
                  <a:srgbClr val="1859A9"/>
                </a:solidFill>
              </a:rPr>
              <a:pPr/>
              <a:t>‹#›</a:t>
            </a:fld>
            <a:endParaRPr lang="en-GB" dirty="0">
              <a:solidFill>
                <a:srgbClr val="1859A9"/>
              </a:solidFill>
            </a:endParaRPr>
          </a:p>
        </p:txBody>
      </p:sp>
      <p:sp>
        <p:nvSpPr>
          <p:cNvPr id="9" name="Slide Number Placeholder 3">
            <a:extLst>
              <a:ext uri="{FF2B5EF4-FFF2-40B4-BE49-F238E27FC236}">
                <a16:creationId xmlns:a16="http://schemas.microsoft.com/office/drawing/2014/main" id="{163E29DE-0751-4942-AB31-6C2A8C061799}"/>
              </a:ext>
            </a:extLst>
          </p:cNvPr>
          <p:cNvSpPr txBox="1">
            <a:spLocks/>
          </p:cNvSpPr>
          <p:nvPr userDrawn="1"/>
        </p:nvSpPr>
        <p:spPr>
          <a:xfrm>
            <a:off x="11591400" y="640440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27241891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 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0" y="239400"/>
            <a:ext cx="11710800" cy="637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38" y="2732400"/>
            <a:ext cx="10521949" cy="3195959"/>
          </a:xfrm>
        </p:spPr>
        <p:txBody>
          <a:bodyPr anchor="b" anchorCtr="0"/>
          <a:lstStyle>
            <a:lvl1pPr>
              <a:defRPr sz="6700">
                <a:solidFill>
                  <a:schemeClr val="bg1"/>
                </a:solidFill>
              </a:defRPr>
            </a:lvl1pPr>
          </a:lstStyle>
          <a:p>
            <a:r>
              <a:rPr lang="en-US"/>
              <a:t>Click to edit Master title style</a:t>
            </a:r>
            <a:endParaRPr lang="en-GB" dirty="0"/>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a:off x="946800"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prstClr val="white"/>
                </a:solidFill>
              </a:rPr>
              <a:t>Client DISTRIBUTION</a:t>
            </a:r>
          </a:p>
        </p:txBody>
      </p:sp>
      <p:sp>
        <p:nvSpPr>
          <p:cNvPr id="11" name="Rectangle 10"/>
          <p:cNvSpPr/>
          <p:nvPr userDrawn="1"/>
        </p:nvSpPr>
        <p:spPr bwMode="white">
          <a:xfrm>
            <a:off x="10546428" y="0"/>
            <a:ext cx="923259" cy="1627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Tree>
    <p:extLst>
      <p:ext uri="{BB962C8B-B14F-4D97-AF65-F5344CB8AC3E}">
        <p14:creationId xmlns:p14="http://schemas.microsoft.com/office/powerpoint/2010/main" val="16365324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slide - 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0" y="239400"/>
            <a:ext cx="11710800" cy="6379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38" y="2732400"/>
            <a:ext cx="10521949" cy="3195959"/>
          </a:xfrm>
        </p:spPr>
        <p:txBody>
          <a:bodyPr anchor="b" anchorCtr="0"/>
          <a:lstStyle>
            <a:lvl1pPr>
              <a:defRPr sz="6700">
                <a:solidFill>
                  <a:schemeClr val="bg1"/>
                </a:solidFill>
              </a:defRPr>
            </a:lvl1pPr>
          </a:lstStyle>
          <a:p>
            <a:r>
              <a:rPr lang="en-US"/>
              <a:t>Click to edit Master title style</a:t>
            </a:r>
            <a:endParaRPr lang="en-GB" dirty="0"/>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a:off x="946800"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prstClr val="white"/>
                </a:solidFill>
              </a:rPr>
              <a:t>Client DISTRIBUTION</a:t>
            </a:r>
          </a:p>
        </p:txBody>
      </p:sp>
    </p:spTree>
    <p:extLst>
      <p:ext uri="{BB962C8B-B14F-4D97-AF65-F5344CB8AC3E}">
        <p14:creationId xmlns:p14="http://schemas.microsoft.com/office/powerpoint/2010/main" val="27502725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d slide - Light 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38" y="2732400"/>
            <a:ext cx="10521949" cy="3195959"/>
          </a:xfrm>
        </p:spPr>
        <p:txBody>
          <a:bodyPr anchor="b" anchorCtr="0"/>
          <a:lstStyle>
            <a:lvl1pPr>
              <a:defRPr sz="6700">
                <a:solidFill>
                  <a:schemeClr val="tx2"/>
                </a:solidFill>
              </a:defRPr>
            </a:lvl1pPr>
          </a:lstStyle>
          <a:p>
            <a:r>
              <a:rPr lang="en-US"/>
              <a:t>Click to edit Master title style</a:t>
            </a:r>
            <a:endParaRPr lang="en-GB" dirty="0"/>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a:off x="946800" y="6138000"/>
            <a:ext cx="10522887"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4" y="6180248"/>
            <a:ext cx="3719733" cy="375864"/>
          </a:xfrm>
          <a:prstGeom prst="rect">
            <a:avLst/>
          </a:prstGeom>
          <a:noFill/>
        </p:spPr>
        <p:txBody>
          <a:bodyPr wrap="square" lIns="0" tIns="0" rIns="0" bIns="0" rtlCol="0">
            <a:noAutofit/>
          </a:bodyPr>
          <a:lstStyle/>
          <a:p>
            <a:pPr algn="r">
              <a:spcBef>
                <a:spcPts val="800"/>
              </a:spcBef>
            </a:pPr>
            <a:r>
              <a:rPr lang="en-GB" sz="1600" b="1" dirty="0">
                <a:solidFill>
                  <a:srgbClr val="1859A9"/>
                </a:solidFill>
              </a:rPr>
              <a:t>Client DISTRIBUTION</a:t>
            </a:r>
          </a:p>
          <a:p>
            <a:pPr algn="r">
              <a:spcBef>
                <a:spcPts val="800"/>
              </a:spcBef>
            </a:pPr>
            <a:endParaRPr lang="en-GB" sz="1600" b="1" dirty="0">
              <a:solidFill>
                <a:srgbClr val="1859A9"/>
              </a:solidFill>
            </a:endParaRPr>
          </a:p>
        </p:txBody>
      </p:sp>
    </p:spTree>
    <p:extLst>
      <p:ext uri="{BB962C8B-B14F-4D97-AF65-F5344CB8AC3E}">
        <p14:creationId xmlns:p14="http://schemas.microsoft.com/office/powerpoint/2010/main" val="970297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One colum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38" y="2060575"/>
            <a:ext cx="10521950" cy="3998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104481" y="4325006"/>
            <a:ext cx="3108960" cy="360000"/>
          </a:xfrm>
        </p:spPr>
        <p:txBody>
          <a:bodyPr/>
          <a:lstStyle/>
          <a:p>
            <a:endParaRPr lang="en-GB" dirty="0">
              <a:solidFill>
                <a:srgbClr val="1859A9"/>
              </a:solidFill>
            </a:endParaRP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Tree>
    <p:extLst>
      <p:ext uri="{BB962C8B-B14F-4D97-AF65-F5344CB8AC3E}">
        <p14:creationId xmlns:p14="http://schemas.microsoft.com/office/powerpoint/2010/main" val="1766874031"/>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2B419-AF65-4480-A5DE-4224A457C208}"/>
              </a:ext>
            </a:extLst>
          </p:cNvPr>
          <p:cNvSpPr>
            <a:spLocks noGrp="1"/>
          </p:cNvSpPr>
          <p:nvPr>
            <p:ph type="title"/>
          </p:nvPr>
        </p:nvSpPr>
        <p:spPr>
          <a:xfrm>
            <a:off x="947737" y="441325"/>
            <a:ext cx="5364163" cy="1092437"/>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E19CFFEF-9746-4F2E-BBC7-516A08DA2F2F}"/>
              </a:ext>
            </a:extLst>
          </p:cNvPr>
          <p:cNvSpPr>
            <a:spLocks noGrp="1"/>
          </p:cNvSpPr>
          <p:nvPr>
            <p:ph type="body" idx="1"/>
          </p:nvPr>
        </p:nvSpPr>
        <p:spPr>
          <a:xfrm>
            <a:off x="947738" y="2060574"/>
            <a:ext cx="5148262" cy="399891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A10E4ED1-3F0A-4AD8-9AE9-B0E4BCF2EE35}"/>
              </a:ext>
            </a:extLst>
          </p:cNvPr>
          <p:cNvSpPr>
            <a:spLocks noGrp="1"/>
          </p:cNvSpPr>
          <p:nvPr>
            <p:ph type="dt" sz="half" idx="2"/>
          </p:nvPr>
        </p:nvSpPr>
        <p:spPr>
          <a:xfrm>
            <a:off x="947737" y="6325200"/>
            <a:ext cx="5148263" cy="180000"/>
          </a:xfrm>
          <a:prstGeom prst="rect">
            <a:avLst/>
          </a:prstGeom>
        </p:spPr>
        <p:txBody>
          <a:bodyPr vert="horz" lIns="0" tIns="0" rIns="0" bIns="0" rtlCol="0" anchor="t" anchorCtr="0">
            <a:noAutofit/>
          </a:bodyPr>
          <a:lstStyle>
            <a:lvl1pPr algn="l">
              <a:defRPr sz="800">
                <a:solidFill>
                  <a:schemeClr val="accent4"/>
                </a:solidFill>
              </a:defRPr>
            </a:lvl1pPr>
          </a:lstStyle>
          <a:p>
            <a:fld id="{6F59D563-309D-0849-9B08-DE419C85233B}" type="datetime4">
              <a:rPr lang="en-GB" smtClean="0">
                <a:solidFill>
                  <a:srgbClr val="4D5156"/>
                </a:solidFill>
              </a:rPr>
              <a:pPr/>
              <a:t>26 February 2026</a:t>
            </a:fld>
            <a:endParaRPr lang="en-GB" dirty="0">
              <a:solidFill>
                <a:srgbClr val="4D5156"/>
              </a:solidFill>
            </a:endParaRPr>
          </a:p>
        </p:txBody>
      </p:sp>
      <p:sp>
        <p:nvSpPr>
          <p:cNvPr id="5" name="Footer Placeholder 4">
            <a:extLst>
              <a:ext uri="{FF2B5EF4-FFF2-40B4-BE49-F238E27FC236}">
                <a16:creationId xmlns:a16="http://schemas.microsoft.com/office/drawing/2014/main" id="{F12E7D2D-3B3D-4500-9D64-915233A86467}"/>
              </a:ext>
            </a:extLst>
          </p:cNvPr>
          <p:cNvSpPr>
            <a:spLocks noGrp="1"/>
          </p:cNvSpPr>
          <p:nvPr>
            <p:ph type="ftr" sz="quarter" idx="3"/>
          </p:nvPr>
        </p:nvSpPr>
        <p:spPr>
          <a:xfrm rot="16200000">
            <a:off x="-1026609" y="4402877"/>
            <a:ext cx="2953217" cy="360000"/>
          </a:xfrm>
          <a:prstGeom prst="rect">
            <a:avLst/>
          </a:prstGeom>
        </p:spPr>
        <p:txBody>
          <a:bodyPr vert="horz" lIns="0" tIns="0" rIns="0" bIns="0" rtlCol="0" anchor="ctr" anchorCtr="0">
            <a:noAutofit/>
          </a:bodyPr>
          <a:lstStyle>
            <a:lvl1pPr algn="l">
              <a:defRPr sz="900" cap="all" baseline="0">
                <a:solidFill>
                  <a:schemeClr val="tx2"/>
                </a:solidFill>
              </a:defRPr>
            </a:lvl1pPr>
          </a:lstStyle>
          <a:p>
            <a:r>
              <a:rPr lang="en-GB" dirty="0">
                <a:solidFill>
                  <a:srgbClr val="1859A9"/>
                </a:solidFill>
              </a:rPr>
              <a:t>Client Distribution | Presentation title</a:t>
            </a:r>
          </a:p>
        </p:txBody>
      </p:sp>
      <p:sp>
        <p:nvSpPr>
          <p:cNvPr id="6" name="Slide Number Placeholder 5">
            <a:extLst>
              <a:ext uri="{FF2B5EF4-FFF2-40B4-BE49-F238E27FC236}">
                <a16:creationId xmlns:a16="http://schemas.microsoft.com/office/drawing/2014/main" id="{D822931A-D08B-4921-A722-14DB5879D16B}"/>
              </a:ext>
            </a:extLst>
          </p:cNvPr>
          <p:cNvSpPr>
            <a:spLocks noGrp="1"/>
          </p:cNvSpPr>
          <p:nvPr>
            <p:ph type="sldNum" sz="quarter" idx="4"/>
          </p:nvPr>
        </p:nvSpPr>
        <p:spPr>
          <a:xfrm>
            <a:off x="270000" y="6325200"/>
            <a:ext cx="360000" cy="180000"/>
          </a:xfrm>
          <a:prstGeom prst="rect">
            <a:avLst/>
          </a:prstGeom>
        </p:spPr>
        <p:txBody>
          <a:bodyPr vert="horz" lIns="0" tIns="0" rIns="0" bIns="0" rtlCol="0" anchor="t" anchorCtr="0">
            <a:noAutofit/>
          </a:bodyPr>
          <a:lstStyle>
            <a:lvl1pPr algn="ctr">
              <a:defRPr sz="800">
                <a:solidFill>
                  <a:schemeClr val="tx2"/>
                </a:solidFill>
              </a:defRPr>
            </a:lvl1pPr>
          </a:lstStyle>
          <a:p>
            <a:fld id="{F7641956-BF2E-4170-9809-8254439A8799}" type="slidenum">
              <a:rPr lang="en-GB" smtClean="0">
                <a:solidFill>
                  <a:srgbClr val="1859A9"/>
                </a:solidFill>
              </a:rPr>
              <a:pPr/>
              <a:t>‹#›</a:t>
            </a:fld>
            <a:endParaRPr lang="en-GB" dirty="0">
              <a:solidFill>
                <a:srgbClr val="1859A9"/>
              </a:solidFill>
            </a:endParaRPr>
          </a:p>
        </p:txBody>
      </p:sp>
    </p:spTree>
    <p:extLst>
      <p:ext uri="{BB962C8B-B14F-4D97-AF65-F5344CB8AC3E}">
        <p14:creationId xmlns:p14="http://schemas.microsoft.com/office/powerpoint/2010/main" val="4990212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hf hdr="0" dt="0"/>
  <p:txStyles>
    <p:titleStyle>
      <a:lvl1pPr algn="l" defTabSz="914400" rtl="0" eaLnBrk="1" latinLnBrk="0" hangingPunct="1">
        <a:lnSpc>
          <a:spcPct val="80000"/>
        </a:lnSpc>
        <a:spcBef>
          <a:spcPct val="0"/>
        </a:spcBef>
        <a:buNone/>
        <a:defRPr sz="4400" b="1" kern="1200" cap="all"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800"/>
        </a:spcBef>
        <a:buFont typeface="Arial" panose="020B0604020202020204" pitchFamily="34" charset="0"/>
        <a:buNone/>
        <a:defRPr sz="1600" kern="1200">
          <a:solidFill>
            <a:schemeClr val="accent4"/>
          </a:solidFill>
          <a:latin typeface="+mn-lt"/>
          <a:ea typeface="+mn-ea"/>
          <a:cs typeface="+mn-cs"/>
        </a:defRPr>
      </a:lvl1pPr>
      <a:lvl2pPr marL="1692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2pPr>
      <a:lvl3pPr marL="3384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3pPr>
      <a:lvl4pPr marL="5076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4pPr>
      <a:lvl5pPr marL="6768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597">
          <p15:clr>
            <a:srgbClr val="F26B43"/>
          </p15:clr>
        </p15:guide>
        <p15:guide id="4" orient="horz" pos="278">
          <p15:clr>
            <a:srgbClr val="F26B43"/>
          </p15:clr>
        </p15:guide>
        <p15:guide id="5" orient="horz" pos="1298">
          <p15:clr>
            <a:srgbClr val="F26B43"/>
          </p15:clr>
        </p15:guide>
        <p15:guide id="6" pos="722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notesSlide" Target="../notesSlides/notesSlide2.xml"/><Relationship Id="rId4"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8.xml"/><Relationship Id="rId1" Type="http://schemas.openxmlformats.org/officeDocument/2006/relationships/tags" Target="../tags/tag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tags" Target="../tags/tag27.xml"/><Relationship Id="rId3" Type="http://schemas.openxmlformats.org/officeDocument/2006/relationships/tags" Target="../tags/tag12.xml"/><Relationship Id="rId21" Type="http://schemas.openxmlformats.org/officeDocument/2006/relationships/image" Target="../media/image8.emf"/><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tags" Target="../tags/tag26.xm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7.emf"/><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5" Type="http://schemas.openxmlformats.org/officeDocument/2006/relationships/tags" Target="../tags/tag14.xml"/><Relationship Id="rId15" Type="http://schemas.openxmlformats.org/officeDocument/2006/relationships/tags" Target="../tags/tag24.xml"/><Relationship Id="rId10" Type="http://schemas.openxmlformats.org/officeDocument/2006/relationships/tags" Target="../tags/tag19.xml"/><Relationship Id="rId19" Type="http://schemas.openxmlformats.org/officeDocument/2006/relationships/slideLayout" Target="../slideLayouts/slideLayout18.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s>
</file>

<file path=ppt/slides/_rels/slide12.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ags" Target="../tags/tag36.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slideLayout" Target="../slideLayouts/slideLayout18.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tags" Target="../tags/tag43.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tags" Target="../tags/tag61.xml"/><Relationship Id="rId3" Type="http://schemas.openxmlformats.org/officeDocument/2006/relationships/tags" Target="../tags/tag46.xml"/><Relationship Id="rId21" Type="http://schemas.openxmlformats.org/officeDocument/2006/relationships/chart" Target="../charts/chart6.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chart" Target="../charts/chart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tags" Target="../tags/tag58.xml"/><Relationship Id="rId10" Type="http://schemas.openxmlformats.org/officeDocument/2006/relationships/tags" Target="../tags/tag53.xml"/><Relationship Id="rId19" Type="http://schemas.openxmlformats.org/officeDocument/2006/relationships/slideLayout" Target="../slideLayouts/slideLayout18.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3" Type="http://schemas.openxmlformats.org/officeDocument/2006/relationships/tags" Target="../tags/tag74.xml"/><Relationship Id="rId18" Type="http://schemas.openxmlformats.org/officeDocument/2006/relationships/tags" Target="../tags/tag79.xml"/><Relationship Id="rId26" Type="http://schemas.openxmlformats.org/officeDocument/2006/relationships/tags" Target="../tags/tag87.xml"/><Relationship Id="rId3" Type="http://schemas.openxmlformats.org/officeDocument/2006/relationships/tags" Target="../tags/tag64.xml"/><Relationship Id="rId21" Type="http://schemas.openxmlformats.org/officeDocument/2006/relationships/tags" Target="../tags/tag82.xml"/><Relationship Id="rId34" Type="http://schemas.openxmlformats.org/officeDocument/2006/relationships/tags" Target="../tags/tag95.xml"/><Relationship Id="rId7" Type="http://schemas.openxmlformats.org/officeDocument/2006/relationships/tags" Target="../tags/tag68.xml"/><Relationship Id="rId12" Type="http://schemas.openxmlformats.org/officeDocument/2006/relationships/tags" Target="../tags/tag73.xml"/><Relationship Id="rId17" Type="http://schemas.openxmlformats.org/officeDocument/2006/relationships/tags" Target="../tags/tag78.xml"/><Relationship Id="rId25" Type="http://schemas.openxmlformats.org/officeDocument/2006/relationships/tags" Target="../tags/tag86.xml"/><Relationship Id="rId33" Type="http://schemas.openxmlformats.org/officeDocument/2006/relationships/tags" Target="../tags/tag94.xml"/><Relationship Id="rId2" Type="http://schemas.openxmlformats.org/officeDocument/2006/relationships/tags" Target="../tags/tag63.xml"/><Relationship Id="rId16" Type="http://schemas.openxmlformats.org/officeDocument/2006/relationships/tags" Target="../tags/tag77.xml"/><Relationship Id="rId20" Type="http://schemas.openxmlformats.org/officeDocument/2006/relationships/tags" Target="../tags/tag81.xml"/><Relationship Id="rId29" Type="http://schemas.openxmlformats.org/officeDocument/2006/relationships/tags" Target="../tags/tag90.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24" Type="http://schemas.openxmlformats.org/officeDocument/2006/relationships/tags" Target="../tags/tag85.xml"/><Relationship Id="rId32" Type="http://schemas.openxmlformats.org/officeDocument/2006/relationships/tags" Target="../tags/tag93.xml"/><Relationship Id="rId5" Type="http://schemas.openxmlformats.org/officeDocument/2006/relationships/tags" Target="../tags/tag66.xml"/><Relationship Id="rId15" Type="http://schemas.openxmlformats.org/officeDocument/2006/relationships/tags" Target="../tags/tag76.xml"/><Relationship Id="rId23" Type="http://schemas.openxmlformats.org/officeDocument/2006/relationships/tags" Target="../tags/tag84.xml"/><Relationship Id="rId28" Type="http://schemas.openxmlformats.org/officeDocument/2006/relationships/tags" Target="../tags/tag89.xml"/><Relationship Id="rId36" Type="http://schemas.openxmlformats.org/officeDocument/2006/relationships/notesSlide" Target="../notesSlides/notesSlide10.xml"/><Relationship Id="rId10" Type="http://schemas.openxmlformats.org/officeDocument/2006/relationships/tags" Target="../tags/tag71.xml"/><Relationship Id="rId19" Type="http://schemas.openxmlformats.org/officeDocument/2006/relationships/tags" Target="../tags/tag80.xml"/><Relationship Id="rId31" Type="http://schemas.openxmlformats.org/officeDocument/2006/relationships/tags" Target="../tags/tag92.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 Id="rId22" Type="http://schemas.openxmlformats.org/officeDocument/2006/relationships/tags" Target="../tags/tag83.xml"/><Relationship Id="rId27" Type="http://schemas.openxmlformats.org/officeDocument/2006/relationships/tags" Target="../tags/tag88.xml"/><Relationship Id="rId30" Type="http://schemas.openxmlformats.org/officeDocument/2006/relationships/tags" Target="../tags/tag91.xml"/><Relationship Id="rId35" Type="http://schemas.openxmlformats.org/officeDocument/2006/relationships/slideLayout" Target="../slideLayouts/slideLayout18.xml"/><Relationship Id="rId8" Type="http://schemas.openxmlformats.org/officeDocument/2006/relationships/tags" Target="../tags/tag6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ags" Target="../tags/tag96.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chart" Target="../charts/chart12.xml"/></Relationships>
</file>

<file path=ppt/slides/_rels/slide4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7737" y="2420938"/>
            <a:ext cx="10748077" cy="2418262"/>
          </a:xfrm>
        </p:spPr>
        <p:txBody>
          <a:bodyPr/>
          <a:lstStyle/>
          <a:p>
            <a:r>
              <a:rPr lang="en-US" sz="3200" dirty="0"/>
              <a:t>Client distribution – IT Division</a:t>
            </a:r>
            <a:br>
              <a:rPr lang="en-US" sz="3200" dirty="0"/>
            </a:br>
            <a:br>
              <a:rPr lang="en-US" sz="5400" dirty="0"/>
            </a:br>
            <a:r>
              <a:rPr lang="en-US" sz="4400" dirty="0"/>
              <a:t>technology strategy (2019-2020)</a:t>
            </a:r>
            <a:endParaRPr lang="en-US" sz="2800" dirty="0"/>
          </a:p>
        </p:txBody>
      </p:sp>
      <p:sp>
        <p:nvSpPr>
          <p:cNvPr id="3" name="Subtitle 2"/>
          <p:cNvSpPr>
            <a:spLocks noGrp="1"/>
          </p:cNvSpPr>
          <p:nvPr>
            <p:ph type="subTitle" idx="1"/>
          </p:nvPr>
        </p:nvSpPr>
        <p:spPr/>
        <p:txBody>
          <a:bodyPr/>
          <a:lstStyle/>
          <a:p>
            <a:fld id="{FCCB8559-438F-4EA5-800E-302DCDB3C49A}" type="datetime2">
              <a:rPr lang="en-US" smtClean="0"/>
              <a:t>Thursday, February 26, 2026</a:t>
            </a:fld>
            <a:endParaRPr lang="en-US" dirty="0"/>
          </a:p>
        </p:txBody>
      </p:sp>
    </p:spTree>
    <p:extLst>
      <p:ext uri="{BB962C8B-B14F-4D97-AF65-F5344CB8AC3E}">
        <p14:creationId xmlns:p14="http://schemas.microsoft.com/office/powerpoint/2010/main" val="147835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extLst>
              <p:ext uri="{D42A27DB-BD31-4B8C-83A1-F6EECF244321}">
                <p14:modId xmlns:p14="http://schemas.microsoft.com/office/powerpoint/2010/main" val="158858365"/>
              </p:ext>
            </p:extLst>
          </p:nvPr>
        </p:nvGraphicFramePr>
        <p:xfrm>
          <a:off x="1525191" y="859780"/>
          <a:ext cx="1190" cy="1190"/>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25191" y="859780"/>
                        <a:ext cx="1190" cy="1190"/>
                      </a:xfrm>
                      <a:prstGeom prst="rect">
                        <a:avLst/>
                      </a:prstGeom>
                    </p:spPr>
                  </p:pic>
                </p:oleObj>
              </mc:Fallback>
            </mc:AlternateContent>
          </a:graphicData>
        </a:graphic>
      </p:graphicFrame>
      <p:sp>
        <p:nvSpPr>
          <p:cNvPr id="8" name="Rectangle 7"/>
          <p:cNvSpPr/>
          <p:nvPr/>
        </p:nvSpPr>
        <p:spPr>
          <a:xfrm>
            <a:off x="983432" y="908720"/>
            <a:ext cx="5764673" cy="5178689"/>
          </a:xfrm>
          <a:prstGeom prst="rect">
            <a:avLst/>
          </a:prstGeom>
          <a:solidFill>
            <a:srgbClr val="646464">
              <a:alpha val="5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5" name="Oval 4"/>
          <p:cNvSpPr/>
          <p:nvPr/>
        </p:nvSpPr>
        <p:spPr>
          <a:xfrm>
            <a:off x="624412" y="1288603"/>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26" name="Oval 25"/>
          <p:cNvSpPr/>
          <p:nvPr/>
        </p:nvSpPr>
        <p:spPr>
          <a:xfrm>
            <a:off x="624412" y="2208392"/>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6" name="Oval 5"/>
          <p:cNvSpPr/>
          <p:nvPr/>
        </p:nvSpPr>
        <p:spPr>
          <a:xfrm>
            <a:off x="624412" y="3128181"/>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17" name="Oval 16"/>
          <p:cNvSpPr/>
          <p:nvPr/>
        </p:nvSpPr>
        <p:spPr>
          <a:xfrm>
            <a:off x="624412" y="4047970"/>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7" name="Oval 6"/>
          <p:cNvSpPr/>
          <p:nvPr/>
        </p:nvSpPr>
        <p:spPr>
          <a:xfrm>
            <a:off x="624412" y="4967759"/>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grpSp>
        <p:nvGrpSpPr>
          <p:cNvPr id="4" name="Group 3"/>
          <p:cNvGrpSpPr/>
          <p:nvPr/>
        </p:nvGrpSpPr>
        <p:grpSpPr>
          <a:xfrm>
            <a:off x="2363215" y="1368001"/>
            <a:ext cx="107944" cy="566705"/>
            <a:chOff x="6348787" y="589394"/>
            <a:chExt cx="144000" cy="756000"/>
          </a:xfrm>
          <a:solidFill>
            <a:srgbClr val="1859A9"/>
          </a:solidFill>
        </p:grpSpPr>
        <p:cxnSp>
          <p:nvCxnSpPr>
            <p:cNvPr id="18" name="Straight Connector 17"/>
            <p:cNvCxnSpPr/>
            <p:nvPr/>
          </p:nvCxnSpPr>
          <p:spPr>
            <a:xfrm>
              <a:off x="6420787" y="589394"/>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348787" y="895394"/>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2" name="Group 11"/>
          <p:cNvGrpSpPr/>
          <p:nvPr/>
        </p:nvGrpSpPr>
        <p:grpSpPr>
          <a:xfrm>
            <a:off x="2363215" y="2287790"/>
            <a:ext cx="107944" cy="566705"/>
            <a:chOff x="6348787" y="1804920"/>
            <a:chExt cx="144000" cy="756000"/>
          </a:xfrm>
          <a:solidFill>
            <a:srgbClr val="1859A9"/>
          </a:solidFill>
        </p:grpSpPr>
        <p:cxnSp>
          <p:nvCxnSpPr>
            <p:cNvPr id="49" name="Straight Connector 48"/>
            <p:cNvCxnSpPr/>
            <p:nvPr/>
          </p:nvCxnSpPr>
          <p:spPr>
            <a:xfrm>
              <a:off x="6420787" y="180492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6348787" y="211092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3" name="Group 12"/>
          <p:cNvGrpSpPr/>
          <p:nvPr/>
        </p:nvGrpSpPr>
        <p:grpSpPr>
          <a:xfrm>
            <a:off x="2363215" y="3207579"/>
            <a:ext cx="107944" cy="566705"/>
            <a:chOff x="6348787" y="2943916"/>
            <a:chExt cx="144000" cy="756000"/>
          </a:xfrm>
          <a:solidFill>
            <a:srgbClr val="1859A9"/>
          </a:solidFill>
        </p:grpSpPr>
        <p:cxnSp>
          <p:nvCxnSpPr>
            <p:cNvPr id="52" name="Straight Connector 51"/>
            <p:cNvCxnSpPr/>
            <p:nvPr/>
          </p:nvCxnSpPr>
          <p:spPr>
            <a:xfrm>
              <a:off x="6420787" y="2943916"/>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6348787" y="3249916"/>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4" name="Group 13"/>
          <p:cNvGrpSpPr/>
          <p:nvPr/>
        </p:nvGrpSpPr>
        <p:grpSpPr>
          <a:xfrm>
            <a:off x="2363215" y="4127368"/>
            <a:ext cx="107944" cy="566705"/>
            <a:chOff x="6348787" y="4243830"/>
            <a:chExt cx="144000" cy="756000"/>
          </a:xfrm>
          <a:solidFill>
            <a:srgbClr val="1859A9"/>
          </a:solidFill>
        </p:grpSpPr>
        <p:cxnSp>
          <p:nvCxnSpPr>
            <p:cNvPr id="55" name="Straight Connector 54"/>
            <p:cNvCxnSpPr/>
            <p:nvPr/>
          </p:nvCxnSpPr>
          <p:spPr>
            <a:xfrm>
              <a:off x="6420787" y="424383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6348787" y="454983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5" name="Group 14"/>
          <p:cNvGrpSpPr/>
          <p:nvPr/>
        </p:nvGrpSpPr>
        <p:grpSpPr>
          <a:xfrm>
            <a:off x="2363215" y="5047157"/>
            <a:ext cx="107944" cy="566705"/>
            <a:chOff x="6348787" y="5496138"/>
            <a:chExt cx="144000" cy="756000"/>
          </a:xfrm>
          <a:solidFill>
            <a:srgbClr val="1859A9"/>
          </a:solidFill>
        </p:grpSpPr>
        <p:cxnSp>
          <p:nvCxnSpPr>
            <p:cNvPr id="58" name="Straight Connector 57"/>
            <p:cNvCxnSpPr/>
            <p:nvPr/>
          </p:nvCxnSpPr>
          <p:spPr>
            <a:xfrm>
              <a:off x="6420787" y="5496138"/>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6348787" y="5802138"/>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aphicFrame>
        <p:nvGraphicFramePr>
          <p:cNvPr id="44" name="AgendaTable"/>
          <p:cNvGraphicFramePr>
            <a:graphicFrameLocks noGrp="1"/>
          </p:cNvGraphicFramePr>
          <p:nvPr>
            <p:extLst>
              <p:ext uri="{D42A27DB-BD31-4B8C-83A1-F6EECF244321}">
                <p14:modId xmlns:p14="http://schemas.microsoft.com/office/powerpoint/2010/main" val="1560892943"/>
              </p:ext>
            </p:extLst>
          </p:nvPr>
        </p:nvGraphicFramePr>
        <p:xfrm>
          <a:off x="1564665" y="1199166"/>
          <a:ext cx="4524401" cy="4606965"/>
        </p:xfrm>
        <a:graphic>
          <a:graphicData uri="http://schemas.openxmlformats.org/drawingml/2006/table">
            <a:tbl>
              <a:tblPr bandRow="1">
                <a:tableStyleId>{5C22544A-7EE6-4342-B048-85BDC9FD1C3A}</a:tableStyleId>
              </a:tblPr>
              <a:tblGrid>
                <a:gridCol w="767425">
                  <a:extLst>
                    <a:ext uri="{9D8B030D-6E8A-4147-A177-3AD203B41FA5}">
                      <a16:colId xmlns:a16="http://schemas.microsoft.com/office/drawing/2014/main" val="20000"/>
                    </a:ext>
                  </a:extLst>
                </a:gridCol>
                <a:gridCol w="3756976">
                  <a:extLst>
                    <a:ext uri="{9D8B030D-6E8A-4147-A177-3AD203B41FA5}">
                      <a16:colId xmlns:a16="http://schemas.microsoft.com/office/drawing/2014/main" val="20001"/>
                    </a:ext>
                  </a:extLst>
                </a:gridCol>
              </a:tblGrid>
              <a:tr h="921393">
                <a:tc>
                  <a:txBody>
                    <a:bodyPr/>
                    <a:lstStyle/>
                    <a:p>
                      <a:pPr algn="ctr"/>
                      <a:r>
                        <a:rPr lang="en-US" sz="2700" b="1" kern="1200" dirty="0">
                          <a:solidFill>
                            <a:srgbClr val="FFFFFF"/>
                          </a:solidFill>
                          <a:latin typeface="+mn-lt"/>
                          <a:ea typeface="+mn-ea"/>
                          <a:cs typeface="+mn-cs"/>
                        </a:rPr>
                        <a:t>01</a:t>
                      </a:r>
                    </a:p>
                  </a:txBody>
                  <a:tcPr marL="68580" marR="68580" marT="34290" marB="34290" anchor="ctr">
                    <a:lnL w="12700" cap="flat" cmpd="sng" algn="ctr">
                      <a:solidFill>
                        <a:schemeClr val="accent2"/>
                      </a:solidFill>
                      <a:prstDash val="solid"/>
                      <a:round/>
                      <a:headEnd type="none" w="med" len="med"/>
                      <a:tailEnd type="none" w="med" len="med"/>
                    </a:lnL>
                    <a:lnR w="12700" cmpd="sng">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Executive</a:t>
                      </a:r>
                      <a:r>
                        <a:rPr lang="en-US" sz="1300" b="1" kern="1200" baseline="0" dirty="0">
                          <a:solidFill>
                            <a:srgbClr val="FFFFFF"/>
                          </a:solidFill>
                          <a:latin typeface="+mn-lt"/>
                          <a:ea typeface="+mn-ea"/>
                          <a:cs typeface="+mn-cs"/>
                        </a:rPr>
                        <a:t> Summary</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21393">
                <a:tc>
                  <a:txBody>
                    <a:bodyPr/>
                    <a:lstStyle/>
                    <a:p>
                      <a:pPr algn="ctr"/>
                      <a:r>
                        <a:rPr lang="en-US" sz="2700" b="1" kern="1200">
                          <a:solidFill>
                            <a:srgbClr val="FFFFFF"/>
                          </a:solidFill>
                          <a:latin typeface="+mn-lt"/>
                          <a:ea typeface="+mn-ea"/>
                          <a:cs typeface="+mn-cs"/>
                        </a:rPr>
                        <a:t>02</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Ou</a:t>
                      </a:r>
                      <a:r>
                        <a:rPr lang="en-US" sz="1300" b="1" kern="1200" baseline="0" dirty="0">
                          <a:solidFill>
                            <a:srgbClr val="FFFFFF"/>
                          </a:solidFill>
                          <a:latin typeface="+mn-lt"/>
                          <a:ea typeface="+mn-ea"/>
                          <a:cs typeface="+mn-cs"/>
                        </a:rPr>
                        <a:t>r Approach &amp; Scope</a:t>
                      </a:r>
                      <a:endParaRPr lang="en-US" sz="1300" b="1" kern="1200" dirty="0">
                        <a:solidFill>
                          <a:srgbClr val="FFFFFF"/>
                        </a:solidFill>
                        <a:latin typeface="+mn-lt"/>
                        <a:ea typeface="+mn-ea"/>
                        <a:cs typeface="+mn-cs"/>
                      </a:endParaRP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21393">
                <a:tc>
                  <a:txBody>
                    <a:bodyPr/>
                    <a:lstStyle/>
                    <a:p>
                      <a:pPr algn="ctr"/>
                      <a:r>
                        <a:rPr lang="en-US" sz="2700" b="1" kern="1200">
                          <a:solidFill>
                            <a:srgbClr val="FFFFFF"/>
                          </a:solidFill>
                          <a:latin typeface="+mn-lt"/>
                          <a:ea typeface="+mn-ea"/>
                          <a:cs typeface="+mn-cs"/>
                        </a:rPr>
                        <a:t>03</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Our Vision &amp; Mission</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21393">
                <a:tc>
                  <a:txBody>
                    <a:bodyPr/>
                    <a:lstStyle/>
                    <a:p>
                      <a:pPr algn="ctr"/>
                      <a:r>
                        <a:rPr lang="en-US" sz="2700" b="1" kern="1200" dirty="0">
                          <a:solidFill>
                            <a:srgbClr val="FFFFFF"/>
                          </a:solidFill>
                          <a:latin typeface="+mn-lt"/>
                          <a:ea typeface="+mn-ea"/>
                          <a:cs typeface="+mn-cs"/>
                        </a:rPr>
                        <a:t>04</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Takeaway from Surveys &amp; Interviews</a:t>
                      </a:r>
                    </a:p>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endParaRPr lang="en-US" sz="1300" b="1" kern="1200" dirty="0">
                        <a:solidFill>
                          <a:srgbClr val="FFFFFF"/>
                        </a:solidFill>
                        <a:latin typeface="+mn-lt"/>
                        <a:ea typeface="+mn-ea"/>
                        <a:cs typeface="+mn-cs"/>
                      </a:endParaRP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21393">
                <a:tc>
                  <a:txBody>
                    <a:bodyPr/>
                    <a:lstStyle/>
                    <a:p>
                      <a:pPr marL="0" algn="ctr" defTabSz="914400" rtl="0" eaLnBrk="1" latinLnBrk="0" hangingPunct="1">
                        <a:lnSpc>
                          <a:spcPct val="85000"/>
                        </a:lnSpc>
                        <a:spcAft>
                          <a:spcPts val="600"/>
                        </a:spcAft>
                        <a:buClr>
                          <a:schemeClr val="accent2"/>
                        </a:buClr>
                        <a:buSzPct val="70000"/>
                      </a:pPr>
                      <a:r>
                        <a:rPr lang="en-US" sz="2700" b="1" kern="1200" dirty="0">
                          <a:solidFill>
                            <a:srgbClr val="FFFFFF"/>
                          </a:solidFill>
                          <a:latin typeface="+mn-lt"/>
                          <a:ea typeface="+mn-ea"/>
                          <a:cs typeface="+mn-cs"/>
                        </a:rPr>
                        <a:t>05</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Key Initiatives</a:t>
                      </a:r>
                      <a:r>
                        <a:rPr lang="en-US" sz="1300" b="1" kern="1200" baseline="0" dirty="0">
                          <a:solidFill>
                            <a:srgbClr val="FFFFFF"/>
                          </a:solidFill>
                          <a:latin typeface="+mn-lt"/>
                          <a:ea typeface="+mn-ea"/>
                          <a:cs typeface="+mn-cs"/>
                        </a:rPr>
                        <a:t> &amp; </a:t>
                      </a:r>
                      <a:r>
                        <a:rPr lang="en-US" sz="1300" b="1" kern="1200" dirty="0">
                          <a:solidFill>
                            <a:srgbClr val="FFFFFF"/>
                          </a:solidFill>
                          <a:latin typeface="+mn-lt"/>
                          <a:ea typeface="+mn-ea"/>
                          <a:cs typeface="+mn-cs"/>
                        </a:rPr>
                        <a:t>Roadmap</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 name="SlideType:Agenda" hidden="1"/>
          <p:cNvSpPr/>
          <p:nvPr/>
        </p:nvSpPr>
        <p:spPr>
          <a:xfrm>
            <a:off x="1524000" y="857250"/>
            <a:ext cx="0" cy="0"/>
          </a:xfrm>
          <a:prstGeom prst="rect">
            <a:avLst/>
          </a:prstGeom>
          <a:pattFill prst="pct5">
            <a:fgClr>
              <a:srgbClr val="FFFFFF">
                <a:alpha val="0"/>
              </a:srgbClr>
            </a:fgClr>
            <a:bgClr>
              <a:srgbClr val="FFFFFF">
                <a:alpha val="0"/>
              </a:srgbClr>
            </a:bgClr>
          </a:pattFill>
          <a:ln w="9525" cap="flat" cmpd="sng" algn="ctr">
            <a:solidFill>
              <a:srgbClr val="FFFFFF">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900" dirty="0">
              <a:solidFill>
                <a:srgbClr val="646464"/>
              </a:solidFill>
            </a:endParaRPr>
          </a:p>
        </p:txBody>
      </p:sp>
    </p:spTree>
    <p:extLst>
      <p:ext uri="{BB962C8B-B14F-4D97-AF65-F5344CB8AC3E}">
        <p14:creationId xmlns:p14="http://schemas.microsoft.com/office/powerpoint/2010/main" val="1264171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txBox="1">
            <a:spLocks/>
          </p:cNvSpPr>
          <p:nvPr/>
        </p:nvSpPr>
        <p:spPr>
          <a:xfrm>
            <a:off x="461772" y="467470"/>
            <a:ext cx="10298303" cy="1198808"/>
          </a:xfrm>
          <a:prstGeom prst="rect">
            <a:avLst/>
          </a:prstGeom>
        </p:spPr>
        <p:txBody>
          <a:bodyPr vert="horz" rIns="0" anchor="t">
            <a:noAutofit/>
          </a:bodyPr>
          <a:lstStyle>
            <a:lvl1pPr marL="0" indent="0" algn="l" defTabSz="914400" rtl="0" eaLnBrk="1" latinLnBrk="0" hangingPunct="1">
              <a:lnSpc>
                <a:spcPts val="2600"/>
              </a:lnSpc>
              <a:spcBef>
                <a:spcPts val="300"/>
              </a:spcBef>
              <a:buFont typeface="Arial" panose="020B0604020202020204" pitchFamily="34" charset="0"/>
              <a:buNone/>
              <a:defRPr sz="2400" b="0" i="0" kern="1200" cap="all" baseline="0">
                <a:solidFill>
                  <a:srgbClr val="0047BB"/>
                </a:solidFill>
                <a:latin typeface="Arial"/>
                <a:ea typeface="+mn-ea"/>
                <a:cs typeface="Arial"/>
              </a:defRPr>
            </a:lvl1pPr>
            <a:lvl2pPr marL="54424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2pPr>
            <a:lvl3pPr marL="1088493"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3pPr>
            <a:lvl4pPr marL="1632740"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4pPr>
            <a:lvl5pPr marL="217698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en-US" sz="2000" b="1" dirty="0">
              <a:solidFill>
                <a:srgbClr val="1946BA"/>
              </a:solidFill>
            </a:endParaRPr>
          </a:p>
        </p:txBody>
      </p:sp>
      <p:sp>
        <p:nvSpPr>
          <p:cNvPr id="25" name="Text Placeholder 1"/>
          <p:cNvSpPr txBox="1">
            <a:spLocks/>
          </p:cNvSpPr>
          <p:nvPr/>
        </p:nvSpPr>
        <p:spPr>
          <a:xfrm>
            <a:off x="481318" y="405728"/>
            <a:ext cx="10298303" cy="786156"/>
          </a:xfrm>
          <a:prstGeom prst="rect">
            <a:avLst/>
          </a:prstGeom>
        </p:spPr>
        <p:txBody>
          <a:bodyPr vert="horz" rIns="0" anchor="t">
            <a:noAutofit/>
          </a:bodyPr>
          <a:lstStyle>
            <a:lvl1pPr marL="0" indent="0" algn="l" defTabSz="914400" rtl="0" eaLnBrk="1" latinLnBrk="0" hangingPunct="1">
              <a:lnSpc>
                <a:spcPts val="2600"/>
              </a:lnSpc>
              <a:spcBef>
                <a:spcPts val="300"/>
              </a:spcBef>
              <a:buFont typeface="Arial" panose="020B0604020202020204" pitchFamily="34" charset="0"/>
              <a:buNone/>
              <a:defRPr sz="2400" b="0" i="0" kern="1200" cap="all" baseline="0">
                <a:solidFill>
                  <a:srgbClr val="0047BB"/>
                </a:solidFill>
                <a:latin typeface="Arial"/>
                <a:ea typeface="+mn-ea"/>
                <a:cs typeface="Arial"/>
              </a:defRPr>
            </a:lvl1pPr>
            <a:lvl2pPr marL="54424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2pPr>
            <a:lvl3pPr marL="1088493"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3pPr>
            <a:lvl4pPr marL="1632740"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4pPr>
            <a:lvl5pPr marL="217698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Bef>
                <a:spcPct val="0"/>
              </a:spcBef>
              <a:defRPr/>
            </a:pPr>
            <a:r>
              <a:rPr lang="en-US" sz="3200" b="1" dirty="0">
                <a:solidFill>
                  <a:schemeClr val="tx2"/>
                </a:solidFill>
              </a:rPr>
              <a:t>Introduction</a:t>
            </a:r>
          </a:p>
        </p:txBody>
      </p:sp>
      <p:sp>
        <p:nvSpPr>
          <p:cNvPr id="26" name="Content Placeholder 4"/>
          <p:cNvSpPr txBox="1">
            <a:spLocks/>
          </p:cNvSpPr>
          <p:nvPr/>
        </p:nvSpPr>
        <p:spPr>
          <a:xfrm>
            <a:off x="515492" y="1109976"/>
            <a:ext cx="10963531" cy="2757537"/>
          </a:xfrm>
          <a:prstGeom prst="rect">
            <a:avLst/>
          </a:prstGeom>
        </p:spPr>
        <p:txBody>
          <a:bodyPr>
            <a:noAutofit/>
          </a:bodyPr>
          <a:lstStyle>
            <a:lvl1pPr marL="0" indent="0" algn="l" defTabSz="914400" rtl="0" eaLnBrk="1" latinLnBrk="0" hangingPunct="1">
              <a:lnSpc>
                <a:spcPct val="100000"/>
              </a:lnSpc>
              <a:spcBef>
                <a:spcPts val="800"/>
              </a:spcBef>
              <a:buFont typeface="Arial" panose="020B0604020202020204" pitchFamily="34" charset="0"/>
              <a:buNone/>
              <a:defRPr sz="1600" kern="1200">
                <a:solidFill>
                  <a:schemeClr val="accent4"/>
                </a:solidFill>
                <a:latin typeface="+mn-lt"/>
                <a:ea typeface="+mn-ea"/>
                <a:cs typeface="+mn-cs"/>
              </a:defRPr>
            </a:lvl1pPr>
            <a:lvl2pPr marL="1692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2pPr>
            <a:lvl3pPr marL="3384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3pPr>
            <a:lvl4pPr marL="5076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4pPr>
            <a:lvl5pPr marL="6768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spcBef>
                <a:spcPts val="0"/>
              </a:spcBef>
            </a:pPr>
            <a:r>
              <a:rPr lang="en-AU" sz="1800" b="1" dirty="0"/>
              <a:t>Context</a:t>
            </a:r>
          </a:p>
          <a:p>
            <a:pPr>
              <a:lnSpc>
                <a:spcPct val="114000"/>
              </a:lnSpc>
              <a:spcBef>
                <a:spcPts val="0"/>
              </a:spcBef>
            </a:pPr>
            <a:r>
              <a:rPr lang="en-AU" sz="1400" dirty="0"/>
              <a:t>The pace of growth of Client Distribution [COMPANY] business environment necessitates the need for an efficient technology division that helps support and </a:t>
            </a:r>
            <a:r>
              <a:rPr lang="en-AU" sz="1400" dirty="0" err="1"/>
              <a:t>transfor</a:t>
            </a:r>
            <a:r>
              <a:rPr lang="en-AU" sz="1400" dirty="0"/>
              <a:t>[NAME] its growing business. This will in turn support [COMPANY] business strategy to </a:t>
            </a:r>
            <a:r>
              <a:rPr lang="en-US" sz="1400" dirty="0"/>
              <a:t>be a leading world-class fuels business and convenience retailer.</a:t>
            </a:r>
          </a:p>
          <a:p>
            <a:pPr>
              <a:lnSpc>
                <a:spcPct val="114000"/>
              </a:lnSpc>
              <a:spcBef>
                <a:spcPts val="0"/>
              </a:spcBef>
            </a:pPr>
            <a:endParaRPr lang="en-AU" sz="1400" dirty="0"/>
          </a:p>
          <a:p>
            <a:pPr>
              <a:lnSpc>
                <a:spcPct val="114000"/>
              </a:lnSpc>
              <a:spcBef>
                <a:spcPts val="0"/>
              </a:spcBef>
            </a:pPr>
            <a:r>
              <a:rPr lang="en-AU" sz="1400" dirty="0"/>
              <a:t>[COMPANY] Executive Leadership Team (ELT) acknowledges that technology plays an important role in defining its future </a:t>
            </a:r>
            <a:r>
              <a:rPr lang="en-US" sz="1400" dirty="0"/>
              <a:t>and hence, there is a need to develop a Technology Strategy which aligns with the business strategy and addresses business needs. This is to ensure that   the technology meets the expectations of the business and provides a cohesive approach to technology service delivery </a:t>
            </a:r>
            <a:r>
              <a:rPr lang="en-AU" sz="1400" dirty="0"/>
              <a:t>to</a:t>
            </a:r>
            <a:r>
              <a:rPr lang="en-US" sz="1400" dirty="0"/>
              <a:t> support the strategic objectives.</a:t>
            </a:r>
          </a:p>
          <a:p>
            <a:pPr>
              <a:lnSpc>
                <a:spcPct val="114000"/>
              </a:lnSpc>
              <a:spcBef>
                <a:spcPts val="0"/>
              </a:spcBef>
            </a:pPr>
            <a:endParaRPr lang="en-AU" sz="1400" dirty="0"/>
          </a:p>
        </p:txBody>
      </p:sp>
      <p:sp>
        <p:nvSpPr>
          <p:cNvPr id="28" name="Rectangle 27"/>
          <p:cNvSpPr/>
          <p:nvPr/>
        </p:nvSpPr>
        <p:spPr>
          <a:xfrm>
            <a:off x="506801" y="3209335"/>
            <a:ext cx="5185829" cy="1320233"/>
          </a:xfrm>
          <a:prstGeom prst="rect">
            <a:avLst/>
          </a:prstGeom>
        </p:spPr>
        <p:txBody>
          <a:bodyPr wrap="square">
            <a:spAutoFit/>
          </a:bodyPr>
          <a:lstStyle/>
          <a:p>
            <a:pPr lvl="0">
              <a:lnSpc>
                <a:spcPct val="114000"/>
              </a:lnSpc>
            </a:pPr>
            <a:endParaRPr lang="en-AU" sz="1400" dirty="0">
              <a:solidFill>
                <a:schemeClr val="accent4"/>
              </a:solidFill>
            </a:endParaRPr>
          </a:p>
          <a:p>
            <a:pPr lvl="0">
              <a:lnSpc>
                <a:spcPct val="114000"/>
              </a:lnSpc>
            </a:pPr>
            <a:endParaRPr lang="en-AU" sz="1400" dirty="0">
              <a:solidFill>
                <a:schemeClr val="accent4"/>
              </a:solidFill>
            </a:endParaRPr>
          </a:p>
          <a:p>
            <a:pPr lvl="0">
              <a:lnSpc>
                <a:spcPct val="114000"/>
              </a:lnSpc>
            </a:pPr>
            <a:r>
              <a:rPr lang="en-US" sz="1400" dirty="0">
                <a:solidFill>
                  <a:schemeClr val="accent4"/>
                </a:solidFill>
              </a:rPr>
              <a:t>We have defined three key themes to our technology strategy: </a:t>
            </a:r>
          </a:p>
          <a:p>
            <a:pPr lvl="0">
              <a:lnSpc>
                <a:spcPct val="114000"/>
              </a:lnSpc>
            </a:pPr>
            <a:endParaRPr lang="en-US" sz="1400" dirty="0">
              <a:solidFill>
                <a:schemeClr val="accent4"/>
              </a:solidFill>
            </a:endParaRPr>
          </a:p>
          <a:p>
            <a:pPr lvl="0">
              <a:lnSpc>
                <a:spcPct val="114000"/>
              </a:lnSpc>
            </a:pPr>
            <a:endParaRPr lang="en-US" sz="1400" dirty="0">
              <a:solidFill>
                <a:schemeClr val="accent4"/>
              </a:solidFill>
            </a:endParaRPr>
          </a:p>
        </p:txBody>
      </p:sp>
      <p:grpSp>
        <p:nvGrpSpPr>
          <p:cNvPr id="4" name="Group 3"/>
          <p:cNvGrpSpPr/>
          <p:nvPr/>
        </p:nvGrpSpPr>
        <p:grpSpPr>
          <a:xfrm>
            <a:off x="5692630" y="5184682"/>
            <a:ext cx="5822731" cy="1321216"/>
            <a:chOff x="5692630" y="4710116"/>
            <a:chExt cx="5822731" cy="1321216"/>
          </a:xfrm>
        </p:grpSpPr>
        <p:sp>
          <p:nvSpPr>
            <p:cNvPr id="50" name="Rectangle 2"/>
            <p:cNvSpPr>
              <a:spLocks noChangeArrowheads="1"/>
            </p:cNvSpPr>
            <p:nvPr>
              <p:custDataLst>
                <p:tags r:id="rId1"/>
              </p:custDataLst>
            </p:nvPr>
          </p:nvSpPr>
          <p:spPr bwMode="auto">
            <a:xfrm>
              <a:off x="5692630" y="5211186"/>
              <a:ext cx="5822731" cy="224541"/>
            </a:xfrm>
            <a:custGeom>
              <a:avLst/>
              <a:gdLst>
                <a:gd name="connsiteX0" fmla="*/ 0 w 9345764"/>
                <a:gd name="connsiteY0" fmla="*/ 0 h 563879"/>
                <a:gd name="connsiteX1" fmla="*/ 9345764 w 9345764"/>
                <a:gd name="connsiteY1" fmla="*/ 0 h 563879"/>
                <a:gd name="connsiteX2" fmla="*/ 9345764 w 9345764"/>
                <a:gd name="connsiteY2" fmla="*/ 563879 h 563879"/>
                <a:gd name="connsiteX3" fmla="*/ 0 w 9345764"/>
                <a:gd name="connsiteY3" fmla="*/ 563879 h 563879"/>
                <a:gd name="connsiteX4" fmla="*/ 0 w 9345764"/>
                <a:gd name="connsiteY4" fmla="*/ 0 h 563879"/>
                <a:gd name="connsiteX0" fmla="*/ 655320 w 9345764"/>
                <a:gd name="connsiteY0" fmla="*/ 76200 h 563879"/>
                <a:gd name="connsiteX1" fmla="*/ 9345764 w 9345764"/>
                <a:gd name="connsiteY1" fmla="*/ 0 h 563879"/>
                <a:gd name="connsiteX2" fmla="*/ 9345764 w 9345764"/>
                <a:gd name="connsiteY2" fmla="*/ 563879 h 563879"/>
                <a:gd name="connsiteX3" fmla="*/ 0 w 9345764"/>
                <a:gd name="connsiteY3" fmla="*/ 563879 h 563879"/>
                <a:gd name="connsiteX4" fmla="*/ 655320 w 9345764"/>
                <a:gd name="connsiteY4" fmla="*/ 76200 h 5638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655320 w 9345764"/>
                <a:gd name="connsiteY4"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28434 w 9345764"/>
                <a:gd name="connsiteY4" fmla="*/ 35052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144614 w 9345764"/>
                <a:gd name="connsiteY4" fmla="*/ 38100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05574 w 9345764"/>
                <a:gd name="connsiteY4" fmla="*/ 348615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05574 w 9345764"/>
                <a:gd name="connsiteY4" fmla="*/ 348615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18909 w 9345764"/>
                <a:gd name="connsiteY4" fmla="*/ 33909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17004 w 9345764"/>
                <a:gd name="connsiteY4" fmla="*/ 32766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17004 w 9345764"/>
                <a:gd name="connsiteY4" fmla="*/ 327660 h 525779"/>
                <a:gd name="connsiteX5" fmla="*/ 655320 w 9345764"/>
                <a:gd name="connsiteY5" fmla="*/ 38100 h 525779"/>
                <a:gd name="connsiteX0" fmla="*/ 655320 w 9345764"/>
                <a:gd name="connsiteY0" fmla="*/ 38100 h 525779"/>
                <a:gd name="connsiteX1" fmla="*/ 8713304 w 9345764"/>
                <a:gd name="connsiteY1" fmla="*/ 0 h 525779"/>
                <a:gd name="connsiteX2" fmla="*/ 9115259 w 9345764"/>
                <a:gd name="connsiteY2" fmla="*/ 333375 h 525779"/>
                <a:gd name="connsiteX3" fmla="*/ 9345764 w 9345764"/>
                <a:gd name="connsiteY3" fmla="*/ 525779 h 525779"/>
                <a:gd name="connsiteX4" fmla="*/ 0 w 9345764"/>
                <a:gd name="connsiteY4" fmla="*/ 525779 h 525779"/>
                <a:gd name="connsiteX5" fmla="*/ 217004 w 9345764"/>
                <a:gd name="connsiteY5" fmla="*/ 327660 h 525779"/>
                <a:gd name="connsiteX6" fmla="*/ 655320 w 9345764"/>
                <a:gd name="connsiteY6" fmla="*/ 38100 h 525779"/>
                <a:gd name="connsiteX0" fmla="*/ 655320 w 9345764"/>
                <a:gd name="connsiteY0" fmla="*/ 38100 h 525779"/>
                <a:gd name="connsiteX1" fmla="*/ 8713304 w 9345764"/>
                <a:gd name="connsiteY1" fmla="*/ 0 h 525779"/>
                <a:gd name="connsiteX2" fmla="*/ 9115259 w 9345764"/>
                <a:gd name="connsiteY2" fmla="*/ 333375 h 525779"/>
                <a:gd name="connsiteX3" fmla="*/ 9345764 w 9345764"/>
                <a:gd name="connsiteY3" fmla="*/ 525779 h 525779"/>
                <a:gd name="connsiteX4" fmla="*/ 0 w 9345764"/>
                <a:gd name="connsiteY4" fmla="*/ 525779 h 525779"/>
                <a:gd name="connsiteX5" fmla="*/ 217004 w 9345764"/>
                <a:gd name="connsiteY5" fmla="*/ 327660 h 525779"/>
                <a:gd name="connsiteX6" fmla="*/ 655320 w 9345764"/>
                <a:gd name="connsiteY6" fmla="*/ 38100 h 525779"/>
                <a:gd name="connsiteX0" fmla="*/ 655320 w 9345764"/>
                <a:gd name="connsiteY0" fmla="*/ 38100 h 525779"/>
                <a:gd name="connsiteX1" fmla="*/ 8713304 w 9345764"/>
                <a:gd name="connsiteY1" fmla="*/ 0 h 525779"/>
                <a:gd name="connsiteX2" fmla="*/ 9115259 w 9345764"/>
                <a:gd name="connsiteY2" fmla="*/ 333375 h 525779"/>
                <a:gd name="connsiteX3" fmla="*/ 9345764 w 9345764"/>
                <a:gd name="connsiteY3" fmla="*/ 525779 h 525779"/>
                <a:gd name="connsiteX4" fmla="*/ 0 w 9345764"/>
                <a:gd name="connsiteY4" fmla="*/ 525779 h 525779"/>
                <a:gd name="connsiteX5" fmla="*/ 217004 w 9345764"/>
                <a:gd name="connsiteY5" fmla="*/ 327660 h 525779"/>
                <a:gd name="connsiteX6" fmla="*/ 655320 w 9345764"/>
                <a:gd name="connsiteY6" fmla="*/ 38100 h 525779"/>
                <a:gd name="connsiteX0" fmla="*/ 655320 w 9353384"/>
                <a:gd name="connsiteY0" fmla="*/ 38100 h 525779"/>
                <a:gd name="connsiteX1" fmla="*/ 8713304 w 9353384"/>
                <a:gd name="connsiteY1" fmla="*/ 0 h 525779"/>
                <a:gd name="connsiteX2" fmla="*/ 9115259 w 9353384"/>
                <a:gd name="connsiteY2" fmla="*/ 333375 h 525779"/>
                <a:gd name="connsiteX3" fmla="*/ 9353384 w 9353384"/>
                <a:gd name="connsiteY3" fmla="*/ 525779 h 525779"/>
                <a:gd name="connsiteX4" fmla="*/ 0 w 9353384"/>
                <a:gd name="connsiteY4" fmla="*/ 525779 h 525779"/>
                <a:gd name="connsiteX5" fmla="*/ 217004 w 9353384"/>
                <a:gd name="connsiteY5" fmla="*/ 327660 h 525779"/>
                <a:gd name="connsiteX6" fmla="*/ 655320 w 9353384"/>
                <a:gd name="connsiteY6" fmla="*/ 38100 h 525779"/>
                <a:gd name="connsiteX0" fmla="*/ 655320 w 9353384"/>
                <a:gd name="connsiteY0" fmla="*/ 38100 h 525779"/>
                <a:gd name="connsiteX1" fmla="*/ 8713304 w 9353384"/>
                <a:gd name="connsiteY1" fmla="*/ 0 h 525779"/>
                <a:gd name="connsiteX2" fmla="*/ 9141929 w 9353384"/>
                <a:gd name="connsiteY2" fmla="*/ 339090 h 525779"/>
                <a:gd name="connsiteX3" fmla="*/ 9353384 w 9353384"/>
                <a:gd name="connsiteY3" fmla="*/ 525779 h 525779"/>
                <a:gd name="connsiteX4" fmla="*/ 0 w 9353384"/>
                <a:gd name="connsiteY4" fmla="*/ 525779 h 525779"/>
                <a:gd name="connsiteX5" fmla="*/ 217004 w 9353384"/>
                <a:gd name="connsiteY5" fmla="*/ 327660 h 525779"/>
                <a:gd name="connsiteX6" fmla="*/ 655320 w 9353384"/>
                <a:gd name="connsiteY6" fmla="*/ 38100 h 525779"/>
                <a:gd name="connsiteX0" fmla="*/ 655320 w 9353384"/>
                <a:gd name="connsiteY0" fmla="*/ 38100 h 525779"/>
                <a:gd name="connsiteX1" fmla="*/ 8713304 w 9353384"/>
                <a:gd name="connsiteY1" fmla="*/ 0 h 525779"/>
                <a:gd name="connsiteX2" fmla="*/ 9141929 w 9353384"/>
                <a:gd name="connsiteY2" fmla="*/ 339090 h 525779"/>
                <a:gd name="connsiteX3" fmla="*/ 9353384 w 9353384"/>
                <a:gd name="connsiteY3" fmla="*/ 525779 h 525779"/>
                <a:gd name="connsiteX4" fmla="*/ 0 w 9353384"/>
                <a:gd name="connsiteY4" fmla="*/ 525779 h 525779"/>
                <a:gd name="connsiteX5" fmla="*/ 217004 w 9353384"/>
                <a:gd name="connsiteY5" fmla="*/ 327660 h 525779"/>
                <a:gd name="connsiteX6" fmla="*/ 655320 w 9353384"/>
                <a:gd name="connsiteY6" fmla="*/ 38100 h 525779"/>
                <a:gd name="connsiteX0" fmla="*/ 634936 w 9353384"/>
                <a:gd name="connsiteY0" fmla="*/ 23928 h 525779"/>
                <a:gd name="connsiteX1" fmla="*/ 8713304 w 9353384"/>
                <a:gd name="connsiteY1" fmla="*/ 0 h 525779"/>
                <a:gd name="connsiteX2" fmla="*/ 9141929 w 9353384"/>
                <a:gd name="connsiteY2" fmla="*/ 339090 h 525779"/>
                <a:gd name="connsiteX3" fmla="*/ 9353384 w 9353384"/>
                <a:gd name="connsiteY3" fmla="*/ 525779 h 525779"/>
                <a:gd name="connsiteX4" fmla="*/ 0 w 9353384"/>
                <a:gd name="connsiteY4" fmla="*/ 525779 h 525779"/>
                <a:gd name="connsiteX5" fmla="*/ 217004 w 9353384"/>
                <a:gd name="connsiteY5" fmla="*/ 327660 h 525779"/>
                <a:gd name="connsiteX6" fmla="*/ 634936 w 9353384"/>
                <a:gd name="connsiteY6" fmla="*/ 23928 h 525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53384" h="525779">
                  <a:moveTo>
                    <a:pt x="634936" y="23928"/>
                  </a:moveTo>
                  <a:lnTo>
                    <a:pt x="8713304" y="0"/>
                  </a:lnTo>
                  <a:lnTo>
                    <a:pt x="9141929" y="339090"/>
                  </a:lnTo>
                  <a:cubicBezTo>
                    <a:pt x="9293059" y="344170"/>
                    <a:pt x="9337509" y="433069"/>
                    <a:pt x="9353384" y="525779"/>
                  </a:cubicBezTo>
                  <a:lnTo>
                    <a:pt x="0" y="525779"/>
                  </a:lnTo>
                  <a:cubicBezTo>
                    <a:pt x="13280" y="451484"/>
                    <a:pt x="77994" y="327660"/>
                    <a:pt x="217004" y="327660"/>
                  </a:cubicBezTo>
                  <a:lnTo>
                    <a:pt x="634936" y="23928"/>
                  </a:lnTo>
                  <a:close/>
                </a:path>
              </a:pathLst>
            </a:custGeom>
            <a:solidFill>
              <a:schemeClr val="accent6">
                <a:lumMod val="40000"/>
                <a:lumOff val="60000"/>
              </a:schemeClr>
            </a:solidFill>
            <a:ln>
              <a:noFill/>
            </a:ln>
            <a:effectLst/>
          </p:spPr>
          <p:txBody>
            <a:bodyPr anchor="t"/>
            <a:lstStyle/>
            <a:p>
              <a:pPr marL="0" marR="0" lvl="0" indent="0" algn="ctr" defTabSz="914400" eaLnBrk="0" fontAlgn="base" latinLnBrk="0" hangingPunct="0">
                <a:lnSpc>
                  <a:spcPct val="100000"/>
                </a:lnSpc>
                <a:spcBef>
                  <a:spcPct val="0"/>
                </a:spcBef>
                <a:spcAft>
                  <a:spcPct val="0"/>
                </a:spcAft>
                <a:buClr>
                  <a:srgbClr val="000000"/>
                </a:buClr>
                <a:buSzTx/>
                <a:buFont typeface="Wingdings" pitchFamily="2" charset="2"/>
                <a:buNone/>
                <a:tabLst/>
                <a:defRPr/>
              </a:pPr>
              <a:endParaRPr kumimoji="0" lang="en-US" sz="300" b="1" i="0" u="none" strike="noStrike" kern="0" cap="none" spc="0" normalizeH="0" baseline="0" noProof="0" dirty="0">
                <a:ln>
                  <a:noFill/>
                </a:ln>
                <a:solidFill>
                  <a:srgbClr val="FFFFFF"/>
                </a:solidFill>
                <a:effectLst/>
                <a:uLnTx/>
                <a:uFillTx/>
                <a:latin typeface="+mj-lt"/>
              </a:endParaRPr>
            </a:p>
          </p:txBody>
        </p:sp>
        <p:sp>
          <p:nvSpPr>
            <p:cNvPr id="51" name="Rounded Rectangle 50"/>
            <p:cNvSpPr/>
            <p:nvPr>
              <p:custDataLst>
                <p:tags r:id="rId2"/>
              </p:custDataLst>
            </p:nvPr>
          </p:nvSpPr>
          <p:spPr bwMode="auto">
            <a:xfrm>
              <a:off x="5706362" y="4960356"/>
              <a:ext cx="5808999" cy="1070976"/>
            </a:xfrm>
            <a:prstGeom prst="roundRect">
              <a:avLst>
                <a:gd name="adj" fmla="val 7134"/>
              </a:avLst>
            </a:prstGeom>
            <a:solidFill>
              <a:schemeClr val="accent2"/>
            </a:solidFill>
            <a:ln w="9525" cap="flat" cmpd="sng" algn="ctr">
              <a:solidFill>
                <a:srgbClr val="939393"/>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dirty="0">
                <a:ln>
                  <a:noFill/>
                </a:ln>
                <a:solidFill>
                  <a:schemeClr val="bg1"/>
                </a:solidFill>
                <a:effectLst/>
                <a:uLnTx/>
                <a:uFillTx/>
                <a:latin typeface="+mj-lt"/>
              </a:endParaRPr>
            </a:p>
          </p:txBody>
        </p:sp>
        <p:sp>
          <p:nvSpPr>
            <p:cNvPr id="52" name="Round Diagonal Corner Rectangle 51"/>
            <p:cNvSpPr/>
            <p:nvPr>
              <p:custDataLst>
                <p:tags r:id="rId3"/>
              </p:custDataLst>
            </p:nvPr>
          </p:nvSpPr>
          <p:spPr>
            <a:xfrm>
              <a:off x="6055932" y="5061851"/>
              <a:ext cx="5105579" cy="905029"/>
            </a:xfrm>
            <a:prstGeom prst="round2DiagRect">
              <a:avLst/>
            </a:prstGeom>
            <a:noFill/>
            <a:ln w="25400" cap="flat" cmpd="sng" algn="ctr">
              <a:noFill/>
              <a:prstDash val="solid"/>
            </a:ln>
            <a:effectLst/>
          </p:spPr>
          <p:txBody>
            <a:bodyPr wrap="square" lIns="0" tIns="0" rIns="0" bIns="0" anchor="ctr">
              <a:noAutofit/>
            </a:bodyPr>
            <a:lstStyle/>
            <a:p>
              <a:pPr lvl="0" algn="ctr">
                <a:lnSpc>
                  <a:spcPct val="120000"/>
                </a:lnSpc>
                <a:spcBef>
                  <a:spcPct val="55000"/>
                </a:spcBef>
                <a:buClr>
                  <a:srgbClr val="FFCC00"/>
                </a:buClr>
              </a:pPr>
              <a:r>
                <a:rPr lang="en-US" sz="1400" dirty="0">
                  <a:solidFill>
                    <a:schemeClr val="bg1"/>
                  </a:solidFill>
                  <a:latin typeface="+mj-lt"/>
                  <a:cs typeface="Arial" charset="0"/>
                </a:rPr>
                <a:t>Enable strategic thinking &amp; innovation and drive operational efficiency  to support Client Distribution’s vision to be leading world-class fuels business and convenience retailer:</a:t>
              </a:r>
            </a:p>
          </p:txBody>
        </p:sp>
        <p:sp>
          <p:nvSpPr>
            <p:cNvPr id="56" name="Rectangle 55"/>
            <p:cNvSpPr/>
            <p:nvPr/>
          </p:nvSpPr>
          <p:spPr>
            <a:xfrm>
              <a:off x="5706362" y="4710116"/>
              <a:ext cx="5808999" cy="330476"/>
            </a:xfrm>
            <a:prstGeom prst="rect">
              <a:avLst/>
            </a:prstGeom>
            <a:solidFill>
              <a:schemeClr val="bg1"/>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0070C0"/>
                  </a:solidFill>
                  <a:latin typeface="+mj-lt"/>
                </a:rPr>
                <a:t>Mission</a:t>
              </a:r>
            </a:p>
          </p:txBody>
        </p:sp>
      </p:grpSp>
      <p:grpSp>
        <p:nvGrpSpPr>
          <p:cNvPr id="2" name="Group 1">
            <a:extLst>
              <a:ext uri="{FF2B5EF4-FFF2-40B4-BE49-F238E27FC236}">
                <a16:creationId xmlns:a16="http://schemas.microsoft.com/office/drawing/2014/main" id="{CE142EC4-3E14-49AD-AA2D-B708C7039911}"/>
              </a:ext>
            </a:extLst>
          </p:cNvPr>
          <p:cNvGrpSpPr/>
          <p:nvPr/>
        </p:nvGrpSpPr>
        <p:grpSpPr>
          <a:xfrm>
            <a:off x="584679" y="4086096"/>
            <a:ext cx="4932201" cy="2419802"/>
            <a:chOff x="584679" y="4086096"/>
            <a:chExt cx="4932201" cy="1825327"/>
          </a:xfrm>
        </p:grpSpPr>
        <p:sp>
          <p:nvSpPr>
            <p:cNvPr id="3" name="Rectangle 2"/>
            <p:cNvSpPr/>
            <p:nvPr/>
          </p:nvSpPr>
          <p:spPr>
            <a:xfrm>
              <a:off x="584679" y="4086096"/>
              <a:ext cx="1345951" cy="5272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Enable The Business Transformation</a:t>
              </a:r>
            </a:p>
          </p:txBody>
        </p:sp>
        <p:sp>
          <p:nvSpPr>
            <p:cNvPr id="24" name="Rectangle 23"/>
            <p:cNvSpPr/>
            <p:nvPr/>
          </p:nvSpPr>
          <p:spPr>
            <a:xfrm>
              <a:off x="584679" y="4735121"/>
              <a:ext cx="1345951" cy="52727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Fix the Basics</a:t>
              </a:r>
            </a:p>
          </p:txBody>
        </p:sp>
        <p:sp>
          <p:nvSpPr>
            <p:cNvPr id="29" name="Rectangle 28"/>
            <p:cNvSpPr/>
            <p:nvPr/>
          </p:nvSpPr>
          <p:spPr>
            <a:xfrm>
              <a:off x="584679" y="5384146"/>
              <a:ext cx="1345951" cy="52727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Leverage Client Group Initiatives</a:t>
              </a:r>
            </a:p>
          </p:txBody>
        </p:sp>
        <p:sp>
          <p:nvSpPr>
            <p:cNvPr id="31" name="Rectangle 30"/>
            <p:cNvSpPr/>
            <p:nvPr/>
          </p:nvSpPr>
          <p:spPr>
            <a:xfrm>
              <a:off x="2008508" y="4086096"/>
              <a:ext cx="3507421" cy="527277"/>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171450" lvl="0" indent="-171450" defTabSz="914260">
                <a:buFontTx/>
                <a:buChar char="-"/>
                <a:defRPr/>
              </a:pPr>
              <a:r>
                <a:rPr lang="en-AU" sz="1050" kern="0" dirty="0">
                  <a:solidFill>
                    <a:schemeClr val="accent4"/>
                  </a:solidFill>
                </a:rPr>
                <a:t>Customer Journey technology enrichments </a:t>
              </a:r>
            </a:p>
            <a:p>
              <a:pPr marL="171450" lvl="0" indent="-171450" defTabSz="914260">
                <a:buFontTx/>
                <a:buChar char="-"/>
                <a:defRPr/>
              </a:pPr>
              <a:r>
                <a:rPr lang="en-AU" sz="1050" kern="0" dirty="0">
                  <a:solidFill>
                    <a:schemeClr val="accent4"/>
                  </a:solidFill>
                </a:rPr>
                <a:t>Automation enhancements &amp; delivery quality</a:t>
              </a:r>
            </a:p>
          </p:txBody>
        </p:sp>
        <p:sp>
          <p:nvSpPr>
            <p:cNvPr id="32" name="Rectangle 31"/>
            <p:cNvSpPr/>
            <p:nvPr/>
          </p:nvSpPr>
          <p:spPr>
            <a:xfrm>
              <a:off x="2008508" y="4735121"/>
              <a:ext cx="3507421" cy="527277"/>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171450" indent="-171450" defTabSz="914260">
                <a:buFontTx/>
                <a:buChar char="-"/>
                <a:defRPr/>
              </a:pPr>
              <a:r>
                <a:rPr lang="en-US" sz="1050" kern="0" dirty="0">
                  <a:solidFill>
                    <a:schemeClr val="accent4"/>
                  </a:solidFill>
                </a:rPr>
                <a:t>Amplify data accessibility and performance reporting </a:t>
              </a:r>
            </a:p>
            <a:p>
              <a:pPr marL="171450" indent="-171450" defTabSz="914260">
                <a:buFontTx/>
                <a:buChar char="-"/>
                <a:defRPr/>
              </a:pPr>
              <a:r>
                <a:rPr lang="en-US" sz="1050" kern="0" dirty="0">
                  <a:solidFill>
                    <a:schemeClr val="accent4"/>
                  </a:solidFill>
                </a:rPr>
                <a:t>Technology  simplification and continuous Improvement</a:t>
              </a:r>
            </a:p>
          </p:txBody>
        </p:sp>
        <p:sp>
          <p:nvSpPr>
            <p:cNvPr id="33" name="Rectangle 32"/>
            <p:cNvSpPr/>
            <p:nvPr/>
          </p:nvSpPr>
          <p:spPr>
            <a:xfrm>
              <a:off x="2009459" y="5384146"/>
              <a:ext cx="3507421" cy="527277"/>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171450" indent="-171450" defTabSz="914260">
                <a:buFontTx/>
                <a:buChar char="-"/>
                <a:defRPr/>
              </a:pPr>
              <a:r>
                <a:rPr lang="en-US" sz="1050" kern="0" dirty="0">
                  <a:solidFill>
                    <a:schemeClr val="accent4"/>
                  </a:solidFill>
                </a:rPr>
                <a:t>Capabilities improvement and  governance structuring</a:t>
              </a:r>
            </a:p>
            <a:p>
              <a:pPr marL="171450" indent="-171450" defTabSz="914260">
                <a:buFontTx/>
                <a:buChar char="-"/>
                <a:defRPr/>
              </a:pPr>
              <a:r>
                <a:rPr lang="en-US" sz="1050" kern="0" dirty="0">
                  <a:solidFill>
                    <a:schemeClr val="accent4"/>
                  </a:solidFill>
                </a:rPr>
                <a:t>Sourcing model optimization for commodity services</a:t>
              </a:r>
            </a:p>
          </p:txBody>
        </p:sp>
      </p:grpSp>
      <p:grpSp>
        <p:nvGrpSpPr>
          <p:cNvPr id="35" name="Group 34">
            <a:extLst>
              <a:ext uri="{FF2B5EF4-FFF2-40B4-BE49-F238E27FC236}">
                <a16:creationId xmlns:a16="http://schemas.microsoft.com/office/drawing/2014/main" id="{1676434A-0241-45E5-BD3A-0E426654E4B0}"/>
              </a:ext>
            </a:extLst>
          </p:cNvPr>
          <p:cNvGrpSpPr/>
          <p:nvPr/>
        </p:nvGrpSpPr>
        <p:grpSpPr>
          <a:xfrm>
            <a:off x="5706362" y="3969415"/>
            <a:ext cx="5808999" cy="1107211"/>
            <a:chOff x="567147" y="1801972"/>
            <a:chExt cx="8229601" cy="756352"/>
          </a:xfrm>
        </p:grpSpPr>
        <p:grpSp>
          <p:nvGrpSpPr>
            <p:cNvPr id="36" name="Group 35">
              <a:extLst>
                <a:ext uri="{FF2B5EF4-FFF2-40B4-BE49-F238E27FC236}">
                  <a16:creationId xmlns:a16="http://schemas.microsoft.com/office/drawing/2014/main" id="{610CDC02-DFCE-4269-B823-004568CC374F}"/>
                </a:ext>
              </a:extLst>
            </p:cNvPr>
            <p:cNvGrpSpPr/>
            <p:nvPr/>
          </p:nvGrpSpPr>
          <p:grpSpPr>
            <a:xfrm>
              <a:off x="2667000" y="2275749"/>
              <a:ext cx="3943350" cy="282575"/>
              <a:chOff x="2667000" y="2156003"/>
              <a:chExt cx="3943350" cy="282575"/>
            </a:xfrm>
            <a:solidFill>
              <a:schemeClr val="bg1"/>
            </a:solidFill>
          </p:grpSpPr>
          <p:sp>
            <p:nvSpPr>
              <p:cNvPr id="38" name="Freeform 13">
                <a:extLst>
                  <a:ext uri="{FF2B5EF4-FFF2-40B4-BE49-F238E27FC236}">
                    <a16:creationId xmlns:a16="http://schemas.microsoft.com/office/drawing/2014/main" id="{104782FE-094A-4085-9045-A14BC821246B}"/>
                  </a:ext>
                </a:extLst>
              </p:cNvPr>
              <p:cNvSpPr>
                <a:spLocks/>
              </p:cNvSpPr>
              <p:nvPr/>
            </p:nvSpPr>
            <p:spPr bwMode="auto">
              <a:xfrm>
                <a:off x="4178300" y="2156003"/>
                <a:ext cx="917575" cy="282575"/>
              </a:xfrm>
              <a:custGeom>
                <a:avLst/>
                <a:gdLst/>
                <a:ahLst/>
                <a:cxnLst>
                  <a:cxn ang="0">
                    <a:pos x="51" y="208"/>
                  </a:cxn>
                  <a:cxn ang="0">
                    <a:pos x="467" y="208"/>
                  </a:cxn>
                  <a:cxn ang="0">
                    <a:pos x="346" y="40"/>
                  </a:cxn>
                  <a:cxn ang="0">
                    <a:pos x="511" y="40"/>
                  </a:cxn>
                  <a:cxn ang="0">
                    <a:pos x="268" y="0"/>
                  </a:cxn>
                  <a:cxn ang="0">
                    <a:pos x="0" y="40"/>
                  </a:cxn>
                  <a:cxn ang="0">
                    <a:pos x="164" y="40"/>
                  </a:cxn>
                  <a:cxn ang="0">
                    <a:pos x="51" y="208"/>
                  </a:cxn>
                </a:cxnLst>
                <a:rect l="0" t="0" r="r" b="b"/>
                <a:pathLst>
                  <a:path w="512" h="209">
                    <a:moveTo>
                      <a:pt x="51" y="208"/>
                    </a:moveTo>
                    <a:lnTo>
                      <a:pt x="467" y="208"/>
                    </a:lnTo>
                    <a:lnTo>
                      <a:pt x="346" y="40"/>
                    </a:lnTo>
                    <a:lnTo>
                      <a:pt x="511" y="40"/>
                    </a:lnTo>
                    <a:lnTo>
                      <a:pt x="268" y="0"/>
                    </a:lnTo>
                    <a:lnTo>
                      <a:pt x="0" y="40"/>
                    </a:lnTo>
                    <a:lnTo>
                      <a:pt x="164" y="40"/>
                    </a:lnTo>
                    <a:lnTo>
                      <a:pt x="51" y="208"/>
                    </a:lnTo>
                  </a:path>
                </a:pathLst>
              </a:custGeom>
              <a:solidFill>
                <a:schemeClr val="accent2"/>
              </a:solidFill>
              <a:ln w="6350" cap="rnd">
                <a:solidFill>
                  <a:schemeClr val="bg1"/>
                </a:solidFill>
                <a:round/>
                <a:headEnd/>
                <a:tailEnd/>
              </a:ln>
              <a:effectLst/>
            </p:spPr>
            <p:txBody>
              <a:bodyPr lIns="45720" rIns="45720" anchor="ctr" anchorCtr="1"/>
              <a:lstStyle/>
              <a:p>
                <a:pPr algn="ctr" eaLnBrk="0" hangingPunct="0">
                  <a:defRPr/>
                </a:pPr>
                <a:endParaRPr lang="en-US" sz="800" i="1" dirty="0">
                  <a:solidFill>
                    <a:srgbClr val="000000"/>
                  </a:solidFill>
                  <a:latin typeface="Calibri" panose="020F0502020204030204" pitchFamily="34" charset="0"/>
                  <a:cs typeface="Calibri" panose="020F0502020204030204" pitchFamily="34" charset="0"/>
                </a:endParaRPr>
              </a:p>
            </p:txBody>
          </p:sp>
          <p:sp>
            <p:nvSpPr>
              <p:cNvPr id="39" name="Freeform 14">
                <a:extLst>
                  <a:ext uri="{FF2B5EF4-FFF2-40B4-BE49-F238E27FC236}">
                    <a16:creationId xmlns:a16="http://schemas.microsoft.com/office/drawing/2014/main" id="{BFA1BA6B-6A50-49A8-B992-30ACAB69731D}"/>
                  </a:ext>
                </a:extLst>
              </p:cNvPr>
              <p:cNvSpPr>
                <a:spLocks/>
              </p:cNvSpPr>
              <p:nvPr/>
            </p:nvSpPr>
            <p:spPr bwMode="auto">
              <a:xfrm>
                <a:off x="2667000" y="2162349"/>
                <a:ext cx="1501775" cy="269874"/>
              </a:xfrm>
              <a:custGeom>
                <a:avLst/>
                <a:gdLst/>
                <a:ahLst/>
                <a:cxnLst>
                  <a:cxn ang="0">
                    <a:pos x="311" y="200"/>
                  </a:cxn>
                  <a:cxn ang="0">
                    <a:pos x="0" y="168"/>
                  </a:cxn>
                  <a:cxn ang="0">
                    <a:pos x="398" y="40"/>
                  </a:cxn>
                  <a:cxn ang="0">
                    <a:pos x="207" y="40"/>
                  </a:cxn>
                  <a:cxn ang="0">
                    <a:pos x="623" y="0"/>
                  </a:cxn>
                  <a:cxn ang="0">
                    <a:pos x="839" y="40"/>
                  </a:cxn>
                  <a:cxn ang="0">
                    <a:pos x="649" y="40"/>
                  </a:cxn>
                  <a:cxn ang="0">
                    <a:pos x="311" y="200"/>
                  </a:cxn>
                </a:cxnLst>
                <a:rect l="0" t="0" r="r" b="b"/>
                <a:pathLst>
                  <a:path w="840" h="201">
                    <a:moveTo>
                      <a:pt x="311" y="200"/>
                    </a:moveTo>
                    <a:lnTo>
                      <a:pt x="0" y="168"/>
                    </a:lnTo>
                    <a:lnTo>
                      <a:pt x="398" y="40"/>
                    </a:lnTo>
                    <a:lnTo>
                      <a:pt x="207" y="40"/>
                    </a:lnTo>
                    <a:lnTo>
                      <a:pt x="623" y="0"/>
                    </a:lnTo>
                    <a:lnTo>
                      <a:pt x="839" y="40"/>
                    </a:lnTo>
                    <a:lnTo>
                      <a:pt x="649" y="40"/>
                    </a:lnTo>
                    <a:lnTo>
                      <a:pt x="311" y="200"/>
                    </a:lnTo>
                  </a:path>
                </a:pathLst>
              </a:custGeom>
              <a:solidFill>
                <a:schemeClr val="accent2"/>
              </a:solidFill>
              <a:ln w="6350" cap="rnd">
                <a:solidFill>
                  <a:schemeClr val="bg1"/>
                </a:solidFill>
                <a:round/>
                <a:headEnd/>
                <a:tailEnd/>
              </a:ln>
              <a:effectLst/>
            </p:spPr>
            <p:txBody>
              <a:bodyPr lIns="45720" rIns="45720" anchor="ctr" anchorCtr="1"/>
              <a:lstStyle/>
              <a:p>
                <a:pPr algn="ctr" eaLnBrk="0" hangingPunct="0">
                  <a:defRPr/>
                </a:pPr>
                <a:endParaRPr lang="en-US" sz="800" i="1" dirty="0">
                  <a:solidFill>
                    <a:srgbClr val="000000"/>
                  </a:solidFill>
                  <a:latin typeface="Calibri" panose="020F0502020204030204" pitchFamily="34" charset="0"/>
                  <a:cs typeface="Calibri" panose="020F0502020204030204" pitchFamily="34" charset="0"/>
                </a:endParaRPr>
              </a:p>
            </p:txBody>
          </p:sp>
          <p:sp>
            <p:nvSpPr>
              <p:cNvPr id="40" name="Freeform 15">
                <a:extLst>
                  <a:ext uri="{FF2B5EF4-FFF2-40B4-BE49-F238E27FC236}">
                    <a16:creationId xmlns:a16="http://schemas.microsoft.com/office/drawing/2014/main" id="{4FBAC65E-A605-4FDF-A88B-A3B3C8252B79}"/>
                  </a:ext>
                </a:extLst>
              </p:cNvPr>
              <p:cNvSpPr>
                <a:spLocks/>
              </p:cNvSpPr>
              <p:nvPr/>
            </p:nvSpPr>
            <p:spPr bwMode="auto">
              <a:xfrm>
                <a:off x="5105400" y="2162349"/>
                <a:ext cx="1504950" cy="269874"/>
              </a:xfrm>
              <a:custGeom>
                <a:avLst/>
                <a:gdLst/>
                <a:ahLst/>
                <a:cxnLst>
                  <a:cxn ang="0">
                    <a:pos x="527" y="200"/>
                  </a:cxn>
                  <a:cxn ang="0">
                    <a:pos x="839" y="168"/>
                  </a:cxn>
                  <a:cxn ang="0">
                    <a:pos x="440" y="40"/>
                  </a:cxn>
                  <a:cxn ang="0">
                    <a:pos x="622" y="40"/>
                  </a:cxn>
                  <a:cxn ang="0">
                    <a:pos x="215" y="0"/>
                  </a:cxn>
                  <a:cxn ang="0">
                    <a:pos x="0" y="40"/>
                  </a:cxn>
                  <a:cxn ang="0">
                    <a:pos x="189" y="40"/>
                  </a:cxn>
                  <a:cxn ang="0">
                    <a:pos x="527" y="200"/>
                  </a:cxn>
                </a:cxnLst>
                <a:rect l="0" t="0" r="r" b="b"/>
                <a:pathLst>
                  <a:path w="840" h="201">
                    <a:moveTo>
                      <a:pt x="527" y="200"/>
                    </a:moveTo>
                    <a:lnTo>
                      <a:pt x="839" y="168"/>
                    </a:lnTo>
                    <a:lnTo>
                      <a:pt x="440" y="40"/>
                    </a:lnTo>
                    <a:lnTo>
                      <a:pt x="622" y="40"/>
                    </a:lnTo>
                    <a:lnTo>
                      <a:pt x="215" y="0"/>
                    </a:lnTo>
                    <a:lnTo>
                      <a:pt x="0" y="40"/>
                    </a:lnTo>
                    <a:lnTo>
                      <a:pt x="189" y="40"/>
                    </a:lnTo>
                    <a:lnTo>
                      <a:pt x="527" y="200"/>
                    </a:lnTo>
                  </a:path>
                </a:pathLst>
              </a:custGeom>
              <a:solidFill>
                <a:schemeClr val="accent2"/>
              </a:solidFill>
              <a:ln w="6350" cap="rnd">
                <a:solidFill>
                  <a:schemeClr val="bg1"/>
                </a:solidFill>
                <a:round/>
                <a:headEnd/>
                <a:tailEnd/>
              </a:ln>
              <a:effectLst/>
            </p:spPr>
            <p:txBody>
              <a:bodyPr lIns="45720" rIns="45720" anchor="ctr" anchorCtr="1"/>
              <a:lstStyle/>
              <a:p>
                <a:pPr algn="ctr" eaLnBrk="0" hangingPunct="0">
                  <a:defRPr/>
                </a:pPr>
                <a:endParaRPr lang="en-US" sz="800" i="1" dirty="0">
                  <a:solidFill>
                    <a:srgbClr val="000000"/>
                  </a:solidFill>
                  <a:latin typeface="Calibri" panose="020F0502020204030204" pitchFamily="34" charset="0"/>
                  <a:cs typeface="Calibri" panose="020F0502020204030204" pitchFamily="34" charset="0"/>
                </a:endParaRPr>
              </a:p>
            </p:txBody>
          </p:sp>
        </p:grpSp>
        <p:sp>
          <p:nvSpPr>
            <p:cNvPr id="37" name="Rectangle 22">
              <a:extLst>
                <a:ext uri="{FF2B5EF4-FFF2-40B4-BE49-F238E27FC236}">
                  <a16:creationId xmlns:a16="http://schemas.microsoft.com/office/drawing/2014/main" id="{4C10AA93-D5AA-46D2-8E0A-0F486BD291DA}"/>
                </a:ext>
              </a:extLst>
            </p:cNvPr>
            <p:cNvSpPr>
              <a:spLocks noChangeArrowheads="1"/>
            </p:cNvSpPr>
            <p:nvPr/>
          </p:nvSpPr>
          <p:spPr bwMode="auto">
            <a:xfrm>
              <a:off x="567147" y="1801972"/>
              <a:ext cx="8229601" cy="579055"/>
            </a:xfrm>
            <a:prstGeom prst="rect">
              <a:avLst/>
            </a:prstGeom>
            <a:noFill/>
            <a:ln w="12700">
              <a:noFill/>
              <a:miter lim="800000"/>
              <a:headEnd/>
              <a:tailEnd/>
            </a:ln>
          </p:spPr>
          <p:txBody>
            <a:bodyPr wrap="square">
              <a:spAutoFit/>
            </a:bodyPr>
            <a:lstStyle/>
            <a:p>
              <a:pPr marL="225425" lvl="0" indent="-225425" algn="ctr">
                <a:spcBef>
                  <a:spcPts val="600"/>
                </a:spcBef>
              </a:pPr>
              <a:r>
                <a:rPr lang="en-US" sz="2400" b="1" i="1" kern="0" dirty="0">
                  <a:latin typeface="Calibri" panose="020F0502020204030204" pitchFamily="34" charset="0"/>
                  <a:cs typeface="Calibri" panose="020F0502020204030204" pitchFamily="34" charset="0"/>
                </a:rPr>
                <a:t>Innovate. Iterate. Integrate.</a:t>
              </a:r>
            </a:p>
          </p:txBody>
        </p:sp>
      </p:grpSp>
    </p:spTree>
    <p:extLst>
      <p:ext uri="{BB962C8B-B14F-4D97-AF65-F5344CB8AC3E}">
        <p14:creationId xmlns:p14="http://schemas.microsoft.com/office/powerpoint/2010/main" val="37446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txBox="1">
            <a:spLocks/>
          </p:cNvSpPr>
          <p:nvPr/>
        </p:nvSpPr>
        <p:spPr>
          <a:xfrm>
            <a:off x="461772" y="467470"/>
            <a:ext cx="10298303" cy="810232"/>
          </a:xfrm>
          <a:prstGeom prst="rect">
            <a:avLst/>
          </a:prstGeom>
        </p:spPr>
        <p:txBody>
          <a:bodyPr vert="horz" rIns="0" anchor="t">
            <a:noAutofit/>
          </a:bodyPr>
          <a:lstStyle>
            <a:lvl1pPr marL="0" indent="0" algn="l" defTabSz="914400" rtl="0" eaLnBrk="1" latinLnBrk="0" hangingPunct="1">
              <a:lnSpc>
                <a:spcPts val="2600"/>
              </a:lnSpc>
              <a:spcBef>
                <a:spcPts val="300"/>
              </a:spcBef>
              <a:buFont typeface="Arial" panose="020B0604020202020204" pitchFamily="34" charset="0"/>
              <a:buNone/>
              <a:defRPr sz="2400" b="0" i="0" kern="1200" cap="all" baseline="0">
                <a:solidFill>
                  <a:srgbClr val="0047BB"/>
                </a:solidFill>
                <a:latin typeface="Arial"/>
                <a:ea typeface="+mn-ea"/>
                <a:cs typeface="Arial"/>
              </a:defRPr>
            </a:lvl1pPr>
            <a:lvl2pPr marL="54424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2pPr>
            <a:lvl3pPr marL="1088493"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3pPr>
            <a:lvl4pPr marL="1632740"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4pPr>
            <a:lvl5pPr marL="217698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en-US" sz="2000" b="1" dirty="0">
              <a:solidFill>
                <a:srgbClr val="1946BA"/>
              </a:solidFill>
            </a:endParaRPr>
          </a:p>
        </p:txBody>
      </p:sp>
      <p:sp>
        <p:nvSpPr>
          <p:cNvPr id="25" name="Text Placeholder 1"/>
          <p:cNvSpPr txBox="1">
            <a:spLocks/>
          </p:cNvSpPr>
          <p:nvPr/>
        </p:nvSpPr>
        <p:spPr>
          <a:xfrm>
            <a:off x="839416" y="404664"/>
            <a:ext cx="10298303" cy="786156"/>
          </a:xfrm>
          <a:prstGeom prst="rect">
            <a:avLst/>
          </a:prstGeom>
        </p:spPr>
        <p:txBody>
          <a:bodyPr vert="horz" rIns="0" anchor="t">
            <a:noAutofit/>
          </a:bodyPr>
          <a:lstStyle>
            <a:lvl1pPr marL="0" indent="0" algn="l" defTabSz="914400" rtl="0" eaLnBrk="1" latinLnBrk="0" hangingPunct="1">
              <a:lnSpc>
                <a:spcPts val="2600"/>
              </a:lnSpc>
              <a:spcBef>
                <a:spcPts val="300"/>
              </a:spcBef>
              <a:buFont typeface="Arial" panose="020B0604020202020204" pitchFamily="34" charset="0"/>
              <a:buNone/>
              <a:defRPr sz="2400" b="0" i="0" kern="1200" cap="all" baseline="0">
                <a:solidFill>
                  <a:srgbClr val="0047BB"/>
                </a:solidFill>
                <a:latin typeface="Arial"/>
                <a:ea typeface="+mn-ea"/>
                <a:cs typeface="Arial"/>
              </a:defRPr>
            </a:lvl1pPr>
            <a:lvl2pPr marL="54424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2pPr>
            <a:lvl3pPr marL="1088493"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3pPr>
            <a:lvl4pPr marL="1632740"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4pPr>
            <a:lvl5pPr marL="2176987" indent="0" algn="l" defTabSz="914400" rtl="0" eaLnBrk="1" latinLnBrk="0" hangingPunct="1">
              <a:lnSpc>
                <a:spcPct val="90000"/>
              </a:lnSpc>
              <a:spcBef>
                <a:spcPts val="500"/>
              </a:spcBef>
              <a:buFont typeface="Arial" panose="020B0604020202020204" pitchFamily="34" charset="0"/>
              <a:buNone/>
              <a:defRPr sz="3000" b="1" i="0" kern="1200">
                <a:solidFill>
                  <a:schemeClr val="tx1"/>
                </a:solidFill>
                <a:latin typeface="Arial"/>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Bef>
                <a:spcPct val="0"/>
              </a:spcBef>
              <a:defRPr/>
            </a:pPr>
            <a:r>
              <a:rPr lang="en-US" sz="3200" b="1" dirty="0">
                <a:solidFill>
                  <a:schemeClr val="tx2"/>
                </a:solidFill>
              </a:rPr>
              <a:t>Overall Business Strategy and Vision summary</a:t>
            </a:r>
          </a:p>
        </p:txBody>
      </p:sp>
      <p:grpSp>
        <p:nvGrpSpPr>
          <p:cNvPr id="24" name="Group 23">
            <a:extLst>
              <a:ext uri="{FF2B5EF4-FFF2-40B4-BE49-F238E27FC236}">
                <a16:creationId xmlns:a16="http://schemas.microsoft.com/office/drawing/2014/main" id="{9A5EECE9-F417-49E3-AE40-269A6FE8DE97}"/>
              </a:ext>
            </a:extLst>
          </p:cNvPr>
          <p:cNvGrpSpPr/>
          <p:nvPr/>
        </p:nvGrpSpPr>
        <p:grpSpPr>
          <a:xfrm>
            <a:off x="396683" y="1225834"/>
            <a:ext cx="11331029" cy="5224354"/>
            <a:chOff x="864437" y="874317"/>
            <a:chExt cx="10302169" cy="5691455"/>
          </a:xfrm>
        </p:grpSpPr>
        <p:sp>
          <p:nvSpPr>
            <p:cNvPr id="26" name="TextBox 25">
              <a:extLst>
                <a:ext uri="{FF2B5EF4-FFF2-40B4-BE49-F238E27FC236}">
                  <a16:creationId xmlns:a16="http://schemas.microsoft.com/office/drawing/2014/main" id="{29953B9D-05B5-4ADE-9870-C167335FDF01}"/>
                </a:ext>
              </a:extLst>
            </p:cNvPr>
            <p:cNvSpPr txBox="1"/>
            <p:nvPr/>
          </p:nvSpPr>
          <p:spPr>
            <a:xfrm>
              <a:off x="2592580" y="1652417"/>
              <a:ext cx="8574026" cy="3368301"/>
            </a:xfrm>
            <a:prstGeom prst="rect">
              <a:avLst/>
            </a:prstGeom>
            <a:noFill/>
            <a:ln>
              <a:solidFill>
                <a:schemeClr val="accent1"/>
              </a:solidFill>
            </a:ln>
          </p:spPr>
          <p:txBody>
            <a:bodyPr wrap="square" lIns="0" tIns="0" rIns="0" bIns="0" rtlCol="0" anchor="t">
              <a:noAutofit/>
            </a:bodyPr>
            <a:lstStyle/>
            <a:p>
              <a:pPr marL="91440" marR="0" lvl="0" indent="0" defTabSz="914400" eaLnBrk="1" fontAlgn="auto" latinLnBrk="0" hangingPunct="1">
                <a:lnSpc>
                  <a:spcPct val="100000"/>
                </a:lnSpc>
                <a:spcBef>
                  <a:spcPts val="0"/>
                </a:spcBef>
                <a:spcAft>
                  <a:spcPts val="0"/>
                </a:spcAft>
                <a:buClrTx/>
                <a:buSzTx/>
                <a:buFontTx/>
                <a:buNone/>
                <a:tabLst/>
                <a:defRPr/>
              </a:pPr>
              <a:endParaRPr kumimoji="0" lang="en-GB" sz="1300" b="0" i="0" u="none" strike="noStrike" kern="0" cap="none" spc="0" normalizeH="0" baseline="0" noProof="0" dirty="0">
                <a:ln>
                  <a:noFill/>
                </a:ln>
                <a:solidFill>
                  <a:prstClr val="black"/>
                </a:solidFill>
                <a:effectLst/>
                <a:uLnTx/>
                <a:uFillTx/>
                <a:latin typeface="+mj-lt"/>
                <a:cs typeface="Arial" panose="020B0604020202020204" pitchFamily="34" charset="0"/>
              </a:endParaRPr>
            </a:p>
          </p:txBody>
        </p:sp>
        <p:sp>
          <p:nvSpPr>
            <p:cNvPr id="27" name="Pentagon 4">
              <a:extLst>
                <a:ext uri="{FF2B5EF4-FFF2-40B4-BE49-F238E27FC236}">
                  <a16:creationId xmlns:a16="http://schemas.microsoft.com/office/drawing/2014/main" id="{6690CD1A-13A6-484E-B58F-A7940209B696}"/>
                </a:ext>
              </a:extLst>
            </p:cNvPr>
            <p:cNvSpPr/>
            <p:nvPr/>
          </p:nvSpPr>
          <p:spPr>
            <a:xfrm>
              <a:off x="864437" y="874319"/>
              <a:ext cx="1584127" cy="560600"/>
            </a:xfrm>
            <a:prstGeom prst="homePlate">
              <a:avLst/>
            </a:prstGeom>
            <a:solidFill>
              <a:schemeClr val="tx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1">
                  <a:ln>
                    <a:noFill/>
                  </a:ln>
                  <a:solidFill>
                    <a:prstClr val="white"/>
                  </a:solidFill>
                  <a:effectLst/>
                  <a:uLnTx/>
                  <a:uFillTx/>
                  <a:latin typeface="+mj-lt"/>
                  <a:ea typeface="+mn-ea"/>
                  <a:cs typeface="Arial" panose="020B0604020202020204" pitchFamily="34" charset="0"/>
                </a:rPr>
                <a:t>Our Vision</a:t>
              </a:r>
            </a:p>
          </p:txBody>
        </p:sp>
        <p:sp>
          <p:nvSpPr>
            <p:cNvPr id="28" name="Rectangle 27">
              <a:extLst>
                <a:ext uri="{FF2B5EF4-FFF2-40B4-BE49-F238E27FC236}">
                  <a16:creationId xmlns:a16="http://schemas.microsoft.com/office/drawing/2014/main" id="{C43BCE84-4C3D-4E05-83CB-2FA5CF7B6A9F}"/>
                </a:ext>
              </a:extLst>
            </p:cNvPr>
            <p:cNvSpPr/>
            <p:nvPr/>
          </p:nvSpPr>
          <p:spPr>
            <a:xfrm>
              <a:off x="2592580" y="874317"/>
              <a:ext cx="8574026" cy="560601"/>
            </a:xfrm>
            <a:prstGeom prst="rect">
              <a:avLst/>
            </a:prstGeom>
            <a:solidFill>
              <a:srgbClr val="646464"/>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1400" b="0" i="0" u="none" strike="noStrike" kern="0" cap="none" spc="0" normalizeH="0" baseline="0" noProof="1">
                  <a:ln>
                    <a:noFill/>
                  </a:ln>
                  <a:solidFill>
                    <a:prstClr val="white"/>
                  </a:solidFill>
                  <a:effectLst/>
                  <a:uLnTx/>
                  <a:uFillTx/>
                  <a:latin typeface="+mj-lt"/>
                  <a:ea typeface="+mn-ea"/>
                  <a:cs typeface="Arial" panose="020B0604020202020204" pitchFamily="34" charset="0"/>
                </a:rPr>
                <a:t>To be a leading world-class fuels business and convenience retailer business by offering enhanced customer choice service and convenience in an evolving world of mobility</a:t>
              </a:r>
            </a:p>
          </p:txBody>
        </p:sp>
        <p:sp>
          <p:nvSpPr>
            <p:cNvPr id="29" name="TextBox 28">
              <a:extLst>
                <a:ext uri="{FF2B5EF4-FFF2-40B4-BE49-F238E27FC236}">
                  <a16:creationId xmlns:a16="http://schemas.microsoft.com/office/drawing/2014/main" id="{460E7EBB-DE9A-4A12-A56D-4EA324F0C571}"/>
                </a:ext>
              </a:extLst>
            </p:cNvPr>
            <p:cNvSpPr txBox="1"/>
            <p:nvPr/>
          </p:nvSpPr>
          <p:spPr>
            <a:xfrm>
              <a:off x="2736596" y="1750201"/>
              <a:ext cx="8280920" cy="448056"/>
            </a:xfrm>
            <a:prstGeom prst="rect">
              <a:avLst/>
            </a:prstGeom>
            <a:solidFill>
              <a:srgbClr val="646464"/>
            </a:solidFill>
            <a:ln>
              <a:no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mj-lt"/>
                  <a:cs typeface="Arial" panose="020B0604020202020204" pitchFamily="34" charset="0"/>
                </a:rPr>
                <a:t>Transform into a commercially-driven company, focused on profits and growth</a:t>
              </a:r>
              <a:endParaRPr kumimoji="0" lang="en-GB" sz="1400" b="1" i="0" u="none" strike="noStrike" kern="0" cap="none" spc="0" normalizeH="0" baseline="0" noProof="0" dirty="0">
                <a:ln>
                  <a:noFill/>
                </a:ln>
                <a:solidFill>
                  <a:prstClr val="white"/>
                </a:solidFill>
                <a:effectLst/>
                <a:uLnTx/>
                <a:uFillTx/>
                <a:latin typeface="+mj-lt"/>
                <a:cs typeface="Arial" panose="020B0604020202020204" pitchFamily="34" charset="0"/>
              </a:endParaRPr>
            </a:p>
          </p:txBody>
        </p:sp>
        <p:sp>
          <p:nvSpPr>
            <p:cNvPr id="30" name="TextBox 29">
              <a:extLst>
                <a:ext uri="{FF2B5EF4-FFF2-40B4-BE49-F238E27FC236}">
                  <a16:creationId xmlns:a16="http://schemas.microsoft.com/office/drawing/2014/main" id="{CBB16CD6-10A6-408C-BDCA-184C3A6B6024}"/>
                </a:ext>
              </a:extLst>
            </p:cNvPr>
            <p:cNvSpPr txBox="1"/>
            <p:nvPr/>
          </p:nvSpPr>
          <p:spPr>
            <a:xfrm>
              <a:off x="2736596" y="2276091"/>
              <a:ext cx="8280921" cy="444001"/>
            </a:xfrm>
            <a:prstGeom prst="rect">
              <a:avLst/>
            </a:prstGeom>
            <a:solidFill>
              <a:srgbClr val="646464"/>
            </a:solidFill>
            <a:ln>
              <a:noFill/>
            </a:ln>
          </p:spPr>
          <p:txBody>
            <a:bodyPr wrap="square" lIns="0" tIns="0" rIns="0" bIns="0" rtlCol="0" anchor="ctr">
              <a:noAutofit/>
            </a:bodyPr>
            <a:lstStyle/>
            <a:p>
              <a:pPr lvl="0" algn="ctr">
                <a:defRPr/>
              </a:pPr>
              <a:r>
                <a:rPr lang="en-US" sz="1400" kern="0" dirty="0">
                  <a:solidFill>
                    <a:prstClr val="white"/>
                  </a:solidFill>
                  <a:latin typeface="+mj-lt"/>
                  <a:cs typeface="Arial" panose="020B0604020202020204" pitchFamily="34" charset="0"/>
                </a:rPr>
                <a:t>A customer-centric approach - better service, more choice, greater convenience</a:t>
              </a:r>
              <a:endParaRPr kumimoji="0" lang="en-GB" sz="1400" b="0" i="0" u="none" strike="noStrike" kern="0" cap="none" spc="0" normalizeH="0" baseline="0" noProof="0" dirty="0">
                <a:ln>
                  <a:noFill/>
                </a:ln>
                <a:solidFill>
                  <a:prstClr val="white"/>
                </a:solidFill>
                <a:effectLst/>
                <a:uLnTx/>
                <a:uFillTx/>
                <a:latin typeface="+mj-lt"/>
                <a:cs typeface="Arial" panose="020B0604020202020204" pitchFamily="34" charset="0"/>
              </a:endParaRPr>
            </a:p>
          </p:txBody>
        </p:sp>
        <p:sp>
          <p:nvSpPr>
            <p:cNvPr id="31" name="TextBox 30">
              <a:extLst>
                <a:ext uri="{FF2B5EF4-FFF2-40B4-BE49-F238E27FC236}">
                  <a16:creationId xmlns:a16="http://schemas.microsoft.com/office/drawing/2014/main" id="{2D57C40B-DBCC-438D-8FB4-6079493759A0}"/>
                </a:ext>
              </a:extLst>
            </p:cNvPr>
            <p:cNvSpPr txBox="1"/>
            <p:nvPr/>
          </p:nvSpPr>
          <p:spPr>
            <a:xfrm>
              <a:off x="4922370" y="2806503"/>
              <a:ext cx="2010739" cy="363003"/>
            </a:xfrm>
            <a:prstGeom prst="rect">
              <a:avLst/>
            </a:prstGeom>
            <a:solidFill>
              <a:sysClr val="window" lastClr="FFFFFF">
                <a:lumMod val="75000"/>
              </a:sysClr>
            </a:solidFill>
            <a:ln>
              <a:solidFill>
                <a:sysClr val="window" lastClr="FFFFFF">
                  <a:lumMod val="75000"/>
                </a:sys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black"/>
                  </a:solidFill>
                  <a:effectLst/>
                  <a:uLnTx/>
                  <a:uFillTx/>
                  <a:latin typeface="+mj-lt"/>
                  <a:cs typeface="Arial" panose="020B0604020202020204" pitchFamily="34" charset="0"/>
                </a:rPr>
                <a:t>World-class</a:t>
              </a:r>
              <a:r>
                <a:rPr kumimoji="0" lang="en-GB" sz="1400" b="0" i="0" u="none" strike="noStrike" kern="0" cap="none" spc="0" normalizeH="0" noProof="0" dirty="0">
                  <a:ln>
                    <a:noFill/>
                  </a:ln>
                  <a:solidFill>
                    <a:prstClr val="black"/>
                  </a:solidFill>
                  <a:effectLst/>
                  <a:uLnTx/>
                  <a:uFillTx/>
                  <a:latin typeface="+mj-lt"/>
                  <a:cs typeface="Arial" panose="020B0604020202020204" pitchFamily="34" charset="0"/>
                </a:rPr>
                <a:t> efficiency</a:t>
              </a:r>
              <a:endParaRPr kumimoji="0" lang="en-GB" sz="1400" b="0" i="0" u="none" strike="noStrike" kern="0" cap="none" spc="0" normalizeH="0" baseline="0" noProof="0" dirty="0">
                <a:ln>
                  <a:noFill/>
                </a:ln>
                <a:solidFill>
                  <a:prstClr val="black"/>
                </a:solidFill>
                <a:effectLst/>
                <a:uLnTx/>
                <a:uFillTx/>
                <a:latin typeface="+mj-lt"/>
                <a:cs typeface="Arial" panose="020B0604020202020204" pitchFamily="34" charset="0"/>
              </a:endParaRPr>
            </a:p>
          </p:txBody>
        </p:sp>
        <p:sp>
          <p:nvSpPr>
            <p:cNvPr id="32" name="TextBox 31">
              <a:extLst>
                <a:ext uri="{FF2B5EF4-FFF2-40B4-BE49-F238E27FC236}">
                  <a16:creationId xmlns:a16="http://schemas.microsoft.com/office/drawing/2014/main" id="{B0BEE232-75C4-4D9C-AAE9-58099C788C3E}"/>
                </a:ext>
              </a:extLst>
            </p:cNvPr>
            <p:cNvSpPr txBox="1"/>
            <p:nvPr/>
          </p:nvSpPr>
          <p:spPr>
            <a:xfrm>
              <a:off x="6999436" y="2813300"/>
              <a:ext cx="2068384" cy="363003"/>
            </a:xfrm>
            <a:prstGeom prst="rect">
              <a:avLst/>
            </a:prstGeom>
            <a:solidFill>
              <a:sysClr val="window" lastClr="FFFFFF">
                <a:lumMod val="75000"/>
              </a:sysClr>
            </a:solidFill>
            <a:ln>
              <a:solidFill>
                <a:sysClr val="window" lastClr="FFFFFF">
                  <a:lumMod val="75000"/>
                </a:sys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black"/>
                  </a:solidFill>
                  <a:effectLst/>
                  <a:uLnTx/>
                  <a:uFillTx/>
                  <a:latin typeface="+mj-lt"/>
                  <a:cs typeface="Arial" panose="020B0604020202020204" pitchFamily="34" charset="0"/>
                </a:rPr>
                <a:t>Performance culture</a:t>
              </a:r>
            </a:p>
          </p:txBody>
        </p:sp>
        <p:sp>
          <p:nvSpPr>
            <p:cNvPr id="33" name="TextBox 32">
              <a:extLst>
                <a:ext uri="{FF2B5EF4-FFF2-40B4-BE49-F238E27FC236}">
                  <a16:creationId xmlns:a16="http://schemas.microsoft.com/office/drawing/2014/main" id="{FC8A1E16-872E-4BBF-B3E1-C42C45921F94}"/>
                </a:ext>
              </a:extLst>
            </p:cNvPr>
            <p:cNvSpPr txBox="1"/>
            <p:nvPr/>
          </p:nvSpPr>
          <p:spPr>
            <a:xfrm>
              <a:off x="2736596" y="2797926"/>
              <a:ext cx="2120889" cy="363003"/>
            </a:xfrm>
            <a:prstGeom prst="rect">
              <a:avLst/>
            </a:prstGeom>
            <a:solidFill>
              <a:sysClr val="window" lastClr="FFFFFF">
                <a:lumMod val="75000"/>
              </a:sysClr>
            </a:solidFill>
            <a:ln>
              <a:solidFill>
                <a:sysClr val="window" lastClr="FFFFFF">
                  <a:lumMod val="75000"/>
                </a:sys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black"/>
                  </a:solidFill>
                  <a:effectLst/>
                  <a:uLnTx/>
                  <a:uFillTx/>
                  <a:latin typeface="+mj-lt"/>
                  <a:cs typeface="Arial" panose="020B0604020202020204" pitchFamily="34" charset="0"/>
                </a:rPr>
                <a:t>Profitable</a:t>
              </a:r>
              <a:r>
                <a:rPr kumimoji="0" lang="en-GB" sz="1400" b="0" i="0" u="none" strike="noStrike" kern="0" cap="none" spc="0" normalizeH="0" noProof="0" dirty="0">
                  <a:ln>
                    <a:noFill/>
                  </a:ln>
                  <a:solidFill>
                    <a:prstClr val="black"/>
                  </a:solidFill>
                  <a:effectLst/>
                  <a:uLnTx/>
                  <a:uFillTx/>
                  <a:latin typeface="+mj-lt"/>
                  <a:cs typeface="Arial" panose="020B0604020202020204" pitchFamily="34" charset="0"/>
                </a:rPr>
                <a:t> growth</a:t>
              </a:r>
              <a:endParaRPr kumimoji="0" lang="en-GB" sz="1400" b="0" i="0" u="none" strike="noStrike" kern="0" cap="none" spc="0" normalizeH="0" baseline="0" noProof="0" dirty="0">
                <a:ln>
                  <a:noFill/>
                </a:ln>
                <a:solidFill>
                  <a:prstClr val="black"/>
                </a:solidFill>
                <a:effectLst/>
                <a:uLnTx/>
                <a:uFillTx/>
                <a:latin typeface="+mj-lt"/>
                <a:cs typeface="Arial" panose="020B0604020202020204" pitchFamily="34" charset="0"/>
              </a:endParaRPr>
            </a:p>
          </p:txBody>
        </p:sp>
        <p:sp>
          <p:nvSpPr>
            <p:cNvPr id="34" name="Left-Right Arrow 11">
              <a:extLst>
                <a:ext uri="{FF2B5EF4-FFF2-40B4-BE49-F238E27FC236}">
                  <a16:creationId xmlns:a16="http://schemas.microsoft.com/office/drawing/2014/main" id="{54E5967B-BEEE-410D-AFFF-907E60359634}"/>
                </a:ext>
              </a:extLst>
            </p:cNvPr>
            <p:cNvSpPr/>
            <p:nvPr/>
          </p:nvSpPr>
          <p:spPr>
            <a:xfrm>
              <a:off x="2592580" y="5101496"/>
              <a:ext cx="8574026" cy="551854"/>
            </a:xfrm>
            <a:prstGeom prst="leftRightArrow">
              <a:avLst>
                <a:gd name="adj1" fmla="val 50000"/>
                <a:gd name="adj2" fmla="val 51020"/>
              </a:avLst>
            </a:prstGeom>
            <a:solidFill>
              <a:srgbClr val="64646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mj-lt"/>
                  <a:ea typeface="+mn-ea"/>
                  <a:cs typeface="Arial" panose="020B0604020202020204" pitchFamily="34" charset="0"/>
                </a:rPr>
                <a:t>World class talent</a:t>
              </a:r>
            </a:p>
          </p:txBody>
        </p:sp>
        <p:sp>
          <p:nvSpPr>
            <p:cNvPr id="35" name="Left-Right Arrow 12">
              <a:extLst>
                <a:ext uri="{FF2B5EF4-FFF2-40B4-BE49-F238E27FC236}">
                  <a16:creationId xmlns:a16="http://schemas.microsoft.com/office/drawing/2014/main" id="{61E4DDE3-DD50-4DE9-93FF-C2ABC5023633}"/>
                </a:ext>
              </a:extLst>
            </p:cNvPr>
            <p:cNvSpPr/>
            <p:nvPr/>
          </p:nvSpPr>
          <p:spPr>
            <a:xfrm>
              <a:off x="2586494" y="6013918"/>
              <a:ext cx="8574027" cy="551854"/>
            </a:xfrm>
            <a:prstGeom prst="leftRightArrow">
              <a:avLst>
                <a:gd name="adj1" fmla="val 50000"/>
                <a:gd name="adj2" fmla="val 51020"/>
              </a:avLst>
            </a:prstGeom>
            <a:solidFill>
              <a:srgbClr val="64646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400" kern="0" dirty="0">
                  <a:solidFill>
                    <a:prstClr val="white"/>
                  </a:solidFill>
                  <a:latin typeface="+mj-lt"/>
                  <a:cs typeface="Arial" panose="020B0604020202020204" pitchFamily="34" charset="0"/>
                </a:rPr>
                <a:t>100% commitment to HSSE</a:t>
              </a:r>
              <a:endParaRPr kumimoji="0" lang="en-GB" sz="1400" b="0" i="0" u="none" strike="noStrike" kern="0" cap="none" spc="0" normalizeH="0" baseline="0" noProof="0" dirty="0">
                <a:ln>
                  <a:noFill/>
                </a:ln>
                <a:solidFill>
                  <a:prstClr val="white"/>
                </a:solidFill>
                <a:effectLst/>
                <a:uLnTx/>
                <a:uFillTx/>
                <a:latin typeface="+mj-lt"/>
                <a:ea typeface="+mn-ea"/>
                <a:cs typeface="Arial" panose="020B0604020202020204" pitchFamily="34" charset="0"/>
              </a:endParaRPr>
            </a:p>
          </p:txBody>
        </p:sp>
        <p:sp>
          <p:nvSpPr>
            <p:cNvPr id="36" name="Isosceles Triangle 35">
              <a:extLst>
                <a:ext uri="{FF2B5EF4-FFF2-40B4-BE49-F238E27FC236}">
                  <a16:creationId xmlns:a16="http://schemas.microsoft.com/office/drawing/2014/main" id="{A4A06E1B-5E7B-4A2C-A00D-142720BE58D2}"/>
                </a:ext>
              </a:extLst>
            </p:cNvPr>
            <p:cNvSpPr/>
            <p:nvPr/>
          </p:nvSpPr>
          <p:spPr>
            <a:xfrm rot="10800000">
              <a:off x="2736593" y="3250664"/>
              <a:ext cx="2120894" cy="282852"/>
            </a:xfrm>
            <a:prstGeom prst="triangle">
              <a:avLst>
                <a:gd name="adj" fmla="val 49774"/>
              </a:avLst>
            </a:prstGeom>
            <a:solidFill>
              <a:schemeClr val="tx2"/>
            </a:solidFill>
            <a:ln w="9525" cap="flat" cmpd="sng" algn="ctr">
              <a:noFill/>
              <a:prstDash val="solid"/>
              <a:miter lim="800000"/>
            </a:ln>
            <a:effectLst/>
          </p:spPr>
          <p:txBody>
            <a:bodyPr lIns="65298" tIns="32649" rIns="65298" bIns="32649" rtlCol="0" anchor="t" anchorCtr="0"/>
            <a:lstStyle/>
            <a:p>
              <a:pPr marL="0" marR="0" lvl="0" indent="0" algn="ctr" defTabSz="91418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1">
                <a:ln>
                  <a:noFill/>
                </a:ln>
                <a:solidFill>
                  <a:srgbClr val="807F83"/>
                </a:solidFill>
                <a:effectLst/>
                <a:uLnTx/>
                <a:uFillTx/>
                <a:latin typeface="+mj-lt"/>
                <a:ea typeface="+mn-ea"/>
                <a:cs typeface="Calibri" panose="020F0502020204030204" pitchFamily="34" charset="0"/>
              </a:endParaRPr>
            </a:p>
          </p:txBody>
        </p:sp>
        <p:sp>
          <p:nvSpPr>
            <p:cNvPr id="37" name="Pentagon 14">
              <a:extLst>
                <a:ext uri="{FF2B5EF4-FFF2-40B4-BE49-F238E27FC236}">
                  <a16:creationId xmlns:a16="http://schemas.microsoft.com/office/drawing/2014/main" id="{F975A4F0-296C-43C0-9855-C1B2D49E0777}"/>
                </a:ext>
              </a:extLst>
            </p:cNvPr>
            <p:cNvSpPr/>
            <p:nvPr/>
          </p:nvSpPr>
          <p:spPr>
            <a:xfrm>
              <a:off x="864437" y="1617132"/>
              <a:ext cx="1584127" cy="3403968"/>
            </a:xfrm>
            <a:prstGeom prst="homePlate">
              <a:avLst/>
            </a:prstGeom>
            <a:solidFill>
              <a:schemeClr val="tx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1">
                  <a:ln>
                    <a:noFill/>
                  </a:ln>
                  <a:solidFill>
                    <a:prstClr val="white"/>
                  </a:solidFill>
                  <a:effectLst/>
                  <a:uLnTx/>
                  <a:uFillTx/>
                  <a:latin typeface="+mj-lt"/>
                  <a:ea typeface="+mn-ea"/>
                  <a:cs typeface="Arial" panose="020B0604020202020204" pitchFamily="34" charset="0"/>
                </a:rPr>
                <a:t>Our Strategy</a:t>
              </a:r>
            </a:p>
          </p:txBody>
        </p:sp>
        <p:sp>
          <p:nvSpPr>
            <p:cNvPr id="38" name="Isosceles Triangle 37">
              <a:extLst>
                <a:ext uri="{FF2B5EF4-FFF2-40B4-BE49-F238E27FC236}">
                  <a16:creationId xmlns:a16="http://schemas.microsoft.com/office/drawing/2014/main" id="{30552EE8-1799-4A28-9FCC-B6A56CBF3629}"/>
                </a:ext>
              </a:extLst>
            </p:cNvPr>
            <p:cNvSpPr/>
            <p:nvPr/>
          </p:nvSpPr>
          <p:spPr>
            <a:xfrm rot="10800000">
              <a:off x="4933829" y="3250664"/>
              <a:ext cx="2000050" cy="282852"/>
            </a:xfrm>
            <a:prstGeom prst="triangle">
              <a:avLst>
                <a:gd name="adj" fmla="val 49774"/>
              </a:avLst>
            </a:prstGeom>
            <a:solidFill>
              <a:schemeClr val="tx2"/>
            </a:solidFill>
            <a:ln w="9525" cap="flat" cmpd="sng" algn="ctr">
              <a:noFill/>
              <a:prstDash val="solid"/>
              <a:miter lim="800000"/>
            </a:ln>
            <a:effectLst/>
          </p:spPr>
          <p:txBody>
            <a:bodyPr lIns="65298" tIns="32649" rIns="65298" bIns="32649" rtlCol="0" anchor="t" anchorCtr="0"/>
            <a:lstStyle/>
            <a:p>
              <a:pPr marL="0" marR="0" lvl="0" indent="0" algn="ctr" defTabSz="91418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1">
                <a:ln>
                  <a:noFill/>
                </a:ln>
                <a:solidFill>
                  <a:srgbClr val="807F83"/>
                </a:solidFill>
                <a:effectLst/>
                <a:uLnTx/>
                <a:uFillTx/>
                <a:latin typeface="+mj-lt"/>
                <a:ea typeface="+mn-ea"/>
                <a:cs typeface="Calibri" panose="020F0502020204030204" pitchFamily="34" charset="0"/>
              </a:endParaRPr>
            </a:p>
          </p:txBody>
        </p:sp>
        <p:sp>
          <p:nvSpPr>
            <p:cNvPr id="39" name="TextBox 38">
              <a:extLst>
                <a:ext uri="{FF2B5EF4-FFF2-40B4-BE49-F238E27FC236}">
                  <a16:creationId xmlns:a16="http://schemas.microsoft.com/office/drawing/2014/main" id="{AD43011D-BA54-4E65-8B31-B162EA213FD1}"/>
                </a:ext>
              </a:extLst>
            </p:cNvPr>
            <p:cNvSpPr txBox="1"/>
            <p:nvPr/>
          </p:nvSpPr>
          <p:spPr>
            <a:xfrm>
              <a:off x="7024710" y="3585265"/>
              <a:ext cx="2044128" cy="1390064"/>
            </a:xfrm>
            <a:prstGeom prst="rect">
              <a:avLst/>
            </a:prstGeom>
            <a:noFill/>
            <a:ln>
              <a:solidFill>
                <a:sysClr val="window" lastClr="FFFFFF">
                  <a:lumMod val="75000"/>
                </a:sysClr>
              </a:solidFill>
            </a:ln>
          </p:spPr>
          <p:txBody>
            <a:bodyPr wrap="square" lIns="0" tIns="0" rIns="0" bIns="0" rtlCol="0" anchor="ctr">
              <a:noAutofit/>
            </a:bodyPr>
            <a:lstStyle/>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Meritocracy - Rewarding high performance</a:t>
              </a:r>
            </a:p>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Active performance management</a:t>
              </a:r>
            </a:p>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Empowerment based on performance and innovation</a:t>
              </a:r>
            </a:p>
          </p:txBody>
        </p:sp>
        <p:sp>
          <p:nvSpPr>
            <p:cNvPr id="40" name="TextBox 39">
              <a:extLst>
                <a:ext uri="{FF2B5EF4-FFF2-40B4-BE49-F238E27FC236}">
                  <a16:creationId xmlns:a16="http://schemas.microsoft.com/office/drawing/2014/main" id="{CB912102-567B-4847-800E-44770B0B0300}"/>
                </a:ext>
              </a:extLst>
            </p:cNvPr>
            <p:cNvSpPr txBox="1"/>
            <p:nvPr/>
          </p:nvSpPr>
          <p:spPr>
            <a:xfrm>
              <a:off x="4933831" y="3591406"/>
              <a:ext cx="2000050" cy="1383600"/>
            </a:xfrm>
            <a:prstGeom prst="rect">
              <a:avLst/>
            </a:prstGeom>
            <a:noFill/>
            <a:ln>
              <a:solidFill>
                <a:sysClr val="window" lastClr="FFFFFF">
                  <a:lumMod val="75000"/>
                </a:sysClr>
              </a:solidFill>
            </a:ln>
          </p:spPr>
          <p:txBody>
            <a:bodyPr wrap="square" lIns="0" tIns="0" rIns="0" bIns="0" rtlCol="0" anchor="ctr">
              <a:noAutofit/>
            </a:bodyPr>
            <a:lstStyle/>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Efficient stations</a:t>
              </a:r>
            </a:p>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Effective support functions</a:t>
              </a:r>
            </a:p>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Streamlined logistics / supply chain</a:t>
              </a:r>
            </a:p>
          </p:txBody>
        </p:sp>
        <p:sp>
          <p:nvSpPr>
            <p:cNvPr id="41" name="Left-Right Arrow 18">
              <a:extLst>
                <a:ext uri="{FF2B5EF4-FFF2-40B4-BE49-F238E27FC236}">
                  <a16:creationId xmlns:a16="http://schemas.microsoft.com/office/drawing/2014/main" id="{83FA56B6-11F2-450B-BCF4-7D57847BBAC6}"/>
                </a:ext>
              </a:extLst>
            </p:cNvPr>
            <p:cNvSpPr/>
            <p:nvPr/>
          </p:nvSpPr>
          <p:spPr>
            <a:xfrm>
              <a:off x="2586494" y="5557707"/>
              <a:ext cx="8574026" cy="551854"/>
            </a:xfrm>
            <a:prstGeom prst="leftRightArrow">
              <a:avLst>
                <a:gd name="adj1" fmla="val 50000"/>
                <a:gd name="adj2" fmla="val 51020"/>
              </a:avLst>
            </a:prstGeom>
            <a:solidFill>
              <a:srgbClr val="64646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400" kern="0" dirty="0">
                  <a:solidFill>
                    <a:prstClr val="white"/>
                  </a:solidFill>
                  <a:latin typeface="+mj-lt"/>
                  <a:cs typeface="Arial" panose="020B0604020202020204" pitchFamily="34" charset="0"/>
                </a:rPr>
                <a:t>Results oriented processes</a:t>
              </a:r>
              <a:endParaRPr kumimoji="0" lang="en-GB" sz="1400" b="0" i="0" u="none" strike="noStrike" kern="0" cap="none" spc="0" normalizeH="0" baseline="0" noProof="0" dirty="0">
                <a:ln>
                  <a:noFill/>
                </a:ln>
                <a:solidFill>
                  <a:prstClr val="white"/>
                </a:solidFill>
                <a:effectLst/>
                <a:uLnTx/>
                <a:uFillTx/>
                <a:latin typeface="+mj-lt"/>
                <a:ea typeface="+mn-ea"/>
                <a:cs typeface="Arial" panose="020B0604020202020204" pitchFamily="34" charset="0"/>
              </a:endParaRPr>
            </a:p>
          </p:txBody>
        </p:sp>
        <p:sp>
          <p:nvSpPr>
            <p:cNvPr id="42" name="Pentagon 19">
              <a:extLst>
                <a:ext uri="{FF2B5EF4-FFF2-40B4-BE49-F238E27FC236}">
                  <a16:creationId xmlns:a16="http://schemas.microsoft.com/office/drawing/2014/main" id="{DE1611BD-A1AA-4E9A-AD60-3EE3D376E66B}"/>
                </a:ext>
              </a:extLst>
            </p:cNvPr>
            <p:cNvSpPr/>
            <p:nvPr/>
          </p:nvSpPr>
          <p:spPr>
            <a:xfrm>
              <a:off x="864437" y="5104767"/>
              <a:ext cx="1584127" cy="1461005"/>
            </a:xfrm>
            <a:prstGeom prst="homePlate">
              <a:avLst/>
            </a:prstGeom>
            <a:solidFill>
              <a:schemeClr val="tx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1">
                  <a:ln>
                    <a:noFill/>
                  </a:ln>
                  <a:solidFill>
                    <a:prstClr val="white"/>
                  </a:solidFill>
                  <a:effectLst/>
                  <a:uLnTx/>
                  <a:uFillTx/>
                  <a:latin typeface="+mj-lt"/>
                  <a:ea typeface="+mn-ea"/>
                  <a:cs typeface="Arial" panose="020B0604020202020204" pitchFamily="34" charset="0"/>
                </a:rPr>
                <a:t>Key enablers</a:t>
              </a:r>
            </a:p>
          </p:txBody>
        </p:sp>
        <p:sp>
          <p:nvSpPr>
            <p:cNvPr id="43" name="Isosceles Triangle 42">
              <a:extLst>
                <a:ext uri="{FF2B5EF4-FFF2-40B4-BE49-F238E27FC236}">
                  <a16:creationId xmlns:a16="http://schemas.microsoft.com/office/drawing/2014/main" id="{A25D5E98-D439-4623-9B15-D6959F1F0BA6}"/>
                </a:ext>
              </a:extLst>
            </p:cNvPr>
            <p:cNvSpPr/>
            <p:nvPr/>
          </p:nvSpPr>
          <p:spPr>
            <a:xfrm rot="10800000">
              <a:off x="7010169" y="3250664"/>
              <a:ext cx="2044128" cy="282852"/>
            </a:xfrm>
            <a:prstGeom prst="triangle">
              <a:avLst>
                <a:gd name="adj" fmla="val 49774"/>
              </a:avLst>
            </a:prstGeom>
            <a:solidFill>
              <a:schemeClr val="tx2"/>
            </a:solidFill>
            <a:ln w="9525" cap="flat" cmpd="sng" algn="ctr">
              <a:noFill/>
              <a:prstDash val="solid"/>
              <a:miter lim="800000"/>
            </a:ln>
            <a:effectLst/>
          </p:spPr>
          <p:txBody>
            <a:bodyPr lIns="65298" tIns="32649" rIns="65298" bIns="32649" rtlCol="0" anchor="t" anchorCtr="0"/>
            <a:lstStyle/>
            <a:p>
              <a:pPr marL="0" marR="0" lvl="0" indent="0" algn="ctr" defTabSz="91418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1">
                <a:ln>
                  <a:noFill/>
                </a:ln>
                <a:solidFill>
                  <a:srgbClr val="807F83"/>
                </a:solidFill>
                <a:effectLst/>
                <a:uLnTx/>
                <a:uFillTx/>
                <a:latin typeface="+mj-lt"/>
                <a:ea typeface="+mn-ea"/>
                <a:cs typeface="Calibri" panose="020F0502020204030204" pitchFamily="34" charset="0"/>
              </a:endParaRPr>
            </a:p>
          </p:txBody>
        </p:sp>
        <p:sp>
          <p:nvSpPr>
            <p:cNvPr id="44" name="TextBox 43">
              <a:extLst>
                <a:ext uri="{FF2B5EF4-FFF2-40B4-BE49-F238E27FC236}">
                  <a16:creationId xmlns:a16="http://schemas.microsoft.com/office/drawing/2014/main" id="{C60338C6-222C-4827-A0C0-C4DF76946886}"/>
                </a:ext>
              </a:extLst>
            </p:cNvPr>
            <p:cNvSpPr txBox="1"/>
            <p:nvPr/>
          </p:nvSpPr>
          <p:spPr>
            <a:xfrm>
              <a:off x="2736593" y="3591405"/>
              <a:ext cx="2120894" cy="1383600"/>
            </a:xfrm>
            <a:prstGeom prst="rect">
              <a:avLst/>
            </a:prstGeom>
            <a:noFill/>
            <a:ln>
              <a:solidFill>
                <a:sysClr val="window" lastClr="FFFFFF">
                  <a:lumMod val="75000"/>
                </a:sysClr>
              </a:solidFill>
            </a:ln>
          </p:spPr>
          <p:txBody>
            <a:bodyPr wrap="square" lIns="0" tIns="0" rIns="0" bIns="0" rtlCol="0" anchor="ctr">
              <a:noAutofit/>
            </a:bodyPr>
            <a:lstStyle/>
            <a:p>
              <a:pPr marL="228600" marR="0" lvl="0" indent="-174625" defTabSz="914400" eaLnBrk="1" fontAlgn="auto" latinLnBrk="0" hangingPunct="1">
                <a:lnSpc>
                  <a:spcPct val="100000"/>
                </a:lnSpc>
                <a:spcBef>
                  <a:spcPts val="0"/>
                </a:spcBef>
                <a:spcAft>
                  <a:spcPts val="500"/>
                </a:spcAft>
                <a:buClrTx/>
                <a:buSzTx/>
                <a:buFont typeface="+mj-lt"/>
                <a:buAutoNum type="alphaLcParenR"/>
                <a:tabLst/>
                <a:defRPr/>
              </a:pPr>
              <a:r>
                <a:rPr kumimoji="0" lang="en-GB" sz="1100" b="0" i="0" u="none" strike="noStrike" kern="0" cap="none" spc="0" normalizeH="0" baseline="0" noProof="0" dirty="0">
                  <a:ln>
                    <a:noFill/>
                  </a:ln>
                  <a:solidFill>
                    <a:prstClr val="black"/>
                  </a:solidFill>
                  <a:effectLst/>
                  <a:uLnTx/>
                  <a:uFillTx/>
                  <a:latin typeface="+mj-lt"/>
                  <a:cs typeface="Arial" panose="020B0604020202020204" pitchFamily="34" charset="0"/>
                </a:rPr>
                <a:t>Fuel</a:t>
              </a:r>
              <a:r>
                <a:rPr kumimoji="0" lang="en-GB" sz="1100" b="0" i="0" u="none" strike="noStrike" kern="0" cap="none" spc="0" normalizeH="0" noProof="0" dirty="0">
                  <a:ln>
                    <a:noFill/>
                  </a:ln>
                  <a:solidFill>
                    <a:prstClr val="black"/>
                  </a:solidFill>
                  <a:effectLst/>
                  <a:uLnTx/>
                  <a:uFillTx/>
                  <a:latin typeface="+mj-lt"/>
                  <a:cs typeface="Arial" panose="020B0604020202020204" pitchFamily="34" charset="0"/>
                </a:rPr>
                <a:t> retail: Premium service, [COUNTRY] expansion, Premiumisation</a:t>
              </a:r>
            </a:p>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Non-fuel retail: C-Stores, Allied Services</a:t>
              </a:r>
            </a:p>
            <a:p>
              <a:pPr marL="228600" lvl="0" indent="-174625">
                <a:buFont typeface="+mj-lt"/>
                <a:buAutoNum type="alphaLcParenR"/>
                <a:defRPr/>
              </a:pPr>
              <a:r>
                <a:rPr lang="en-GB" sz="1100" kern="0" dirty="0">
                  <a:solidFill>
                    <a:prstClr val="black"/>
                  </a:solidFill>
                  <a:cs typeface="Arial" panose="020B0604020202020204" pitchFamily="34" charset="0"/>
                </a:rPr>
                <a:t>New business: International expansion, Lubricants</a:t>
              </a:r>
            </a:p>
          </p:txBody>
        </p:sp>
      </p:grpSp>
      <p:sp>
        <p:nvSpPr>
          <p:cNvPr id="45" name="TextBox 44">
            <a:extLst>
              <a:ext uri="{FF2B5EF4-FFF2-40B4-BE49-F238E27FC236}">
                <a16:creationId xmlns:a16="http://schemas.microsoft.com/office/drawing/2014/main" id="{89538B36-DBA5-40D1-A140-B62F7AF8EFF0}"/>
              </a:ext>
            </a:extLst>
          </p:cNvPr>
          <p:cNvSpPr txBox="1"/>
          <p:nvPr/>
        </p:nvSpPr>
        <p:spPr>
          <a:xfrm>
            <a:off x="9503308" y="3010192"/>
            <a:ext cx="2132916" cy="333211"/>
          </a:xfrm>
          <a:prstGeom prst="rect">
            <a:avLst/>
          </a:prstGeom>
          <a:solidFill>
            <a:sysClr val="window" lastClr="FFFFFF">
              <a:lumMod val="75000"/>
            </a:sysClr>
          </a:solidFill>
          <a:ln>
            <a:solidFill>
              <a:sysClr val="window" lastClr="FFFFFF">
                <a:lumMod val="75000"/>
              </a:sys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black"/>
                </a:solidFill>
                <a:effectLst/>
                <a:uLnTx/>
                <a:uFillTx/>
                <a:latin typeface="+mj-lt"/>
                <a:cs typeface="Arial" panose="020B0604020202020204" pitchFamily="34" charset="0"/>
              </a:rPr>
              <a:t>Digital Leadership</a:t>
            </a:r>
          </a:p>
        </p:txBody>
      </p:sp>
      <p:sp>
        <p:nvSpPr>
          <p:cNvPr id="46" name="TextBox 45">
            <a:extLst>
              <a:ext uri="{FF2B5EF4-FFF2-40B4-BE49-F238E27FC236}">
                <a16:creationId xmlns:a16="http://schemas.microsoft.com/office/drawing/2014/main" id="{5F0C2BF5-A5BF-4CE5-BB5F-82A947C60DEE}"/>
              </a:ext>
            </a:extLst>
          </p:cNvPr>
          <p:cNvSpPr txBox="1"/>
          <p:nvPr/>
        </p:nvSpPr>
        <p:spPr>
          <a:xfrm>
            <a:off x="9508938" y="3714293"/>
            <a:ext cx="2248272" cy="1275683"/>
          </a:xfrm>
          <a:prstGeom prst="rect">
            <a:avLst/>
          </a:prstGeom>
          <a:noFill/>
          <a:ln>
            <a:solidFill>
              <a:sysClr val="window" lastClr="FFFFFF">
                <a:lumMod val="75000"/>
              </a:sysClr>
            </a:solidFill>
          </a:ln>
        </p:spPr>
        <p:txBody>
          <a:bodyPr wrap="square" lIns="0" tIns="0" rIns="0" bIns="0" rtlCol="0" anchor="ctr">
            <a:noAutofit/>
          </a:bodyPr>
          <a:lstStyle/>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Launch Loyalty and personalization</a:t>
            </a:r>
          </a:p>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Implement Agile rollout of Mobile App &amp; Payments</a:t>
            </a:r>
          </a:p>
          <a:p>
            <a:pPr marL="228600" lvl="0" indent="-174625">
              <a:spcAft>
                <a:spcPts val="500"/>
              </a:spcAft>
              <a:buFont typeface="+mj-lt"/>
              <a:buAutoNum type="alphaLcParenR"/>
              <a:defRPr/>
            </a:pPr>
            <a:r>
              <a:rPr lang="en-GB" sz="1100" kern="0" dirty="0">
                <a:solidFill>
                  <a:prstClr val="black"/>
                </a:solidFill>
                <a:cs typeface="Arial" panose="020B0604020202020204" pitchFamily="34" charset="0"/>
              </a:rPr>
              <a:t>Launch data-driven quick wins and use-case driven data governance  </a:t>
            </a:r>
          </a:p>
        </p:txBody>
      </p:sp>
      <p:sp>
        <p:nvSpPr>
          <p:cNvPr id="47" name="Isosceles Triangle 46">
            <a:extLst>
              <a:ext uri="{FF2B5EF4-FFF2-40B4-BE49-F238E27FC236}">
                <a16:creationId xmlns:a16="http://schemas.microsoft.com/office/drawing/2014/main" id="{54698AEE-C21D-425D-B212-52E6AE4ABE42}"/>
              </a:ext>
            </a:extLst>
          </p:cNvPr>
          <p:cNvSpPr/>
          <p:nvPr/>
        </p:nvSpPr>
        <p:spPr>
          <a:xfrm rot="10800000">
            <a:off x="9492945" y="3406763"/>
            <a:ext cx="2248272" cy="259638"/>
          </a:xfrm>
          <a:prstGeom prst="triangle">
            <a:avLst>
              <a:gd name="adj" fmla="val 49774"/>
            </a:avLst>
          </a:prstGeom>
          <a:solidFill>
            <a:schemeClr val="tx2"/>
          </a:solidFill>
          <a:ln w="9525" cap="flat" cmpd="sng" algn="ctr">
            <a:noFill/>
            <a:prstDash val="solid"/>
            <a:miter lim="800000"/>
          </a:ln>
          <a:effectLst/>
        </p:spPr>
        <p:txBody>
          <a:bodyPr lIns="65298" tIns="32649" rIns="65298" bIns="32649" rtlCol="0" anchor="t" anchorCtr="0"/>
          <a:lstStyle/>
          <a:p>
            <a:pPr marL="0" marR="0" lvl="0" indent="0" algn="ctr" defTabSz="91418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1">
              <a:ln>
                <a:noFill/>
              </a:ln>
              <a:solidFill>
                <a:srgbClr val="807F83"/>
              </a:solidFill>
              <a:effectLst/>
              <a:uLnTx/>
              <a:uFillTx/>
              <a:latin typeface="+mj-lt"/>
              <a:ea typeface="+mn-ea"/>
              <a:cs typeface="Calibri" panose="020F0502020204030204" pitchFamily="34" charset="0"/>
            </a:endParaRPr>
          </a:p>
        </p:txBody>
      </p:sp>
    </p:spTree>
    <p:extLst>
      <p:ext uri="{BB962C8B-B14F-4D97-AF65-F5344CB8AC3E}">
        <p14:creationId xmlns:p14="http://schemas.microsoft.com/office/powerpoint/2010/main" val="1669995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45ED723-4BAF-4135-A7D8-68492A7BC611}"/>
              </a:ext>
            </a:extLst>
          </p:cNvPr>
          <p:cNvGraphicFramePr>
            <a:graphicFrameLocks noChangeAspect="1"/>
          </p:cNvGraphicFramePr>
          <p:nvPr>
            <p:custDataLst>
              <p:tags r:id="rId1"/>
            </p:custDataLst>
            <p:extLst>
              <p:ext uri="{D42A27DB-BD31-4B8C-83A1-F6EECF244321}">
                <p14:modId xmlns:p14="http://schemas.microsoft.com/office/powerpoint/2010/main" val="3080390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145ED723-4BAF-4135-A7D8-68492A7BC61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75E41C30-AB8D-47F8-BF5F-87CE4490F9D5}"/>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80000"/>
              </a:lnSpc>
              <a:spcBef>
                <a:spcPct val="0"/>
              </a:spcBef>
              <a:spcAft>
                <a:spcPct val="0"/>
              </a:spcAft>
            </a:pPr>
            <a:endParaRPr lang="en-US" sz="2800" b="1" dirty="0" err="1">
              <a:latin typeface="Arial" panose="020B0604020202020204" pitchFamily="34" charset="0"/>
              <a:ea typeface="SimHei" panose="02010609060101010101" pitchFamily="49" charset="-122"/>
              <a:cs typeface="Arial Unicode MS" panose="020B0604020202020204" pitchFamily="34" charset="-128"/>
              <a:sym typeface="Arial" panose="020B0604020202020204" pitchFamily="34" charset="0"/>
            </a:endParaRPr>
          </a:p>
        </p:txBody>
      </p:sp>
      <p:sp>
        <p:nvSpPr>
          <p:cNvPr id="5" name="Rectangle 4"/>
          <p:cNvSpPr/>
          <p:nvPr/>
        </p:nvSpPr>
        <p:spPr>
          <a:xfrm>
            <a:off x="599783" y="987543"/>
            <a:ext cx="9743814" cy="558259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grpSp>
        <p:nvGrpSpPr>
          <p:cNvPr id="2" name="Group 1">
            <a:extLst>
              <a:ext uri="{FF2B5EF4-FFF2-40B4-BE49-F238E27FC236}">
                <a16:creationId xmlns:a16="http://schemas.microsoft.com/office/drawing/2014/main" id="{DAE3A205-7E16-4F19-8D5A-11D4E1DFA474}"/>
              </a:ext>
            </a:extLst>
          </p:cNvPr>
          <p:cNvGrpSpPr/>
          <p:nvPr/>
        </p:nvGrpSpPr>
        <p:grpSpPr>
          <a:xfrm>
            <a:off x="881104" y="2014998"/>
            <a:ext cx="9127899" cy="2841834"/>
            <a:chOff x="563885" y="2014994"/>
            <a:chExt cx="9394805" cy="2286778"/>
          </a:xfrm>
        </p:grpSpPr>
        <p:sp>
          <p:nvSpPr>
            <p:cNvPr id="152" name="Rectangle 151">
              <a:extLst>
                <a:ext uri="{FF2B5EF4-FFF2-40B4-BE49-F238E27FC236}">
                  <a16:creationId xmlns:a16="http://schemas.microsoft.com/office/drawing/2014/main" id="{575ECD87-94DE-4E87-A7F1-879350C15139}"/>
                </a:ext>
              </a:extLst>
            </p:cNvPr>
            <p:cNvSpPr/>
            <p:nvPr/>
          </p:nvSpPr>
          <p:spPr>
            <a:xfrm>
              <a:off x="8907320" y="2030158"/>
              <a:ext cx="1042121" cy="731520"/>
            </a:xfrm>
            <a:prstGeom prst="rect">
              <a:avLst/>
            </a:prstGeom>
            <a:solidFill>
              <a:schemeClr val="tx2"/>
            </a:solidFill>
            <a:ln w="12700" cap="flat" cmpd="sng" algn="ctr">
              <a:noFill/>
              <a:prstDash val="solid"/>
              <a:miter lim="800000"/>
            </a:ln>
            <a:effectLst/>
          </p:spPr>
          <p:txBody>
            <a:bodyPr lIns="0" r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Network Planning</a:t>
              </a:r>
            </a:p>
          </p:txBody>
        </p:sp>
        <p:sp>
          <p:nvSpPr>
            <p:cNvPr id="153" name="Rectangle 152">
              <a:extLst>
                <a:ext uri="{FF2B5EF4-FFF2-40B4-BE49-F238E27FC236}">
                  <a16:creationId xmlns:a16="http://schemas.microsoft.com/office/drawing/2014/main" id="{CBEFEDB8-93F5-4005-A3AF-D3DE612AE8E7}"/>
                </a:ext>
              </a:extLst>
            </p:cNvPr>
            <p:cNvSpPr/>
            <p:nvPr/>
          </p:nvSpPr>
          <p:spPr>
            <a:xfrm>
              <a:off x="5369933" y="2030158"/>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Control CAPEX</a:t>
              </a:r>
            </a:p>
          </p:txBody>
        </p:sp>
        <p:sp>
          <p:nvSpPr>
            <p:cNvPr id="154" name="Rectangle 153">
              <a:extLst>
                <a:ext uri="{FF2B5EF4-FFF2-40B4-BE49-F238E27FC236}">
                  <a16:creationId xmlns:a16="http://schemas.microsoft.com/office/drawing/2014/main" id="{92636FEF-C9D5-4832-873C-51F5C4036CD5}"/>
                </a:ext>
              </a:extLst>
            </p:cNvPr>
            <p:cNvSpPr/>
            <p:nvPr/>
          </p:nvSpPr>
          <p:spPr>
            <a:xfrm>
              <a:off x="5369933" y="2796872"/>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rPr>
                <a:t>Supply Chain Cost</a:t>
              </a:r>
            </a:p>
          </p:txBody>
        </p:sp>
        <p:sp>
          <p:nvSpPr>
            <p:cNvPr id="155" name="Rectangle 154">
              <a:extLst>
                <a:ext uri="{FF2B5EF4-FFF2-40B4-BE49-F238E27FC236}">
                  <a16:creationId xmlns:a16="http://schemas.microsoft.com/office/drawing/2014/main" id="{F195E35A-9B25-4FBA-BA4F-6B7A7495B0E9}"/>
                </a:ext>
              </a:extLst>
            </p:cNvPr>
            <p:cNvSpPr/>
            <p:nvPr/>
          </p:nvSpPr>
          <p:spPr>
            <a:xfrm>
              <a:off x="5369933" y="3554877"/>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Support Function Cost</a:t>
              </a:r>
            </a:p>
          </p:txBody>
        </p:sp>
        <p:sp>
          <p:nvSpPr>
            <p:cNvPr id="156" name="Rectangle 155">
              <a:extLst>
                <a:ext uri="{FF2B5EF4-FFF2-40B4-BE49-F238E27FC236}">
                  <a16:creationId xmlns:a16="http://schemas.microsoft.com/office/drawing/2014/main" id="{85F4AD5F-62B0-4C3A-904C-A29D9AE0C86C}"/>
                </a:ext>
              </a:extLst>
            </p:cNvPr>
            <p:cNvSpPr/>
            <p:nvPr/>
          </p:nvSpPr>
          <p:spPr>
            <a:xfrm>
              <a:off x="2985277" y="2038864"/>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C-store Strategy</a:t>
              </a:r>
            </a:p>
          </p:txBody>
        </p:sp>
        <p:sp>
          <p:nvSpPr>
            <p:cNvPr id="157" name="Rectangle 156">
              <a:extLst>
                <a:ext uri="{FF2B5EF4-FFF2-40B4-BE49-F238E27FC236}">
                  <a16:creationId xmlns:a16="http://schemas.microsoft.com/office/drawing/2014/main" id="{C95FCE84-05EC-4417-A66D-F8207484F796}"/>
                </a:ext>
              </a:extLst>
            </p:cNvPr>
            <p:cNvSpPr/>
            <p:nvPr/>
          </p:nvSpPr>
          <p:spPr>
            <a:xfrm>
              <a:off x="2985277" y="2796868"/>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Car</a:t>
              </a:r>
              <a:r>
                <a:rPr kumimoji="0" lang="en-US" sz="1100" b="0" i="0" u="none" strike="noStrike" kern="0" cap="none" spc="0" normalizeH="0" noProof="0" dirty="0">
                  <a:ln>
                    <a:noFill/>
                  </a:ln>
                  <a:solidFill>
                    <a:schemeClr val="bg1"/>
                  </a:solidFill>
                  <a:effectLst/>
                  <a:uLnTx/>
                  <a:uFillTx/>
                  <a:ea typeface="+mn-ea"/>
                  <a:cs typeface="+mn-cs"/>
                </a:rPr>
                <a:t> </a:t>
              </a:r>
              <a:r>
                <a:rPr kumimoji="0" lang="en-US" sz="1100" b="0" i="0" u="none" strike="noStrike" kern="0" cap="none" spc="0" normalizeH="0" baseline="0" noProof="0" dirty="0">
                  <a:ln>
                    <a:noFill/>
                  </a:ln>
                  <a:solidFill>
                    <a:schemeClr val="bg1"/>
                  </a:solidFill>
                  <a:effectLst/>
                  <a:uLnTx/>
                  <a:uFillTx/>
                  <a:ea typeface="+mn-ea"/>
                  <a:cs typeface="+mn-cs"/>
                </a:rPr>
                <a:t>Services</a:t>
              </a:r>
            </a:p>
          </p:txBody>
        </p:sp>
        <p:sp>
          <p:nvSpPr>
            <p:cNvPr id="158" name="Rectangle 157">
              <a:extLst>
                <a:ext uri="{FF2B5EF4-FFF2-40B4-BE49-F238E27FC236}">
                  <a16:creationId xmlns:a16="http://schemas.microsoft.com/office/drawing/2014/main" id="{54683756-EBAA-4168-A56A-8A3C3D124B9B}"/>
                </a:ext>
              </a:extLst>
            </p:cNvPr>
            <p:cNvSpPr/>
            <p:nvPr/>
          </p:nvSpPr>
          <p:spPr>
            <a:xfrm>
              <a:off x="2985277" y="3554871"/>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dirty="0">
                  <a:solidFill>
                    <a:schemeClr val="bg1"/>
                  </a:solidFill>
                </a:rPr>
                <a:t>Property Services</a:t>
              </a:r>
              <a:endParaRPr kumimoji="0" lang="en-US" sz="1100" b="0" i="0" u="none" strike="noStrike" kern="0" cap="none" spc="0" normalizeH="0" baseline="0" noProof="0" dirty="0">
                <a:ln>
                  <a:noFill/>
                </a:ln>
                <a:solidFill>
                  <a:schemeClr val="bg1"/>
                </a:solidFill>
                <a:effectLst/>
                <a:uLnTx/>
                <a:uFillTx/>
              </a:endParaRPr>
            </a:p>
          </p:txBody>
        </p:sp>
        <p:sp>
          <p:nvSpPr>
            <p:cNvPr id="159" name="Rectangle 158">
              <a:extLst>
                <a:ext uri="{FF2B5EF4-FFF2-40B4-BE49-F238E27FC236}">
                  <a16:creationId xmlns:a16="http://schemas.microsoft.com/office/drawing/2014/main" id="{2CC49E4C-5D37-4A34-930D-5995C8E952FA}"/>
                </a:ext>
              </a:extLst>
            </p:cNvPr>
            <p:cNvSpPr/>
            <p:nvPr/>
          </p:nvSpPr>
          <p:spPr>
            <a:xfrm>
              <a:off x="4067172" y="2796322"/>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Digital</a:t>
              </a:r>
              <a:r>
                <a:rPr kumimoji="0" lang="en-US" sz="1100" b="0" i="0" u="none" strike="noStrike" kern="0" cap="none" spc="0" normalizeH="0" noProof="0" dirty="0">
                  <a:ln>
                    <a:noFill/>
                  </a:ln>
                  <a:solidFill>
                    <a:schemeClr val="bg1"/>
                  </a:solidFill>
                  <a:effectLst/>
                  <a:uLnTx/>
                  <a:uFillTx/>
                  <a:ea typeface="+mn-ea"/>
                  <a:cs typeface="+mn-cs"/>
                </a:rPr>
                <a:t> Strategy</a:t>
              </a:r>
              <a:endParaRPr kumimoji="0" lang="en-US" sz="1100" b="0" i="0" u="none" strike="noStrike" kern="0" cap="none" spc="0" normalizeH="0" baseline="0" noProof="0" dirty="0">
                <a:ln>
                  <a:noFill/>
                </a:ln>
                <a:solidFill>
                  <a:schemeClr val="bg1"/>
                </a:solidFill>
                <a:effectLst/>
                <a:uLnTx/>
                <a:uFillTx/>
                <a:ea typeface="+mn-ea"/>
                <a:cs typeface="+mn-cs"/>
              </a:endParaRPr>
            </a:p>
          </p:txBody>
        </p:sp>
        <p:sp>
          <p:nvSpPr>
            <p:cNvPr id="160" name="Rectangle 159">
              <a:extLst>
                <a:ext uri="{FF2B5EF4-FFF2-40B4-BE49-F238E27FC236}">
                  <a16:creationId xmlns:a16="http://schemas.microsoft.com/office/drawing/2014/main" id="{D6A2FDA4-BAEA-4959-B15E-AEE945689F14}"/>
                </a:ext>
              </a:extLst>
            </p:cNvPr>
            <p:cNvSpPr/>
            <p:nvPr/>
          </p:nvSpPr>
          <p:spPr>
            <a:xfrm>
              <a:off x="8907320" y="2787618"/>
              <a:ext cx="1042121" cy="731520"/>
            </a:xfrm>
            <a:prstGeom prst="rect">
              <a:avLst/>
            </a:prstGeom>
            <a:solidFill>
              <a:schemeClr val="tx2"/>
            </a:solidFill>
            <a:ln w="12700" cap="flat" cmpd="sng" algn="ctr">
              <a:noFill/>
              <a:prstDash val="solid"/>
              <a:miter lim="800000"/>
            </a:ln>
            <a:effectLst/>
          </p:spPr>
          <p:txBody>
            <a:bodyPr lIns="0" r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My Station</a:t>
              </a:r>
            </a:p>
          </p:txBody>
        </p:sp>
        <p:sp>
          <p:nvSpPr>
            <p:cNvPr id="161" name="Rectangle 160">
              <a:extLst>
                <a:ext uri="{FF2B5EF4-FFF2-40B4-BE49-F238E27FC236}">
                  <a16:creationId xmlns:a16="http://schemas.microsoft.com/office/drawing/2014/main" id="{1A015F31-6BB5-49BA-8820-B47AF74F0458}"/>
                </a:ext>
              </a:extLst>
            </p:cNvPr>
            <p:cNvSpPr/>
            <p:nvPr/>
          </p:nvSpPr>
          <p:spPr>
            <a:xfrm>
              <a:off x="8907320" y="3545077"/>
              <a:ext cx="1042121" cy="731520"/>
            </a:xfrm>
            <a:prstGeom prst="rect">
              <a:avLst/>
            </a:prstGeom>
            <a:solidFill>
              <a:schemeClr val="tx2"/>
            </a:solidFill>
            <a:ln w="12700" cap="flat" cmpd="sng" algn="ctr">
              <a:noFill/>
              <a:prstDash val="solid"/>
              <a:miter lim="800000"/>
            </a:ln>
            <a:effectLst/>
          </p:spPr>
          <p:txBody>
            <a:bodyPr lIns="0" r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chemeClr val="bg1"/>
                  </a:solidFill>
                  <a:effectLst/>
                  <a:uLnTx/>
                  <a:uFillTx/>
                  <a:ea typeface="+mn-ea"/>
                  <a:cs typeface="+mn-cs"/>
                </a:rPr>
                <a:t>Fuel</a:t>
              </a:r>
              <a:r>
                <a:rPr kumimoji="0" lang="en-US" sz="1050" b="0" i="0" u="none" strike="noStrike" kern="0" cap="none" spc="0" normalizeH="0" noProof="0" dirty="0">
                  <a:ln>
                    <a:noFill/>
                  </a:ln>
                  <a:solidFill>
                    <a:schemeClr val="bg1"/>
                  </a:solidFill>
                  <a:effectLst/>
                  <a:uLnTx/>
                  <a:uFillTx/>
                  <a:ea typeface="+mn-ea"/>
                  <a:cs typeface="+mn-cs"/>
                </a:rPr>
                <a:t> Product Differentiation</a:t>
              </a:r>
              <a:endParaRPr kumimoji="0" lang="en-US" sz="1050" b="0" i="0" u="none" strike="noStrike" kern="0" cap="none" spc="0" normalizeH="0" baseline="0" noProof="0" dirty="0">
                <a:ln>
                  <a:noFill/>
                </a:ln>
                <a:solidFill>
                  <a:schemeClr val="bg1"/>
                </a:solidFill>
                <a:effectLst/>
                <a:uLnTx/>
                <a:uFillTx/>
                <a:ea typeface="+mn-ea"/>
                <a:cs typeface="+mn-cs"/>
              </a:endParaRPr>
            </a:p>
          </p:txBody>
        </p:sp>
        <p:sp>
          <p:nvSpPr>
            <p:cNvPr id="162" name="Rectangle 161">
              <a:extLst>
                <a:ext uri="{FF2B5EF4-FFF2-40B4-BE49-F238E27FC236}">
                  <a16:creationId xmlns:a16="http://schemas.microsoft.com/office/drawing/2014/main" id="{6E18D443-B0B1-4C33-82C7-A444EF14FBC7}"/>
                </a:ext>
              </a:extLst>
            </p:cNvPr>
            <p:cNvSpPr/>
            <p:nvPr/>
          </p:nvSpPr>
          <p:spPr>
            <a:xfrm>
              <a:off x="6448871" y="2798259"/>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dirty="0">
                  <a:solidFill>
                    <a:schemeClr val="bg1"/>
                  </a:solidFill>
                </a:rPr>
                <a:t>Third Party Costs</a:t>
              </a:r>
              <a:endParaRPr kumimoji="0" lang="en-US" sz="1100" b="0" i="0" u="none" strike="noStrike" kern="0" cap="none" spc="0" normalizeH="0" baseline="0" noProof="0" dirty="0">
                <a:ln>
                  <a:noFill/>
                </a:ln>
                <a:solidFill>
                  <a:schemeClr val="bg1"/>
                </a:solidFill>
                <a:effectLst/>
                <a:uLnTx/>
                <a:uFillTx/>
              </a:endParaRPr>
            </a:p>
          </p:txBody>
        </p:sp>
        <p:sp>
          <p:nvSpPr>
            <p:cNvPr id="164" name="Rectangle 163">
              <a:extLst>
                <a:ext uri="{FF2B5EF4-FFF2-40B4-BE49-F238E27FC236}">
                  <a16:creationId xmlns:a16="http://schemas.microsoft.com/office/drawing/2014/main" id="{75A40F91-905C-46DB-ADA8-36A6E73E8A6F}"/>
                </a:ext>
              </a:extLst>
            </p:cNvPr>
            <p:cNvSpPr/>
            <p:nvPr/>
          </p:nvSpPr>
          <p:spPr>
            <a:xfrm>
              <a:off x="4068787" y="3553473"/>
              <a:ext cx="1042121" cy="731520"/>
            </a:xfrm>
            <a:prstGeom prst="rect">
              <a:avLst/>
            </a:prstGeom>
            <a:solidFill>
              <a:schemeClr val="tx2"/>
            </a:solidFill>
            <a:ln w="12700" cap="flat" cmpd="sng" algn="ctr">
              <a:noFill/>
              <a:prstDash val="solid"/>
              <a:miter lim="800000"/>
            </a:ln>
            <a:effectLst/>
          </p:spPr>
          <p:txBody>
            <a:bodyPr lIns="0" rIns="0" rtlCol="0" anchor="t"/>
            <a:lstStyle/>
            <a:p>
              <a:pPr lvl="0" algn="ctr">
                <a:defRPr/>
              </a:pPr>
              <a:r>
                <a:rPr lang="en-US" sz="1100" kern="0" dirty="0">
                  <a:solidFill>
                    <a:schemeClr val="bg1"/>
                  </a:solidFill>
                </a:rPr>
                <a:t>CRM / Loyalty</a:t>
              </a:r>
            </a:p>
          </p:txBody>
        </p:sp>
        <p:sp>
          <p:nvSpPr>
            <p:cNvPr id="165" name="Rectangle 164">
              <a:extLst>
                <a:ext uri="{FF2B5EF4-FFF2-40B4-BE49-F238E27FC236}">
                  <a16:creationId xmlns:a16="http://schemas.microsoft.com/office/drawing/2014/main" id="{B4322B2C-1DDF-4164-BCD0-E6693CD6D109}"/>
                </a:ext>
              </a:extLst>
            </p:cNvPr>
            <p:cNvSpPr/>
            <p:nvPr/>
          </p:nvSpPr>
          <p:spPr>
            <a:xfrm>
              <a:off x="583478" y="2030155"/>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Flex</a:t>
              </a:r>
            </a:p>
          </p:txBody>
        </p:sp>
        <p:sp>
          <p:nvSpPr>
            <p:cNvPr id="166" name="Rectangle 165">
              <a:extLst>
                <a:ext uri="{FF2B5EF4-FFF2-40B4-BE49-F238E27FC236}">
                  <a16:creationId xmlns:a16="http://schemas.microsoft.com/office/drawing/2014/main" id="{B72107D3-5890-40D2-B265-BF22B8FE8FAF}"/>
                </a:ext>
              </a:extLst>
            </p:cNvPr>
            <p:cNvSpPr/>
            <p:nvPr/>
          </p:nvSpPr>
          <p:spPr>
            <a:xfrm>
              <a:off x="583478" y="2788708"/>
              <a:ext cx="1042121" cy="731520"/>
            </a:xfrm>
            <a:prstGeom prst="rect">
              <a:avLst/>
            </a:prstGeom>
            <a:solidFill>
              <a:schemeClr val="tx2"/>
            </a:solidFill>
            <a:ln w="12700" cap="flat" cmpd="sng" algn="ctr">
              <a:noFill/>
              <a:prstDash val="solid"/>
              <a:miter lim="800000"/>
            </a:ln>
            <a:effectLst/>
          </p:spPr>
          <p:txBody>
            <a:bodyPr lIns="36000" rIns="36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NE Expansion</a:t>
              </a:r>
            </a:p>
          </p:txBody>
        </p:sp>
        <p:sp>
          <p:nvSpPr>
            <p:cNvPr id="167" name="Rectangle 166">
              <a:extLst>
                <a:ext uri="{FF2B5EF4-FFF2-40B4-BE49-F238E27FC236}">
                  <a16:creationId xmlns:a16="http://schemas.microsoft.com/office/drawing/2014/main" id="{598BC3F7-CD82-41C9-8B44-CF86F48C8E81}"/>
                </a:ext>
              </a:extLst>
            </p:cNvPr>
            <p:cNvSpPr/>
            <p:nvPr/>
          </p:nvSpPr>
          <p:spPr>
            <a:xfrm>
              <a:off x="583478" y="3547655"/>
              <a:ext cx="1042121" cy="731520"/>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City Gas Carve-out</a:t>
              </a:r>
            </a:p>
          </p:txBody>
        </p:sp>
        <p:sp>
          <p:nvSpPr>
            <p:cNvPr id="168" name="Rectangle 167">
              <a:extLst>
                <a:ext uri="{FF2B5EF4-FFF2-40B4-BE49-F238E27FC236}">
                  <a16:creationId xmlns:a16="http://schemas.microsoft.com/office/drawing/2014/main" id="{1F64462F-04AD-40FC-AC49-E92F6071D1BF}"/>
                </a:ext>
              </a:extLst>
            </p:cNvPr>
            <p:cNvSpPr/>
            <p:nvPr/>
          </p:nvSpPr>
          <p:spPr>
            <a:xfrm>
              <a:off x="1665385" y="2032275"/>
              <a:ext cx="1042121" cy="731520"/>
            </a:xfrm>
            <a:prstGeom prst="rect">
              <a:avLst/>
            </a:prstGeom>
            <a:solidFill>
              <a:schemeClr val="tx2"/>
            </a:solidFill>
            <a:ln w="12700" cap="flat" cmpd="sng" algn="ctr">
              <a:noFill/>
              <a:prstDash val="solid"/>
              <a:miter lim="800000"/>
            </a:ln>
            <a:effectLst/>
          </p:spPr>
          <p:txBody>
            <a:bodyPr lIns="0" r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dirty="0">
                  <a:solidFill>
                    <a:schemeClr val="bg1"/>
                  </a:solidFill>
                </a:rPr>
                <a:t>[COUNTRY]</a:t>
              </a:r>
              <a:r>
                <a:rPr kumimoji="0" lang="en-US" sz="1100" b="0" i="0" u="none" strike="noStrike" kern="0" cap="none" spc="0" normalizeH="0" baseline="0" noProof="0" dirty="0">
                  <a:ln>
                    <a:noFill/>
                  </a:ln>
                  <a:solidFill>
                    <a:schemeClr val="bg1"/>
                  </a:solidFill>
                  <a:effectLst/>
                  <a:uLnTx/>
                  <a:uFillTx/>
                  <a:ea typeface="+mn-ea"/>
                  <a:cs typeface="+mn-cs"/>
                </a:rPr>
                <a:t> Expansion</a:t>
              </a:r>
            </a:p>
          </p:txBody>
        </p:sp>
        <p:sp>
          <p:nvSpPr>
            <p:cNvPr id="169" name="Rectangle 168">
              <a:extLst>
                <a:ext uri="{FF2B5EF4-FFF2-40B4-BE49-F238E27FC236}">
                  <a16:creationId xmlns:a16="http://schemas.microsoft.com/office/drawing/2014/main" id="{684CFDF3-54B8-4BB2-BBED-1D1BC1405337}"/>
                </a:ext>
              </a:extLst>
            </p:cNvPr>
            <p:cNvSpPr/>
            <p:nvPr/>
          </p:nvSpPr>
          <p:spPr>
            <a:xfrm>
              <a:off x="1665385" y="2789965"/>
              <a:ext cx="1042121" cy="731520"/>
            </a:xfrm>
            <a:prstGeom prst="rect">
              <a:avLst/>
            </a:prstGeom>
            <a:solidFill>
              <a:schemeClr val="tx2"/>
            </a:solidFill>
            <a:ln w="12700" cap="flat" cmpd="sng" algn="ctr">
              <a:noFill/>
              <a:prstDash val="solid"/>
              <a:miter lim="800000"/>
            </a:ln>
            <a:effectLst/>
          </p:spPr>
          <p:txBody>
            <a:bodyPr lIns="36000" rIns="36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chemeClr val="bg1"/>
                  </a:solidFill>
                  <a:effectLst/>
                  <a:uLnTx/>
                  <a:uFillTx/>
                  <a:ea typeface="+mn-ea"/>
                  <a:cs typeface="+mn-cs"/>
                </a:rPr>
                <a:t>B2B Growth</a:t>
              </a:r>
            </a:p>
          </p:txBody>
        </p:sp>
        <p:sp>
          <p:nvSpPr>
            <p:cNvPr id="172" name="Rectangle 171">
              <a:extLst>
                <a:ext uri="{FF2B5EF4-FFF2-40B4-BE49-F238E27FC236}">
                  <a16:creationId xmlns:a16="http://schemas.microsoft.com/office/drawing/2014/main" id="{6078303D-9CDD-466F-8834-3C3A2CBFF783}"/>
                </a:ext>
              </a:extLst>
            </p:cNvPr>
            <p:cNvSpPr/>
            <p:nvPr/>
          </p:nvSpPr>
          <p:spPr>
            <a:xfrm>
              <a:off x="1665153" y="2775147"/>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73" name="Rectangle 172">
              <a:extLst>
                <a:ext uri="{FF2B5EF4-FFF2-40B4-BE49-F238E27FC236}">
                  <a16:creationId xmlns:a16="http://schemas.microsoft.com/office/drawing/2014/main" id="{AE088DCD-50AD-4254-8076-790F13E97059}"/>
                </a:ext>
              </a:extLst>
            </p:cNvPr>
            <p:cNvSpPr/>
            <p:nvPr/>
          </p:nvSpPr>
          <p:spPr>
            <a:xfrm>
              <a:off x="576779" y="2769262"/>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77" name="Rectangle 176">
              <a:extLst>
                <a:ext uri="{FF2B5EF4-FFF2-40B4-BE49-F238E27FC236}">
                  <a16:creationId xmlns:a16="http://schemas.microsoft.com/office/drawing/2014/main" id="{C27CF706-8FB7-4F84-917B-48175F12FF50}"/>
                </a:ext>
              </a:extLst>
            </p:cNvPr>
            <p:cNvSpPr/>
            <p:nvPr/>
          </p:nvSpPr>
          <p:spPr>
            <a:xfrm>
              <a:off x="563885" y="3538310"/>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78" name="Rectangle 177">
              <a:extLst>
                <a:ext uri="{FF2B5EF4-FFF2-40B4-BE49-F238E27FC236}">
                  <a16:creationId xmlns:a16="http://schemas.microsoft.com/office/drawing/2014/main" id="{595F965A-5E4E-493D-8673-C48A29E1A64E}"/>
                </a:ext>
              </a:extLst>
            </p:cNvPr>
            <p:cNvSpPr/>
            <p:nvPr/>
          </p:nvSpPr>
          <p:spPr>
            <a:xfrm>
              <a:off x="2972674" y="2027123"/>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80" name="Rectangle 179">
              <a:extLst>
                <a:ext uri="{FF2B5EF4-FFF2-40B4-BE49-F238E27FC236}">
                  <a16:creationId xmlns:a16="http://schemas.microsoft.com/office/drawing/2014/main" id="{3227AC3E-FDD8-4443-A5D4-365DE896AF3D}"/>
                </a:ext>
              </a:extLst>
            </p:cNvPr>
            <p:cNvSpPr/>
            <p:nvPr/>
          </p:nvSpPr>
          <p:spPr>
            <a:xfrm>
              <a:off x="4053676" y="2785998"/>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84" name="Rectangle 183">
              <a:extLst>
                <a:ext uri="{FF2B5EF4-FFF2-40B4-BE49-F238E27FC236}">
                  <a16:creationId xmlns:a16="http://schemas.microsoft.com/office/drawing/2014/main" id="{33F28E55-DA6A-48F5-8C55-E0E6C5195A41}"/>
                </a:ext>
              </a:extLst>
            </p:cNvPr>
            <p:cNvSpPr/>
            <p:nvPr/>
          </p:nvSpPr>
          <p:spPr>
            <a:xfrm>
              <a:off x="2972674" y="2785998"/>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85" name="Rectangle 184">
              <a:extLst>
                <a:ext uri="{FF2B5EF4-FFF2-40B4-BE49-F238E27FC236}">
                  <a16:creationId xmlns:a16="http://schemas.microsoft.com/office/drawing/2014/main" id="{6E94F705-9557-4D54-90E4-24493A1D8CFC}"/>
                </a:ext>
              </a:extLst>
            </p:cNvPr>
            <p:cNvSpPr/>
            <p:nvPr/>
          </p:nvSpPr>
          <p:spPr>
            <a:xfrm>
              <a:off x="2972674" y="3538310"/>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87" name="Rectangle 186">
              <a:extLst>
                <a:ext uri="{FF2B5EF4-FFF2-40B4-BE49-F238E27FC236}">
                  <a16:creationId xmlns:a16="http://schemas.microsoft.com/office/drawing/2014/main" id="{51D68979-A095-4233-B72F-9981B381B947}"/>
                </a:ext>
              </a:extLst>
            </p:cNvPr>
            <p:cNvSpPr/>
            <p:nvPr/>
          </p:nvSpPr>
          <p:spPr>
            <a:xfrm>
              <a:off x="4053676" y="3538310"/>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91" name="Rectangle 190">
              <a:extLst>
                <a:ext uri="{FF2B5EF4-FFF2-40B4-BE49-F238E27FC236}">
                  <a16:creationId xmlns:a16="http://schemas.microsoft.com/office/drawing/2014/main" id="{46510603-7781-4C64-8AC5-DE620C8C4C51}"/>
                </a:ext>
              </a:extLst>
            </p:cNvPr>
            <p:cNvSpPr/>
            <p:nvPr/>
          </p:nvSpPr>
          <p:spPr>
            <a:xfrm>
              <a:off x="5355647" y="2022360"/>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92" name="Rectangle 191">
              <a:extLst>
                <a:ext uri="{FF2B5EF4-FFF2-40B4-BE49-F238E27FC236}">
                  <a16:creationId xmlns:a16="http://schemas.microsoft.com/office/drawing/2014/main" id="{F02D75E3-1029-4B9C-B603-7EC6C8AF66E5}"/>
                </a:ext>
              </a:extLst>
            </p:cNvPr>
            <p:cNvSpPr/>
            <p:nvPr/>
          </p:nvSpPr>
          <p:spPr>
            <a:xfrm>
              <a:off x="6429907" y="2785802"/>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95" name="Rectangle 194">
              <a:extLst>
                <a:ext uri="{FF2B5EF4-FFF2-40B4-BE49-F238E27FC236}">
                  <a16:creationId xmlns:a16="http://schemas.microsoft.com/office/drawing/2014/main" id="{6CF89A3F-58A6-45F1-922A-586D16B5F33B}"/>
                </a:ext>
              </a:extLst>
            </p:cNvPr>
            <p:cNvSpPr/>
            <p:nvPr/>
          </p:nvSpPr>
          <p:spPr>
            <a:xfrm>
              <a:off x="5355647" y="2784985"/>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99" name="Rectangle 198">
              <a:extLst>
                <a:ext uri="{FF2B5EF4-FFF2-40B4-BE49-F238E27FC236}">
                  <a16:creationId xmlns:a16="http://schemas.microsoft.com/office/drawing/2014/main" id="{C82479DB-1CEB-4612-8B35-9E366998154F}"/>
                </a:ext>
              </a:extLst>
            </p:cNvPr>
            <p:cNvSpPr/>
            <p:nvPr/>
          </p:nvSpPr>
          <p:spPr>
            <a:xfrm>
              <a:off x="5355647" y="3543073"/>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00" name="Rectangle 199">
              <a:extLst>
                <a:ext uri="{FF2B5EF4-FFF2-40B4-BE49-F238E27FC236}">
                  <a16:creationId xmlns:a16="http://schemas.microsoft.com/office/drawing/2014/main" id="{60C881EE-AC65-484C-9C24-5CCB74F88B01}"/>
                </a:ext>
              </a:extLst>
            </p:cNvPr>
            <p:cNvSpPr/>
            <p:nvPr/>
          </p:nvSpPr>
          <p:spPr>
            <a:xfrm>
              <a:off x="8895727" y="2022360"/>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02" name="Rectangle 201">
              <a:extLst>
                <a:ext uri="{FF2B5EF4-FFF2-40B4-BE49-F238E27FC236}">
                  <a16:creationId xmlns:a16="http://schemas.microsoft.com/office/drawing/2014/main" id="{C7D6813A-15A0-4216-93D6-1037CE42147D}"/>
                </a:ext>
              </a:extLst>
            </p:cNvPr>
            <p:cNvSpPr/>
            <p:nvPr/>
          </p:nvSpPr>
          <p:spPr>
            <a:xfrm>
              <a:off x="8895727" y="2773577"/>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06" name="Rectangle 205">
              <a:extLst>
                <a:ext uri="{FF2B5EF4-FFF2-40B4-BE49-F238E27FC236}">
                  <a16:creationId xmlns:a16="http://schemas.microsoft.com/office/drawing/2014/main" id="{046819C7-02FB-46E5-ACD8-B8D66399B7F5}"/>
                </a:ext>
              </a:extLst>
            </p:cNvPr>
            <p:cNvSpPr/>
            <p:nvPr/>
          </p:nvSpPr>
          <p:spPr>
            <a:xfrm>
              <a:off x="8895727" y="3538310"/>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07" name="Rectangle 206">
              <a:extLst>
                <a:ext uri="{FF2B5EF4-FFF2-40B4-BE49-F238E27FC236}">
                  <a16:creationId xmlns:a16="http://schemas.microsoft.com/office/drawing/2014/main" id="{F9523F71-79EF-4EDA-AED1-C57A62A193E5}"/>
                </a:ext>
              </a:extLst>
            </p:cNvPr>
            <p:cNvSpPr/>
            <p:nvPr/>
          </p:nvSpPr>
          <p:spPr>
            <a:xfrm>
              <a:off x="1659719" y="3552217"/>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dirty="0">
                  <a:solidFill>
                    <a:schemeClr val="bg1"/>
                  </a:solidFill>
                </a:rPr>
                <a:t>LPG Subsidy &amp; Grey Market</a:t>
              </a:r>
            </a:p>
          </p:txBody>
        </p:sp>
        <p:sp>
          <p:nvSpPr>
            <p:cNvPr id="209" name="Rectangle 208">
              <a:extLst>
                <a:ext uri="{FF2B5EF4-FFF2-40B4-BE49-F238E27FC236}">
                  <a16:creationId xmlns:a16="http://schemas.microsoft.com/office/drawing/2014/main" id="{4B7961B4-97E0-4953-A337-F773AB476FEB}"/>
                </a:ext>
              </a:extLst>
            </p:cNvPr>
            <p:cNvSpPr/>
            <p:nvPr/>
          </p:nvSpPr>
          <p:spPr>
            <a:xfrm>
              <a:off x="1655321" y="3551964"/>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13" name="Rectangle 212">
              <a:extLst>
                <a:ext uri="{FF2B5EF4-FFF2-40B4-BE49-F238E27FC236}">
                  <a16:creationId xmlns:a16="http://schemas.microsoft.com/office/drawing/2014/main" id="{260EE77B-3ACE-4C4C-8ACC-E9D80BC357CE}"/>
                </a:ext>
              </a:extLst>
            </p:cNvPr>
            <p:cNvSpPr/>
            <p:nvPr/>
          </p:nvSpPr>
          <p:spPr>
            <a:xfrm>
              <a:off x="6447375" y="2022264"/>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dirty="0">
                  <a:solidFill>
                    <a:schemeClr val="bg1"/>
                  </a:solidFill>
                </a:rPr>
                <a:t>Optimize OPEX </a:t>
              </a:r>
            </a:p>
          </p:txBody>
        </p:sp>
        <p:sp>
          <p:nvSpPr>
            <p:cNvPr id="214" name="Rectangle 213">
              <a:extLst>
                <a:ext uri="{FF2B5EF4-FFF2-40B4-BE49-F238E27FC236}">
                  <a16:creationId xmlns:a16="http://schemas.microsoft.com/office/drawing/2014/main" id="{77187ED8-C1D0-4B8E-ADE2-7BF4B8D950D9}"/>
                </a:ext>
              </a:extLst>
            </p:cNvPr>
            <p:cNvSpPr/>
            <p:nvPr/>
          </p:nvSpPr>
          <p:spPr>
            <a:xfrm>
              <a:off x="6446084" y="2014994"/>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16" name="Rectangle 215">
              <a:extLst>
                <a:ext uri="{FF2B5EF4-FFF2-40B4-BE49-F238E27FC236}">
                  <a16:creationId xmlns:a16="http://schemas.microsoft.com/office/drawing/2014/main" id="{922A2CD9-A101-4A0D-92F9-AD28D0F99273}"/>
                </a:ext>
              </a:extLst>
            </p:cNvPr>
            <p:cNvSpPr/>
            <p:nvPr/>
          </p:nvSpPr>
          <p:spPr>
            <a:xfrm>
              <a:off x="7788779" y="2792268"/>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dirty="0">
                  <a:solidFill>
                    <a:schemeClr val="bg1"/>
                  </a:solidFill>
                </a:rPr>
                <a:t>[COUNTRY] Expansion</a:t>
              </a:r>
            </a:p>
          </p:txBody>
        </p:sp>
        <p:sp>
          <p:nvSpPr>
            <p:cNvPr id="220" name="Rectangle 219">
              <a:extLst>
                <a:ext uri="{FF2B5EF4-FFF2-40B4-BE49-F238E27FC236}">
                  <a16:creationId xmlns:a16="http://schemas.microsoft.com/office/drawing/2014/main" id="{46E05745-4D34-48D3-B7E0-8157419DE412}"/>
                </a:ext>
              </a:extLst>
            </p:cNvPr>
            <p:cNvSpPr/>
            <p:nvPr/>
          </p:nvSpPr>
          <p:spPr>
            <a:xfrm>
              <a:off x="6450532" y="3558842"/>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dirty="0">
                  <a:solidFill>
                    <a:schemeClr val="bg1"/>
                  </a:solidFill>
                </a:rPr>
                <a:t>Right-sizing Opportunity</a:t>
              </a:r>
            </a:p>
          </p:txBody>
        </p:sp>
        <p:sp>
          <p:nvSpPr>
            <p:cNvPr id="221" name="Rectangle 220">
              <a:extLst>
                <a:ext uri="{FF2B5EF4-FFF2-40B4-BE49-F238E27FC236}">
                  <a16:creationId xmlns:a16="http://schemas.microsoft.com/office/drawing/2014/main" id="{4276DC03-DC56-4ECB-8D55-E387783DE06A}"/>
                </a:ext>
              </a:extLst>
            </p:cNvPr>
            <p:cNvSpPr/>
            <p:nvPr/>
          </p:nvSpPr>
          <p:spPr>
            <a:xfrm>
              <a:off x="6429500" y="3533929"/>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22" name="Rectangle 221">
              <a:extLst>
                <a:ext uri="{FF2B5EF4-FFF2-40B4-BE49-F238E27FC236}">
                  <a16:creationId xmlns:a16="http://schemas.microsoft.com/office/drawing/2014/main" id="{883A3D5F-BE84-4F50-AE23-D33816536787}"/>
                </a:ext>
              </a:extLst>
            </p:cNvPr>
            <p:cNvSpPr/>
            <p:nvPr/>
          </p:nvSpPr>
          <p:spPr>
            <a:xfrm>
              <a:off x="7788779" y="3555125"/>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a:solidFill>
                    <a:schemeClr val="bg1"/>
                  </a:solidFill>
                </a:rPr>
                <a:t>Lubricant Growth</a:t>
              </a:r>
              <a:endParaRPr lang="en-US" sz="1100" kern="0" dirty="0">
                <a:solidFill>
                  <a:schemeClr val="bg1"/>
                </a:solidFill>
              </a:endParaRPr>
            </a:p>
          </p:txBody>
        </p:sp>
        <p:sp>
          <p:nvSpPr>
            <p:cNvPr id="223" name="Rectangle 222">
              <a:extLst>
                <a:ext uri="{FF2B5EF4-FFF2-40B4-BE49-F238E27FC236}">
                  <a16:creationId xmlns:a16="http://schemas.microsoft.com/office/drawing/2014/main" id="{CF390030-0D0D-4E1E-A4A0-6213C4AADF12}"/>
                </a:ext>
              </a:extLst>
            </p:cNvPr>
            <p:cNvSpPr/>
            <p:nvPr/>
          </p:nvSpPr>
          <p:spPr>
            <a:xfrm>
              <a:off x="7788779" y="2022360"/>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dirty="0">
                  <a:solidFill>
                    <a:schemeClr val="bg1"/>
                  </a:solidFill>
                </a:rPr>
                <a:t>[COUNTRY] Expansion</a:t>
              </a:r>
            </a:p>
          </p:txBody>
        </p:sp>
        <p:sp>
          <p:nvSpPr>
            <p:cNvPr id="224" name="Rectangle 223">
              <a:extLst>
                <a:ext uri="{FF2B5EF4-FFF2-40B4-BE49-F238E27FC236}">
                  <a16:creationId xmlns:a16="http://schemas.microsoft.com/office/drawing/2014/main" id="{BE3EBB74-E2E0-4B88-8EBA-14864486AF15}"/>
                </a:ext>
              </a:extLst>
            </p:cNvPr>
            <p:cNvSpPr/>
            <p:nvPr/>
          </p:nvSpPr>
          <p:spPr>
            <a:xfrm>
              <a:off x="4083736" y="2034297"/>
              <a:ext cx="1042121" cy="731520"/>
            </a:xfrm>
            <a:prstGeom prst="rect">
              <a:avLst/>
            </a:prstGeom>
            <a:solidFill>
              <a:schemeClr val="tx2"/>
            </a:solidFill>
            <a:ln w="12700" cap="flat" cmpd="sng" algn="ctr">
              <a:noFill/>
              <a:prstDash val="solid"/>
              <a:miter lim="800000"/>
            </a:ln>
            <a:effectLst/>
          </p:spPr>
          <p:txBody>
            <a:bodyPr rtlCol="0" anchor="t"/>
            <a:lstStyle/>
            <a:p>
              <a:pPr lvl="0" algn="ctr">
                <a:defRPr/>
              </a:pPr>
              <a:r>
                <a:rPr lang="en-US" sz="1100" kern="0" dirty="0">
                  <a:solidFill>
                    <a:schemeClr val="bg1"/>
                  </a:solidFill>
                </a:rPr>
                <a:t>Bakery Roll-out</a:t>
              </a:r>
            </a:p>
          </p:txBody>
        </p:sp>
        <p:sp>
          <p:nvSpPr>
            <p:cNvPr id="225" name="Rectangle 224">
              <a:extLst>
                <a:ext uri="{FF2B5EF4-FFF2-40B4-BE49-F238E27FC236}">
                  <a16:creationId xmlns:a16="http://schemas.microsoft.com/office/drawing/2014/main" id="{0AC70F37-7C6A-4A3B-917C-5B49E586FDA7}"/>
                </a:ext>
              </a:extLst>
            </p:cNvPr>
            <p:cNvSpPr/>
            <p:nvPr/>
          </p:nvSpPr>
          <p:spPr>
            <a:xfrm>
              <a:off x="4079728" y="2018010"/>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228" name="Rectangle 227">
              <a:extLst>
                <a:ext uri="{FF2B5EF4-FFF2-40B4-BE49-F238E27FC236}">
                  <a16:creationId xmlns:a16="http://schemas.microsoft.com/office/drawing/2014/main" id="{BE3F3E81-CB28-4462-868F-F463367ED7AC}"/>
                </a:ext>
              </a:extLst>
            </p:cNvPr>
            <p:cNvSpPr/>
            <p:nvPr/>
          </p:nvSpPr>
          <p:spPr>
            <a:xfrm>
              <a:off x="7780052" y="3544329"/>
              <a:ext cx="1062963" cy="749808"/>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grpSp>
      <p:sp>
        <p:nvSpPr>
          <p:cNvPr id="81" name="Title 1">
            <a:extLst>
              <a:ext uri="{FF2B5EF4-FFF2-40B4-BE49-F238E27FC236}">
                <a16:creationId xmlns:a16="http://schemas.microsoft.com/office/drawing/2014/main" id="{07997797-3D1D-4AF4-8BEB-550EA91ECCFF}"/>
              </a:ext>
            </a:extLst>
          </p:cNvPr>
          <p:cNvSpPr>
            <a:spLocks noGrp="1"/>
          </p:cNvSpPr>
          <p:nvPr>
            <p:ph type="title"/>
          </p:nvPr>
        </p:nvSpPr>
        <p:spPr>
          <a:xfrm>
            <a:off x="947736" y="441325"/>
            <a:ext cx="9784080" cy="1092437"/>
          </a:xfrm>
        </p:spPr>
        <p:txBody>
          <a:bodyPr/>
          <a:lstStyle/>
          <a:p>
            <a:r>
              <a:rPr lang="en-US" sz="2800" dirty="0"/>
              <a:t>Client Distribution Focus Areas for 2019</a:t>
            </a:r>
          </a:p>
        </p:txBody>
      </p:sp>
      <p:sp>
        <p:nvSpPr>
          <p:cNvPr id="6" name="Trapezoid 5"/>
          <p:cNvSpPr/>
          <p:nvPr/>
        </p:nvSpPr>
        <p:spPr>
          <a:xfrm rot="10800000">
            <a:off x="883231" y="5460356"/>
            <a:ext cx="9125772" cy="126451"/>
          </a:xfrm>
          <a:prstGeom prst="trapezoid">
            <a:avLst>
              <a:gd name="adj" fmla="val 85121"/>
            </a:avLst>
          </a:prstGeom>
          <a:gradFill flip="none" rotWithShape="1">
            <a:gsLst>
              <a:gs pos="0">
                <a:srgbClr val="807F83">
                  <a:lumMod val="5000"/>
                  <a:lumOff val="95000"/>
                </a:srgbClr>
              </a:gs>
              <a:gs pos="74000">
                <a:srgbClr val="807F83">
                  <a:lumMod val="45000"/>
                  <a:lumOff val="55000"/>
                </a:srgbClr>
              </a:gs>
              <a:gs pos="83000">
                <a:srgbClr val="807F83">
                  <a:lumMod val="45000"/>
                  <a:lumOff val="55000"/>
                </a:srgbClr>
              </a:gs>
              <a:gs pos="100000">
                <a:srgbClr val="807F83">
                  <a:lumMod val="30000"/>
                  <a:lumOff val="70000"/>
                </a:srgbClr>
              </a:gs>
            </a:gsLst>
            <a:lin ang="54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white"/>
              </a:solidFill>
              <a:effectLst/>
              <a:uLnTx/>
              <a:uFillTx/>
              <a:latin typeface="+mj-lt"/>
              <a:ea typeface="+mn-ea"/>
              <a:cs typeface="+mn-cs"/>
            </a:endParaRPr>
          </a:p>
        </p:txBody>
      </p:sp>
      <p:sp>
        <p:nvSpPr>
          <p:cNvPr id="8" name="Right Arrow 7"/>
          <p:cNvSpPr/>
          <p:nvPr/>
        </p:nvSpPr>
        <p:spPr>
          <a:xfrm>
            <a:off x="1160765" y="5552635"/>
            <a:ext cx="8546358" cy="380007"/>
          </a:xfrm>
          <a:prstGeom prst="rightArrow">
            <a:avLst/>
          </a:prstGeom>
          <a:solidFill>
            <a:srgbClr val="807F8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mj-lt"/>
                <a:ea typeface="+mn-ea"/>
                <a:cs typeface="+mn-cs"/>
              </a:rPr>
              <a:t>EBITDA target</a:t>
            </a:r>
          </a:p>
        </p:txBody>
      </p:sp>
      <p:grpSp>
        <p:nvGrpSpPr>
          <p:cNvPr id="9" name="Group 8"/>
          <p:cNvGrpSpPr/>
          <p:nvPr/>
        </p:nvGrpSpPr>
        <p:grpSpPr>
          <a:xfrm>
            <a:off x="1822659" y="5552627"/>
            <a:ext cx="6793826" cy="380006"/>
            <a:chOff x="2116549" y="5645273"/>
            <a:chExt cx="6984641" cy="844953"/>
          </a:xfrm>
          <a:solidFill>
            <a:srgbClr val="807F83">
              <a:lumMod val="75000"/>
            </a:srgbClr>
          </a:solidFill>
        </p:grpSpPr>
        <p:sp>
          <p:nvSpPr>
            <p:cNvPr id="10" name="Rounded Rectangle 9"/>
            <p:cNvSpPr/>
            <p:nvPr/>
          </p:nvSpPr>
          <p:spPr>
            <a:xfrm>
              <a:off x="2116549" y="5645274"/>
              <a:ext cx="1780028" cy="844952"/>
            </a:xfrm>
            <a:prstGeom prst="roundRect">
              <a:avLst>
                <a:gd name="adj" fmla="val 37759"/>
              </a:avLst>
            </a:prstGeom>
            <a:grp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30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mj-lt"/>
                  <a:ea typeface="+mn-ea"/>
                  <a:cs typeface="+mn-cs"/>
                </a:rPr>
                <a:t>2018</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mj-lt"/>
                  <a:ea typeface="+mn-ea"/>
                  <a:cs typeface="+mn-cs"/>
                </a:rPr>
                <a:t>$</a:t>
              </a:r>
              <a:r>
                <a:rPr lang="en-US" sz="1000" kern="0" dirty="0">
                  <a:solidFill>
                    <a:prstClr val="white"/>
                  </a:solidFill>
                  <a:latin typeface="+mj-lt"/>
                </a:rPr>
                <a:t>XXX</a:t>
              </a:r>
              <a:r>
                <a:rPr kumimoji="0" lang="en-US" sz="1000" b="0" i="0" u="none" strike="noStrike" kern="0" cap="none" spc="0" normalizeH="0" baseline="0" noProof="0" dirty="0">
                  <a:ln>
                    <a:noFill/>
                  </a:ln>
                  <a:solidFill>
                    <a:prstClr val="white"/>
                  </a:solidFill>
                  <a:effectLst/>
                  <a:uLnTx/>
                  <a:uFillTx/>
                  <a:latin typeface="+mj-lt"/>
                  <a:ea typeface="+mn-ea"/>
                  <a:cs typeface="+mn-cs"/>
                </a:rPr>
                <a:t>m</a:t>
              </a:r>
            </a:p>
          </p:txBody>
        </p:sp>
        <p:sp>
          <p:nvSpPr>
            <p:cNvPr id="11" name="Rounded Rectangle 10"/>
            <p:cNvSpPr/>
            <p:nvPr/>
          </p:nvSpPr>
          <p:spPr>
            <a:xfrm>
              <a:off x="7321162" y="5645273"/>
              <a:ext cx="1780028" cy="844952"/>
            </a:xfrm>
            <a:prstGeom prst="roundRect">
              <a:avLst>
                <a:gd name="adj" fmla="val 37759"/>
              </a:avLst>
            </a:prstGeom>
            <a:grp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30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mj-lt"/>
                  <a:ea typeface="+mn-ea"/>
                  <a:cs typeface="+mn-cs"/>
                </a:rPr>
                <a:t>2019</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mj-lt"/>
                  <a:ea typeface="+mn-ea"/>
                  <a:cs typeface="+mn-cs"/>
                </a:rPr>
                <a:t>$</a:t>
              </a:r>
              <a:r>
                <a:rPr lang="en-US" sz="1000" kern="0" dirty="0">
                  <a:solidFill>
                    <a:prstClr val="white"/>
                  </a:solidFill>
                  <a:latin typeface="+mj-lt"/>
                </a:rPr>
                <a:t>XXX</a:t>
              </a:r>
              <a:r>
                <a:rPr kumimoji="0" lang="en-US" sz="1000" b="0" i="0" u="none" strike="noStrike" kern="0" cap="none" spc="0" normalizeH="0" baseline="0" noProof="0" dirty="0">
                  <a:ln>
                    <a:noFill/>
                  </a:ln>
                  <a:solidFill>
                    <a:prstClr val="white"/>
                  </a:solidFill>
                  <a:effectLst/>
                  <a:uLnTx/>
                  <a:uFillTx/>
                  <a:latin typeface="+mj-lt"/>
                  <a:ea typeface="+mn-ea"/>
                  <a:cs typeface="+mn-cs"/>
                </a:rPr>
                <a:t>m</a:t>
              </a:r>
            </a:p>
          </p:txBody>
        </p:sp>
      </p:grpSp>
      <p:sp>
        <p:nvSpPr>
          <p:cNvPr id="18" name="Rectangle 17"/>
          <p:cNvSpPr/>
          <p:nvPr/>
        </p:nvSpPr>
        <p:spPr>
          <a:xfrm>
            <a:off x="880330" y="1250913"/>
            <a:ext cx="2078648" cy="506221"/>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mj-lt"/>
                <a:ea typeface="+mn-ea"/>
                <a:cs typeface="+mn-cs"/>
              </a:rPr>
              <a:t>Fuel Performance Improvement</a:t>
            </a:r>
          </a:p>
        </p:txBody>
      </p:sp>
      <p:sp>
        <p:nvSpPr>
          <p:cNvPr id="19" name="Oval 18"/>
          <p:cNvSpPr/>
          <p:nvPr/>
        </p:nvSpPr>
        <p:spPr>
          <a:xfrm>
            <a:off x="696747" y="1064604"/>
            <a:ext cx="359282" cy="339055"/>
          </a:xfrm>
          <a:prstGeom prst="ellipse">
            <a:avLst/>
          </a:prstGeom>
          <a:solidFill>
            <a:sysClr val="window" lastClr="FFFFFF"/>
          </a:solidFill>
          <a:ln w="381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lumMod val="85000"/>
                    <a:lumOff val="15000"/>
                  </a:prstClr>
                </a:solidFill>
                <a:effectLst/>
                <a:uLnTx/>
                <a:uFillTx/>
                <a:latin typeface="+mj-lt"/>
                <a:ea typeface="+mn-ea"/>
                <a:cs typeface="+mn-cs"/>
              </a:rPr>
              <a:t>1</a:t>
            </a:r>
          </a:p>
        </p:txBody>
      </p:sp>
      <p:sp>
        <p:nvSpPr>
          <p:cNvPr id="30" name="Rectangle 29"/>
          <p:cNvSpPr/>
          <p:nvPr/>
        </p:nvSpPr>
        <p:spPr>
          <a:xfrm>
            <a:off x="7923137" y="1250916"/>
            <a:ext cx="2078648" cy="506221"/>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mj-lt"/>
                <a:ea typeface="+mn-ea"/>
                <a:cs typeface="+mn-cs"/>
              </a:rPr>
              <a:t>New Business Growth</a:t>
            </a:r>
          </a:p>
        </p:txBody>
      </p:sp>
      <p:sp>
        <p:nvSpPr>
          <p:cNvPr id="31" name="Oval 30"/>
          <p:cNvSpPr/>
          <p:nvPr/>
        </p:nvSpPr>
        <p:spPr>
          <a:xfrm>
            <a:off x="7861938" y="1064604"/>
            <a:ext cx="359282" cy="339055"/>
          </a:xfrm>
          <a:prstGeom prst="ellipse">
            <a:avLst/>
          </a:prstGeom>
          <a:solidFill>
            <a:sysClr val="window" lastClr="FFFFFF"/>
          </a:solidFill>
          <a:ln w="381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lumMod val="85000"/>
                    <a:lumOff val="15000"/>
                  </a:prstClr>
                </a:solidFill>
                <a:effectLst/>
                <a:uLnTx/>
                <a:uFillTx/>
                <a:latin typeface="+mj-lt"/>
                <a:ea typeface="+mn-ea"/>
                <a:cs typeface="+mn-cs"/>
              </a:rPr>
              <a:t>4</a:t>
            </a:r>
          </a:p>
        </p:txBody>
      </p:sp>
      <p:sp>
        <p:nvSpPr>
          <p:cNvPr id="36" name="Rectangle 35"/>
          <p:cNvSpPr/>
          <p:nvPr/>
        </p:nvSpPr>
        <p:spPr>
          <a:xfrm>
            <a:off x="883231" y="4847440"/>
            <a:ext cx="9125772" cy="226304"/>
          </a:xfrm>
          <a:prstGeom prst="rect">
            <a:avLst/>
          </a:prstGeom>
          <a:solidFill>
            <a:schemeClr val="tx2"/>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10" b="0" i="0" u="none" strike="noStrike" kern="0" cap="none" spc="0" normalizeH="0" baseline="0" noProof="0" dirty="0">
                <a:ln>
                  <a:noFill/>
                </a:ln>
                <a:solidFill>
                  <a:schemeClr val="bg1"/>
                </a:solidFill>
                <a:effectLst/>
                <a:uLnTx/>
                <a:uFillTx/>
                <a:ea typeface="+mn-ea"/>
                <a:cs typeface="+mn-cs"/>
              </a:rPr>
              <a:t>Communication</a:t>
            </a:r>
            <a:r>
              <a:rPr kumimoji="0" lang="en-US" sz="1110" b="0" i="0" u="none" strike="noStrike" kern="0" cap="none" spc="0" normalizeH="0" noProof="0" dirty="0">
                <a:ln>
                  <a:noFill/>
                </a:ln>
                <a:solidFill>
                  <a:schemeClr val="bg1"/>
                </a:solidFill>
                <a:effectLst/>
                <a:uLnTx/>
                <a:uFillTx/>
                <a:ea typeface="+mn-ea"/>
                <a:cs typeface="+mn-cs"/>
              </a:rPr>
              <a:t> Enhancements</a:t>
            </a:r>
            <a:endParaRPr kumimoji="0" lang="en-US" sz="1110" b="0" i="0" u="none" strike="noStrike" kern="0" cap="none" spc="0" normalizeH="0" baseline="0" noProof="0" dirty="0">
              <a:ln>
                <a:noFill/>
              </a:ln>
              <a:solidFill>
                <a:schemeClr val="bg1"/>
              </a:solidFill>
              <a:effectLst/>
              <a:uLnTx/>
              <a:uFillTx/>
              <a:ea typeface="+mn-ea"/>
              <a:cs typeface="+mn-cs"/>
            </a:endParaRPr>
          </a:p>
        </p:txBody>
      </p:sp>
      <p:sp>
        <p:nvSpPr>
          <p:cNvPr id="42" name="Rectangle 41"/>
          <p:cNvSpPr/>
          <p:nvPr/>
        </p:nvSpPr>
        <p:spPr>
          <a:xfrm>
            <a:off x="5547171" y="1250916"/>
            <a:ext cx="2078648" cy="506221"/>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mj-lt"/>
                <a:ea typeface="+mn-ea"/>
                <a:cs typeface="+mn-cs"/>
              </a:rPr>
              <a:t>Cost Optimization</a:t>
            </a:r>
          </a:p>
        </p:txBody>
      </p:sp>
      <p:sp>
        <p:nvSpPr>
          <p:cNvPr id="43" name="Oval 42"/>
          <p:cNvSpPr/>
          <p:nvPr/>
        </p:nvSpPr>
        <p:spPr>
          <a:xfrm>
            <a:off x="5471691" y="1064605"/>
            <a:ext cx="359282" cy="339055"/>
          </a:xfrm>
          <a:prstGeom prst="ellipse">
            <a:avLst/>
          </a:prstGeom>
          <a:solidFill>
            <a:sysClr val="window" lastClr="FFFFFF"/>
          </a:solidFill>
          <a:ln w="381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lumMod val="85000"/>
                    <a:lumOff val="15000"/>
                  </a:prstClr>
                </a:solidFill>
                <a:effectLst/>
                <a:uLnTx/>
                <a:uFillTx/>
                <a:latin typeface="+mj-lt"/>
                <a:ea typeface="+mn-ea"/>
                <a:cs typeface="+mn-cs"/>
              </a:rPr>
              <a:t>3</a:t>
            </a:r>
          </a:p>
        </p:txBody>
      </p:sp>
      <p:sp>
        <p:nvSpPr>
          <p:cNvPr id="55" name="Rectangle 54"/>
          <p:cNvSpPr/>
          <p:nvPr/>
        </p:nvSpPr>
        <p:spPr>
          <a:xfrm>
            <a:off x="3226921" y="1250913"/>
            <a:ext cx="2078648" cy="506221"/>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mj-lt"/>
                <a:ea typeface="+mn-ea"/>
                <a:cs typeface="+mn-cs"/>
              </a:rPr>
              <a:t>Non-Fuel Optimization</a:t>
            </a:r>
          </a:p>
        </p:txBody>
      </p:sp>
      <p:sp>
        <p:nvSpPr>
          <p:cNvPr id="56" name="Oval 55"/>
          <p:cNvSpPr/>
          <p:nvPr/>
        </p:nvSpPr>
        <p:spPr>
          <a:xfrm>
            <a:off x="3137159" y="1064603"/>
            <a:ext cx="359282" cy="339055"/>
          </a:xfrm>
          <a:prstGeom prst="ellipse">
            <a:avLst/>
          </a:prstGeom>
          <a:solidFill>
            <a:sysClr val="window" lastClr="FFFFFF"/>
          </a:solidFill>
          <a:ln w="381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lumMod val="85000"/>
                    <a:lumOff val="15000"/>
                  </a:prstClr>
                </a:solidFill>
                <a:effectLst/>
                <a:uLnTx/>
                <a:uFillTx/>
                <a:latin typeface="+mj-lt"/>
                <a:ea typeface="+mn-ea"/>
                <a:cs typeface="+mn-cs"/>
              </a:rPr>
              <a:t>2</a:t>
            </a:r>
          </a:p>
        </p:txBody>
      </p:sp>
      <p:grpSp>
        <p:nvGrpSpPr>
          <p:cNvPr id="233" name="Group 232">
            <a:extLst>
              <a:ext uri="{FF2B5EF4-FFF2-40B4-BE49-F238E27FC236}">
                <a16:creationId xmlns:a16="http://schemas.microsoft.com/office/drawing/2014/main" id="{F6E61239-340A-4E7A-8D39-FDA7C9494935}"/>
              </a:ext>
            </a:extLst>
          </p:cNvPr>
          <p:cNvGrpSpPr/>
          <p:nvPr/>
        </p:nvGrpSpPr>
        <p:grpSpPr>
          <a:xfrm>
            <a:off x="1584958" y="1816438"/>
            <a:ext cx="7709877" cy="120052"/>
            <a:chOff x="1417814" y="1816437"/>
            <a:chExt cx="7709877" cy="191381"/>
          </a:xfrm>
        </p:grpSpPr>
        <p:sp>
          <p:nvSpPr>
            <p:cNvPr id="23" name="Isosceles Triangle 22"/>
            <p:cNvSpPr/>
            <p:nvPr/>
          </p:nvSpPr>
          <p:spPr>
            <a:xfrm rot="10800000">
              <a:off x="1417814" y="1816437"/>
              <a:ext cx="676732" cy="191378"/>
            </a:xfrm>
            <a:prstGeom prst="triangle">
              <a:avLst/>
            </a:prstGeom>
            <a:solidFill>
              <a:sysClr val="window" lastClr="FFFFFF">
                <a:lumMod val="7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mj-lt"/>
                <a:ea typeface="+mn-ea"/>
                <a:cs typeface="+mn-cs"/>
              </a:endParaRPr>
            </a:p>
          </p:txBody>
        </p:sp>
        <p:sp>
          <p:nvSpPr>
            <p:cNvPr id="35" name="Isosceles Triangle 34"/>
            <p:cNvSpPr/>
            <p:nvPr/>
          </p:nvSpPr>
          <p:spPr>
            <a:xfrm rot="10800000">
              <a:off x="8450959" y="1816440"/>
              <a:ext cx="676732" cy="191378"/>
            </a:xfrm>
            <a:prstGeom prst="triangle">
              <a:avLst/>
            </a:prstGeom>
            <a:solidFill>
              <a:sysClr val="window" lastClr="FFFFFF">
                <a:lumMod val="7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mj-lt"/>
                <a:ea typeface="+mn-ea"/>
                <a:cs typeface="+mn-cs"/>
              </a:endParaRPr>
            </a:p>
          </p:txBody>
        </p:sp>
        <p:sp>
          <p:nvSpPr>
            <p:cNvPr id="47" name="Isosceles Triangle 46"/>
            <p:cNvSpPr/>
            <p:nvPr/>
          </p:nvSpPr>
          <p:spPr>
            <a:xfrm rot="10800000">
              <a:off x="6074997" y="1816440"/>
              <a:ext cx="676731" cy="191378"/>
            </a:xfrm>
            <a:prstGeom prst="triangle">
              <a:avLst/>
            </a:prstGeom>
            <a:solidFill>
              <a:sysClr val="window" lastClr="FFFFFF">
                <a:lumMod val="7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mj-lt"/>
                <a:ea typeface="+mn-ea"/>
                <a:cs typeface="+mn-cs"/>
              </a:endParaRPr>
            </a:p>
          </p:txBody>
        </p:sp>
        <p:sp>
          <p:nvSpPr>
            <p:cNvPr id="60" name="Isosceles Triangle 59"/>
            <p:cNvSpPr/>
            <p:nvPr/>
          </p:nvSpPr>
          <p:spPr>
            <a:xfrm rot="10800000">
              <a:off x="3764405" y="1816437"/>
              <a:ext cx="676732" cy="191378"/>
            </a:xfrm>
            <a:prstGeom prst="triangle">
              <a:avLst/>
            </a:prstGeom>
            <a:solidFill>
              <a:sysClr val="window" lastClr="FFFFFF">
                <a:lumMod val="7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mj-lt"/>
                <a:ea typeface="+mn-ea"/>
                <a:cs typeface="+mn-cs"/>
              </a:endParaRPr>
            </a:p>
          </p:txBody>
        </p:sp>
      </p:grpSp>
      <p:sp>
        <p:nvSpPr>
          <p:cNvPr id="61" name="Rectangle 60"/>
          <p:cNvSpPr/>
          <p:nvPr/>
        </p:nvSpPr>
        <p:spPr>
          <a:xfrm>
            <a:off x="883231" y="5099521"/>
            <a:ext cx="9125772" cy="163536"/>
          </a:xfrm>
          <a:prstGeom prst="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bg1"/>
                </a:solidFill>
                <a:effectLst/>
                <a:uLnTx/>
                <a:uFillTx/>
                <a:ea typeface="+mn-ea"/>
                <a:cs typeface="+mn-cs"/>
              </a:rPr>
              <a:t>Customer Service</a:t>
            </a:r>
          </a:p>
        </p:txBody>
      </p:sp>
      <p:sp>
        <p:nvSpPr>
          <p:cNvPr id="62" name="Rectangle 61"/>
          <p:cNvSpPr/>
          <p:nvPr/>
        </p:nvSpPr>
        <p:spPr>
          <a:xfrm>
            <a:off x="883231" y="5289586"/>
            <a:ext cx="9125772" cy="163536"/>
          </a:xfrm>
          <a:prstGeom prst="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bg1"/>
                </a:solidFill>
                <a:effectLst/>
                <a:uLnTx/>
                <a:uFillTx/>
                <a:ea typeface="+mn-ea"/>
                <a:cs typeface="+mn-cs"/>
              </a:rPr>
              <a:t>Safety</a:t>
            </a:r>
          </a:p>
        </p:txBody>
      </p:sp>
      <p:sp>
        <p:nvSpPr>
          <p:cNvPr id="193" name="TextBox 192">
            <a:extLst>
              <a:ext uri="{FF2B5EF4-FFF2-40B4-BE49-F238E27FC236}">
                <a16:creationId xmlns:a16="http://schemas.microsoft.com/office/drawing/2014/main" id="{27A00F39-7C6E-4650-B9B1-5E6771336A3B}"/>
              </a:ext>
            </a:extLst>
          </p:cNvPr>
          <p:cNvSpPr txBox="1"/>
          <p:nvPr/>
        </p:nvSpPr>
        <p:spPr>
          <a:xfrm>
            <a:off x="10408285" y="6459344"/>
            <a:ext cx="2428265" cy="470363"/>
          </a:xfrm>
          <a:prstGeom prst="rect">
            <a:avLst/>
          </a:prstGeom>
          <a:noFill/>
        </p:spPr>
        <p:txBody>
          <a:bodyPr wrap="square" lIns="0" tIns="0" rIns="0" bIns="0" rtlCol="0">
            <a:noAutofit/>
          </a:bodyPr>
          <a:lstStyle/>
          <a:p>
            <a:pPr algn="l">
              <a:spcBef>
                <a:spcPts val="800"/>
              </a:spcBef>
            </a:pPr>
            <a:r>
              <a:rPr lang="en-US" sz="1000" dirty="0"/>
              <a:t>* Numbers are in Million $</a:t>
            </a:r>
          </a:p>
        </p:txBody>
      </p:sp>
      <p:sp>
        <p:nvSpPr>
          <p:cNvPr id="4" name="Rectangle 3">
            <a:extLst>
              <a:ext uri="{FF2B5EF4-FFF2-40B4-BE49-F238E27FC236}">
                <a16:creationId xmlns:a16="http://schemas.microsoft.com/office/drawing/2014/main" id="{6A61CC1F-08D6-C137-A5A8-7348BDD0ACEB}"/>
              </a:ext>
            </a:extLst>
          </p:cNvPr>
          <p:cNvSpPr/>
          <p:nvPr/>
        </p:nvSpPr>
        <p:spPr>
          <a:xfrm>
            <a:off x="7892631" y="2981409"/>
            <a:ext cx="1032764" cy="931804"/>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2" name="Rectangle 11">
            <a:extLst>
              <a:ext uri="{FF2B5EF4-FFF2-40B4-BE49-F238E27FC236}">
                <a16:creationId xmlns:a16="http://schemas.microsoft.com/office/drawing/2014/main" id="{40F3ACC5-0659-B2B9-9247-3933B88D4555}"/>
              </a:ext>
            </a:extLst>
          </p:cNvPr>
          <p:cNvSpPr/>
          <p:nvPr/>
        </p:nvSpPr>
        <p:spPr>
          <a:xfrm>
            <a:off x="7892631" y="2030071"/>
            <a:ext cx="1032764" cy="931804"/>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3" name="Rectangle 12">
            <a:extLst>
              <a:ext uri="{FF2B5EF4-FFF2-40B4-BE49-F238E27FC236}">
                <a16:creationId xmlns:a16="http://schemas.microsoft.com/office/drawing/2014/main" id="{960298F8-F26D-EED8-B07E-04DE1A92240D}"/>
              </a:ext>
            </a:extLst>
          </p:cNvPr>
          <p:cNvSpPr/>
          <p:nvPr/>
        </p:nvSpPr>
        <p:spPr>
          <a:xfrm>
            <a:off x="1930290" y="2020492"/>
            <a:ext cx="1032764" cy="931804"/>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
        <p:nvSpPr>
          <p:cNvPr id="14" name="Rectangle 13">
            <a:extLst>
              <a:ext uri="{FF2B5EF4-FFF2-40B4-BE49-F238E27FC236}">
                <a16:creationId xmlns:a16="http://schemas.microsoft.com/office/drawing/2014/main" id="{1E363A03-B1B9-3D6C-5851-48A6F45E9D0C}"/>
              </a:ext>
            </a:extLst>
          </p:cNvPr>
          <p:cNvSpPr/>
          <p:nvPr/>
        </p:nvSpPr>
        <p:spPr>
          <a:xfrm>
            <a:off x="901740" y="2039993"/>
            <a:ext cx="1032764" cy="931804"/>
          </a:xfrm>
          <a:prstGeom prst="rect">
            <a:avLst/>
          </a:prstGeom>
          <a:solidFill>
            <a:srgbClr val="FFFFFF">
              <a:alpha val="4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chemeClr val="bg1"/>
              </a:solidFill>
              <a:effectLst/>
              <a:uLnTx/>
              <a:uFillTx/>
              <a:ea typeface="+mn-ea"/>
              <a:cs typeface="+mn-cs"/>
            </a:endParaRPr>
          </a:p>
        </p:txBody>
      </p:sp>
    </p:spTree>
    <p:extLst>
      <p:ext uri="{BB962C8B-B14F-4D97-AF65-F5344CB8AC3E}">
        <p14:creationId xmlns:p14="http://schemas.microsoft.com/office/powerpoint/2010/main" val="2821030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bwMode="gray">
          <a:xfrm>
            <a:off x="354488" y="1426192"/>
            <a:ext cx="1253694" cy="1224120"/>
          </a:xfrm>
          <a:prstGeom prst="roundRect">
            <a:avLst>
              <a:gd name="adj" fmla="val 4968"/>
            </a:avLst>
          </a:prstGeom>
          <a:solidFill>
            <a:schemeClr val="bg1"/>
          </a:solidFill>
          <a:ln w="25400" cap="flat" cmpd="sng" algn="ctr">
            <a:solidFill>
              <a:schemeClr val="tx2"/>
            </a:solid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vert="horz" wrap="square" lIns="45720" tIns="45720" rIns="45720" bIns="45720" numCol="1" rtlCol="0" anchor="ctr" anchorCtr="0" compatLnSpc="1">
            <a:prstTxWarp prst="textNoShape">
              <a:avLst/>
            </a:prstTxWarp>
          </a:bodyPr>
          <a:lstStyle/>
          <a:p>
            <a:pPr algn="ctr">
              <a:defRPr/>
            </a:pPr>
            <a:r>
              <a:rPr lang="en-AU" sz="1400" b="1" kern="0" dirty="0">
                <a:solidFill>
                  <a:schemeClr val="accent4"/>
                </a:solidFill>
                <a:latin typeface="Calibri" panose="020F0502020204030204" pitchFamily="34" charset="0"/>
                <a:cs typeface="Calibri" panose="020F0502020204030204" pitchFamily="34" charset="0"/>
              </a:rPr>
              <a:t>Strategic Direction of [COMPANY]</a:t>
            </a:r>
          </a:p>
        </p:txBody>
      </p:sp>
      <p:sp>
        <p:nvSpPr>
          <p:cNvPr id="5" name="Rounded Rectangle 4"/>
          <p:cNvSpPr/>
          <p:nvPr/>
        </p:nvSpPr>
        <p:spPr bwMode="gray">
          <a:xfrm>
            <a:off x="354488" y="2741317"/>
            <a:ext cx="1253694" cy="422613"/>
          </a:xfrm>
          <a:prstGeom prst="roundRect">
            <a:avLst>
              <a:gd name="adj" fmla="val 7775"/>
            </a:avLst>
          </a:prstGeom>
          <a:solidFill>
            <a:schemeClr val="bg1"/>
          </a:solidFill>
          <a:ln w="25400" cap="flat" cmpd="sng" algn="ctr">
            <a:solidFill>
              <a:schemeClr val="tx2"/>
            </a:solid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vert="horz" wrap="square" lIns="45720" tIns="45720" rIns="45720" bIns="45720" numCol="1" rtlCol="0" anchor="ctr" anchorCtr="0" compatLnSpc="1">
            <a:prstTxWarp prst="textNoShape">
              <a:avLst/>
            </a:prstTxWarp>
          </a:bodyPr>
          <a:lstStyle/>
          <a:p>
            <a:pPr algn="ctr">
              <a:defRPr/>
            </a:pPr>
            <a:r>
              <a:rPr lang="en-AU" sz="1400" b="1" kern="0" dirty="0">
                <a:solidFill>
                  <a:schemeClr val="accent4"/>
                </a:solidFill>
                <a:latin typeface="Calibri" panose="020F0502020204030204" pitchFamily="34" charset="0"/>
                <a:cs typeface="Calibri" panose="020F0502020204030204" pitchFamily="34" charset="0"/>
              </a:rPr>
              <a:t>Business Enablers</a:t>
            </a:r>
          </a:p>
        </p:txBody>
      </p:sp>
      <p:sp>
        <p:nvSpPr>
          <p:cNvPr id="8" name="Rectangle 7"/>
          <p:cNvSpPr/>
          <p:nvPr/>
        </p:nvSpPr>
        <p:spPr bwMode="gray">
          <a:xfrm>
            <a:off x="1712345" y="1426192"/>
            <a:ext cx="9824908" cy="403460"/>
          </a:xfrm>
          <a:prstGeom prst="rect">
            <a:avLst/>
          </a:prstGeom>
          <a:solidFill>
            <a:schemeClr val="accent4"/>
          </a:solidFill>
          <a:ln w="25400" cap="flat" cmpd="sng" algn="ctr">
            <a:no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p>
            <a:pPr algn="ctr">
              <a:defRPr/>
            </a:pPr>
            <a:r>
              <a:rPr lang="en-US" sz="1600" b="1" kern="0">
                <a:solidFill>
                  <a:srgbClr val="FFFFFF"/>
                </a:solidFill>
                <a:latin typeface="Calibri" panose="020F0502020204030204" pitchFamily="34" charset="0"/>
                <a:cs typeface="Calibri" panose="020F0502020204030204" pitchFamily="34" charset="0"/>
              </a:rPr>
              <a:t>To be a leading world-class fuels business and convenience retailer.</a:t>
            </a:r>
            <a:endParaRPr lang="en-US" sz="1600" b="1" kern="0" dirty="0">
              <a:solidFill>
                <a:srgbClr val="FFFFFF"/>
              </a:solidFill>
              <a:latin typeface="Calibri" panose="020F0502020204030204" pitchFamily="34" charset="0"/>
              <a:cs typeface="Calibri" panose="020F0502020204030204" pitchFamily="34" charset="0"/>
            </a:endParaRPr>
          </a:p>
        </p:txBody>
      </p:sp>
      <p:sp>
        <p:nvSpPr>
          <p:cNvPr id="10" name="TextBox 9"/>
          <p:cNvSpPr txBox="1"/>
          <p:nvPr/>
        </p:nvSpPr>
        <p:spPr>
          <a:xfrm>
            <a:off x="4072485" y="1895524"/>
            <a:ext cx="2395708" cy="750102"/>
          </a:xfrm>
          <a:prstGeom prst="rect">
            <a:avLst/>
          </a:prstGeom>
          <a:solidFill>
            <a:schemeClr val="bg1"/>
          </a:solidFill>
          <a:ln>
            <a:solidFill>
              <a:schemeClr val="tx1">
                <a:lumMod val="50000"/>
                <a:lumOff val="50000"/>
              </a:scheme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chemeClr val="accent4"/>
                </a:solidFill>
                <a:effectLst/>
                <a:uLnTx/>
                <a:uFillTx/>
                <a:latin typeface="Calibri" panose="020F0502020204030204" pitchFamily="34" charset="0"/>
                <a:cs typeface="Calibri" panose="020F0502020204030204" pitchFamily="34" charset="0"/>
              </a:rPr>
              <a:t>World-class</a:t>
            </a:r>
            <a:r>
              <a:rPr kumimoji="0" lang="en-GB" sz="1600" b="1" i="0" u="none" strike="noStrike" kern="0" cap="none" spc="0" normalizeH="0" noProof="0" dirty="0">
                <a:ln>
                  <a:noFill/>
                </a:ln>
                <a:solidFill>
                  <a:schemeClr val="accent4"/>
                </a:solidFill>
                <a:effectLst/>
                <a:uLnTx/>
                <a:uFillTx/>
                <a:latin typeface="Calibri" panose="020F0502020204030204" pitchFamily="34" charset="0"/>
                <a:cs typeface="Calibri" panose="020F0502020204030204" pitchFamily="34" charset="0"/>
              </a:rPr>
              <a:t> efficiency</a:t>
            </a:r>
            <a:endParaRPr kumimoji="0" lang="en-GB" sz="1600" b="1" i="0" u="none" strike="noStrike" kern="0" cap="none" spc="0" normalizeH="0" baseline="0" noProof="0" dirty="0">
              <a:ln>
                <a:noFill/>
              </a:ln>
              <a:solidFill>
                <a:schemeClr val="accent4"/>
              </a:solidFill>
              <a:effectLst/>
              <a:uLnTx/>
              <a:uFillTx/>
              <a:latin typeface="Calibri" panose="020F0502020204030204" pitchFamily="34" charset="0"/>
              <a:cs typeface="Calibri" panose="020F0502020204030204" pitchFamily="34" charset="0"/>
            </a:endParaRPr>
          </a:p>
        </p:txBody>
      </p:sp>
      <p:sp>
        <p:nvSpPr>
          <p:cNvPr id="11" name="TextBox 10"/>
          <p:cNvSpPr txBox="1"/>
          <p:nvPr/>
        </p:nvSpPr>
        <p:spPr>
          <a:xfrm>
            <a:off x="6568186" y="1895524"/>
            <a:ext cx="2434536" cy="750102"/>
          </a:xfrm>
          <a:prstGeom prst="rect">
            <a:avLst/>
          </a:prstGeom>
          <a:solidFill>
            <a:schemeClr val="bg1"/>
          </a:solidFill>
          <a:ln>
            <a:solidFill>
              <a:schemeClr val="tx1">
                <a:lumMod val="50000"/>
                <a:lumOff val="50000"/>
              </a:scheme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chemeClr val="accent4"/>
                </a:solidFill>
                <a:effectLst/>
                <a:uLnTx/>
                <a:uFillTx/>
                <a:latin typeface="Calibri" panose="020F0502020204030204" pitchFamily="34" charset="0"/>
                <a:cs typeface="Calibri" panose="020F0502020204030204" pitchFamily="34" charset="0"/>
              </a:rPr>
              <a:t>Performance culture</a:t>
            </a:r>
          </a:p>
        </p:txBody>
      </p:sp>
      <p:sp>
        <p:nvSpPr>
          <p:cNvPr id="12" name="TextBox 11"/>
          <p:cNvSpPr txBox="1"/>
          <p:nvPr/>
        </p:nvSpPr>
        <p:spPr>
          <a:xfrm>
            <a:off x="1712345" y="1895524"/>
            <a:ext cx="2260147" cy="750102"/>
          </a:xfrm>
          <a:prstGeom prst="rect">
            <a:avLst/>
          </a:prstGeom>
          <a:solidFill>
            <a:schemeClr val="bg1"/>
          </a:solidFill>
          <a:ln>
            <a:solidFill>
              <a:schemeClr val="tx1">
                <a:lumMod val="50000"/>
                <a:lumOff val="50000"/>
              </a:scheme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chemeClr val="accent4"/>
                </a:solidFill>
                <a:effectLst/>
                <a:uLnTx/>
                <a:uFillTx/>
                <a:latin typeface="Calibri" panose="020F0502020204030204" pitchFamily="34" charset="0"/>
                <a:cs typeface="Calibri" panose="020F0502020204030204" pitchFamily="34" charset="0"/>
              </a:rPr>
              <a:t>Profitable</a:t>
            </a:r>
            <a:r>
              <a:rPr kumimoji="0" lang="en-GB" sz="1600" b="1" i="0" u="none" strike="noStrike" kern="0" cap="none" spc="0" normalizeH="0" noProof="0" dirty="0">
                <a:ln>
                  <a:noFill/>
                </a:ln>
                <a:solidFill>
                  <a:schemeClr val="accent4"/>
                </a:solidFill>
                <a:effectLst/>
                <a:uLnTx/>
                <a:uFillTx/>
                <a:latin typeface="Calibri" panose="020F0502020204030204" pitchFamily="34" charset="0"/>
                <a:cs typeface="Calibri" panose="020F0502020204030204" pitchFamily="34" charset="0"/>
              </a:rPr>
              <a:t> growth</a:t>
            </a:r>
            <a:endParaRPr kumimoji="0" lang="en-GB" sz="1600" b="1" i="0" u="none" strike="noStrike" kern="0" cap="none" spc="0" normalizeH="0" baseline="0" noProof="0" dirty="0">
              <a:ln>
                <a:noFill/>
              </a:ln>
              <a:solidFill>
                <a:schemeClr val="accent4"/>
              </a:solidFill>
              <a:effectLst/>
              <a:uLnTx/>
              <a:uFillTx/>
              <a:latin typeface="Calibri" panose="020F0502020204030204" pitchFamily="34" charset="0"/>
              <a:cs typeface="Calibri" panose="020F0502020204030204" pitchFamily="34" charset="0"/>
            </a:endParaRPr>
          </a:p>
        </p:txBody>
      </p:sp>
      <p:graphicFrame>
        <p:nvGraphicFramePr>
          <p:cNvPr id="32" name="Table 31"/>
          <p:cNvGraphicFramePr>
            <a:graphicFrameLocks noGrp="1"/>
          </p:cNvGraphicFramePr>
          <p:nvPr/>
        </p:nvGraphicFramePr>
        <p:xfrm>
          <a:off x="1721962" y="2750631"/>
          <a:ext cx="9815291" cy="418477"/>
        </p:xfrm>
        <a:graphic>
          <a:graphicData uri="http://schemas.openxmlformats.org/drawingml/2006/table">
            <a:tbl>
              <a:tblPr/>
              <a:tblGrid>
                <a:gridCol w="3664665">
                  <a:extLst>
                    <a:ext uri="{9D8B030D-6E8A-4147-A177-3AD203B41FA5}">
                      <a16:colId xmlns:a16="http://schemas.microsoft.com/office/drawing/2014/main" val="20000"/>
                    </a:ext>
                  </a:extLst>
                </a:gridCol>
                <a:gridCol w="3075313">
                  <a:extLst>
                    <a:ext uri="{9D8B030D-6E8A-4147-A177-3AD203B41FA5}">
                      <a16:colId xmlns:a16="http://schemas.microsoft.com/office/drawing/2014/main" val="20001"/>
                    </a:ext>
                  </a:extLst>
                </a:gridCol>
                <a:gridCol w="3075313">
                  <a:extLst>
                    <a:ext uri="{9D8B030D-6E8A-4147-A177-3AD203B41FA5}">
                      <a16:colId xmlns:a16="http://schemas.microsoft.com/office/drawing/2014/main" val="20002"/>
                    </a:ext>
                  </a:extLst>
                </a:gridCol>
              </a:tblGrid>
              <a:tr h="418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200" b="1" dirty="0">
                          <a:solidFill>
                            <a:schemeClr val="accent4">
                              <a:lumMod val="60000"/>
                              <a:lumOff val="40000"/>
                            </a:schemeClr>
                          </a:solidFill>
                          <a:latin typeface="+mn-lt"/>
                        </a:rPr>
                        <a:t>World class talent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200" b="1" dirty="0">
                          <a:solidFill>
                            <a:schemeClr val="accent4">
                              <a:lumMod val="60000"/>
                              <a:lumOff val="40000"/>
                            </a:schemeClr>
                          </a:solidFill>
                          <a:latin typeface="+mn-lt"/>
                        </a:rPr>
                        <a:t>Results oriented processes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1200" b="1" dirty="0">
                          <a:solidFill>
                            <a:schemeClr val="accent4">
                              <a:lumMod val="60000"/>
                              <a:lumOff val="40000"/>
                            </a:schemeClr>
                          </a:solidFill>
                          <a:latin typeface="+mn-lt"/>
                        </a:rPr>
                        <a:t>100% commitment to HSSE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0"/>
                  </a:ext>
                </a:extLst>
              </a:tr>
            </a:tbl>
          </a:graphicData>
        </a:graphic>
      </p:graphicFrame>
      <p:sp>
        <p:nvSpPr>
          <p:cNvPr id="31" name="TextBox 30">
            <a:extLst>
              <a:ext uri="{FF2B5EF4-FFF2-40B4-BE49-F238E27FC236}">
                <a16:creationId xmlns:a16="http://schemas.microsoft.com/office/drawing/2014/main" id="{20D7A0F4-0743-4166-946F-9886F0FB88AC}"/>
              </a:ext>
            </a:extLst>
          </p:cNvPr>
          <p:cNvSpPr txBox="1"/>
          <p:nvPr/>
        </p:nvSpPr>
        <p:spPr>
          <a:xfrm>
            <a:off x="9102716" y="1895524"/>
            <a:ext cx="2434536" cy="731847"/>
          </a:xfrm>
          <a:prstGeom prst="rect">
            <a:avLst/>
          </a:prstGeom>
          <a:solidFill>
            <a:schemeClr val="bg1"/>
          </a:solidFill>
          <a:ln>
            <a:solidFill>
              <a:schemeClr val="tx1">
                <a:lumMod val="50000"/>
                <a:lumOff val="50000"/>
              </a:scheme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600" b="1" kern="0" dirty="0">
                <a:solidFill>
                  <a:schemeClr val="accent4"/>
                </a:solidFill>
                <a:latin typeface="Calibri" panose="020F0502020204030204" pitchFamily="34" charset="0"/>
                <a:cs typeface="Calibri" panose="020F0502020204030204" pitchFamily="34" charset="0"/>
              </a:rPr>
              <a:t>Digital</a:t>
            </a:r>
          </a:p>
        </p:txBody>
      </p:sp>
      <p:sp>
        <p:nvSpPr>
          <p:cNvPr id="3" name="Isosceles Triangle 2">
            <a:extLst>
              <a:ext uri="{FF2B5EF4-FFF2-40B4-BE49-F238E27FC236}">
                <a16:creationId xmlns:a16="http://schemas.microsoft.com/office/drawing/2014/main" id="{BE2A3C58-10D6-4637-86A5-0ED2A7C0D141}"/>
              </a:ext>
            </a:extLst>
          </p:cNvPr>
          <p:cNvSpPr/>
          <p:nvPr/>
        </p:nvSpPr>
        <p:spPr>
          <a:xfrm rot="10800000">
            <a:off x="1687396" y="3268962"/>
            <a:ext cx="9787065" cy="174511"/>
          </a:xfrm>
          <a:prstGeom prst="triangle">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33" name="Slide Number Placeholder 14">
            <a:extLst>
              <a:ext uri="{FF2B5EF4-FFF2-40B4-BE49-F238E27FC236}">
                <a16:creationId xmlns:a16="http://schemas.microsoft.com/office/drawing/2014/main" id="{E18D34BE-4A4F-4957-8F5A-88C1F201E051}"/>
              </a:ext>
            </a:extLst>
          </p:cNvPr>
          <p:cNvSpPr txBox="1">
            <a:spLocks/>
          </p:cNvSpPr>
          <p:nvPr/>
        </p:nvSpPr>
        <p:spPr>
          <a:xfrm>
            <a:off x="354488" y="347285"/>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dirty="0"/>
              <a:t>Executive Summary</a:t>
            </a:r>
          </a:p>
        </p:txBody>
      </p:sp>
      <p:sp>
        <p:nvSpPr>
          <p:cNvPr id="36" name="Text Placeholder 1">
            <a:extLst>
              <a:ext uri="{FF2B5EF4-FFF2-40B4-BE49-F238E27FC236}">
                <a16:creationId xmlns:a16="http://schemas.microsoft.com/office/drawing/2014/main" id="{1CF44711-D0BB-496D-BABE-41394F93ECEE}"/>
              </a:ext>
            </a:extLst>
          </p:cNvPr>
          <p:cNvSpPr txBox="1">
            <a:spLocks/>
          </p:cNvSpPr>
          <p:nvPr/>
        </p:nvSpPr>
        <p:spPr>
          <a:xfrm>
            <a:off x="433366" y="1120393"/>
            <a:ext cx="9373953" cy="234950"/>
          </a:xfrm>
          <a:prstGeom prst="rect">
            <a:avLst/>
          </a:prstGeom>
        </p:spPr>
        <p:txBody>
          <a:bodyPr vert="horz" lIns="0" tIns="0" rIns="0" bIns="0" rtlCol="0" anchor="b" anchorCtr="0">
            <a:noAutofit/>
          </a:bodyPr>
          <a:lstStyle>
            <a:lvl1pPr marL="0" indent="0" algn="l" rtl="0" eaLnBrk="1" fontAlgn="base" hangingPunct="1">
              <a:spcBef>
                <a:spcPts val="400"/>
              </a:spcBef>
              <a:spcAft>
                <a:spcPct val="0"/>
              </a:spcAft>
              <a:defRPr lang="en-US" sz="1600" b="0" kern="1200" dirty="0">
                <a:solidFill>
                  <a:srgbClr val="0076CC"/>
                </a:solidFill>
                <a:latin typeface="+mn-lt"/>
                <a:ea typeface="+mn-ea"/>
                <a:cs typeface="Arial" panose="020B0604020202020204" pitchFamily="34" charset="0"/>
              </a:defRPr>
            </a:lvl1pPr>
            <a:lvl2pPr marL="1588" indent="-1588" algn="l" rtl="0" eaLnBrk="1" fontAlgn="base" hangingPunct="1">
              <a:spcBef>
                <a:spcPts val="400"/>
              </a:spcBef>
              <a:spcAft>
                <a:spcPct val="0"/>
              </a:spcAft>
              <a:defRPr lang="en-US" sz="1200" b="0" kern="1200" smtClean="0">
                <a:solidFill>
                  <a:srgbClr val="70706E"/>
                </a:solidFill>
                <a:latin typeface="+mn-lt"/>
                <a:ea typeface="+mn-ea"/>
                <a:cs typeface="Arial" panose="020B0604020202020204" pitchFamily="34" charset="0"/>
              </a:defRPr>
            </a:lvl2pPr>
            <a:lvl3pPr marL="190453" indent="-187279" algn="l" rtl="0" eaLnBrk="1" fontAlgn="base" hangingPunct="1">
              <a:spcBef>
                <a:spcPts val="400"/>
              </a:spcBef>
              <a:spcAft>
                <a:spcPct val="0"/>
              </a:spcAft>
              <a:buSzPct val="100000"/>
              <a:buFont typeface="Webdings" panose="05030102010509060703" pitchFamily="18" charset="2"/>
              <a:buChar char="="/>
              <a:defRPr lang="en-US" sz="1200" b="0" kern="1200" smtClean="0">
                <a:solidFill>
                  <a:srgbClr val="70706E"/>
                </a:solidFill>
                <a:latin typeface="+mn-lt"/>
                <a:ea typeface="+mn-ea"/>
                <a:cs typeface="Arial" panose="020B0604020202020204" pitchFamily="34" charset="0"/>
              </a:defRPr>
            </a:lvl3pPr>
            <a:lvl4pPr marL="380905" indent="-188866" algn="l" rtl="0" eaLnBrk="1" fontAlgn="base" hangingPunct="1">
              <a:spcBef>
                <a:spcPts val="400"/>
              </a:spcBef>
              <a:spcAft>
                <a:spcPct val="0"/>
              </a:spcAft>
              <a:buChar char="–"/>
              <a:defRPr lang="en-US" sz="1200" b="0" kern="1200" smtClean="0">
                <a:solidFill>
                  <a:srgbClr val="70706E"/>
                </a:solidFill>
                <a:latin typeface="+mn-lt"/>
                <a:ea typeface="+mn-ea"/>
                <a:cs typeface="Arial" panose="020B0604020202020204" pitchFamily="34" charset="0"/>
              </a:defRPr>
            </a:lvl4pPr>
            <a:lvl5pPr marL="571360" indent="-188866" algn="l" rtl="0" eaLnBrk="1" fontAlgn="base" hangingPunct="1">
              <a:spcBef>
                <a:spcPts val="400"/>
              </a:spcBef>
              <a:spcAft>
                <a:spcPct val="0"/>
              </a:spcAft>
              <a:buChar char="–"/>
              <a:defRPr lang="en-US" sz="1200" b="0" kern="1200" baseline="0" dirty="0" smtClean="0">
                <a:solidFill>
                  <a:srgbClr val="70706E"/>
                </a:solidFill>
                <a:latin typeface="+mn-lt"/>
                <a:ea typeface="+mn-ea"/>
                <a:cs typeface="Arial" panose="020B0604020202020204" pitchFamily="34" charset="0"/>
              </a:defRPr>
            </a:lvl5pPr>
            <a:lvl6pPr marL="571360" indent="-188866" algn="l" rtl="0" eaLnBrk="1" fontAlgn="base" hangingPunct="1">
              <a:spcBef>
                <a:spcPts val="400"/>
              </a:spcBef>
              <a:spcAft>
                <a:spcPct val="0"/>
              </a:spcAft>
              <a:buChar char="–"/>
              <a:defRPr sz="1100" baseline="0">
                <a:solidFill>
                  <a:schemeClr val="tx1"/>
                </a:solidFill>
                <a:latin typeface="+mn-lt"/>
                <a:ea typeface="ＭＳ Ｐゴシック" pitchFamily="-112" charset="-128"/>
              </a:defRPr>
            </a:lvl6pPr>
            <a:lvl7pPr marL="571360" indent="-188866" algn="l" rtl="0" eaLnBrk="1" fontAlgn="base" hangingPunct="1">
              <a:spcBef>
                <a:spcPts val="400"/>
              </a:spcBef>
              <a:spcAft>
                <a:spcPct val="0"/>
              </a:spcAft>
              <a:buChar char="–"/>
              <a:defRPr sz="1100">
                <a:solidFill>
                  <a:schemeClr val="tx1"/>
                </a:solidFill>
                <a:latin typeface="+mn-lt"/>
                <a:ea typeface="ＭＳ Ｐゴシック" pitchFamily="-112" charset="-128"/>
              </a:defRPr>
            </a:lvl7pPr>
            <a:lvl8pPr marL="571360" indent="-188866" algn="l" rtl="0" eaLnBrk="1" fontAlgn="base" hangingPunct="1">
              <a:spcBef>
                <a:spcPts val="400"/>
              </a:spcBef>
              <a:spcAft>
                <a:spcPct val="0"/>
              </a:spcAft>
              <a:buChar char="–"/>
              <a:defRPr sz="1100">
                <a:solidFill>
                  <a:schemeClr val="tx1"/>
                </a:solidFill>
                <a:latin typeface="+mn-lt"/>
                <a:ea typeface="ＭＳ Ｐゴシック" pitchFamily="-112" charset="-128"/>
              </a:defRPr>
            </a:lvl8pPr>
            <a:lvl9pPr marL="571360" indent="-188866" algn="l" rtl="0" eaLnBrk="1" fontAlgn="base" hangingPunct="1">
              <a:spcBef>
                <a:spcPts val="400"/>
              </a:spcBef>
              <a:spcAft>
                <a:spcPct val="0"/>
              </a:spcAft>
              <a:buChar char="–"/>
              <a:defRPr sz="1100">
                <a:solidFill>
                  <a:schemeClr val="tx1"/>
                </a:solidFill>
                <a:latin typeface="+mn-lt"/>
                <a:ea typeface="ＭＳ Ｐゴシック" pitchFamily="-112" charset="-128"/>
              </a:defRPr>
            </a:lvl9pPr>
          </a:lstStyle>
          <a:p>
            <a:pPr>
              <a:defRPr/>
            </a:pPr>
            <a:r>
              <a:rPr lang="en-US" sz="1800" dirty="0">
                <a:solidFill>
                  <a:schemeClr val="bg1">
                    <a:lumMod val="50000"/>
                  </a:schemeClr>
                </a:solidFill>
                <a:cs typeface="+mn-cs"/>
              </a:rPr>
              <a:t>Technology Strategy Vision statement: </a:t>
            </a:r>
            <a:r>
              <a:rPr lang="en-US" sz="2800" b="1" i="1" dirty="0">
                <a:solidFill>
                  <a:schemeClr val="accent1"/>
                </a:solidFill>
              </a:rPr>
              <a:t>Innovate. Iterate. Integrate. </a:t>
            </a:r>
          </a:p>
        </p:txBody>
      </p:sp>
      <p:grpSp>
        <p:nvGrpSpPr>
          <p:cNvPr id="7" name="Group 6">
            <a:extLst>
              <a:ext uri="{FF2B5EF4-FFF2-40B4-BE49-F238E27FC236}">
                <a16:creationId xmlns:a16="http://schemas.microsoft.com/office/drawing/2014/main" id="{8A06EC33-71BC-4011-A77F-5EC0C1FC6120}"/>
              </a:ext>
            </a:extLst>
          </p:cNvPr>
          <p:cNvGrpSpPr/>
          <p:nvPr/>
        </p:nvGrpSpPr>
        <p:grpSpPr>
          <a:xfrm>
            <a:off x="270000" y="3543327"/>
            <a:ext cx="11252658" cy="2755398"/>
            <a:chOff x="270000" y="4018955"/>
            <a:chExt cx="11252658" cy="2279770"/>
          </a:xfrm>
        </p:grpSpPr>
        <p:sp>
          <p:nvSpPr>
            <p:cNvPr id="76" name="Rounded Rectangle 29">
              <a:extLst>
                <a:ext uri="{FF2B5EF4-FFF2-40B4-BE49-F238E27FC236}">
                  <a16:creationId xmlns:a16="http://schemas.microsoft.com/office/drawing/2014/main" id="{D61D2A18-637B-49A4-ACE9-91403D38CDCF}"/>
                </a:ext>
              </a:extLst>
            </p:cNvPr>
            <p:cNvSpPr/>
            <p:nvPr/>
          </p:nvSpPr>
          <p:spPr>
            <a:xfrm>
              <a:off x="10065884" y="5461527"/>
              <a:ext cx="1326827" cy="757030"/>
            </a:xfrm>
            <a:prstGeom prst="roundRect">
              <a:avLst>
                <a:gd name="adj" fmla="val 7907"/>
              </a:avLst>
            </a:prstGeom>
            <a:solidFill>
              <a:sysClr val="window" lastClr="FFFFFF">
                <a:lumMod val="95000"/>
              </a:sysClr>
            </a:solidFill>
            <a:ln w="9525" cap="flat" cmpd="sng" algn="ctr">
              <a:noFill/>
              <a:prstDash val="solid"/>
            </a:ln>
            <a:effectLst/>
          </p:spPr>
          <p:txBody>
            <a:bodyPr lIns="36000" rIns="36000" rtlCol="0" anchor="ctr"/>
            <a:lstStyle/>
            <a:p>
              <a:pPr marL="0" marR="0" lvl="0" indent="0" algn="ctr" defTabSz="914260" eaLnBrk="1" fontAlgn="auto" latinLnBrk="0" hangingPunct="1">
                <a:lnSpc>
                  <a:spcPct val="100000"/>
                </a:lnSpc>
                <a:spcBef>
                  <a:spcPts val="0"/>
                </a:spcBef>
                <a:spcAft>
                  <a:spcPts val="0"/>
                </a:spcAft>
                <a:buClrTx/>
                <a:buSzTx/>
                <a:buFontTx/>
                <a:buNone/>
                <a:tabLst/>
                <a:defRPr/>
              </a:pPr>
              <a:endParaRPr kumimoji="0" lang="en-AU" sz="20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77" name="Slide Number Placeholder 3">
              <a:extLst>
                <a:ext uri="{FF2B5EF4-FFF2-40B4-BE49-F238E27FC236}">
                  <a16:creationId xmlns:a16="http://schemas.microsoft.com/office/drawing/2014/main" id="{11B6494A-FA78-4C93-9EBE-2CA69FB5747A}"/>
                </a:ext>
              </a:extLst>
            </p:cNvPr>
            <p:cNvSpPr txBox="1">
              <a:spLocks/>
            </p:cNvSpPr>
            <p:nvPr/>
          </p:nvSpPr>
          <p:spPr>
            <a:xfrm>
              <a:off x="270000" y="6118725"/>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7641956-BF2E-4170-9809-8254439A8799}" type="slidenum">
                <a:rPr kumimoji="0" lang="en-GB" sz="800" b="0" i="0" u="none" strike="noStrike" kern="1200" cap="none" spc="0" normalizeH="0" baseline="0" noProof="0" smtClean="0">
                  <a:ln>
                    <a:noFill/>
                  </a:ln>
                  <a:solidFill>
                    <a:srgbClr val="1859A9"/>
                  </a:solidFill>
                  <a:effectLst/>
                  <a:uLnTx/>
                  <a:uFillTx/>
                  <a:latin typeface="Arial"/>
                  <a:ea typeface="SimHei"/>
                  <a:cs typeface="Arial Unicode M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dirty="0">
                <a:ln>
                  <a:noFill/>
                </a:ln>
                <a:solidFill>
                  <a:srgbClr val="1859A9"/>
                </a:solidFill>
                <a:effectLst/>
                <a:uLnTx/>
                <a:uFillTx/>
                <a:latin typeface="Arial"/>
                <a:ea typeface="SimHei"/>
                <a:cs typeface="Arial Unicode MS"/>
              </a:endParaRPr>
            </a:p>
          </p:txBody>
        </p:sp>
        <p:sp>
          <p:nvSpPr>
            <p:cNvPr id="78" name="Rectangle 77">
              <a:extLst>
                <a:ext uri="{FF2B5EF4-FFF2-40B4-BE49-F238E27FC236}">
                  <a16:creationId xmlns:a16="http://schemas.microsoft.com/office/drawing/2014/main" id="{93F273C0-976B-406A-BC59-38D2FE4AFFF3}"/>
                </a:ext>
              </a:extLst>
            </p:cNvPr>
            <p:cNvSpPr/>
            <p:nvPr/>
          </p:nvSpPr>
          <p:spPr bwMode="gray">
            <a:xfrm>
              <a:off x="8399282" y="4020703"/>
              <a:ext cx="3123376" cy="526902"/>
            </a:xfrm>
            <a:prstGeom prst="rect">
              <a:avLst/>
            </a:prstGeom>
            <a:solidFill>
              <a:srgbClr val="1859A9">
                <a:lumMod val="60000"/>
                <a:lumOff val="4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dirty="0">
                  <a:ln>
                    <a:noFill/>
                  </a:ln>
                  <a:solidFill>
                    <a:prstClr val="white"/>
                  </a:solidFill>
                  <a:effectLst/>
                  <a:uLnTx/>
                  <a:uFillTx/>
                  <a:latin typeface="Calibri" panose="020F0502020204030204" pitchFamily="34" charset="0"/>
                  <a:ea typeface="SimHei"/>
                  <a:cs typeface="Calibri" panose="020F0502020204030204" pitchFamily="34" charset="0"/>
                </a:rPr>
                <a:t>Leverage Client Group Initiatives</a:t>
              </a:r>
            </a:p>
          </p:txBody>
        </p:sp>
        <p:sp>
          <p:nvSpPr>
            <p:cNvPr id="79" name="Rounded Rectangle 51">
              <a:extLst>
                <a:ext uri="{FF2B5EF4-FFF2-40B4-BE49-F238E27FC236}">
                  <a16:creationId xmlns:a16="http://schemas.microsoft.com/office/drawing/2014/main" id="{7C36FF8B-5792-48D1-9652-60939566FEFB}"/>
                </a:ext>
              </a:extLst>
            </p:cNvPr>
            <p:cNvSpPr/>
            <p:nvPr/>
          </p:nvSpPr>
          <p:spPr bwMode="gray">
            <a:xfrm>
              <a:off x="352364" y="4018955"/>
              <a:ext cx="1253694" cy="2158215"/>
            </a:xfrm>
            <a:prstGeom prst="roundRect">
              <a:avLst>
                <a:gd name="adj" fmla="val 4762"/>
              </a:avLst>
            </a:prstGeom>
            <a:solidFill>
              <a:srgbClr val="1859A9"/>
            </a:solidFill>
            <a:ln w="25400" cap="flat" cmpd="sng" algn="ctr">
              <a:solidFill>
                <a:srgbClr val="1859A9"/>
              </a:solid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vert="horz" wrap="square" lIns="45720" tIns="45720" rIns="4572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800" b="1"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ITD Strategic Objectives</a:t>
              </a:r>
            </a:p>
          </p:txBody>
        </p:sp>
        <p:sp>
          <p:nvSpPr>
            <p:cNvPr id="80" name="Rectangle 79">
              <a:extLst>
                <a:ext uri="{FF2B5EF4-FFF2-40B4-BE49-F238E27FC236}">
                  <a16:creationId xmlns:a16="http://schemas.microsoft.com/office/drawing/2014/main" id="{2ACD26B2-EA7B-4343-B889-D0B456FB9B19}"/>
                </a:ext>
              </a:extLst>
            </p:cNvPr>
            <p:cNvSpPr/>
            <p:nvPr/>
          </p:nvSpPr>
          <p:spPr bwMode="gray">
            <a:xfrm>
              <a:off x="5073968" y="4020703"/>
              <a:ext cx="3123376" cy="526902"/>
            </a:xfrm>
            <a:prstGeom prst="rect">
              <a:avLst/>
            </a:prstGeom>
            <a:solidFill>
              <a:srgbClr val="1859A9"/>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dirty="0">
                  <a:ln>
                    <a:noFill/>
                  </a:ln>
                  <a:solidFill>
                    <a:prstClr val="white"/>
                  </a:solidFill>
                  <a:effectLst/>
                  <a:uLnTx/>
                  <a:uFillTx/>
                  <a:latin typeface="Calibri" panose="020F0502020204030204" pitchFamily="34" charset="0"/>
                  <a:ea typeface="SimHei"/>
                  <a:cs typeface="Calibri" panose="020F0502020204030204" pitchFamily="34" charset="0"/>
                </a:rPr>
                <a:t>Fix the Basics</a:t>
              </a:r>
            </a:p>
          </p:txBody>
        </p:sp>
        <p:sp>
          <p:nvSpPr>
            <p:cNvPr id="81" name="Rounded Rectangle 42">
              <a:extLst>
                <a:ext uri="{FF2B5EF4-FFF2-40B4-BE49-F238E27FC236}">
                  <a16:creationId xmlns:a16="http://schemas.microsoft.com/office/drawing/2014/main" id="{B996FAA8-5058-4AA9-B074-53ADD3FB9BEB}"/>
                </a:ext>
              </a:extLst>
            </p:cNvPr>
            <p:cNvSpPr/>
            <p:nvPr/>
          </p:nvSpPr>
          <p:spPr>
            <a:xfrm>
              <a:off x="1754343" y="4639244"/>
              <a:ext cx="8469659" cy="687509"/>
            </a:xfrm>
            <a:prstGeom prst="roundRect">
              <a:avLst>
                <a:gd name="adj" fmla="val 7907"/>
              </a:avLst>
            </a:prstGeom>
            <a:solidFill>
              <a:sysClr val="window" lastClr="FFFFFF">
                <a:lumMod val="95000"/>
              </a:sysClr>
            </a:solidFill>
            <a:ln w="9525" cap="flat" cmpd="sng" algn="ctr">
              <a:noFill/>
              <a:prstDash val="solid"/>
            </a:ln>
            <a:effectLst/>
          </p:spPr>
          <p:txBody>
            <a:bodyPr lIns="36000" rIns="36000" rtlCol="0" anchor="ctr"/>
            <a:lstStyle/>
            <a:p>
              <a:pPr marL="0" marR="0" lvl="0" indent="0" algn="ctr" defTabSz="914260" eaLnBrk="1" fontAlgn="auto" latinLnBrk="0" hangingPunct="1">
                <a:lnSpc>
                  <a:spcPct val="100000"/>
                </a:lnSpc>
                <a:spcBef>
                  <a:spcPts val="0"/>
                </a:spcBef>
                <a:spcAft>
                  <a:spcPts val="0"/>
                </a:spcAft>
                <a:buClrTx/>
                <a:buSzTx/>
                <a:buFontTx/>
                <a:buNone/>
                <a:tabLst/>
                <a:defRPr/>
              </a:pPr>
              <a:r>
                <a:rPr kumimoji="0" lang="en-AU" sz="20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Customer Ready: </a:t>
              </a:r>
              <a:r>
                <a:rPr kumimoji="0" lang="en-AU" sz="14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Alignment with the Business in the Customer-led transformation </a:t>
              </a:r>
              <a:r>
                <a:rPr kumimoji="0" lang="en-US" sz="14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enabled by agile rhythm and clear governance</a:t>
              </a:r>
              <a:endParaRPr kumimoji="0" lang="en-US" sz="1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82" name="Rounded Rectangle 29">
              <a:extLst>
                <a:ext uri="{FF2B5EF4-FFF2-40B4-BE49-F238E27FC236}">
                  <a16:creationId xmlns:a16="http://schemas.microsoft.com/office/drawing/2014/main" id="{5A38431F-54AC-42B1-9769-AE92566FCDC5}"/>
                </a:ext>
              </a:extLst>
            </p:cNvPr>
            <p:cNvSpPr/>
            <p:nvPr/>
          </p:nvSpPr>
          <p:spPr>
            <a:xfrm>
              <a:off x="3703320" y="5461527"/>
              <a:ext cx="6520682" cy="757030"/>
            </a:xfrm>
            <a:prstGeom prst="roundRect">
              <a:avLst>
                <a:gd name="adj" fmla="val 7907"/>
              </a:avLst>
            </a:prstGeom>
            <a:solidFill>
              <a:sysClr val="window" lastClr="FFFFFF">
                <a:lumMod val="95000"/>
              </a:sysClr>
            </a:solidFill>
            <a:ln w="9525" cap="flat" cmpd="sng" algn="ctr">
              <a:noFill/>
              <a:prstDash val="solid"/>
            </a:ln>
            <a:effectLst/>
          </p:spPr>
          <p:txBody>
            <a:bodyPr lIns="36000" rIns="36000" rtlCol="0" anchor="ctr"/>
            <a:lstStyle/>
            <a:p>
              <a:pPr marL="0" marR="0" lvl="0" indent="0" algn="ctr" defTabSz="914260" eaLnBrk="1" fontAlgn="auto" latinLnBrk="0" hangingPunct="1">
                <a:lnSpc>
                  <a:spcPct val="100000"/>
                </a:lnSpc>
                <a:spcBef>
                  <a:spcPts val="0"/>
                </a:spcBef>
                <a:spcAft>
                  <a:spcPts val="0"/>
                </a:spcAft>
                <a:buClrTx/>
                <a:buSzTx/>
                <a:buFontTx/>
                <a:buNone/>
                <a:tabLst/>
                <a:defRPr/>
              </a:pPr>
              <a:r>
                <a:rPr kumimoji="0" lang="en-AU" sz="20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Partner Ready:</a:t>
              </a:r>
              <a:r>
                <a:rPr kumimoji="0" lang="en-US" sz="20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4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to accelerate adoption &amp; integration, advance innovation and gain access to new technologies</a:t>
              </a:r>
              <a:endParaRPr kumimoji="0" lang="en-AU" sz="20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83" name="Picture 82">
              <a:extLst>
                <a:ext uri="{FF2B5EF4-FFF2-40B4-BE49-F238E27FC236}">
                  <a16:creationId xmlns:a16="http://schemas.microsoft.com/office/drawing/2014/main" id="{4BF2ECBC-8CF0-4E23-8D57-A3AE9754D2DE}"/>
                </a:ext>
              </a:extLst>
            </p:cNvPr>
            <p:cNvPicPr>
              <a:picLocks noChangeAspect="1"/>
            </p:cNvPicPr>
            <p:nvPr/>
          </p:nvPicPr>
          <p:blipFill>
            <a:blip r:embed="rId3"/>
            <a:stretch>
              <a:fillRect/>
            </a:stretch>
          </p:blipFill>
          <p:spPr>
            <a:xfrm>
              <a:off x="1724847" y="4719648"/>
              <a:ext cx="1749797" cy="1500397"/>
            </a:xfrm>
            <a:prstGeom prst="rect">
              <a:avLst/>
            </a:prstGeom>
          </p:spPr>
        </p:pic>
        <p:pic>
          <p:nvPicPr>
            <p:cNvPr id="84" name="Picture 83">
              <a:extLst>
                <a:ext uri="{FF2B5EF4-FFF2-40B4-BE49-F238E27FC236}">
                  <a16:creationId xmlns:a16="http://schemas.microsoft.com/office/drawing/2014/main" id="{C7813280-4872-4A77-86C2-544083D21AAE}"/>
                </a:ext>
              </a:extLst>
            </p:cNvPr>
            <p:cNvPicPr>
              <a:picLocks noChangeAspect="1"/>
            </p:cNvPicPr>
            <p:nvPr/>
          </p:nvPicPr>
          <p:blipFill>
            <a:blip r:embed="rId4"/>
            <a:stretch>
              <a:fillRect/>
            </a:stretch>
          </p:blipFill>
          <p:spPr>
            <a:xfrm>
              <a:off x="10214170" y="4585534"/>
              <a:ext cx="1248974" cy="1591636"/>
            </a:xfrm>
            <a:prstGeom prst="rect">
              <a:avLst/>
            </a:prstGeom>
          </p:spPr>
        </p:pic>
        <p:sp>
          <p:nvSpPr>
            <p:cNvPr id="85" name="Rectangle 84">
              <a:extLst>
                <a:ext uri="{FF2B5EF4-FFF2-40B4-BE49-F238E27FC236}">
                  <a16:creationId xmlns:a16="http://schemas.microsoft.com/office/drawing/2014/main" id="{8948B23E-4D52-48CA-9F88-CA16D96D1926}"/>
                </a:ext>
              </a:extLst>
            </p:cNvPr>
            <p:cNvSpPr/>
            <p:nvPr/>
          </p:nvSpPr>
          <p:spPr bwMode="gray">
            <a:xfrm>
              <a:off x="1754343" y="4035075"/>
              <a:ext cx="3123376" cy="526902"/>
            </a:xfrm>
            <a:prstGeom prst="rect">
              <a:avLst/>
            </a:prstGeom>
            <a:solidFill>
              <a:srgbClr val="1E3B6B"/>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500" b="1" i="0" u="none" strike="noStrike" kern="0" cap="none" spc="0" normalizeH="0" baseline="0" noProof="0" dirty="0">
                  <a:ln>
                    <a:noFill/>
                  </a:ln>
                  <a:solidFill>
                    <a:prstClr val="white"/>
                  </a:solidFill>
                  <a:effectLst/>
                  <a:uLnTx/>
                  <a:uFillTx/>
                  <a:latin typeface="Calibri" panose="020F0502020204030204" pitchFamily="34" charset="0"/>
                  <a:ea typeface="SimHei"/>
                  <a:cs typeface="Calibri" panose="020F0502020204030204" pitchFamily="34" charset="0"/>
                </a:rPr>
                <a:t>Enable The Business Transformation</a:t>
              </a:r>
            </a:p>
          </p:txBody>
        </p:sp>
      </p:grpSp>
    </p:spTree>
    <p:extLst>
      <p:ext uri="{BB962C8B-B14F-4D97-AF65-F5344CB8AC3E}">
        <p14:creationId xmlns:p14="http://schemas.microsoft.com/office/powerpoint/2010/main" val="3037809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dirty="0"/>
              <a:t>Executive Summary</a:t>
            </a:r>
          </a:p>
        </p:txBody>
      </p:sp>
      <p:sp>
        <p:nvSpPr>
          <p:cNvPr id="41" name="Rectangle 40"/>
          <p:cNvSpPr/>
          <p:nvPr/>
        </p:nvSpPr>
        <p:spPr>
          <a:xfrm>
            <a:off x="2750602" y="4938098"/>
            <a:ext cx="8166507" cy="1528308"/>
          </a:xfrm>
          <a:prstGeom prst="rect">
            <a:avLst/>
          </a:prstGeom>
          <a:noFill/>
          <a:ln w="38100" cap="flat" cmpd="sng" algn="ctr">
            <a:solidFill>
              <a:srgbClr val="646464">
                <a:lumMod val="20000"/>
                <a:lumOff val="80000"/>
              </a:srgbClr>
            </a:solidFill>
            <a:prstDash val="solid"/>
          </a:ln>
          <a:effectLst/>
        </p:spPr>
        <p:txBody>
          <a:bodyPr rtlCol="0" anchor="ctr" anchorCtr="0"/>
          <a:lstStyle/>
          <a:p>
            <a:pPr marL="0" marR="0" lvl="0" indent="0" defTabSz="914400" eaLnBrk="1" fontAlgn="auto" latinLnBrk="0" hangingPunct="1">
              <a:lnSpc>
                <a:spcPct val="15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555555"/>
              </a:solidFill>
              <a:effectLst/>
              <a:uLnTx/>
              <a:uFillTx/>
              <a:latin typeface="EYInterstate Light" panose="02000506000000020004" pitchFamily="2" charset="0"/>
              <a:ea typeface="+mn-ea"/>
              <a:cs typeface="+mn-cs"/>
            </a:endParaRPr>
          </a:p>
        </p:txBody>
      </p:sp>
      <p:sp>
        <p:nvSpPr>
          <p:cNvPr id="42" name="Rectangle 41"/>
          <p:cNvSpPr/>
          <p:nvPr/>
        </p:nvSpPr>
        <p:spPr>
          <a:xfrm>
            <a:off x="589280" y="4938096"/>
            <a:ext cx="2161321" cy="1528308"/>
          </a:xfrm>
          <a:prstGeom prst="rect">
            <a:avLst/>
          </a:prstGeom>
          <a:solidFill>
            <a:schemeClr val="accent2"/>
          </a:solidFill>
          <a:ln w="38100" cap="flat" cmpd="sng" algn="ctr">
            <a:solidFill>
              <a:srgbClr val="646464">
                <a:lumMod val="20000"/>
                <a:lumOff val="80000"/>
              </a:srgbClr>
            </a:solidFill>
            <a:prstDash val="solid"/>
          </a:ln>
          <a:effectLst/>
        </p:spPr>
        <p:txBody>
          <a:bodyPr rtlCol="0" anchor="ctr" anchorCtr="0"/>
          <a:lstStyle/>
          <a:p>
            <a:pPr marL="536575"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bg1"/>
                </a:solidFill>
                <a:effectLst/>
                <a:uLnTx/>
                <a:uFillTx/>
                <a:latin typeface="EYInterstate"/>
                <a:ea typeface="+mn-ea"/>
                <a:cs typeface="+mn-cs"/>
              </a:rPr>
              <a:t>IT Challenges</a:t>
            </a:r>
          </a:p>
        </p:txBody>
      </p:sp>
      <p:sp>
        <p:nvSpPr>
          <p:cNvPr id="58" name="Rectangle 57"/>
          <p:cNvSpPr/>
          <p:nvPr/>
        </p:nvSpPr>
        <p:spPr>
          <a:xfrm>
            <a:off x="2085913" y="1347472"/>
            <a:ext cx="3772939" cy="1798004"/>
          </a:xfrm>
          <a:prstGeom prst="rect">
            <a:avLst/>
          </a:prstGeom>
          <a:noFill/>
          <a:ln w="38100" cap="flat" cmpd="sng" algn="ctr">
            <a:solidFill>
              <a:srgbClr val="646464">
                <a:lumMod val="20000"/>
                <a:lumOff val="80000"/>
              </a:srgbClr>
            </a:solidFill>
            <a:prstDash val="solid"/>
          </a:ln>
          <a:effectLst/>
        </p:spPr>
        <p:txBody>
          <a:bodyPr rtlCol="0" anchor="ctr" anchorCtr="0"/>
          <a:lstStyle/>
          <a:p>
            <a:pPr marL="171450" marR="0" lvl="0" indent="-171450" defTabSz="914400" eaLnBrk="1" fontAlgn="auto" latinLnBrk="0" hangingPunct="1">
              <a:lnSpc>
                <a:spcPct val="100000"/>
              </a:lnSpc>
              <a:spcBef>
                <a:spcPts val="200"/>
              </a:spcBef>
              <a:spcAft>
                <a:spcPts val="200"/>
              </a:spcAft>
              <a:buClrTx/>
              <a:buSzTx/>
              <a:buFont typeface="Arial" panose="020B0604020202020204" pitchFamily="34" charset="0"/>
              <a:buChar char="•"/>
              <a:tabLst/>
              <a:defRPr/>
            </a:pPr>
            <a:endParaRPr lang="en-US" sz="1100" kern="0" dirty="0">
              <a:solidFill>
                <a:schemeClr val="accent4"/>
              </a:solidFill>
            </a:endParaRPr>
          </a:p>
        </p:txBody>
      </p:sp>
      <p:sp>
        <p:nvSpPr>
          <p:cNvPr id="59" name="Rectangle 58"/>
          <p:cNvSpPr/>
          <p:nvPr/>
        </p:nvSpPr>
        <p:spPr>
          <a:xfrm>
            <a:off x="619760" y="1347470"/>
            <a:ext cx="1439117" cy="1798006"/>
          </a:xfrm>
          <a:prstGeom prst="rect">
            <a:avLst/>
          </a:prstGeom>
          <a:solidFill>
            <a:schemeClr val="accent2"/>
          </a:solidFill>
          <a:ln w="38100" cap="flat" cmpd="sng" algn="ctr">
            <a:solidFill>
              <a:srgbClr val="646464">
                <a:lumMod val="20000"/>
                <a:lumOff val="80000"/>
              </a:srgbClr>
            </a:solidFill>
            <a:prstDash val="solid"/>
          </a:ln>
          <a:effectLst/>
        </p:spPr>
        <p:txBody>
          <a:bodyPr rtlCol="0" anchor="ctr" anchorCtr="0"/>
          <a:lstStyle/>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schemeClr val="bg1"/>
                </a:solidFill>
                <a:effectLst/>
                <a:uLnTx/>
                <a:uFillTx/>
                <a:latin typeface="EYInterstate"/>
                <a:ea typeface="+mn-ea"/>
                <a:cs typeface="+mn-cs"/>
              </a:rPr>
              <a:t>IT</a:t>
            </a:r>
          </a:p>
          <a:p>
            <a:pPr marL="12700" marR="0" lvl="0" indent="-1270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EYInterstate"/>
                <a:ea typeface="+mn-ea"/>
                <a:cs typeface="+mn-cs"/>
              </a:rPr>
              <a:t>Organization</a:t>
            </a:r>
          </a:p>
        </p:txBody>
      </p:sp>
      <p:pic>
        <p:nvPicPr>
          <p:cNvPr id="60" name="Picture 5"/>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782008" y="1696756"/>
            <a:ext cx="1135744" cy="74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Rectangle 60"/>
          <p:cNvSpPr/>
          <p:nvPr/>
        </p:nvSpPr>
        <p:spPr>
          <a:xfrm>
            <a:off x="2069438" y="3222174"/>
            <a:ext cx="8847673" cy="1638613"/>
          </a:xfrm>
          <a:prstGeom prst="rect">
            <a:avLst/>
          </a:prstGeom>
          <a:noFill/>
          <a:ln w="38100" cap="flat" cmpd="sng" algn="ctr">
            <a:solidFill>
              <a:srgbClr val="646464">
                <a:lumMod val="20000"/>
                <a:lumOff val="80000"/>
              </a:srgbClr>
            </a:solidFill>
            <a:prstDash val="solid"/>
          </a:ln>
          <a:effectLst/>
        </p:spPr>
        <p:txBody>
          <a:bodyPr rtlCol="0" anchor="ctr" anchorCtr="0"/>
          <a:lstStyle/>
          <a:p>
            <a:pPr marL="171450" indent="-171450">
              <a:spcBef>
                <a:spcPts val="200"/>
              </a:spcBef>
              <a:spcAft>
                <a:spcPts val="200"/>
              </a:spcAft>
              <a:buFont typeface="Arial" panose="020B0604020202020204" pitchFamily="34" charset="0"/>
              <a:buChar char="•"/>
            </a:pPr>
            <a:endParaRPr lang="en-US" sz="1100" kern="0" dirty="0">
              <a:solidFill>
                <a:schemeClr val="accent4"/>
              </a:solidFill>
            </a:endParaRPr>
          </a:p>
        </p:txBody>
      </p:sp>
      <p:sp>
        <p:nvSpPr>
          <p:cNvPr id="62" name="Rectangle 61"/>
          <p:cNvSpPr/>
          <p:nvPr/>
        </p:nvSpPr>
        <p:spPr>
          <a:xfrm>
            <a:off x="630323" y="3222174"/>
            <a:ext cx="1439117" cy="1638613"/>
          </a:xfrm>
          <a:prstGeom prst="rect">
            <a:avLst/>
          </a:prstGeom>
          <a:solidFill>
            <a:schemeClr val="accent2"/>
          </a:solidFill>
          <a:ln w="38100" cap="flat" cmpd="sng" algn="ctr">
            <a:solidFill>
              <a:srgbClr val="0070C0"/>
            </a:solidFill>
            <a:prstDash val="solid"/>
          </a:ln>
          <a:effectLst/>
        </p:spPr>
        <p:txBody>
          <a:bodyPr rtlCol="0" anchor="ctr" anchorCtr="0"/>
          <a:lstStyle/>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schemeClr val="bg1"/>
                </a:solidFill>
                <a:effectLst/>
                <a:uLnTx/>
                <a:uFillTx/>
                <a:latin typeface="EYInterstate"/>
                <a:ea typeface="+mn-ea"/>
                <a:cs typeface="+mn-cs"/>
              </a:rPr>
              <a:t>Technology Value Chain</a:t>
            </a:r>
          </a:p>
        </p:txBody>
      </p:sp>
      <p:pic>
        <p:nvPicPr>
          <p:cNvPr id="63" name="Picture 3"/>
          <p:cNvPicPr>
            <a:picLocks noChangeAspect="1" noChangeArrowheads="1"/>
          </p:cNvPicPr>
          <p:nvPr/>
        </p:nvPicPr>
        <p:blipFill>
          <a:blip r:embed="rId4" cstate="print">
            <a:lum bright="70000" contrast="-70000"/>
            <a:extLst>
              <a:ext uri="{28A0092B-C50C-407E-A947-70E740481C1C}">
                <a14:useLocalDpi xmlns:a14="http://schemas.microsoft.com/office/drawing/2010/main" val="0"/>
              </a:ext>
            </a:extLst>
          </a:blip>
          <a:srcRect/>
          <a:stretch>
            <a:fillRect/>
          </a:stretch>
        </p:blipFill>
        <p:spPr bwMode="auto">
          <a:xfrm>
            <a:off x="1079006" y="3409701"/>
            <a:ext cx="540708" cy="471450"/>
          </a:xfrm>
          <a:prstGeom prst="rect">
            <a:avLst/>
          </a:prstGeom>
          <a:solidFill>
            <a:schemeClr val="accent2"/>
          </a:solidFill>
          <a:ln>
            <a:noFill/>
          </a:ln>
          <a:effectLst/>
        </p:spPr>
      </p:pic>
      <p:sp>
        <p:nvSpPr>
          <p:cNvPr id="64" name="Rectangle 63"/>
          <p:cNvSpPr/>
          <p:nvPr/>
        </p:nvSpPr>
        <p:spPr>
          <a:xfrm>
            <a:off x="7394018" y="1352389"/>
            <a:ext cx="3523091" cy="1793087"/>
          </a:xfrm>
          <a:prstGeom prst="rect">
            <a:avLst/>
          </a:prstGeom>
          <a:noFill/>
          <a:ln w="38100" cap="flat" cmpd="sng" algn="ctr">
            <a:solidFill>
              <a:srgbClr val="646464">
                <a:lumMod val="20000"/>
                <a:lumOff val="80000"/>
              </a:srgbClr>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dirty="0">
              <a:ln>
                <a:noFill/>
              </a:ln>
              <a:solidFill>
                <a:srgbClr val="555555"/>
              </a:solidFill>
              <a:effectLst/>
              <a:uLnTx/>
              <a:uFillTx/>
              <a:latin typeface="EYInterstate"/>
              <a:ea typeface="+mn-ea"/>
              <a:cs typeface="+mn-cs"/>
            </a:endParaRPr>
          </a:p>
        </p:txBody>
      </p:sp>
      <p:sp>
        <p:nvSpPr>
          <p:cNvPr id="65" name="Rectangle 64"/>
          <p:cNvSpPr/>
          <p:nvPr/>
        </p:nvSpPr>
        <p:spPr>
          <a:xfrm>
            <a:off x="5933638" y="1352387"/>
            <a:ext cx="1439117" cy="1793087"/>
          </a:xfrm>
          <a:prstGeom prst="rect">
            <a:avLst/>
          </a:prstGeom>
          <a:solidFill>
            <a:schemeClr val="accent2"/>
          </a:solidFill>
          <a:ln w="38100" cap="flat" cmpd="sng" algn="ctr">
            <a:solidFill>
              <a:srgbClr val="646464">
                <a:lumMod val="20000"/>
                <a:lumOff val="80000"/>
              </a:srgbClr>
            </a:solidFill>
            <a:prstDash val="solid"/>
          </a:ln>
          <a:effectLst/>
        </p:spPr>
        <p:txBody>
          <a:bodyPr rtlCol="0" anchor="ctr" anchorCtr="0"/>
          <a:lstStyle/>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EYInterstate"/>
              <a:ea typeface="+mn-ea"/>
              <a:cs typeface="+mn-cs"/>
            </a:endParaRPr>
          </a:p>
          <a:p>
            <a:pPr marL="12700" marR="0" lvl="0" indent="-1270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bg1"/>
                </a:solidFill>
                <a:effectLst/>
                <a:uLnTx/>
                <a:uFillTx/>
                <a:latin typeface="EYInterstate"/>
                <a:ea typeface="+mn-ea"/>
                <a:cs typeface="+mn-cs"/>
              </a:rPr>
              <a:t>Key Metrics</a:t>
            </a:r>
          </a:p>
        </p:txBody>
      </p:sp>
      <p:sp>
        <p:nvSpPr>
          <p:cNvPr id="66" name="Oval 65"/>
          <p:cNvSpPr/>
          <p:nvPr/>
        </p:nvSpPr>
        <p:spPr>
          <a:xfrm>
            <a:off x="6209847" y="1656550"/>
            <a:ext cx="857042" cy="691025"/>
          </a:xfrm>
          <a:prstGeom prst="ellipse">
            <a:avLst/>
          </a:prstGeom>
          <a:solidFill>
            <a:schemeClr val="accent2"/>
          </a:solidFill>
          <a:ln w="28575" cap="flat" cmpd="sng" algn="ctr">
            <a:solidFill>
              <a:srgbClr val="FFFFFF"/>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646464"/>
              </a:solidFill>
              <a:effectLst/>
              <a:uLnTx/>
              <a:uFillTx/>
              <a:latin typeface="EYInterstate"/>
              <a:ea typeface="+mn-ea"/>
              <a:cs typeface="+mn-cs"/>
            </a:endParaRPr>
          </a:p>
        </p:txBody>
      </p:sp>
      <p:sp>
        <p:nvSpPr>
          <p:cNvPr id="70" name="Freeform 95"/>
          <p:cNvSpPr>
            <a:spLocks noChangeAspect="1" noEditPoints="1"/>
          </p:cNvSpPr>
          <p:nvPr/>
        </p:nvSpPr>
        <p:spPr bwMode="auto">
          <a:xfrm>
            <a:off x="6428635" y="1864213"/>
            <a:ext cx="419461" cy="301646"/>
          </a:xfrm>
          <a:custGeom>
            <a:avLst/>
            <a:gdLst>
              <a:gd name="T0" fmla="*/ 2147483647 w 5348"/>
              <a:gd name="T1" fmla="*/ 0 h 4763"/>
              <a:gd name="T2" fmla="*/ 2147483647 w 5348"/>
              <a:gd name="T3" fmla="*/ 2147483647 h 4763"/>
              <a:gd name="T4" fmla="*/ 2147483647 w 5348"/>
              <a:gd name="T5" fmla="*/ 2147483647 h 4763"/>
              <a:gd name="T6" fmla="*/ 2147483647 w 5348"/>
              <a:gd name="T7" fmla="*/ 2147483647 h 4763"/>
              <a:gd name="T8" fmla="*/ 0 w 5348"/>
              <a:gd name="T9" fmla="*/ 2147483647 h 4763"/>
              <a:gd name="T10" fmla="*/ 0 w 5348"/>
              <a:gd name="T11" fmla="*/ 0 h 4763"/>
              <a:gd name="T12" fmla="*/ 2147483647 w 5348"/>
              <a:gd name="T13" fmla="*/ 0 h 4763"/>
              <a:gd name="T14" fmla="*/ 2147483647 w 5348"/>
              <a:gd name="T15" fmla="*/ 2147483647 h 4763"/>
              <a:gd name="T16" fmla="*/ 2147483647 w 5348"/>
              <a:gd name="T17" fmla="*/ 2147483647 h 4763"/>
              <a:gd name="T18" fmla="*/ 2147483647 w 5348"/>
              <a:gd name="T19" fmla="*/ 2147483647 h 4763"/>
              <a:gd name="T20" fmla="*/ 2147483647 w 5348"/>
              <a:gd name="T21" fmla="*/ 2147483647 h 4763"/>
              <a:gd name="T22" fmla="*/ 2147483647 w 5348"/>
              <a:gd name="T23" fmla="*/ 2147483647 h 4763"/>
              <a:gd name="T24" fmla="*/ 2147483647 w 5348"/>
              <a:gd name="T25" fmla="*/ 2147483647 h 4763"/>
              <a:gd name="T26" fmla="*/ 2147483647 w 5348"/>
              <a:gd name="T27" fmla="*/ 2147483647 h 4763"/>
              <a:gd name="T28" fmla="*/ 2147483647 w 5348"/>
              <a:gd name="T29" fmla="*/ 2147483647 h 4763"/>
              <a:gd name="T30" fmla="*/ 2147483647 w 5348"/>
              <a:gd name="T31" fmla="*/ 2147483647 h 4763"/>
              <a:gd name="T32" fmla="*/ 2147483647 w 5348"/>
              <a:gd name="T33" fmla="*/ 2147483647 h 4763"/>
              <a:gd name="T34" fmla="*/ 2147483647 w 5348"/>
              <a:gd name="T35" fmla="*/ 2147483647 h 4763"/>
              <a:gd name="T36" fmla="*/ 2147483647 w 5348"/>
              <a:gd name="T37" fmla="*/ 2147483647 h 4763"/>
              <a:gd name="T38" fmla="*/ 2147483647 w 5348"/>
              <a:gd name="T39" fmla="*/ 2147483647 h 4763"/>
              <a:gd name="T40" fmla="*/ 2147483647 w 5348"/>
              <a:gd name="T41" fmla="*/ 2147483647 h 4763"/>
              <a:gd name="T42" fmla="*/ 2147483647 w 5348"/>
              <a:gd name="T43" fmla="*/ 2147483647 h 4763"/>
              <a:gd name="T44" fmla="*/ 2147483647 w 5348"/>
              <a:gd name="T45" fmla="*/ 2147483647 h 4763"/>
              <a:gd name="T46" fmla="*/ 2147483647 w 5348"/>
              <a:gd name="T47" fmla="*/ 2147483647 h 4763"/>
              <a:gd name="T48" fmla="*/ 2147483647 w 5348"/>
              <a:gd name="T49" fmla="*/ 2147483647 h 4763"/>
              <a:gd name="T50" fmla="*/ 2147483647 w 5348"/>
              <a:gd name="T51" fmla="*/ 2147483647 h 4763"/>
              <a:gd name="T52" fmla="*/ 2147483647 w 5348"/>
              <a:gd name="T53" fmla="*/ 2147483647 h 4763"/>
              <a:gd name="T54" fmla="*/ 2147483647 w 5348"/>
              <a:gd name="T55" fmla="*/ 2147483647 h 4763"/>
              <a:gd name="T56" fmla="*/ 2147483647 w 5348"/>
              <a:gd name="T57" fmla="*/ 2147483647 h 4763"/>
              <a:gd name="T58" fmla="*/ 2147483647 w 5348"/>
              <a:gd name="T59" fmla="*/ 2147483647 h 4763"/>
              <a:gd name="T60" fmla="*/ 2147483647 w 5348"/>
              <a:gd name="T61" fmla="*/ 2147483647 h 4763"/>
              <a:gd name="T62" fmla="*/ 2147483647 w 5348"/>
              <a:gd name="T63" fmla="*/ 2147483647 h 4763"/>
              <a:gd name="T64" fmla="*/ 2147483647 w 5348"/>
              <a:gd name="T65" fmla="*/ 2147483647 h 4763"/>
              <a:gd name="T66" fmla="*/ 2147483647 w 5348"/>
              <a:gd name="T67" fmla="*/ 2147483647 h 4763"/>
              <a:gd name="T68" fmla="*/ 2147483647 w 5348"/>
              <a:gd name="T69" fmla="*/ 2147483647 h 4763"/>
              <a:gd name="T70" fmla="*/ 2147483647 w 5348"/>
              <a:gd name="T71" fmla="*/ 2147483647 h 4763"/>
              <a:gd name="T72" fmla="*/ 2147483647 w 5348"/>
              <a:gd name="T73" fmla="*/ 2147483647 h 4763"/>
              <a:gd name="T74" fmla="*/ 2147483647 w 5348"/>
              <a:gd name="T75" fmla="*/ 2147483647 h 4763"/>
              <a:gd name="T76" fmla="*/ 2147483647 w 5348"/>
              <a:gd name="T77" fmla="*/ 2147483647 h 4763"/>
              <a:gd name="T78" fmla="*/ 2147483647 w 5348"/>
              <a:gd name="T79" fmla="*/ 2147483647 h 4763"/>
              <a:gd name="T80" fmla="*/ 2147483647 w 5348"/>
              <a:gd name="T81" fmla="*/ 2147483647 h 4763"/>
              <a:gd name="T82" fmla="*/ 2147483647 w 5348"/>
              <a:gd name="T83" fmla="*/ 2147483647 h 4763"/>
              <a:gd name="T84" fmla="*/ 2147483647 w 5348"/>
              <a:gd name="T85" fmla="*/ 2147483647 h 4763"/>
              <a:gd name="T86" fmla="*/ 2147483647 w 5348"/>
              <a:gd name="T87" fmla="*/ 2147483647 h 476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348"/>
              <a:gd name="T133" fmla="*/ 0 h 4763"/>
              <a:gd name="T134" fmla="*/ 5348 w 5348"/>
              <a:gd name="T135" fmla="*/ 4763 h 476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348" h="4763">
                <a:moveTo>
                  <a:pt x="220" y="0"/>
                </a:moveTo>
                <a:lnTo>
                  <a:pt x="220" y="4543"/>
                </a:lnTo>
                <a:lnTo>
                  <a:pt x="5348" y="4543"/>
                </a:lnTo>
                <a:lnTo>
                  <a:pt x="5348" y="4763"/>
                </a:lnTo>
                <a:lnTo>
                  <a:pt x="0" y="4763"/>
                </a:lnTo>
                <a:lnTo>
                  <a:pt x="0" y="0"/>
                </a:lnTo>
                <a:lnTo>
                  <a:pt x="220" y="0"/>
                </a:lnTo>
                <a:close/>
                <a:moveTo>
                  <a:pt x="5094" y="2345"/>
                </a:moveTo>
                <a:lnTo>
                  <a:pt x="5094" y="4353"/>
                </a:lnTo>
                <a:lnTo>
                  <a:pt x="3694" y="4353"/>
                </a:lnTo>
                <a:lnTo>
                  <a:pt x="3694" y="2013"/>
                </a:lnTo>
                <a:lnTo>
                  <a:pt x="5094" y="2345"/>
                </a:lnTo>
                <a:close/>
                <a:moveTo>
                  <a:pt x="2069" y="2470"/>
                </a:moveTo>
                <a:lnTo>
                  <a:pt x="2069" y="1627"/>
                </a:lnTo>
                <a:lnTo>
                  <a:pt x="2942" y="1835"/>
                </a:lnTo>
                <a:lnTo>
                  <a:pt x="2830" y="2243"/>
                </a:lnTo>
                <a:lnTo>
                  <a:pt x="2069" y="2470"/>
                </a:lnTo>
                <a:close/>
                <a:moveTo>
                  <a:pt x="3468" y="1996"/>
                </a:moveTo>
                <a:lnTo>
                  <a:pt x="3468" y="4353"/>
                </a:lnTo>
                <a:lnTo>
                  <a:pt x="2069" y="4353"/>
                </a:lnTo>
                <a:lnTo>
                  <a:pt x="2069" y="2759"/>
                </a:lnTo>
                <a:lnTo>
                  <a:pt x="3055" y="2466"/>
                </a:lnTo>
                <a:lnTo>
                  <a:pt x="3442" y="1072"/>
                </a:lnTo>
                <a:lnTo>
                  <a:pt x="3950" y="1230"/>
                </a:lnTo>
                <a:lnTo>
                  <a:pt x="4801" y="448"/>
                </a:lnTo>
                <a:lnTo>
                  <a:pt x="4801" y="825"/>
                </a:lnTo>
                <a:lnTo>
                  <a:pt x="4020" y="1541"/>
                </a:lnTo>
                <a:lnTo>
                  <a:pt x="3622" y="1418"/>
                </a:lnTo>
                <a:lnTo>
                  <a:pt x="3468" y="1996"/>
                </a:lnTo>
                <a:close/>
                <a:moveTo>
                  <a:pt x="1840" y="2826"/>
                </a:moveTo>
                <a:lnTo>
                  <a:pt x="1840" y="4353"/>
                </a:lnTo>
                <a:lnTo>
                  <a:pt x="595" y="4353"/>
                </a:lnTo>
                <a:lnTo>
                  <a:pt x="1019" y="3352"/>
                </a:lnTo>
                <a:lnTo>
                  <a:pt x="1519" y="3635"/>
                </a:lnTo>
                <a:lnTo>
                  <a:pt x="1769" y="2847"/>
                </a:lnTo>
                <a:lnTo>
                  <a:pt x="1840" y="2826"/>
                </a:lnTo>
                <a:close/>
                <a:moveTo>
                  <a:pt x="1840" y="1572"/>
                </a:moveTo>
                <a:lnTo>
                  <a:pt x="1840" y="2537"/>
                </a:lnTo>
                <a:lnTo>
                  <a:pt x="1550" y="2624"/>
                </a:lnTo>
                <a:lnTo>
                  <a:pt x="1358" y="3227"/>
                </a:lnTo>
                <a:lnTo>
                  <a:pt x="886" y="2957"/>
                </a:lnTo>
                <a:lnTo>
                  <a:pt x="443" y="4005"/>
                </a:lnTo>
                <a:lnTo>
                  <a:pt x="443" y="1242"/>
                </a:lnTo>
                <a:lnTo>
                  <a:pt x="1840" y="1572"/>
                </a:lnTo>
                <a:close/>
              </a:path>
            </a:pathLst>
          </a:custGeom>
          <a:solidFill>
            <a:srgbClr val="FFFFFF"/>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646464"/>
              </a:solidFill>
              <a:effectLst/>
              <a:uLnTx/>
              <a:uFillTx/>
              <a:latin typeface="EYInterstate"/>
            </a:endParaRPr>
          </a:p>
        </p:txBody>
      </p:sp>
      <p:grpSp>
        <p:nvGrpSpPr>
          <p:cNvPr id="118" name="Group 117"/>
          <p:cNvGrpSpPr/>
          <p:nvPr/>
        </p:nvGrpSpPr>
        <p:grpSpPr>
          <a:xfrm>
            <a:off x="2246316" y="3327256"/>
            <a:ext cx="8073048" cy="296964"/>
            <a:chOff x="1154713" y="2034220"/>
            <a:chExt cx="8514531" cy="879330"/>
          </a:xfrm>
        </p:grpSpPr>
        <p:grpSp>
          <p:nvGrpSpPr>
            <p:cNvPr id="119" name="Group 118"/>
            <p:cNvGrpSpPr/>
            <p:nvPr/>
          </p:nvGrpSpPr>
          <p:grpSpPr>
            <a:xfrm>
              <a:off x="3176723" y="2034220"/>
              <a:ext cx="6492521" cy="879330"/>
              <a:chOff x="1416998" y="1819657"/>
              <a:chExt cx="4430289" cy="702766"/>
            </a:xfrm>
            <a:solidFill>
              <a:schemeClr val="accent2"/>
            </a:solidFill>
          </p:grpSpPr>
          <p:sp>
            <p:nvSpPr>
              <p:cNvPr id="122" name="Freeform 121"/>
              <p:cNvSpPr/>
              <p:nvPr/>
            </p:nvSpPr>
            <p:spPr>
              <a:xfrm>
                <a:off x="1416998"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rgbClr val="FF0000"/>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Calibri"/>
                    <a:ea typeface="+mn-ea"/>
                    <a:cs typeface="+mn-cs"/>
                  </a:rPr>
                  <a:t>Build</a:t>
                </a:r>
              </a:p>
            </p:txBody>
          </p:sp>
          <p:sp>
            <p:nvSpPr>
              <p:cNvPr id="123" name="Freeform 122"/>
              <p:cNvSpPr/>
              <p:nvPr/>
            </p:nvSpPr>
            <p:spPr>
              <a:xfrm>
                <a:off x="2705403" y="2025801"/>
                <a:ext cx="248310" cy="290477"/>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a:ea typeface="+mn-ea"/>
                  <a:cs typeface="+mn-cs"/>
                </a:endParaRPr>
              </a:p>
            </p:txBody>
          </p:sp>
          <p:sp>
            <p:nvSpPr>
              <p:cNvPr id="124" name="Freeform 123"/>
              <p:cNvSpPr/>
              <p:nvPr/>
            </p:nvSpPr>
            <p:spPr>
              <a:xfrm>
                <a:off x="3036222"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rgbClr val="00B050"/>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Calibri"/>
                    <a:ea typeface="+mn-ea"/>
                    <a:cs typeface="+mn-cs"/>
                  </a:rPr>
                  <a:t>Deliver</a:t>
                </a:r>
              </a:p>
            </p:txBody>
          </p:sp>
          <p:sp>
            <p:nvSpPr>
              <p:cNvPr id="125" name="Freeform 124"/>
              <p:cNvSpPr/>
              <p:nvPr/>
            </p:nvSpPr>
            <p:spPr>
              <a:xfrm>
                <a:off x="4324627" y="2025801"/>
                <a:ext cx="248310" cy="290477"/>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a:ea typeface="+mn-ea"/>
                  <a:cs typeface="+mn-cs"/>
                </a:endParaRPr>
              </a:p>
            </p:txBody>
          </p:sp>
          <p:sp>
            <p:nvSpPr>
              <p:cNvPr id="126" name="Freeform 125"/>
              <p:cNvSpPr/>
              <p:nvPr/>
            </p:nvSpPr>
            <p:spPr>
              <a:xfrm>
                <a:off x="4676010"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rgbClr val="FFC000"/>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lang="en-US" sz="1600" kern="0" dirty="0">
                    <a:solidFill>
                      <a:prstClr val="white"/>
                    </a:solidFill>
                    <a:latin typeface="Calibri"/>
                  </a:rPr>
                  <a:t>Run</a:t>
                </a:r>
                <a:endParaRPr kumimoji="0" lang="en-US" sz="1600" b="0" i="0" u="none" strike="noStrike" kern="0" cap="none" spc="0" normalizeH="0" baseline="0" noProof="0" dirty="0">
                  <a:ln>
                    <a:noFill/>
                  </a:ln>
                  <a:solidFill>
                    <a:prstClr val="white"/>
                  </a:solidFill>
                  <a:effectLst/>
                  <a:uLnTx/>
                  <a:uFillTx/>
                  <a:latin typeface="Calibri"/>
                </a:endParaRPr>
              </a:p>
            </p:txBody>
          </p:sp>
        </p:grpSp>
        <p:sp>
          <p:nvSpPr>
            <p:cNvPr id="120" name="Freeform 119"/>
            <p:cNvSpPr/>
            <p:nvPr/>
          </p:nvSpPr>
          <p:spPr>
            <a:xfrm>
              <a:off x="1154713" y="2034220"/>
              <a:ext cx="1454299" cy="879330"/>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2"/>
            </a:solidFill>
            <a:ln w="25400" cap="flat" cmpd="sng" algn="ctr">
              <a:solidFill>
                <a:srgbClr val="FF0000"/>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Calibri"/>
                  <a:ea typeface="+mn-ea"/>
                  <a:cs typeface="+mn-cs"/>
                </a:rPr>
                <a:t>Plan</a:t>
              </a:r>
            </a:p>
          </p:txBody>
        </p:sp>
        <p:sp>
          <p:nvSpPr>
            <p:cNvPr id="121" name="Freeform 120"/>
            <p:cNvSpPr/>
            <p:nvPr/>
          </p:nvSpPr>
          <p:spPr>
            <a:xfrm>
              <a:off x="2774343" y="2301118"/>
              <a:ext cx="308311" cy="36345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a:ln w="25400" cap="flat" cmpd="sng" algn="ctr">
              <a:solidFill>
                <a:sysClr val="window" lastClr="FFFFFF">
                  <a:hueOff val="0"/>
                  <a:satOff val="0"/>
                  <a:lumOff val="0"/>
                  <a:alphaOff val="0"/>
                </a:sysClr>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a:ea typeface="+mn-ea"/>
                <a:cs typeface="+mn-cs"/>
              </a:endParaRPr>
            </a:p>
          </p:txBody>
        </p:sp>
      </p:grpSp>
      <p:sp>
        <p:nvSpPr>
          <p:cNvPr id="127" name="Rectangle 126"/>
          <p:cNvSpPr/>
          <p:nvPr/>
        </p:nvSpPr>
        <p:spPr>
          <a:xfrm>
            <a:off x="2246316" y="3689437"/>
            <a:ext cx="1985790" cy="1061829"/>
          </a:xfrm>
          <a:prstGeom prst="rect">
            <a:avLst/>
          </a:prstGeom>
        </p:spPr>
        <p:txBody>
          <a:bodyPr wrap="square">
            <a:spAutoFit/>
          </a:bodyPr>
          <a:lstStyle/>
          <a:p>
            <a:r>
              <a:rPr lang="en-US" sz="900" b="1" dirty="0">
                <a:solidFill>
                  <a:srgbClr val="FF0000"/>
                </a:solidFill>
                <a:ea typeface=""/>
                <a:cs typeface="Arial" pitchFamily="34" charset="0"/>
                <a:sym typeface="Wingdings"/>
              </a:rPr>
              <a:t> </a:t>
            </a:r>
            <a:r>
              <a:rPr lang="en-US" sz="900" b="1" dirty="0">
                <a:solidFill>
                  <a:srgbClr val="00B050"/>
                </a:solidFill>
                <a:sym typeface="Wingdings"/>
              </a:rPr>
              <a:t> </a:t>
            </a:r>
            <a:r>
              <a:rPr lang="en-US" sz="900" b="1" dirty="0">
                <a:solidFill>
                  <a:schemeClr val="accent4"/>
                </a:solidFill>
                <a:latin typeface="Arial (Body)"/>
              </a:rPr>
              <a:t>Tech. Strategic Planning</a:t>
            </a:r>
          </a:p>
          <a:p>
            <a:r>
              <a:rPr lang="en-US" sz="900" b="1" dirty="0">
                <a:solidFill>
                  <a:srgbClr val="FF0000"/>
                </a:solidFill>
                <a:ea typeface=""/>
                <a:cs typeface="Arial" pitchFamily="34" charset="0"/>
                <a:sym typeface="Wingdings"/>
              </a:rPr>
              <a:t> </a:t>
            </a:r>
            <a:r>
              <a:rPr lang="en-US" sz="900" b="1" dirty="0">
                <a:solidFill>
                  <a:srgbClr val="00B050"/>
                </a:solidFill>
                <a:sym typeface="Wingdings"/>
              </a:rPr>
              <a:t> </a:t>
            </a:r>
            <a:r>
              <a:rPr lang="en-US" sz="900" b="1" dirty="0">
                <a:solidFill>
                  <a:schemeClr val="accent4"/>
                </a:solidFill>
                <a:latin typeface="Arial (Body)"/>
              </a:rPr>
              <a:t>Enterprise Architecture</a:t>
            </a:r>
          </a:p>
          <a:p>
            <a:r>
              <a:rPr lang="en-US" sz="900" b="1" dirty="0">
                <a:solidFill>
                  <a:srgbClr val="FF0000"/>
                </a:solidFill>
                <a:ea typeface=""/>
                <a:cs typeface="Arial" pitchFamily="34" charset="0"/>
                <a:sym typeface="Wingdings"/>
              </a:rPr>
              <a:t> </a:t>
            </a:r>
            <a:r>
              <a:rPr lang="en-US" sz="900" b="1" dirty="0">
                <a:solidFill>
                  <a:srgbClr val="00B050"/>
                </a:solidFill>
                <a:sym typeface="Wingdings"/>
              </a:rPr>
              <a:t> </a:t>
            </a:r>
            <a:r>
              <a:rPr lang="en-US" sz="900" b="1" dirty="0">
                <a:solidFill>
                  <a:schemeClr val="accent4"/>
                </a:solidFill>
                <a:latin typeface="Arial (Body)"/>
              </a:rPr>
              <a:t>Tech.  Governance</a:t>
            </a:r>
          </a:p>
          <a:p>
            <a:r>
              <a:rPr lang="en-US" sz="900" b="1" dirty="0">
                <a:solidFill>
                  <a:srgbClr val="FF0000"/>
                </a:solidFill>
                <a:ea typeface=""/>
                <a:cs typeface="Arial" pitchFamily="34" charset="0"/>
                <a:sym typeface="Wingdings"/>
              </a:rPr>
              <a:t> </a:t>
            </a:r>
            <a:r>
              <a:rPr lang="en-US" sz="900" b="1" dirty="0">
                <a:solidFill>
                  <a:srgbClr val="00B050"/>
                </a:solidFill>
                <a:sym typeface="Wingdings"/>
              </a:rPr>
              <a:t> </a:t>
            </a:r>
            <a:r>
              <a:rPr lang="en-US" sz="900" b="1" dirty="0">
                <a:solidFill>
                  <a:schemeClr val="accent4"/>
                </a:solidFill>
                <a:latin typeface="Arial (Body)"/>
              </a:rPr>
              <a:t>Tech. Portfolio</a:t>
            </a:r>
          </a:p>
          <a:p>
            <a:r>
              <a:rPr lang="en-US" sz="900" b="1" dirty="0">
                <a:solidFill>
                  <a:srgbClr val="FF0000"/>
                </a:solidFill>
                <a:ea typeface=""/>
                <a:cs typeface="Arial" pitchFamily="34" charset="0"/>
                <a:sym typeface="Wingdings"/>
              </a:rPr>
              <a:t> </a:t>
            </a:r>
            <a:r>
              <a:rPr lang="en-US" sz="900" b="1" dirty="0">
                <a:solidFill>
                  <a:srgbClr val="00B050"/>
                </a:solidFill>
                <a:sym typeface="Wingdings"/>
              </a:rPr>
              <a:t> </a:t>
            </a:r>
            <a:r>
              <a:rPr lang="en-US" sz="900" b="1" dirty="0">
                <a:solidFill>
                  <a:schemeClr val="accent4"/>
                </a:solidFill>
                <a:latin typeface="Arial (Body)"/>
              </a:rPr>
              <a:t>Resource planning</a:t>
            </a:r>
          </a:p>
          <a:p>
            <a:r>
              <a:rPr lang="en-US" sz="900" b="1" dirty="0">
                <a:solidFill>
                  <a:srgbClr val="FFC000"/>
                </a:solidFill>
                <a:sym typeface="Wingdings"/>
              </a:rPr>
              <a:t></a:t>
            </a:r>
            <a:r>
              <a:rPr lang="en-US" sz="900" b="1" dirty="0">
                <a:solidFill>
                  <a:srgbClr val="FAA22C"/>
                </a:solidFill>
                <a:ea typeface=""/>
                <a:cs typeface="Arial" pitchFamily="34" charset="0"/>
                <a:sym typeface="Wingdings"/>
              </a:rPr>
              <a:t> </a:t>
            </a:r>
            <a:r>
              <a:rPr lang="en-US" sz="900" b="1" dirty="0">
                <a:solidFill>
                  <a:srgbClr val="00B050"/>
                </a:solidFill>
                <a:sym typeface="Wingdings"/>
              </a:rPr>
              <a:t> </a:t>
            </a:r>
            <a:r>
              <a:rPr lang="en-US" sz="900" b="1" dirty="0">
                <a:solidFill>
                  <a:schemeClr val="accent4"/>
                </a:solidFill>
                <a:latin typeface="Arial (Body)"/>
              </a:rPr>
              <a:t>Financial Management </a:t>
            </a:r>
          </a:p>
          <a:p>
            <a:r>
              <a:rPr lang="en-US" sz="900" b="1" dirty="0">
                <a:solidFill>
                  <a:srgbClr val="FFC000"/>
                </a:solidFill>
                <a:sym typeface="Wingdings"/>
              </a:rPr>
              <a:t></a:t>
            </a:r>
            <a:r>
              <a:rPr lang="en-US" sz="900" b="1" dirty="0">
                <a:solidFill>
                  <a:srgbClr val="FAA22C"/>
                </a:solidFill>
                <a:ea typeface=""/>
                <a:cs typeface="Arial" pitchFamily="34" charset="0"/>
                <a:sym typeface="Wingdings"/>
              </a:rPr>
              <a:t> </a:t>
            </a:r>
            <a:r>
              <a:rPr lang="en-US" sz="900" b="1" dirty="0">
                <a:solidFill>
                  <a:schemeClr val="accent4"/>
                </a:solidFill>
                <a:latin typeface="Arial (Body)"/>
                <a:sym typeface="Wingdings"/>
              </a:rPr>
              <a:t> </a:t>
            </a:r>
            <a:r>
              <a:rPr lang="en-US" sz="900" b="1" dirty="0">
                <a:solidFill>
                  <a:schemeClr val="accent4"/>
                </a:solidFill>
                <a:latin typeface="Arial (Body)"/>
              </a:rPr>
              <a:t>Sourcing and vendors </a:t>
            </a:r>
            <a:r>
              <a:rPr lang="en-US" sz="900" b="1" dirty="0" err="1">
                <a:solidFill>
                  <a:schemeClr val="accent4"/>
                </a:solidFill>
                <a:latin typeface="Arial (Body)"/>
              </a:rPr>
              <a:t>Mgmt</a:t>
            </a:r>
            <a:endParaRPr lang="en-GB" sz="900" b="1" dirty="0">
              <a:latin typeface="Arial (Body)"/>
            </a:endParaRPr>
          </a:p>
        </p:txBody>
      </p:sp>
      <p:sp>
        <p:nvSpPr>
          <p:cNvPr id="128" name="Rectangle 127"/>
          <p:cNvSpPr/>
          <p:nvPr/>
        </p:nvSpPr>
        <p:spPr>
          <a:xfrm>
            <a:off x="4168378" y="3689437"/>
            <a:ext cx="1985790" cy="800219"/>
          </a:xfrm>
          <a:prstGeom prst="rect">
            <a:avLst/>
          </a:prstGeom>
        </p:spPr>
        <p:txBody>
          <a:bodyPr wrap="square">
            <a:spAutoFit/>
          </a:bodyPr>
          <a:lstStyle/>
          <a:p>
            <a:pPr lvl="0">
              <a:defRPr/>
            </a:pPr>
            <a:r>
              <a:rPr lang="en-US" sz="900" b="1" dirty="0">
                <a:solidFill>
                  <a:srgbClr val="FFC000"/>
                </a:solidFill>
                <a:sym typeface="Wingdings"/>
              </a:rPr>
              <a:t></a:t>
            </a:r>
            <a:r>
              <a:rPr lang="en-US" sz="900" b="1" dirty="0">
                <a:solidFill>
                  <a:srgbClr val="00B050"/>
                </a:solidFill>
                <a:sym typeface="Wingdings"/>
              </a:rPr>
              <a:t>   </a:t>
            </a:r>
            <a:r>
              <a:rPr lang="en-US" sz="900" b="1" dirty="0">
                <a:solidFill>
                  <a:schemeClr val="accent4"/>
                </a:solidFill>
                <a:latin typeface="Arial (Body)"/>
              </a:rPr>
              <a:t>Business analysis</a:t>
            </a:r>
          </a:p>
          <a:p>
            <a:pPr>
              <a:defRPr/>
            </a:pPr>
            <a:r>
              <a:rPr lang="en-US" sz="900" b="1" dirty="0">
                <a:solidFill>
                  <a:srgbClr val="FF0000"/>
                </a:solidFill>
                <a:ea typeface=""/>
                <a:cs typeface="Arial" pitchFamily="34" charset="0"/>
                <a:sym typeface="Wingdings"/>
              </a:rPr>
              <a:t></a:t>
            </a:r>
            <a:r>
              <a:rPr lang="en-US" sz="900" b="1" dirty="0">
                <a:solidFill>
                  <a:srgbClr val="FFC000"/>
                </a:solidFill>
                <a:sym typeface="Wingdings"/>
              </a:rPr>
              <a:t>   </a:t>
            </a:r>
            <a:r>
              <a:rPr lang="en-US" sz="900" b="1" dirty="0">
                <a:solidFill>
                  <a:schemeClr val="accent4"/>
                </a:solidFill>
                <a:latin typeface="Arial (Body)"/>
              </a:rPr>
              <a:t>Solution design</a:t>
            </a:r>
          </a:p>
          <a:p>
            <a:pPr>
              <a:defRPr/>
            </a:pPr>
            <a:r>
              <a:rPr lang="en-US" sz="900" b="1" dirty="0">
                <a:solidFill>
                  <a:srgbClr val="FFC000"/>
                </a:solidFill>
                <a:sym typeface="Wingdings"/>
              </a:rPr>
              <a:t></a:t>
            </a:r>
            <a:r>
              <a:rPr lang="en-US" sz="900" b="1" dirty="0">
                <a:solidFill>
                  <a:srgbClr val="FF0000"/>
                </a:solidFill>
                <a:ea typeface=""/>
                <a:cs typeface="Arial" pitchFamily="34" charset="0"/>
                <a:sym typeface="Wingdings"/>
              </a:rPr>
              <a:t>   </a:t>
            </a:r>
            <a:r>
              <a:rPr lang="en-US" sz="900" b="1" dirty="0">
                <a:solidFill>
                  <a:schemeClr val="accent4"/>
                </a:solidFill>
                <a:latin typeface="Arial (Body)"/>
              </a:rPr>
              <a:t>Development and Testing</a:t>
            </a:r>
          </a:p>
          <a:p>
            <a:pPr>
              <a:defRPr/>
            </a:pPr>
            <a:r>
              <a:rPr lang="en-US" sz="900" b="1" dirty="0">
                <a:solidFill>
                  <a:srgbClr val="FFC000"/>
                </a:solidFill>
                <a:sym typeface="Wingdings"/>
              </a:rPr>
              <a:t></a:t>
            </a:r>
            <a:r>
              <a:rPr lang="en-US" sz="900" b="1" dirty="0">
                <a:solidFill>
                  <a:srgbClr val="FF0000"/>
                </a:solidFill>
                <a:ea typeface=""/>
                <a:cs typeface="Arial" pitchFamily="34" charset="0"/>
                <a:sym typeface="Wingdings"/>
              </a:rPr>
              <a:t>   </a:t>
            </a:r>
            <a:r>
              <a:rPr lang="en-US" sz="900" b="1" dirty="0">
                <a:solidFill>
                  <a:schemeClr val="accent4"/>
                </a:solidFill>
                <a:latin typeface="Arial (Body)"/>
              </a:rPr>
              <a:t>Training &amp; Knowledge Mgmt</a:t>
            </a:r>
            <a:r>
              <a:rPr lang="en-US" sz="900" b="1" dirty="0">
                <a:solidFill>
                  <a:srgbClr val="FF0000"/>
                </a:solidFill>
                <a:latin typeface="Arial (Body)"/>
              </a:rPr>
              <a:t>.</a:t>
            </a:r>
          </a:p>
          <a:p>
            <a:pPr>
              <a:defRPr/>
            </a:pPr>
            <a:r>
              <a:rPr lang="en-US" sz="900" b="1" dirty="0">
                <a:solidFill>
                  <a:srgbClr val="FFC000"/>
                </a:solidFill>
                <a:sym typeface="Wingdings"/>
              </a:rPr>
              <a:t>  </a:t>
            </a:r>
            <a:r>
              <a:rPr lang="en-US" sz="900" b="1" dirty="0">
                <a:solidFill>
                  <a:schemeClr val="accent4"/>
                </a:solidFill>
                <a:sym typeface="Wingdings"/>
              </a:rPr>
              <a:t> </a:t>
            </a:r>
            <a:r>
              <a:rPr lang="en-US" sz="900" b="1" dirty="0">
                <a:solidFill>
                  <a:schemeClr val="accent4"/>
                </a:solidFill>
                <a:latin typeface="Arial (Body)"/>
              </a:rPr>
              <a:t>PMO</a:t>
            </a:r>
            <a:endParaRPr lang="en-GB" sz="900" b="1" dirty="0">
              <a:solidFill>
                <a:schemeClr val="accent4"/>
              </a:solidFill>
              <a:latin typeface="Arial (Body)"/>
            </a:endParaRPr>
          </a:p>
        </p:txBody>
      </p:sp>
      <p:sp>
        <p:nvSpPr>
          <p:cNvPr id="129" name="Rectangle 128"/>
          <p:cNvSpPr/>
          <p:nvPr/>
        </p:nvSpPr>
        <p:spPr>
          <a:xfrm>
            <a:off x="6413393" y="3689437"/>
            <a:ext cx="1985790" cy="784830"/>
          </a:xfrm>
          <a:prstGeom prst="rect">
            <a:avLst/>
          </a:prstGeom>
        </p:spPr>
        <p:txBody>
          <a:bodyPr wrap="square">
            <a:spAutoFit/>
          </a:bodyPr>
          <a:lstStyle/>
          <a:p>
            <a:pPr>
              <a:defRPr/>
            </a:pPr>
            <a:r>
              <a:rPr lang="en-US" sz="900" b="1" dirty="0">
                <a:solidFill>
                  <a:srgbClr val="00B050"/>
                </a:solidFill>
                <a:sym typeface="Wingdings"/>
              </a:rPr>
              <a:t> </a:t>
            </a:r>
            <a:r>
              <a:rPr lang="en-US" sz="900" b="1" dirty="0">
                <a:solidFill>
                  <a:schemeClr val="accent4"/>
                </a:solidFill>
                <a:sym typeface="Wingdings"/>
              </a:rPr>
              <a:t> </a:t>
            </a:r>
            <a:r>
              <a:rPr lang="en-US" sz="900" b="1" dirty="0">
                <a:solidFill>
                  <a:schemeClr val="accent4"/>
                </a:solidFill>
                <a:latin typeface="Arial (Body)"/>
              </a:rPr>
              <a:t>Applications Mgmt.</a:t>
            </a:r>
          </a:p>
          <a:p>
            <a:pPr>
              <a:defRPr/>
            </a:pPr>
            <a:r>
              <a:rPr lang="en-US" sz="900" b="1" dirty="0">
                <a:solidFill>
                  <a:srgbClr val="FFC000"/>
                </a:solidFill>
                <a:sym typeface="Wingdings"/>
              </a:rPr>
              <a:t></a:t>
            </a:r>
            <a:r>
              <a:rPr lang="en-US" sz="900" b="1" dirty="0">
                <a:solidFill>
                  <a:srgbClr val="00B050"/>
                </a:solidFill>
                <a:sym typeface="Wingdings"/>
              </a:rPr>
              <a:t> </a:t>
            </a:r>
            <a:r>
              <a:rPr lang="en-US" sz="900" b="1" dirty="0">
                <a:solidFill>
                  <a:schemeClr val="accent4"/>
                </a:solidFill>
                <a:sym typeface="Wingdings"/>
              </a:rPr>
              <a:t> </a:t>
            </a:r>
            <a:r>
              <a:rPr lang="en-US" sz="900" b="1" dirty="0">
                <a:solidFill>
                  <a:schemeClr val="accent4"/>
                </a:solidFill>
                <a:latin typeface="Arial (Body)"/>
              </a:rPr>
              <a:t>Solutions Integration &amp; deployment</a:t>
            </a:r>
          </a:p>
          <a:p>
            <a:pPr>
              <a:defRPr/>
            </a:pPr>
            <a:r>
              <a:rPr lang="en-US" sz="900" b="1" dirty="0">
                <a:solidFill>
                  <a:srgbClr val="00B050"/>
                </a:solidFill>
                <a:sym typeface="Wingdings"/>
              </a:rPr>
              <a:t> </a:t>
            </a:r>
            <a:r>
              <a:rPr lang="en-US" sz="900" b="1" dirty="0">
                <a:solidFill>
                  <a:schemeClr val="accent4"/>
                </a:solidFill>
                <a:sym typeface="Wingdings"/>
              </a:rPr>
              <a:t> </a:t>
            </a:r>
            <a:r>
              <a:rPr lang="en-US" sz="900" b="1" dirty="0">
                <a:solidFill>
                  <a:schemeClr val="accent4"/>
                </a:solidFill>
                <a:latin typeface="Arial (Body)"/>
              </a:rPr>
              <a:t>Network &amp; Communications</a:t>
            </a:r>
            <a:endParaRPr lang="en-GB" sz="900" b="1" dirty="0">
              <a:solidFill>
                <a:schemeClr val="accent4"/>
              </a:solidFill>
              <a:latin typeface="Arial (Body)"/>
            </a:endParaRPr>
          </a:p>
          <a:p>
            <a:pPr>
              <a:defRPr/>
            </a:pPr>
            <a:r>
              <a:rPr lang="en-US" sz="900" b="1" dirty="0">
                <a:solidFill>
                  <a:srgbClr val="00B050"/>
                </a:solidFill>
                <a:sym typeface="Wingdings"/>
              </a:rPr>
              <a:t> </a:t>
            </a:r>
            <a:r>
              <a:rPr lang="en-US" sz="900" b="1" dirty="0">
                <a:solidFill>
                  <a:schemeClr val="accent4"/>
                </a:solidFill>
                <a:sym typeface="Wingdings"/>
              </a:rPr>
              <a:t> </a:t>
            </a:r>
            <a:r>
              <a:rPr lang="en-US" sz="900" b="1" dirty="0">
                <a:solidFill>
                  <a:schemeClr val="accent4"/>
                </a:solidFill>
                <a:latin typeface="Arial (Body)"/>
              </a:rPr>
              <a:t>Manage Infra. &amp; Datacenter</a:t>
            </a:r>
            <a:endParaRPr lang="en-GB" sz="900" b="1" dirty="0">
              <a:solidFill>
                <a:schemeClr val="accent4"/>
              </a:solidFill>
              <a:latin typeface="Arial (Body)"/>
            </a:endParaRPr>
          </a:p>
        </p:txBody>
      </p:sp>
      <p:sp>
        <p:nvSpPr>
          <p:cNvPr id="130" name="Rectangle 129"/>
          <p:cNvSpPr/>
          <p:nvPr/>
        </p:nvSpPr>
        <p:spPr>
          <a:xfrm>
            <a:off x="8691876" y="3689437"/>
            <a:ext cx="1985790" cy="923330"/>
          </a:xfrm>
          <a:prstGeom prst="rect">
            <a:avLst/>
          </a:prstGeom>
        </p:spPr>
        <p:txBody>
          <a:bodyPr wrap="square">
            <a:spAutoFit/>
          </a:bodyPr>
          <a:lstStyle/>
          <a:p>
            <a:pPr>
              <a:defRPr/>
            </a:pPr>
            <a:r>
              <a:rPr lang="en-US" sz="900" b="1" dirty="0">
                <a:solidFill>
                  <a:srgbClr val="FFC000"/>
                </a:solidFill>
                <a:sym typeface="Wingdings"/>
              </a:rPr>
              <a:t></a:t>
            </a:r>
            <a:r>
              <a:rPr lang="en-US" sz="900" b="1" dirty="0">
                <a:solidFill>
                  <a:srgbClr val="00B050"/>
                </a:solidFill>
                <a:sym typeface="Wingdings"/>
              </a:rPr>
              <a:t>  </a:t>
            </a:r>
            <a:r>
              <a:rPr lang="en-US" sz="900" b="1" dirty="0">
                <a:solidFill>
                  <a:schemeClr val="accent4"/>
                </a:solidFill>
                <a:latin typeface="Arial (Body)"/>
              </a:rPr>
              <a:t>Request Fulfilment</a:t>
            </a:r>
          </a:p>
          <a:p>
            <a:pPr>
              <a:defRPr/>
            </a:pPr>
            <a:r>
              <a:rPr lang="en-US" sz="900" b="1" dirty="0">
                <a:solidFill>
                  <a:srgbClr val="FFC000"/>
                </a:solidFill>
                <a:sym typeface="Wingdings"/>
              </a:rPr>
              <a:t></a:t>
            </a:r>
            <a:r>
              <a:rPr lang="en-US" sz="900" b="1" dirty="0">
                <a:solidFill>
                  <a:srgbClr val="FF0000"/>
                </a:solidFill>
                <a:ea typeface=""/>
                <a:cs typeface="Arial" pitchFamily="34" charset="0"/>
                <a:sym typeface="Wingdings"/>
              </a:rPr>
              <a:t>  </a:t>
            </a:r>
            <a:r>
              <a:rPr lang="en-US" sz="900" b="1" dirty="0">
                <a:solidFill>
                  <a:schemeClr val="accent4"/>
                </a:solidFill>
                <a:latin typeface="Arial (Body)"/>
              </a:rPr>
              <a:t>Services Catalogue Mgmt.</a:t>
            </a:r>
          </a:p>
          <a:p>
            <a:pPr>
              <a:defRPr/>
            </a:pPr>
            <a:r>
              <a:rPr lang="en-US" sz="900" b="1" dirty="0">
                <a:solidFill>
                  <a:srgbClr val="FFC000"/>
                </a:solidFill>
                <a:sym typeface="Wingdings"/>
              </a:rPr>
              <a:t>   </a:t>
            </a:r>
            <a:r>
              <a:rPr lang="en-US" sz="900" b="1" dirty="0">
                <a:solidFill>
                  <a:schemeClr val="accent4"/>
                </a:solidFill>
                <a:latin typeface="Arial (Body)"/>
              </a:rPr>
              <a:t>IT </a:t>
            </a:r>
            <a:r>
              <a:rPr lang="en-US" sz="900" b="1" dirty="0" err="1">
                <a:solidFill>
                  <a:schemeClr val="accent4"/>
                </a:solidFill>
                <a:latin typeface="Arial (Body)"/>
              </a:rPr>
              <a:t>proble</a:t>
            </a:r>
            <a:r>
              <a:rPr lang="en-US" sz="900" b="1" dirty="0">
                <a:solidFill>
                  <a:schemeClr val="accent4"/>
                </a:solidFill>
                <a:latin typeface="Arial (Body)"/>
              </a:rPr>
              <a:t>[NAME] &amp; Incidents Mgmt.</a:t>
            </a:r>
          </a:p>
          <a:p>
            <a:pPr>
              <a:defRPr/>
            </a:pPr>
            <a:r>
              <a:rPr lang="en-US" sz="900" b="1" dirty="0">
                <a:solidFill>
                  <a:srgbClr val="FFC000"/>
                </a:solidFill>
                <a:sym typeface="Wingdings"/>
              </a:rPr>
              <a:t>   </a:t>
            </a:r>
            <a:r>
              <a:rPr lang="en-US" sz="900" b="1" dirty="0">
                <a:solidFill>
                  <a:schemeClr val="accent4"/>
                </a:solidFill>
                <a:latin typeface="Arial (Body)"/>
              </a:rPr>
              <a:t>IT Assets and </a:t>
            </a:r>
            <a:r>
              <a:rPr lang="en-US" sz="900" b="1" dirty="0" err="1">
                <a:solidFill>
                  <a:schemeClr val="accent4"/>
                </a:solidFill>
                <a:latin typeface="Arial (Body)"/>
              </a:rPr>
              <a:t>Config</a:t>
            </a:r>
            <a:r>
              <a:rPr lang="en-US" sz="900" b="1" dirty="0">
                <a:solidFill>
                  <a:schemeClr val="accent4"/>
                </a:solidFill>
                <a:latin typeface="Arial (Body)"/>
              </a:rPr>
              <a:t>. Mgmt.</a:t>
            </a:r>
          </a:p>
          <a:p>
            <a:pPr marL="171450" indent="-171450">
              <a:buFont typeface="Arial" panose="020B0604020202020204" pitchFamily="34" charset="0"/>
              <a:buChar char="•"/>
              <a:defRPr/>
            </a:pPr>
            <a:endParaRPr lang="en-US" sz="900" b="1" dirty="0">
              <a:solidFill>
                <a:schemeClr val="accent4"/>
              </a:solidFill>
              <a:latin typeface="Arial (Body)"/>
            </a:endParaRPr>
          </a:p>
        </p:txBody>
      </p:sp>
      <p:sp>
        <p:nvSpPr>
          <p:cNvPr id="83" name="Rectangle 82"/>
          <p:cNvSpPr/>
          <p:nvPr/>
        </p:nvSpPr>
        <p:spPr>
          <a:xfrm>
            <a:off x="9820989" y="4426674"/>
            <a:ext cx="1434898" cy="466721"/>
          </a:xfrm>
          <a:prstGeom prst="rect">
            <a:avLst/>
          </a:prstGeom>
        </p:spPr>
        <p:txBody>
          <a:bodyPr lIns="82573" tIns="41289" rIns="82573" bIns="41289">
            <a:noAutofit/>
          </a:bodyPr>
          <a:lstStyle/>
          <a:p>
            <a:pPr defTabSz="825755" eaLnBrk="0" fontAlgn="base" hangingPunct="0">
              <a:spcBef>
                <a:spcPct val="0"/>
              </a:spcBef>
              <a:spcAft>
                <a:spcPct val="0"/>
              </a:spcAft>
            </a:pPr>
            <a:r>
              <a:rPr lang="en-US" sz="600" b="1" dirty="0">
                <a:solidFill>
                  <a:srgbClr val="000000"/>
                </a:solidFill>
              </a:rPr>
              <a:t>Key:</a:t>
            </a:r>
          </a:p>
          <a:p>
            <a:pPr marL="160660" indent="-160660" defTabSz="825755" eaLnBrk="0" fontAlgn="base" hangingPunct="0">
              <a:spcBef>
                <a:spcPct val="0"/>
              </a:spcBef>
              <a:spcAft>
                <a:spcPct val="0"/>
              </a:spcAft>
            </a:pPr>
            <a:r>
              <a:rPr lang="en-US" sz="600" b="1" dirty="0">
                <a:solidFill>
                  <a:srgbClr val="00B050"/>
                </a:solidFill>
                <a:sym typeface="Wingdings"/>
              </a:rPr>
              <a:t></a:t>
            </a:r>
            <a:r>
              <a:rPr lang="en-US" sz="600" b="1" dirty="0">
                <a:solidFill>
                  <a:prstClr val="black">
                    <a:lumMod val="75000"/>
                    <a:lumOff val="25000"/>
                  </a:prstClr>
                </a:solidFill>
                <a:sym typeface="Wingdings"/>
              </a:rPr>
              <a:t>	</a:t>
            </a:r>
            <a:r>
              <a:rPr lang="en-US" sz="600" dirty="0">
                <a:solidFill>
                  <a:srgbClr val="000000"/>
                </a:solidFill>
                <a:sym typeface="Wingdings"/>
              </a:rPr>
              <a:t>Established</a:t>
            </a:r>
            <a:r>
              <a:rPr lang="en-US" sz="600" b="1" dirty="0">
                <a:solidFill>
                  <a:prstClr val="black">
                    <a:lumMod val="75000"/>
                    <a:lumOff val="25000"/>
                  </a:prstClr>
                </a:solidFill>
                <a:sym typeface="Wingdings"/>
              </a:rPr>
              <a:t> </a:t>
            </a:r>
            <a:r>
              <a:rPr lang="en-US" sz="600" dirty="0">
                <a:solidFill>
                  <a:srgbClr val="000000"/>
                </a:solidFill>
                <a:sym typeface="Wingdings"/>
              </a:rPr>
              <a:t>capability</a:t>
            </a:r>
          </a:p>
          <a:p>
            <a:pPr marL="160660" indent="-160660" defTabSz="825755" eaLnBrk="0" fontAlgn="base" hangingPunct="0">
              <a:spcBef>
                <a:spcPct val="0"/>
              </a:spcBef>
              <a:spcAft>
                <a:spcPct val="0"/>
              </a:spcAft>
            </a:pPr>
            <a:r>
              <a:rPr lang="en-US" sz="600" b="1" dirty="0">
                <a:solidFill>
                  <a:srgbClr val="FFC000"/>
                </a:solidFill>
                <a:sym typeface="Wingdings"/>
              </a:rPr>
              <a:t></a:t>
            </a:r>
            <a:r>
              <a:rPr lang="en-US" sz="600" b="1" dirty="0">
                <a:solidFill>
                  <a:prstClr val="black">
                    <a:lumMod val="75000"/>
                    <a:lumOff val="25000"/>
                  </a:prstClr>
                </a:solidFill>
                <a:sym typeface="Wingdings"/>
              </a:rPr>
              <a:t>	</a:t>
            </a:r>
            <a:r>
              <a:rPr lang="en-US" sz="600" dirty="0">
                <a:solidFill>
                  <a:srgbClr val="000000"/>
                </a:solidFill>
                <a:sym typeface="Wingdings"/>
              </a:rPr>
              <a:t>Improvement needed</a:t>
            </a:r>
          </a:p>
          <a:p>
            <a:pPr marL="160660" indent="-160660" defTabSz="825755" eaLnBrk="0" fontAlgn="base" hangingPunct="0">
              <a:spcBef>
                <a:spcPct val="0"/>
              </a:spcBef>
              <a:spcAft>
                <a:spcPct val="0"/>
              </a:spcAft>
            </a:pPr>
            <a:r>
              <a:rPr lang="en-US" sz="600" b="1" dirty="0">
                <a:solidFill>
                  <a:srgbClr val="FF0000"/>
                </a:solidFill>
                <a:cs typeface="Arial" pitchFamily="34" charset="0"/>
                <a:sym typeface="Wingdings"/>
              </a:rPr>
              <a:t></a:t>
            </a:r>
            <a:r>
              <a:rPr lang="en-US" sz="600" b="1" dirty="0">
                <a:solidFill>
                  <a:prstClr val="black">
                    <a:lumMod val="75000"/>
                    <a:lumOff val="25000"/>
                  </a:prstClr>
                </a:solidFill>
                <a:cs typeface="Arial" pitchFamily="34" charset="0"/>
                <a:sym typeface="Wingdings"/>
              </a:rPr>
              <a:t>	</a:t>
            </a:r>
            <a:r>
              <a:rPr lang="en-US" sz="600" dirty="0">
                <a:solidFill>
                  <a:srgbClr val="000000"/>
                </a:solidFill>
                <a:sym typeface="Wingdings"/>
              </a:rPr>
              <a:t>Not a current capability</a:t>
            </a:r>
          </a:p>
        </p:txBody>
      </p:sp>
      <p:sp>
        <p:nvSpPr>
          <p:cNvPr id="76" name="Rectangle 75"/>
          <p:cNvSpPr/>
          <p:nvPr/>
        </p:nvSpPr>
        <p:spPr>
          <a:xfrm>
            <a:off x="2835260" y="5201422"/>
            <a:ext cx="7997190" cy="1092607"/>
          </a:xfrm>
          <a:prstGeom prst="rect">
            <a:avLst/>
          </a:prstGeom>
        </p:spPr>
        <p:txBody>
          <a:bodyPr wrap="square">
            <a:spAutoFit/>
          </a:bodyPr>
          <a:lstStyle/>
          <a:p>
            <a:pPr marL="144000" lvl="1" indent="-144000">
              <a:lnSpc>
                <a:spcPct val="80000"/>
              </a:lnSpc>
              <a:spcAft>
                <a:spcPts val="300"/>
              </a:spcAft>
              <a:buFont typeface="Arial" panose="020B0604020202020204" pitchFamily="34" charset="0"/>
              <a:buChar char="•"/>
              <a:defRPr/>
            </a:pPr>
            <a:r>
              <a:rPr lang="en-US" sz="1250" b="1" dirty="0">
                <a:solidFill>
                  <a:schemeClr val="tx1">
                    <a:lumMod val="75000"/>
                    <a:lumOff val="25000"/>
                  </a:schemeClr>
                </a:solidFill>
              </a:rPr>
              <a:t>Broken Value chain </a:t>
            </a:r>
            <a:r>
              <a:rPr lang="en-US" sz="1250" dirty="0">
                <a:solidFill>
                  <a:schemeClr val="tx1">
                    <a:lumMod val="75000"/>
                    <a:lumOff val="25000"/>
                  </a:schemeClr>
                </a:solidFill>
              </a:rPr>
              <a:t>with missing key IT  forward-looking and governance roles such as architects, financial, sourcing and vendor management, and planning functions</a:t>
            </a:r>
          </a:p>
          <a:p>
            <a:pPr marL="144000" lvl="1" indent="-144000">
              <a:lnSpc>
                <a:spcPct val="80000"/>
              </a:lnSpc>
              <a:spcAft>
                <a:spcPts val="300"/>
              </a:spcAft>
              <a:buFont typeface="Arial" panose="020B0604020202020204" pitchFamily="34" charset="0"/>
              <a:buChar char="•"/>
              <a:defRPr/>
            </a:pPr>
            <a:r>
              <a:rPr lang="en-US" sz="1250" b="1" dirty="0">
                <a:solidFill>
                  <a:schemeClr val="tx1">
                    <a:lumMod val="75000"/>
                    <a:lumOff val="25000"/>
                  </a:schemeClr>
                </a:solidFill>
              </a:rPr>
              <a:t>Low agility </a:t>
            </a:r>
            <a:r>
              <a:rPr lang="en-US" sz="1250" dirty="0">
                <a:solidFill>
                  <a:schemeClr val="tx1">
                    <a:lumMod val="75000"/>
                    <a:lumOff val="25000"/>
                  </a:schemeClr>
                </a:solidFill>
              </a:rPr>
              <a:t>with missing structured processes management, predictably deliver requirements and complex technologies with extensive stakeholder management leading to technological and create personnel dependencies</a:t>
            </a:r>
          </a:p>
          <a:p>
            <a:pPr marL="144000" lvl="1" indent="-144000">
              <a:lnSpc>
                <a:spcPct val="80000"/>
              </a:lnSpc>
              <a:spcAft>
                <a:spcPts val="300"/>
              </a:spcAft>
              <a:buFont typeface="Arial" panose="020B0604020202020204" pitchFamily="34" charset="0"/>
              <a:buChar char="•"/>
              <a:defRPr/>
            </a:pPr>
            <a:r>
              <a:rPr lang="en-US" sz="1250" b="1" dirty="0">
                <a:solidFill>
                  <a:schemeClr val="tx1">
                    <a:lumMod val="75000"/>
                    <a:lumOff val="25000"/>
                  </a:schemeClr>
                </a:solidFill>
              </a:rPr>
              <a:t>Low resource capacity </a:t>
            </a:r>
            <a:r>
              <a:rPr lang="en-US" sz="1250" dirty="0">
                <a:solidFill>
                  <a:schemeClr val="tx1">
                    <a:lumMod val="75000"/>
                    <a:lumOff val="25000"/>
                  </a:schemeClr>
                </a:solidFill>
              </a:rPr>
              <a:t>to fully &amp; effectively support the organization </a:t>
            </a:r>
          </a:p>
        </p:txBody>
      </p:sp>
      <p:sp>
        <p:nvSpPr>
          <p:cNvPr id="98" name="Freeform 51">
            <a:extLst>
              <a:ext uri="{FF2B5EF4-FFF2-40B4-BE49-F238E27FC236}">
                <a16:creationId xmlns:a16="http://schemas.microsoft.com/office/drawing/2014/main" id="{DCA458CD-6BA8-4DFA-AC4F-63B72812D9AF}"/>
              </a:ext>
            </a:extLst>
          </p:cNvPr>
          <p:cNvSpPr>
            <a:spLocks noChangeAspect="1" noEditPoints="1"/>
          </p:cNvSpPr>
          <p:nvPr>
            <p:custDataLst>
              <p:tags r:id="rId1"/>
            </p:custDataLst>
          </p:nvPr>
        </p:nvSpPr>
        <p:spPr bwMode="gray">
          <a:xfrm rot="4521804">
            <a:off x="650139" y="5378936"/>
            <a:ext cx="710413" cy="589670"/>
          </a:xfrm>
          <a:custGeom>
            <a:avLst/>
            <a:gdLst>
              <a:gd name="T0" fmla="*/ 2147483647 w 5744"/>
              <a:gd name="T1" fmla="*/ 2147483647 h 4763"/>
              <a:gd name="T2" fmla="*/ 2147483647 w 5744"/>
              <a:gd name="T3" fmla="*/ 2147483647 h 4763"/>
              <a:gd name="T4" fmla="*/ 2147483647 w 5744"/>
              <a:gd name="T5" fmla="*/ 2147483647 h 4763"/>
              <a:gd name="T6" fmla="*/ 2147483647 w 5744"/>
              <a:gd name="T7" fmla="*/ 2147483647 h 4763"/>
              <a:gd name="T8" fmla="*/ 2147483647 w 5744"/>
              <a:gd name="T9" fmla="*/ 2147483647 h 4763"/>
              <a:gd name="T10" fmla="*/ 2147483647 w 5744"/>
              <a:gd name="T11" fmla="*/ 2147483647 h 4763"/>
              <a:gd name="T12" fmla="*/ 2147483647 w 5744"/>
              <a:gd name="T13" fmla="*/ 2147483647 h 4763"/>
              <a:gd name="T14" fmla="*/ 2147483647 w 5744"/>
              <a:gd name="T15" fmla="*/ 2147483647 h 4763"/>
              <a:gd name="T16" fmla="*/ 2147483647 w 5744"/>
              <a:gd name="T17" fmla="*/ 2147483647 h 4763"/>
              <a:gd name="T18" fmla="*/ 2147483647 w 5744"/>
              <a:gd name="T19" fmla="*/ 2147483647 h 4763"/>
              <a:gd name="T20" fmla="*/ 2147483647 w 5744"/>
              <a:gd name="T21" fmla="*/ 2147483647 h 4763"/>
              <a:gd name="T22" fmla="*/ 2147483647 w 5744"/>
              <a:gd name="T23" fmla="*/ 2147483647 h 4763"/>
              <a:gd name="T24" fmla="*/ 2147483647 w 5744"/>
              <a:gd name="T25" fmla="*/ 2147483647 h 4763"/>
              <a:gd name="T26" fmla="*/ 2147483647 w 5744"/>
              <a:gd name="T27" fmla="*/ 2147483647 h 4763"/>
              <a:gd name="T28" fmla="*/ 2147483647 w 5744"/>
              <a:gd name="T29" fmla="*/ 2147483647 h 4763"/>
              <a:gd name="T30" fmla="*/ 2147483647 w 5744"/>
              <a:gd name="T31" fmla="*/ 2147483647 h 4763"/>
              <a:gd name="T32" fmla="*/ 2147483647 w 5744"/>
              <a:gd name="T33" fmla="*/ 2147483647 h 4763"/>
              <a:gd name="T34" fmla="*/ 2147483647 w 5744"/>
              <a:gd name="T35" fmla="*/ 2147483647 h 4763"/>
              <a:gd name="T36" fmla="*/ 2147483647 w 5744"/>
              <a:gd name="T37" fmla="*/ 2147483647 h 4763"/>
              <a:gd name="T38" fmla="*/ 2147483647 w 5744"/>
              <a:gd name="T39" fmla="*/ 2147483647 h 4763"/>
              <a:gd name="T40" fmla="*/ 2147483647 w 5744"/>
              <a:gd name="T41" fmla="*/ 2147483647 h 4763"/>
              <a:gd name="T42" fmla="*/ 2147483647 w 5744"/>
              <a:gd name="T43" fmla="*/ 2147483647 h 4763"/>
              <a:gd name="T44" fmla="*/ 2147483647 w 5744"/>
              <a:gd name="T45" fmla="*/ 2147483647 h 4763"/>
              <a:gd name="T46" fmla="*/ 2147483647 w 5744"/>
              <a:gd name="T47" fmla="*/ 2147483647 h 4763"/>
              <a:gd name="T48" fmla="*/ 2147483647 w 5744"/>
              <a:gd name="T49" fmla="*/ 2147483647 h 4763"/>
              <a:gd name="T50" fmla="*/ 2147483647 w 5744"/>
              <a:gd name="T51" fmla="*/ 2147483647 h 4763"/>
              <a:gd name="T52" fmla="*/ 2147483647 w 5744"/>
              <a:gd name="T53" fmla="*/ 2147483647 h 4763"/>
              <a:gd name="T54" fmla="*/ 2147483647 w 5744"/>
              <a:gd name="T55" fmla="*/ 2147483647 h 4763"/>
              <a:gd name="T56" fmla="*/ 2147483647 w 5744"/>
              <a:gd name="T57" fmla="*/ 2147483647 h 4763"/>
              <a:gd name="T58" fmla="*/ 2147483647 w 5744"/>
              <a:gd name="T59" fmla="*/ 2147483647 h 4763"/>
              <a:gd name="T60" fmla="*/ 2147483647 w 5744"/>
              <a:gd name="T61" fmla="*/ 2147483647 h 4763"/>
              <a:gd name="T62" fmla="*/ 2147483647 w 5744"/>
              <a:gd name="T63" fmla="*/ 2147483647 h 4763"/>
              <a:gd name="T64" fmla="*/ 2147483647 w 5744"/>
              <a:gd name="T65" fmla="*/ 2147483647 h 4763"/>
              <a:gd name="T66" fmla="*/ 2147483647 w 5744"/>
              <a:gd name="T67" fmla="*/ 2147483647 h 4763"/>
              <a:gd name="T68" fmla="*/ 2147483647 w 5744"/>
              <a:gd name="T69" fmla="*/ 2147483647 h 4763"/>
              <a:gd name="T70" fmla="*/ 2147483647 w 5744"/>
              <a:gd name="T71" fmla="*/ 2147483647 h 4763"/>
              <a:gd name="T72" fmla="*/ 2147483647 w 5744"/>
              <a:gd name="T73" fmla="*/ 2147483647 h 4763"/>
              <a:gd name="T74" fmla="*/ 2147483647 w 5744"/>
              <a:gd name="T75" fmla="*/ 2147483647 h 4763"/>
              <a:gd name="T76" fmla="*/ 2147483647 w 5744"/>
              <a:gd name="T77" fmla="*/ 2147483647 h 4763"/>
              <a:gd name="T78" fmla="*/ 2147483647 w 5744"/>
              <a:gd name="T79" fmla="*/ 2147483647 h 4763"/>
              <a:gd name="T80" fmla="*/ 2147483647 w 5744"/>
              <a:gd name="T81" fmla="*/ 2147483647 h 4763"/>
              <a:gd name="T82" fmla="*/ 2147483647 w 5744"/>
              <a:gd name="T83" fmla="*/ 2147483647 h 4763"/>
              <a:gd name="T84" fmla="*/ 2147483647 w 5744"/>
              <a:gd name="T85" fmla="*/ 2147483647 h 4763"/>
              <a:gd name="T86" fmla="*/ 2147483647 w 5744"/>
              <a:gd name="T87" fmla="*/ 2147483647 h 4763"/>
              <a:gd name="T88" fmla="*/ 2147483647 w 5744"/>
              <a:gd name="T89" fmla="*/ 2147483647 h 4763"/>
              <a:gd name="T90" fmla="*/ 2147483647 w 5744"/>
              <a:gd name="T91" fmla="*/ 2147483647 h 4763"/>
              <a:gd name="T92" fmla="*/ 2147483647 w 5744"/>
              <a:gd name="T93" fmla="*/ 2147483647 h 4763"/>
              <a:gd name="T94" fmla="*/ 2147483647 w 5744"/>
              <a:gd name="T95" fmla="*/ 2147483647 h 4763"/>
              <a:gd name="T96" fmla="*/ 2147483647 w 5744"/>
              <a:gd name="T97" fmla="*/ 2147483647 h 4763"/>
              <a:gd name="T98" fmla="*/ 2147483647 w 5744"/>
              <a:gd name="T99" fmla="*/ 2147483647 h 4763"/>
              <a:gd name="T100" fmla="*/ 2147483647 w 5744"/>
              <a:gd name="T101" fmla="*/ 2147483647 h 4763"/>
              <a:gd name="T102" fmla="*/ 2147483647 w 5744"/>
              <a:gd name="T103" fmla="*/ 2147483647 h 4763"/>
              <a:gd name="T104" fmla="*/ 2147483647 w 5744"/>
              <a:gd name="T105" fmla="*/ 2147483647 h 4763"/>
              <a:gd name="T106" fmla="*/ 2147483647 w 5744"/>
              <a:gd name="T107" fmla="*/ 2147483647 h 4763"/>
              <a:gd name="T108" fmla="*/ 2147483647 w 5744"/>
              <a:gd name="T109" fmla="*/ 2147483647 h 4763"/>
              <a:gd name="T110" fmla="*/ 2147483647 w 5744"/>
              <a:gd name="T111" fmla="*/ 2147483647 h 4763"/>
              <a:gd name="T112" fmla="*/ 2147483647 w 5744"/>
              <a:gd name="T113" fmla="*/ 2147483647 h 4763"/>
              <a:gd name="T114" fmla="*/ 2147483647 w 5744"/>
              <a:gd name="T115" fmla="*/ 2147483647 h 4763"/>
              <a:gd name="T116" fmla="*/ 2147483647 w 5744"/>
              <a:gd name="T117" fmla="*/ 2147483647 h 4763"/>
              <a:gd name="T118" fmla="*/ 2147483647 w 5744"/>
              <a:gd name="T119" fmla="*/ 2147483647 h 4763"/>
              <a:gd name="T120" fmla="*/ 2147483647 w 5744"/>
              <a:gd name="T121" fmla="*/ 2147483647 h 476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744"/>
              <a:gd name="T184" fmla="*/ 0 h 4763"/>
              <a:gd name="T185" fmla="*/ 5744 w 5744"/>
              <a:gd name="T186" fmla="*/ 4763 h 476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744" h="4763">
                <a:moveTo>
                  <a:pt x="354" y="1386"/>
                </a:moveTo>
                <a:lnTo>
                  <a:pt x="258" y="1581"/>
                </a:lnTo>
                <a:lnTo>
                  <a:pt x="507" y="1764"/>
                </a:lnTo>
                <a:lnTo>
                  <a:pt x="671" y="1608"/>
                </a:lnTo>
                <a:lnTo>
                  <a:pt x="701" y="1618"/>
                </a:lnTo>
                <a:lnTo>
                  <a:pt x="731" y="1627"/>
                </a:lnTo>
                <a:lnTo>
                  <a:pt x="762" y="1634"/>
                </a:lnTo>
                <a:lnTo>
                  <a:pt x="793" y="1640"/>
                </a:lnTo>
                <a:lnTo>
                  <a:pt x="824" y="1644"/>
                </a:lnTo>
                <a:lnTo>
                  <a:pt x="856" y="1647"/>
                </a:lnTo>
                <a:lnTo>
                  <a:pt x="887" y="1648"/>
                </a:lnTo>
                <a:lnTo>
                  <a:pt x="919" y="1648"/>
                </a:lnTo>
                <a:lnTo>
                  <a:pt x="1018" y="1858"/>
                </a:lnTo>
                <a:lnTo>
                  <a:pt x="1316" y="1776"/>
                </a:lnTo>
                <a:lnTo>
                  <a:pt x="1294" y="1538"/>
                </a:lnTo>
                <a:lnTo>
                  <a:pt x="1317" y="1524"/>
                </a:lnTo>
                <a:lnTo>
                  <a:pt x="1340" y="1506"/>
                </a:lnTo>
                <a:lnTo>
                  <a:pt x="1361" y="1491"/>
                </a:lnTo>
                <a:lnTo>
                  <a:pt x="1383" y="1472"/>
                </a:lnTo>
                <a:lnTo>
                  <a:pt x="1407" y="1451"/>
                </a:lnTo>
                <a:lnTo>
                  <a:pt x="1430" y="1428"/>
                </a:lnTo>
                <a:lnTo>
                  <a:pt x="1452" y="1405"/>
                </a:lnTo>
                <a:lnTo>
                  <a:pt x="1472" y="1380"/>
                </a:lnTo>
                <a:lnTo>
                  <a:pt x="1707" y="1436"/>
                </a:lnTo>
                <a:lnTo>
                  <a:pt x="1830" y="1152"/>
                </a:lnTo>
                <a:lnTo>
                  <a:pt x="1625" y="1018"/>
                </a:lnTo>
                <a:lnTo>
                  <a:pt x="1628" y="989"/>
                </a:lnTo>
                <a:lnTo>
                  <a:pt x="1631" y="959"/>
                </a:lnTo>
                <a:lnTo>
                  <a:pt x="1631" y="930"/>
                </a:lnTo>
                <a:lnTo>
                  <a:pt x="1631" y="902"/>
                </a:lnTo>
                <a:lnTo>
                  <a:pt x="1629" y="871"/>
                </a:lnTo>
                <a:lnTo>
                  <a:pt x="1627" y="843"/>
                </a:lnTo>
                <a:lnTo>
                  <a:pt x="1622" y="813"/>
                </a:lnTo>
                <a:lnTo>
                  <a:pt x="1617" y="784"/>
                </a:lnTo>
                <a:lnTo>
                  <a:pt x="1807" y="634"/>
                </a:lnTo>
                <a:lnTo>
                  <a:pt x="1662" y="361"/>
                </a:lnTo>
                <a:lnTo>
                  <a:pt x="1436" y="436"/>
                </a:lnTo>
                <a:lnTo>
                  <a:pt x="1415" y="413"/>
                </a:lnTo>
                <a:lnTo>
                  <a:pt x="1392" y="391"/>
                </a:lnTo>
                <a:lnTo>
                  <a:pt x="1369" y="371"/>
                </a:lnTo>
                <a:lnTo>
                  <a:pt x="1344" y="353"/>
                </a:lnTo>
                <a:lnTo>
                  <a:pt x="1320" y="334"/>
                </a:lnTo>
                <a:lnTo>
                  <a:pt x="1294" y="318"/>
                </a:lnTo>
                <a:lnTo>
                  <a:pt x="1268" y="302"/>
                </a:lnTo>
                <a:lnTo>
                  <a:pt x="1241" y="288"/>
                </a:lnTo>
                <a:lnTo>
                  <a:pt x="1244" y="56"/>
                </a:lnTo>
                <a:lnTo>
                  <a:pt x="939" y="0"/>
                </a:lnTo>
                <a:lnTo>
                  <a:pt x="861" y="209"/>
                </a:lnTo>
                <a:lnTo>
                  <a:pt x="828" y="212"/>
                </a:lnTo>
                <a:lnTo>
                  <a:pt x="797" y="216"/>
                </a:lnTo>
                <a:lnTo>
                  <a:pt x="764" y="222"/>
                </a:lnTo>
                <a:lnTo>
                  <a:pt x="732" y="229"/>
                </a:lnTo>
                <a:lnTo>
                  <a:pt x="701" y="238"/>
                </a:lnTo>
                <a:lnTo>
                  <a:pt x="669" y="248"/>
                </a:lnTo>
                <a:lnTo>
                  <a:pt x="639" y="259"/>
                </a:lnTo>
                <a:lnTo>
                  <a:pt x="609" y="274"/>
                </a:lnTo>
                <a:lnTo>
                  <a:pt x="439" y="136"/>
                </a:lnTo>
                <a:lnTo>
                  <a:pt x="205" y="340"/>
                </a:lnTo>
                <a:lnTo>
                  <a:pt x="315" y="522"/>
                </a:lnTo>
                <a:lnTo>
                  <a:pt x="297" y="550"/>
                </a:lnTo>
                <a:lnTo>
                  <a:pt x="279" y="581"/>
                </a:lnTo>
                <a:lnTo>
                  <a:pt x="264" y="611"/>
                </a:lnTo>
                <a:lnTo>
                  <a:pt x="249" y="641"/>
                </a:lnTo>
                <a:lnTo>
                  <a:pt x="236" y="672"/>
                </a:lnTo>
                <a:lnTo>
                  <a:pt x="225" y="705"/>
                </a:lnTo>
                <a:lnTo>
                  <a:pt x="215" y="737"/>
                </a:lnTo>
                <a:lnTo>
                  <a:pt x="208" y="770"/>
                </a:lnTo>
                <a:lnTo>
                  <a:pt x="0" y="816"/>
                </a:lnTo>
                <a:lnTo>
                  <a:pt x="13" y="1125"/>
                </a:lnTo>
                <a:lnTo>
                  <a:pt x="225" y="1152"/>
                </a:lnTo>
                <a:lnTo>
                  <a:pt x="236" y="1184"/>
                </a:lnTo>
                <a:lnTo>
                  <a:pt x="248" y="1214"/>
                </a:lnTo>
                <a:lnTo>
                  <a:pt x="262" y="1244"/>
                </a:lnTo>
                <a:lnTo>
                  <a:pt x="278" y="1274"/>
                </a:lnTo>
                <a:lnTo>
                  <a:pt x="295" y="1303"/>
                </a:lnTo>
                <a:lnTo>
                  <a:pt x="312" y="1332"/>
                </a:lnTo>
                <a:lnTo>
                  <a:pt x="332" y="1359"/>
                </a:lnTo>
                <a:lnTo>
                  <a:pt x="354" y="1386"/>
                </a:lnTo>
                <a:close/>
                <a:moveTo>
                  <a:pt x="565" y="530"/>
                </a:moveTo>
                <a:lnTo>
                  <a:pt x="565" y="530"/>
                </a:lnTo>
                <a:lnTo>
                  <a:pt x="586" y="513"/>
                </a:lnTo>
                <a:lnTo>
                  <a:pt x="608" y="497"/>
                </a:lnTo>
                <a:lnTo>
                  <a:pt x="629" y="482"/>
                </a:lnTo>
                <a:lnTo>
                  <a:pt x="652" y="469"/>
                </a:lnTo>
                <a:lnTo>
                  <a:pt x="675" y="456"/>
                </a:lnTo>
                <a:lnTo>
                  <a:pt x="698" y="446"/>
                </a:lnTo>
                <a:lnTo>
                  <a:pt x="722" y="436"/>
                </a:lnTo>
                <a:lnTo>
                  <a:pt x="745" y="427"/>
                </a:lnTo>
                <a:lnTo>
                  <a:pt x="771" y="420"/>
                </a:lnTo>
                <a:lnTo>
                  <a:pt x="795" y="414"/>
                </a:lnTo>
                <a:lnTo>
                  <a:pt x="820" y="409"/>
                </a:lnTo>
                <a:lnTo>
                  <a:pt x="846" y="406"/>
                </a:lnTo>
                <a:lnTo>
                  <a:pt x="870" y="403"/>
                </a:lnTo>
                <a:lnTo>
                  <a:pt x="896" y="401"/>
                </a:lnTo>
                <a:lnTo>
                  <a:pt x="920" y="401"/>
                </a:lnTo>
                <a:lnTo>
                  <a:pt x="946" y="403"/>
                </a:lnTo>
                <a:lnTo>
                  <a:pt x="970" y="404"/>
                </a:lnTo>
                <a:lnTo>
                  <a:pt x="996" y="409"/>
                </a:lnTo>
                <a:lnTo>
                  <a:pt x="1020" y="413"/>
                </a:lnTo>
                <a:lnTo>
                  <a:pt x="1045" y="419"/>
                </a:lnTo>
                <a:lnTo>
                  <a:pt x="1069" y="426"/>
                </a:lnTo>
                <a:lnTo>
                  <a:pt x="1093" y="434"/>
                </a:lnTo>
                <a:lnTo>
                  <a:pt x="1116" y="444"/>
                </a:lnTo>
                <a:lnTo>
                  <a:pt x="1139" y="454"/>
                </a:lnTo>
                <a:lnTo>
                  <a:pt x="1162" y="466"/>
                </a:lnTo>
                <a:lnTo>
                  <a:pt x="1185" y="479"/>
                </a:lnTo>
                <a:lnTo>
                  <a:pt x="1207" y="493"/>
                </a:lnTo>
                <a:lnTo>
                  <a:pt x="1228" y="509"/>
                </a:lnTo>
                <a:lnTo>
                  <a:pt x="1248" y="525"/>
                </a:lnTo>
                <a:lnTo>
                  <a:pt x="1268" y="543"/>
                </a:lnTo>
                <a:lnTo>
                  <a:pt x="1287" y="562"/>
                </a:lnTo>
                <a:lnTo>
                  <a:pt x="1306" y="582"/>
                </a:lnTo>
                <a:lnTo>
                  <a:pt x="1323" y="602"/>
                </a:lnTo>
                <a:lnTo>
                  <a:pt x="1339" y="624"/>
                </a:lnTo>
                <a:lnTo>
                  <a:pt x="1353" y="646"/>
                </a:lnTo>
                <a:lnTo>
                  <a:pt x="1366" y="668"/>
                </a:lnTo>
                <a:lnTo>
                  <a:pt x="1379" y="691"/>
                </a:lnTo>
                <a:lnTo>
                  <a:pt x="1390" y="715"/>
                </a:lnTo>
                <a:lnTo>
                  <a:pt x="1399" y="738"/>
                </a:lnTo>
                <a:lnTo>
                  <a:pt x="1407" y="763"/>
                </a:lnTo>
                <a:lnTo>
                  <a:pt x="1415" y="787"/>
                </a:lnTo>
                <a:lnTo>
                  <a:pt x="1422" y="811"/>
                </a:lnTo>
                <a:lnTo>
                  <a:pt x="1426" y="837"/>
                </a:lnTo>
                <a:lnTo>
                  <a:pt x="1430" y="861"/>
                </a:lnTo>
                <a:lnTo>
                  <a:pt x="1432" y="887"/>
                </a:lnTo>
                <a:lnTo>
                  <a:pt x="1433" y="912"/>
                </a:lnTo>
                <a:lnTo>
                  <a:pt x="1433" y="937"/>
                </a:lnTo>
                <a:lnTo>
                  <a:pt x="1432" y="962"/>
                </a:lnTo>
                <a:lnTo>
                  <a:pt x="1430" y="988"/>
                </a:lnTo>
                <a:lnTo>
                  <a:pt x="1426" y="1012"/>
                </a:lnTo>
                <a:lnTo>
                  <a:pt x="1422" y="1038"/>
                </a:lnTo>
                <a:lnTo>
                  <a:pt x="1416" y="1062"/>
                </a:lnTo>
                <a:lnTo>
                  <a:pt x="1409" y="1086"/>
                </a:lnTo>
                <a:lnTo>
                  <a:pt x="1400" y="1109"/>
                </a:lnTo>
                <a:lnTo>
                  <a:pt x="1392" y="1134"/>
                </a:lnTo>
                <a:lnTo>
                  <a:pt x="1380" y="1157"/>
                </a:lnTo>
                <a:lnTo>
                  <a:pt x="1369" y="1180"/>
                </a:lnTo>
                <a:lnTo>
                  <a:pt x="1356" y="1201"/>
                </a:lnTo>
                <a:lnTo>
                  <a:pt x="1341" y="1223"/>
                </a:lnTo>
                <a:lnTo>
                  <a:pt x="1326" y="1244"/>
                </a:lnTo>
                <a:lnTo>
                  <a:pt x="1310" y="1264"/>
                </a:lnTo>
                <a:lnTo>
                  <a:pt x="1291" y="1284"/>
                </a:lnTo>
                <a:lnTo>
                  <a:pt x="1273" y="1303"/>
                </a:lnTo>
                <a:lnTo>
                  <a:pt x="1253" y="1322"/>
                </a:lnTo>
                <a:lnTo>
                  <a:pt x="1232" y="1339"/>
                </a:lnTo>
                <a:lnTo>
                  <a:pt x="1211" y="1355"/>
                </a:lnTo>
                <a:lnTo>
                  <a:pt x="1190" y="1370"/>
                </a:lnTo>
                <a:lnTo>
                  <a:pt x="1167" y="1383"/>
                </a:lnTo>
                <a:lnTo>
                  <a:pt x="1144" y="1396"/>
                </a:lnTo>
                <a:lnTo>
                  <a:pt x="1121" y="1406"/>
                </a:lnTo>
                <a:lnTo>
                  <a:pt x="1096" y="1416"/>
                </a:lnTo>
                <a:lnTo>
                  <a:pt x="1072" y="1425"/>
                </a:lnTo>
                <a:lnTo>
                  <a:pt x="1048" y="1432"/>
                </a:lnTo>
                <a:lnTo>
                  <a:pt x="1023" y="1438"/>
                </a:lnTo>
                <a:lnTo>
                  <a:pt x="997" y="1443"/>
                </a:lnTo>
                <a:lnTo>
                  <a:pt x="973" y="1446"/>
                </a:lnTo>
                <a:lnTo>
                  <a:pt x="947" y="1449"/>
                </a:lnTo>
                <a:lnTo>
                  <a:pt x="923" y="1451"/>
                </a:lnTo>
                <a:lnTo>
                  <a:pt x="897" y="1451"/>
                </a:lnTo>
                <a:lnTo>
                  <a:pt x="873" y="1449"/>
                </a:lnTo>
                <a:lnTo>
                  <a:pt x="847" y="1446"/>
                </a:lnTo>
                <a:lnTo>
                  <a:pt x="823" y="1443"/>
                </a:lnTo>
                <a:lnTo>
                  <a:pt x="798" y="1439"/>
                </a:lnTo>
                <a:lnTo>
                  <a:pt x="772" y="1433"/>
                </a:lnTo>
                <a:lnTo>
                  <a:pt x="750" y="1426"/>
                </a:lnTo>
                <a:lnTo>
                  <a:pt x="725" y="1418"/>
                </a:lnTo>
                <a:lnTo>
                  <a:pt x="701" y="1408"/>
                </a:lnTo>
                <a:lnTo>
                  <a:pt x="678" y="1398"/>
                </a:lnTo>
                <a:lnTo>
                  <a:pt x="655" y="1386"/>
                </a:lnTo>
                <a:lnTo>
                  <a:pt x="633" y="1372"/>
                </a:lnTo>
                <a:lnTo>
                  <a:pt x="612" y="1359"/>
                </a:lnTo>
                <a:lnTo>
                  <a:pt x="590" y="1343"/>
                </a:lnTo>
                <a:lnTo>
                  <a:pt x="570" y="1326"/>
                </a:lnTo>
                <a:lnTo>
                  <a:pt x="550" y="1309"/>
                </a:lnTo>
                <a:lnTo>
                  <a:pt x="532" y="1290"/>
                </a:lnTo>
                <a:lnTo>
                  <a:pt x="513" y="1270"/>
                </a:lnTo>
                <a:lnTo>
                  <a:pt x="496" y="1250"/>
                </a:lnTo>
                <a:lnTo>
                  <a:pt x="480" y="1228"/>
                </a:lnTo>
                <a:lnTo>
                  <a:pt x="466" y="1205"/>
                </a:lnTo>
                <a:lnTo>
                  <a:pt x="451" y="1184"/>
                </a:lnTo>
                <a:lnTo>
                  <a:pt x="440" y="1161"/>
                </a:lnTo>
                <a:lnTo>
                  <a:pt x="429" y="1137"/>
                </a:lnTo>
                <a:lnTo>
                  <a:pt x="418" y="1114"/>
                </a:lnTo>
                <a:lnTo>
                  <a:pt x="410" y="1089"/>
                </a:lnTo>
                <a:lnTo>
                  <a:pt x="403" y="1065"/>
                </a:lnTo>
                <a:lnTo>
                  <a:pt x="397" y="1039"/>
                </a:lnTo>
                <a:lnTo>
                  <a:pt x="391" y="1015"/>
                </a:lnTo>
                <a:lnTo>
                  <a:pt x="388" y="990"/>
                </a:lnTo>
                <a:lnTo>
                  <a:pt x="386" y="965"/>
                </a:lnTo>
                <a:lnTo>
                  <a:pt x="384" y="940"/>
                </a:lnTo>
                <a:lnTo>
                  <a:pt x="384" y="914"/>
                </a:lnTo>
                <a:lnTo>
                  <a:pt x="386" y="889"/>
                </a:lnTo>
                <a:lnTo>
                  <a:pt x="388" y="864"/>
                </a:lnTo>
                <a:lnTo>
                  <a:pt x="391" y="840"/>
                </a:lnTo>
                <a:lnTo>
                  <a:pt x="396" y="814"/>
                </a:lnTo>
                <a:lnTo>
                  <a:pt x="403" y="790"/>
                </a:lnTo>
                <a:lnTo>
                  <a:pt x="410" y="765"/>
                </a:lnTo>
                <a:lnTo>
                  <a:pt x="417" y="742"/>
                </a:lnTo>
                <a:lnTo>
                  <a:pt x="427" y="718"/>
                </a:lnTo>
                <a:lnTo>
                  <a:pt x="437" y="695"/>
                </a:lnTo>
                <a:lnTo>
                  <a:pt x="450" y="672"/>
                </a:lnTo>
                <a:lnTo>
                  <a:pt x="463" y="651"/>
                </a:lnTo>
                <a:lnTo>
                  <a:pt x="477" y="628"/>
                </a:lnTo>
                <a:lnTo>
                  <a:pt x="492" y="608"/>
                </a:lnTo>
                <a:lnTo>
                  <a:pt x="509" y="586"/>
                </a:lnTo>
                <a:lnTo>
                  <a:pt x="526" y="568"/>
                </a:lnTo>
                <a:lnTo>
                  <a:pt x="545" y="548"/>
                </a:lnTo>
                <a:lnTo>
                  <a:pt x="565" y="530"/>
                </a:lnTo>
                <a:close/>
                <a:moveTo>
                  <a:pt x="1102" y="1148"/>
                </a:moveTo>
                <a:lnTo>
                  <a:pt x="1102" y="1148"/>
                </a:lnTo>
                <a:lnTo>
                  <a:pt x="1125" y="1128"/>
                </a:lnTo>
                <a:lnTo>
                  <a:pt x="1144" y="1105"/>
                </a:lnTo>
                <a:lnTo>
                  <a:pt x="1161" y="1081"/>
                </a:lnTo>
                <a:lnTo>
                  <a:pt x="1174" y="1056"/>
                </a:lnTo>
                <a:lnTo>
                  <a:pt x="1185" y="1029"/>
                </a:lnTo>
                <a:lnTo>
                  <a:pt x="1194" y="1002"/>
                </a:lnTo>
                <a:lnTo>
                  <a:pt x="1201" y="975"/>
                </a:lnTo>
                <a:lnTo>
                  <a:pt x="1204" y="946"/>
                </a:lnTo>
                <a:lnTo>
                  <a:pt x="1204" y="919"/>
                </a:lnTo>
                <a:lnTo>
                  <a:pt x="1202" y="890"/>
                </a:lnTo>
                <a:lnTo>
                  <a:pt x="1197" y="861"/>
                </a:lnTo>
                <a:lnTo>
                  <a:pt x="1190" y="834"/>
                </a:lnTo>
                <a:lnTo>
                  <a:pt x="1179" y="807"/>
                </a:lnTo>
                <a:lnTo>
                  <a:pt x="1167" y="781"/>
                </a:lnTo>
                <a:lnTo>
                  <a:pt x="1151" y="755"/>
                </a:lnTo>
                <a:lnTo>
                  <a:pt x="1132" y="732"/>
                </a:lnTo>
                <a:lnTo>
                  <a:pt x="1111" y="711"/>
                </a:lnTo>
                <a:lnTo>
                  <a:pt x="1088" y="691"/>
                </a:lnTo>
                <a:lnTo>
                  <a:pt x="1065" y="675"/>
                </a:lnTo>
                <a:lnTo>
                  <a:pt x="1039" y="661"/>
                </a:lnTo>
                <a:lnTo>
                  <a:pt x="1013" y="649"/>
                </a:lnTo>
                <a:lnTo>
                  <a:pt x="986" y="641"/>
                </a:lnTo>
                <a:lnTo>
                  <a:pt x="957" y="635"/>
                </a:lnTo>
                <a:lnTo>
                  <a:pt x="930" y="631"/>
                </a:lnTo>
                <a:lnTo>
                  <a:pt x="901" y="631"/>
                </a:lnTo>
                <a:lnTo>
                  <a:pt x="873" y="632"/>
                </a:lnTo>
                <a:lnTo>
                  <a:pt x="844" y="638"/>
                </a:lnTo>
                <a:lnTo>
                  <a:pt x="817" y="645"/>
                </a:lnTo>
                <a:lnTo>
                  <a:pt x="790" y="655"/>
                </a:lnTo>
                <a:lnTo>
                  <a:pt x="764" y="668"/>
                </a:lnTo>
                <a:lnTo>
                  <a:pt x="739" y="684"/>
                </a:lnTo>
                <a:lnTo>
                  <a:pt x="715" y="702"/>
                </a:lnTo>
                <a:lnTo>
                  <a:pt x="694" y="724"/>
                </a:lnTo>
                <a:lnTo>
                  <a:pt x="674" y="747"/>
                </a:lnTo>
                <a:lnTo>
                  <a:pt x="658" y="771"/>
                </a:lnTo>
                <a:lnTo>
                  <a:pt x="643" y="796"/>
                </a:lnTo>
                <a:lnTo>
                  <a:pt x="632" y="823"/>
                </a:lnTo>
                <a:lnTo>
                  <a:pt x="623" y="850"/>
                </a:lnTo>
                <a:lnTo>
                  <a:pt x="618" y="877"/>
                </a:lnTo>
                <a:lnTo>
                  <a:pt x="615" y="906"/>
                </a:lnTo>
                <a:lnTo>
                  <a:pt x="613" y="933"/>
                </a:lnTo>
                <a:lnTo>
                  <a:pt x="616" y="962"/>
                </a:lnTo>
                <a:lnTo>
                  <a:pt x="621" y="990"/>
                </a:lnTo>
                <a:lnTo>
                  <a:pt x="628" y="1018"/>
                </a:lnTo>
                <a:lnTo>
                  <a:pt x="639" y="1045"/>
                </a:lnTo>
                <a:lnTo>
                  <a:pt x="652" y="1071"/>
                </a:lnTo>
                <a:lnTo>
                  <a:pt x="668" y="1097"/>
                </a:lnTo>
                <a:lnTo>
                  <a:pt x="686" y="1119"/>
                </a:lnTo>
                <a:lnTo>
                  <a:pt x="707" y="1141"/>
                </a:lnTo>
                <a:lnTo>
                  <a:pt x="729" y="1161"/>
                </a:lnTo>
                <a:lnTo>
                  <a:pt x="754" y="1177"/>
                </a:lnTo>
                <a:lnTo>
                  <a:pt x="780" y="1191"/>
                </a:lnTo>
                <a:lnTo>
                  <a:pt x="805" y="1203"/>
                </a:lnTo>
                <a:lnTo>
                  <a:pt x="833" y="1211"/>
                </a:lnTo>
                <a:lnTo>
                  <a:pt x="860" y="1217"/>
                </a:lnTo>
                <a:lnTo>
                  <a:pt x="889" y="1221"/>
                </a:lnTo>
                <a:lnTo>
                  <a:pt x="917" y="1221"/>
                </a:lnTo>
                <a:lnTo>
                  <a:pt x="944" y="1218"/>
                </a:lnTo>
                <a:lnTo>
                  <a:pt x="973" y="1214"/>
                </a:lnTo>
                <a:lnTo>
                  <a:pt x="1000" y="1207"/>
                </a:lnTo>
                <a:lnTo>
                  <a:pt x="1028" y="1197"/>
                </a:lnTo>
                <a:lnTo>
                  <a:pt x="1053" y="1184"/>
                </a:lnTo>
                <a:lnTo>
                  <a:pt x="1079" y="1167"/>
                </a:lnTo>
                <a:lnTo>
                  <a:pt x="1102" y="1148"/>
                </a:lnTo>
                <a:close/>
                <a:moveTo>
                  <a:pt x="1595" y="2571"/>
                </a:moveTo>
                <a:lnTo>
                  <a:pt x="1595" y="2571"/>
                </a:lnTo>
                <a:lnTo>
                  <a:pt x="1559" y="2573"/>
                </a:lnTo>
                <a:lnTo>
                  <a:pt x="1523" y="2576"/>
                </a:lnTo>
                <a:lnTo>
                  <a:pt x="1489" y="2580"/>
                </a:lnTo>
                <a:lnTo>
                  <a:pt x="1455" y="2586"/>
                </a:lnTo>
                <a:lnTo>
                  <a:pt x="1420" y="2594"/>
                </a:lnTo>
                <a:lnTo>
                  <a:pt x="1387" y="2603"/>
                </a:lnTo>
                <a:lnTo>
                  <a:pt x="1356" y="2614"/>
                </a:lnTo>
                <a:lnTo>
                  <a:pt x="1324" y="2627"/>
                </a:lnTo>
                <a:lnTo>
                  <a:pt x="1293" y="2640"/>
                </a:lnTo>
                <a:lnTo>
                  <a:pt x="1263" y="2656"/>
                </a:lnTo>
                <a:lnTo>
                  <a:pt x="1234" y="2673"/>
                </a:lnTo>
                <a:lnTo>
                  <a:pt x="1205" y="2690"/>
                </a:lnTo>
                <a:lnTo>
                  <a:pt x="1178" y="2710"/>
                </a:lnTo>
                <a:lnTo>
                  <a:pt x="1152" y="2731"/>
                </a:lnTo>
                <a:lnTo>
                  <a:pt x="1126" y="2753"/>
                </a:lnTo>
                <a:lnTo>
                  <a:pt x="1102" y="2776"/>
                </a:lnTo>
                <a:lnTo>
                  <a:pt x="1079" y="2801"/>
                </a:lnTo>
                <a:lnTo>
                  <a:pt x="1058" y="2825"/>
                </a:lnTo>
                <a:lnTo>
                  <a:pt x="1038" y="2851"/>
                </a:lnTo>
                <a:lnTo>
                  <a:pt x="1018" y="2880"/>
                </a:lnTo>
                <a:lnTo>
                  <a:pt x="1000" y="2907"/>
                </a:lnTo>
                <a:lnTo>
                  <a:pt x="983" y="2937"/>
                </a:lnTo>
                <a:lnTo>
                  <a:pt x="967" y="2966"/>
                </a:lnTo>
                <a:lnTo>
                  <a:pt x="953" y="2997"/>
                </a:lnTo>
                <a:lnTo>
                  <a:pt x="942" y="3029"/>
                </a:lnTo>
                <a:lnTo>
                  <a:pt x="930" y="3062"/>
                </a:lnTo>
                <a:lnTo>
                  <a:pt x="922" y="3095"/>
                </a:lnTo>
                <a:lnTo>
                  <a:pt x="913" y="3128"/>
                </a:lnTo>
                <a:lnTo>
                  <a:pt x="907" y="3162"/>
                </a:lnTo>
                <a:lnTo>
                  <a:pt x="903" y="3196"/>
                </a:lnTo>
                <a:lnTo>
                  <a:pt x="900" y="3232"/>
                </a:lnTo>
                <a:lnTo>
                  <a:pt x="899" y="3268"/>
                </a:lnTo>
                <a:lnTo>
                  <a:pt x="900" y="3304"/>
                </a:lnTo>
                <a:lnTo>
                  <a:pt x="903" y="3340"/>
                </a:lnTo>
                <a:lnTo>
                  <a:pt x="907" y="3374"/>
                </a:lnTo>
                <a:lnTo>
                  <a:pt x="913" y="3408"/>
                </a:lnTo>
                <a:lnTo>
                  <a:pt x="922" y="3441"/>
                </a:lnTo>
                <a:lnTo>
                  <a:pt x="930" y="3474"/>
                </a:lnTo>
                <a:lnTo>
                  <a:pt x="942" y="3507"/>
                </a:lnTo>
                <a:lnTo>
                  <a:pt x="953" y="3539"/>
                </a:lnTo>
                <a:lnTo>
                  <a:pt x="967" y="3569"/>
                </a:lnTo>
                <a:lnTo>
                  <a:pt x="983" y="3599"/>
                </a:lnTo>
                <a:lnTo>
                  <a:pt x="1000" y="3629"/>
                </a:lnTo>
                <a:lnTo>
                  <a:pt x="1018" y="3656"/>
                </a:lnTo>
                <a:lnTo>
                  <a:pt x="1038" y="3684"/>
                </a:lnTo>
                <a:lnTo>
                  <a:pt x="1058" y="3711"/>
                </a:lnTo>
                <a:lnTo>
                  <a:pt x="1079" y="3735"/>
                </a:lnTo>
                <a:lnTo>
                  <a:pt x="1102" y="3760"/>
                </a:lnTo>
                <a:lnTo>
                  <a:pt x="1126" y="3783"/>
                </a:lnTo>
                <a:lnTo>
                  <a:pt x="1152" y="3806"/>
                </a:lnTo>
                <a:lnTo>
                  <a:pt x="1178" y="3826"/>
                </a:lnTo>
                <a:lnTo>
                  <a:pt x="1205" y="3846"/>
                </a:lnTo>
                <a:lnTo>
                  <a:pt x="1234" y="3863"/>
                </a:lnTo>
                <a:lnTo>
                  <a:pt x="1263" y="3880"/>
                </a:lnTo>
                <a:lnTo>
                  <a:pt x="1293" y="3896"/>
                </a:lnTo>
                <a:lnTo>
                  <a:pt x="1324" y="3909"/>
                </a:lnTo>
                <a:lnTo>
                  <a:pt x="1356" y="3922"/>
                </a:lnTo>
                <a:lnTo>
                  <a:pt x="1387" y="3933"/>
                </a:lnTo>
                <a:lnTo>
                  <a:pt x="1420" y="3942"/>
                </a:lnTo>
                <a:lnTo>
                  <a:pt x="1455" y="3950"/>
                </a:lnTo>
                <a:lnTo>
                  <a:pt x="1489" y="3956"/>
                </a:lnTo>
                <a:lnTo>
                  <a:pt x="1523" y="3960"/>
                </a:lnTo>
                <a:lnTo>
                  <a:pt x="1559" y="3963"/>
                </a:lnTo>
                <a:lnTo>
                  <a:pt x="1595" y="3965"/>
                </a:lnTo>
                <a:lnTo>
                  <a:pt x="1631" y="3963"/>
                </a:lnTo>
                <a:lnTo>
                  <a:pt x="1665" y="3960"/>
                </a:lnTo>
                <a:lnTo>
                  <a:pt x="1701" y="3956"/>
                </a:lnTo>
                <a:lnTo>
                  <a:pt x="1736" y="3950"/>
                </a:lnTo>
                <a:lnTo>
                  <a:pt x="1768" y="3942"/>
                </a:lnTo>
                <a:lnTo>
                  <a:pt x="1801" y="3933"/>
                </a:lnTo>
                <a:lnTo>
                  <a:pt x="1834" y="3922"/>
                </a:lnTo>
                <a:lnTo>
                  <a:pt x="1866" y="3909"/>
                </a:lnTo>
                <a:lnTo>
                  <a:pt x="1896" y="3896"/>
                </a:lnTo>
                <a:lnTo>
                  <a:pt x="1926" y="3880"/>
                </a:lnTo>
                <a:lnTo>
                  <a:pt x="1956" y="3863"/>
                </a:lnTo>
                <a:lnTo>
                  <a:pt x="1983" y="3846"/>
                </a:lnTo>
                <a:lnTo>
                  <a:pt x="2011" y="3826"/>
                </a:lnTo>
                <a:lnTo>
                  <a:pt x="2038" y="3806"/>
                </a:lnTo>
                <a:lnTo>
                  <a:pt x="2062" y="3783"/>
                </a:lnTo>
                <a:lnTo>
                  <a:pt x="2087" y="3760"/>
                </a:lnTo>
                <a:lnTo>
                  <a:pt x="2110" y="3735"/>
                </a:lnTo>
                <a:lnTo>
                  <a:pt x="2131" y="3711"/>
                </a:lnTo>
                <a:lnTo>
                  <a:pt x="2153" y="3684"/>
                </a:lnTo>
                <a:lnTo>
                  <a:pt x="2171" y="3656"/>
                </a:lnTo>
                <a:lnTo>
                  <a:pt x="2190" y="3629"/>
                </a:lnTo>
                <a:lnTo>
                  <a:pt x="2207" y="3599"/>
                </a:lnTo>
                <a:lnTo>
                  <a:pt x="2221" y="3569"/>
                </a:lnTo>
                <a:lnTo>
                  <a:pt x="2236" y="3539"/>
                </a:lnTo>
                <a:lnTo>
                  <a:pt x="2249" y="3507"/>
                </a:lnTo>
                <a:lnTo>
                  <a:pt x="2259" y="3474"/>
                </a:lnTo>
                <a:lnTo>
                  <a:pt x="2269" y="3441"/>
                </a:lnTo>
                <a:lnTo>
                  <a:pt x="2276" y="3408"/>
                </a:lnTo>
                <a:lnTo>
                  <a:pt x="2283" y="3374"/>
                </a:lnTo>
                <a:lnTo>
                  <a:pt x="2287" y="3340"/>
                </a:lnTo>
                <a:lnTo>
                  <a:pt x="2290" y="3304"/>
                </a:lnTo>
                <a:lnTo>
                  <a:pt x="2290" y="3268"/>
                </a:lnTo>
                <a:lnTo>
                  <a:pt x="2290" y="3232"/>
                </a:lnTo>
                <a:lnTo>
                  <a:pt x="2287" y="3196"/>
                </a:lnTo>
                <a:lnTo>
                  <a:pt x="2283" y="3162"/>
                </a:lnTo>
                <a:lnTo>
                  <a:pt x="2276" y="3128"/>
                </a:lnTo>
                <a:lnTo>
                  <a:pt x="2269" y="3095"/>
                </a:lnTo>
                <a:lnTo>
                  <a:pt x="2259" y="3062"/>
                </a:lnTo>
                <a:lnTo>
                  <a:pt x="2249" y="3029"/>
                </a:lnTo>
                <a:lnTo>
                  <a:pt x="2236" y="2997"/>
                </a:lnTo>
                <a:lnTo>
                  <a:pt x="2221" y="2966"/>
                </a:lnTo>
                <a:lnTo>
                  <a:pt x="2207" y="2937"/>
                </a:lnTo>
                <a:lnTo>
                  <a:pt x="2190" y="2907"/>
                </a:lnTo>
                <a:lnTo>
                  <a:pt x="2171" y="2880"/>
                </a:lnTo>
                <a:lnTo>
                  <a:pt x="2153" y="2851"/>
                </a:lnTo>
                <a:lnTo>
                  <a:pt x="2131" y="2825"/>
                </a:lnTo>
                <a:lnTo>
                  <a:pt x="2110" y="2801"/>
                </a:lnTo>
                <a:lnTo>
                  <a:pt x="2087" y="2776"/>
                </a:lnTo>
                <a:lnTo>
                  <a:pt x="2062" y="2753"/>
                </a:lnTo>
                <a:lnTo>
                  <a:pt x="2038" y="2731"/>
                </a:lnTo>
                <a:lnTo>
                  <a:pt x="2011" y="2710"/>
                </a:lnTo>
                <a:lnTo>
                  <a:pt x="1983" y="2690"/>
                </a:lnTo>
                <a:lnTo>
                  <a:pt x="1956" y="2673"/>
                </a:lnTo>
                <a:lnTo>
                  <a:pt x="1926" y="2656"/>
                </a:lnTo>
                <a:lnTo>
                  <a:pt x="1896" y="2640"/>
                </a:lnTo>
                <a:lnTo>
                  <a:pt x="1866" y="2627"/>
                </a:lnTo>
                <a:lnTo>
                  <a:pt x="1834" y="2614"/>
                </a:lnTo>
                <a:lnTo>
                  <a:pt x="1801" y="2603"/>
                </a:lnTo>
                <a:lnTo>
                  <a:pt x="1768" y="2594"/>
                </a:lnTo>
                <a:lnTo>
                  <a:pt x="1736" y="2586"/>
                </a:lnTo>
                <a:lnTo>
                  <a:pt x="1701" y="2580"/>
                </a:lnTo>
                <a:lnTo>
                  <a:pt x="1665" y="2576"/>
                </a:lnTo>
                <a:lnTo>
                  <a:pt x="1631" y="2573"/>
                </a:lnTo>
                <a:lnTo>
                  <a:pt x="1595" y="2571"/>
                </a:lnTo>
                <a:close/>
                <a:moveTo>
                  <a:pt x="1595" y="3761"/>
                </a:moveTo>
                <a:lnTo>
                  <a:pt x="1595" y="3761"/>
                </a:lnTo>
                <a:lnTo>
                  <a:pt x="1569" y="3761"/>
                </a:lnTo>
                <a:lnTo>
                  <a:pt x="1545" y="3758"/>
                </a:lnTo>
                <a:lnTo>
                  <a:pt x="1519" y="3755"/>
                </a:lnTo>
                <a:lnTo>
                  <a:pt x="1495" y="3751"/>
                </a:lnTo>
                <a:lnTo>
                  <a:pt x="1472" y="3745"/>
                </a:lnTo>
                <a:lnTo>
                  <a:pt x="1447" y="3740"/>
                </a:lnTo>
                <a:lnTo>
                  <a:pt x="1425" y="3731"/>
                </a:lnTo>
                <a:lnTo>
                  <a:pt x="1403" y="3722"/>
                </a:lnTo>
                <a:lnTo>
                  <a:pt x="1382" y="3712"/>
                </a:lnTo>
                <a:lnTo>
                  <a:pt x="1360" y="3701"/>
                </a:lnTo>
                <a:lnTo>
                  <a:pt x="1339" y="3689"/>
                </a:lnTo>
                <a:lnTo>
                  <a:pt x="1318" y="3677"/>
                </a:lnTo>
                <a:lnTo>
                  <a:pt x="1300" y="3664"/>
                </a:lnTo>
                <a:lnTo>
                  <a:pt x="1281" y="3648"/>
                </a:lnTo>
                <a:lnTo>
                  <a:pt x="1263" y="3634"/>
                </a:lnTo>
                <a:lnTo>
                  <a:pt x="1245" y="3616"/>
                </a:lnTo>
                <a:lnTo>
                  <a:pt x="1230" y="3599"/>
                </a:lnTo>
                <a:lnTo>
                  <a:pt x="1214" y="3582"/>
                </a:lnTo>
                <a:lnTo>
                  <a:pt x="1200" y="3563"/>
                </a:lnTo>
                <a:lnTo>
                  <a:pt x="1185" y="3543"/>
                </a:lnTo>
                <a:lnTo>
                  <a:pt x="1174" y="3523"/>
                </a:lnTo>
                <a:lnTo>
                  <a:pt x="1161" y="3503"/>
                </a:lnTo>
                <a:lnTo>
                  <a:pt x="1151" y="3482"/>
                </a:lnTo>
                <a:lnTo>
                  <a:pt x="1141" y="3460"/>
                </a:lnTo>
                <a:lnTo>
                  <a:pt x="1132" y="3437"/>
                </a:lnTo>
                <a:lnTo>
                  <a:pt x="1124" y="3414"/>
                </a:lnTo>
                <a:lnTo>
                  <a:pt x="1118" y="3391"/>
                </a:lnTo>
                <a:lnTo>
                  <a:pt x="1112" y="3367"/>
                </a:lnTo>
                <a:lnTo>
                  <a:pt x="1108" y="3343"/>
                </a:lnTo>
                <a:lnTo>
                  <a:pt x="1105" y="3318"/>
                </a:lnTo>
                <a:lnTo>
                  <a:pt x="1102" y="3294"/>
                </a:lnTo>
                <a:lnTo>
                  <a:pt x="1102" y="3268"/>
                </a:lnTo>
                <a:lnTo>
                  <a:pt x="1102" y="3242"/>
                </a:lnTo>
                <a:lnTo>
                  <a:pt x="1105" y="3218"/>
                </a:lnTo>
                <a:lnTo>
                  <a:pt x="1108" y="3193"/>
                </a:lnTo>
                <a:lnTo>
                  <a:pt x="1112" y="3169"/>
                </a:lnTo>
                <a:lnTo>
                  <a:pt x="1118" y="3145"/>
                </a:lnTo>
                <a:lnTo>
                  <a:pt x="1124" y="3122"/>
                </a:lnTo>
                <a:lnTo>
                  <a:pt x="1132" y="3099"/>
                </a:lnTo>
                <a:lnTo>
                  <a:pt x="1141" y="3076"/>
                </a:lnTo>
                <a:lnTo>
                  <a:pt x="1151" y="3054"/>
                </a:lnTo>
                <a:lnTo>
                  <a:pt x="1161" y="3033"/>
                </a:lnTo>
                <a:lnTo>
                  <a:pt x="1174" y="3013"/>
                </a:lnTo>
                <a:lnTo>
                  <a:pt x="1185" y="2993"/>
                </a:lnTo>
                <a:lnTo>
                  <a:pt x="1200" y="2973"/>
                </a:lnTo>
                <a:lnTo>
                  <a:pt x="1214" y="2954"/>
                </a:lnTo>
                <a:lnTo>
                  <a:pt x="1230" y="2937"/>
                </a:lnTo>
                <a:lnTo>
                  <a:pt x="1245" y="2920"/>
                </a:lnTo>
                <a:lnTo>
                  <a:pt x="1263" y="2903"/>
                </a:lnTo>
                <a:lnTo>
                  <a:pt x="1281" y="2888"/>
                </a:lnTo>
                <a:lnTo>
                  <a:pt x="1300" y="2872"/>
                </a:lnTo>
                <a:lnTo>
                  <a:pt x="1318" y="2860"/>
                </a:lnTo>
                <a:lnTo>
                  <a:pt x="1339" y="2847"/>
                </a:lnTo>
                <a:lnTo>
                  <a:pt x="1360" y="2834"/>
                </a:lnTo>
                <a:lnTo>
                  <a:pt x="1382" y="2824"/>
                </a:lnTo>
                <a:lnTo>
                  <a:pt x="1403" y="2814"/>
                </a:lnTo>
                <a:lnTo>
                  <a:pt x="1425" y="2805"/>
                </a:lnTo>
                <a:lnTo>
                  <a:pt x="1447" y="2796"/>
                </a:lnTo>
                <a:lnTo>
                  <a:pt x="1472" y="2791"/>
                </a:lnTo>
                <a:lnTo>
                  <a:pt x="1495" y="2785"/>
                </a:lnTo>
                <a:lnTo>
                  <a:pt x="1519" y="2781"/>
                </a:lnTo>
                <a:lnTo>
                  <a:pt x="1545" y="2778"/>
                </a:lnTo>
                <a:lnTo>
                  <a:pt x="1569" y="2775"/>
                </a:lnTo>
                <a:lnTo>
                  <a:pt x="1595" y="2775"/>
                </a:lnTo>
                <a:lnTo>
                  <a:pt x="1619" y="2775"/>
                </a:lnTo>
                <a:lnTo>
                  <a:pt x="1645" y="2778"/>
                </a:lnTo>
                <a:lnTo>
                  <a:pt x="1670" y="2781"/>
                </a:lnTo>
                <a:lnTo>
                  <a:pt x="1694" y="2785"/>
                </a:lnTo>
                <a:lnTo>
                  <a:pt x="1718" y="2791"/>
                </a:lnTo>
                <a:lnTo>
                  <a:pt x="1741" y="2796"/>
                </a:lnTo>
                <a:lnTo>
                  <a:pt x="1764" y="2805"/>
                </a:lnTo>
                <a:lnTo>
                  <a:pt x="1787" y="2814"/>
                </a:lnTo>
                <a:lnTo>
                  <a:pt x="1809" y="2824"/>
                </a:lnTo>
                <a:lnTo>
                  <a:pt x="1830" y="2834"/>
                </a:lnTo>
                <a:lnTo>
                  <a:pt x="1850" y="2847"/>
                </a:lnTo>
                <a:lnTo>
                  <a:pt x="1870" y="2860"/>
                </a:lnTo>
                <a:lnTo>
                  <a:pt x="1890" y="2872"/>
                </a:lnTo>
                <a:lnTo>
                  <a:pt x="1909" y="2888"/>
                </a:lnTo>
                <a:lnTo>
                  <a:pt x="1926" y="2903"/>
                </a:lnTo>
                <a:lnTo>
                  <a:pt x="1943" y="2920"/>
                </a:lnTo>
                <a:lnTo>
                  <a:pt x="1959" y="2937"/>
                </a:lnTo>
                <a:lnTo>
                  <a:pt x="1975" y="2954"/>
                </a:lnTo>
                <a:lnTo>
                  <a:pt x="1989" y="2973"/>
                </a:lnTo>
                <a:lnTo>
                  <a:pt x="2004" y="2993"/>
                </a:lnTo>
                <a:lnTo>
                  <a:pt x="2016" y="3013"/>
                </a:lnTo>
                <a:lnTo>
                  <a:pt x="2028" y="3033"/>
                </a:lnTo>
                <a:lnTo>
                  <a:pt x="2039" y="3054"/>
                </a:lnTo>
                <a:lnTo>
                  <a:pt x="2049" y="3076"/>
                </a:lnTo>
                <a:lnTo>
                  <a:pt x="2058" y="3099"/>
                </a:lnTo>
                <a:lnTo>
                  <a:pt x="2065" y="3122"/>
                </a:lnTo>
                <a:lnTo>
                  <a:pt x="2072" y="3145"/>
                </a:lnTo>
                <a:lnTo>
                  <a:pt x="2078" y="3169"/>
                </a:lnTo>
                <a:lnTo>
                  <a:pt x="2082" y="3193"/>
                </a:lnTo>
                <a:lnTo>
                  <a:pt x="2085" y="3218"/>
                </a:lnTo>
                <a:lnTo>
                  <a:pt x="2087" y="3242"/>
                </a:lnTo>
                <a:lnTo>
                  <a:pt x="2088" y="3268"/>
                </a:lnTo>
                <a:lnTo>
                  <a:pt x="2087" y="3294"/>
                </a:lnTo>
                <a:lnTo>
                  <a:pt x="2085" y="3318"/>
                </a:lnTo>
                <a:lnTo>
                  <a:pt x="2082" y="3343"/>
                </a:lnTo>
                <a:lnTo>
                  <a:pt x="2078" y="3367"/>
                </a:lnTo>
                <a:lnTo>
                  <a:pt x="2072" y="3391"/>
                </a:lnTo>
                <a:lnTo>
                  <a:pt x="2065" y="3414"/>
                </a:lnTo>
                <a:lnTo>
                  <a:pt x="2058" y="3437"/>
                </a:lnTo>
                <a:lnTo>
                  <a:pt x="2049" y="3460"/>
                </a:lnTo>
                <a:lnTo>
                  <a:pt x="2039" y="3482"/>
                </a:lnTo>
                <a:lnTo>
                  <a:pt x="2028" y="3503"/>
                </a:lnTo>
                <a:lnTo>
                  <a:pt x="2016" y="3523"/>
                </a:lnTo>
                <a:lnTo>
                  <a:pt x="2004" y="3543"/>
                </a:lnTo>
                <a:lnTo>
                  <a:pt x="1989" y="3563"/>
                </a:lnTo>
                <a:lnTo>
                  <a:pt x="1975" y="3582"/>
                </a:lnTo>
                <a:lnTo>
                  <a:pt x="1959" y="3599"/>
                </a:lnTo>
                <a:lnTo>
                  <a:pt x="1943" y="3616"/>
                </a:lnTo>
                <a:lnTo>
                  <a:pt x="1926" y="3634"/>
                </a:lnTo>
                <a:lnTo>
                  <a:pt x="1909" y="3648"/>
                </a:lnTo>
                <a:lnTo>
                  <a:pt x="1890" y="3664"/>
                </a:lnTo>
                <a:lnTo>
                  <a:pt x="1870" y="3677"/>
                </a:lnTo>
                <a:lnTo>
                  <a:pt x="1850" y="3689"/>
                </a:lnTo>
                <a:lnTo>
                  <a:pt x="1830" y="3701"/>
                </a:lnTo>
                <a:lnTo>
                  <a:pt x="1809" y="3712"/>
                </a:lnTo>
                <a:lnTo>
                  <a:pt x="1787" y="3722"/>
                </a:lnTo>
                <a:lnTo>
                  <a:pt x="1764" y="3731"/>
                </a:lnTo>
                <a:lnTo>
                  <a:pt x="1741" y="3740"/>
                </a:lnTo>
                <a:lnTo>
                  <a:pt x="1718" y="3745"/>
                </a:lnTo>
                <a:lnTo>
                  <a:pt x="1694" y="3751"/>
                </a:lnTo>
                <a:lnTo>
                  <a:pt x="1670" y="3755"/>
                </a:lnTo>
                <a:lnTo>
                  <a:pt x="1645" y="3758"/>
                </a:lnTo>
                <a:lnTo>
                  <a:pt x="1619" y="3761"/>
                </a:lnTo>
                <a:lnTo>
                  <a:pt x="1595" y="3761"/>
                </a:lnTo>
                <a:close/>
                <a:moveTo>
                  <a:pt x="2699" y="2845"/>
                </a:moveTo>
                <a:lnTo>
                  <a:pt x="2954" y="2632"/>
                </a:lnTo>
                <a:lnTo>
                  <a:pt x="2796" y="2359"/>
                </a:lnTo>
                <a:lnTo>
                  <a:pt x="2472" y="2477"/>
                </a:lnTo>
                <a:lnTo>
                  <a:pt x="2441" y="2444"/>
                </a:lnTo>
                <a:lnTo>
                  <a:pt x="2408" y="2411"/>
                </a:lnTo>
                <a:lnTo>
                  <a:pt x="2375" y="2379"/>
                </a:lnTo>
                <a:lnTo>
                  <a:pt x="2339" y="2351"/>
                </a:lnTo>
                <a:lnTo>
                  <a:pt x="2454" y="2037"/>
                </a:lnTo>
                <a:lnTo>
                  <a:pt x="2181" y="1881"/>
                </a:lnTo>
                <a:lnTo>
                  <a:pt x="1959" y="2144"/>
                </a:lnTo>
                <a:lnTo>
                  <a:pt x="1916" y="2130"/>
                </a:lnTo>
                <a:lnTo>
                  <a:pt x="1872" y="2118"/>
                </a:lnTo>
                <a:lnTo>
                  <a:pt x="1826" y="2108"/>
                </a:lnTo>
                <a:lnTo>
                  <a:pt x="1780" y="2101"/>
                </a:lnTo>
                <a:lnTo>
                  <a:pt x="1723" y="1773"/>
                </a:lnTo>
                <a:lnTo>
                  <a:pt x="1409" y="1773"/>
                </a:lnTo>
                <a:lnTo>
                  <a:pt x="1349" y="2113"/>
                </a:lnTo>
                <a:lnTo>
                  <a:pt x="1303" y="2123"/>
                </a:lnTo>
                <a:lnTo>
                  <a:pt x="1258" y="2134"/>
                </a:lnTo>
                <a:lnTo>
                  <a:pt x="1215" y="2149"/>
                </a:lnTo>
                <a:lnTo>
                  <a:pt x="1172" y="2164"/>
                </a:lnTo>
                <a:lnTo>
                  <a:pt x="957" y="1909"/>
                </a:lnTo>
                <a:lnTo>
                  <a:pt x="685" y="2067"/>
                </a:lnTo>
                <a:lnTo>
                  <a:pt x="804" y="2391"/>
                </a:lnTo>
                <a:lnTo>
                  <a:pt x="770" y="2422"/>
                </a:lnTo>
                <a:lnTo>
                  <a:pt x="738" y="2454"/>
                </a:lnTo>
                <a:lnTo>
                  <a:pt x="707" y="2488"/>
                </a:lnTo>
                <a:lnTo>
                  <a:pt x="676" y="2524"/>
                </a:lnTo>
                <a:lnTo>
                  <a:pt x="364" y="2409"/>
                </a:lnTo>
                <a:lnTo>
                  <a:pt x="206" y="2682"/>
                </a:lnTo>
                <a:lnTo>
                  <a:pt x="470" y="2904"/>
                </a:lnTo>
                <a:lnTo>
                  <a:pt x="457" y="2947"/>
                </a:lnTo>
                <a:lnTo>
                  <a:pt x="446" y="2991"/>
                </a:lnTo>
                <a:lnTo>
                  <a:pt x="436" y="3036"/>
                </a:lnTo>
                <a:lnTo>
                  <a:pt x="427" y="3082"/>
                </a:lnTo>
                <a:lnTo>
                  <a:pt x="100" y="3140"/>
                </a:lnTo>
                <a:lnTo>
                  <a:pt x="100" y="3454"/>
                </a:lnTo>
                <a:lnTo>
                  <a:pt x="439" y="3515"/>
                </a:lnTo>
                <a:lnTo>
                  <a:pt x="450" y="3559"/>
                </a:lnTo>
                <a:lnTo>
                  <a:pt x="461" y="3603"/>
                </a:lnTo>
                <a:lnTo>
                  <a:pt x="476" y="3648"/>
                </a:lnTo>
                <a:lnTo>
                  <a:pt x="492" y="3691"/>
                </a:lnTo>
                <a:lnTo>
                  <a:pt x="236" y="3904"/>
                </a:lnTo>
                <a:lnTo>
                  <a:pt x="393" y="4177"/>
                </a:lnTo>
                <a:lnTo>
                  <a:pt x="717" y="4059"/>
                </a:lnTo>
                <a:lnTo>
                  <a:pt x="748" y="4092"/>
                </a:lnTo>
                <a:lnTo>
                  <a:pt x="781" y="4125"/>
                </a:lnTo>
                <a:lnTo>
                  <a:pt x="815" y="4157"/>
                </a:lnTo>
                <a:lnTo>
                  <a:pt x="850" y="4185"/>
                </a:lnTo>
                <a:lnTo>
                  <a:pt x="737" y="4499"/>
                </a:lnTo>
                <a:lnTo>
                  <a:pt x="1009" y="4655"/>
                </a:lnTo>
                <a:lnTo>
                  <a:pt x="1230" y="4392"/>
                </a:lnTo>
                <a:lnTo>
                  <a:pt x="1274" y="4406"/>
                </a:lnTo>
                <a:lnTo>
                  <a:pt x="1318" y="4418"/>
                </a:lnTo>
                <a:lnTo>
                  <a:pt x="1363" y="4428"/>
                </a:lnTo>
                <a:lnTo>
                  <a:pt x="1409" y="4435"/>
                </a:lnTo>
                <a:lnTo>
                  <a:pt x="1466" y="4763"/>
                </a:lnTo>
                <a:lnTo>
                  <a:pt x="1781" y="4763"/>
                </a:lnTo>
                <a:lnTo>
                  <a:pt x="1842" y="4423"/>
                </a:lnTo>
                <a:lnTo>
                  <a:pt x="1886" y="4413"/>
                </a:lnTo>
                <a:lnTo>
                  <a:pt x="1930" y="4402"/>
                </a:lnTo>
                <a:lnTo>
                  <a:pt x="1975" y="4387"/>
                </a:lnTo>
                <a:lnTo>
                  <a:pt x="2018" y="4372"/>
                </a:lnTo>
                <a:lnTo>
                  <a:pt x="2231" y="4627"/>
                </a:lnTo>
                <a:lnTo>
                  <a:pt x="2504" y="4469"/>
                </a:lnTo>
                <a:lnTo>
                  <a:pt x="2386" y="4145"/>
                </a:lnTo>
                <a:lnTo>
                  <a:pt x="2419" y="4114"/>
                </a:lnTo>
                <a:lnTo>
                  <a:pt x="2452" y="4082"/>
                </a:lnTo>
                <a:lnTo>
                  <a:pt x="2482" y="4048"/>
                </a:lnTo>
                <a:lnTo>
                  <a:pt x="2512" y="4012"/>
                </a:lnTo>
                <a:lnTo>
                  <a:pt x="2826" y="4127"/>
                </a:lnTo>
                <a:lnTo>
                  <a:pt x="2982" y="3854"/>
                </a:lnTo>
                <a:lnTo>
                  <a:pt x="2719" y="3632"/>
                </a:lnTo>
                <a:lnTo>
                  <a:pt x="2732" y="3589"/>
                </a:lnTo>
                <a:lnTo>
                  <a:pt x="2743" y="3545"/>
                </a:lnTo>
                <a:lnTo>
                  <a:pt x="2753" y="3499"/>
                </a:lnTo>
                <a:lnTo>
                  <a:pt x="2762" y="3454"/>
                </a:lnTo>
                <a:lnTo>
                  <a:pt x="3090" y="3396"/>
                </a:lnTo>
                <a:lnTo>
                  <a:pt x="3090" y="3082"/>
                </a:lnTo>
                <a:lnTo>
                  <a:pt x="2750" y="3021"/>
                </a:lnTo>
                <a:lnTo>
                  <a:pt x="2740" y="2977"/>
                </a:lnTo>
                <a:lnTo>
                  <a:pt x="2727" y="2933"/>
                </a:lnTo>
                <a:lnTo>
                  <a:pt x="2714" y="2888"/>
                </a:lnTo>
                <a:lnTo>
                  <a:pt x="2699" y="2845"/>
                </a:lnTo>
                <a:close/>
                <a:moveTo>
                  <a:pt x="1595" y="4194"/>
                </a:moveTo>
                <a:lnTo>
                  <a:pt x="1595" y="4194"/>
                </a:lnTo>
                <a:lnTo>
                  <a:pt x="1548" y="4193"/>
                </a:lnTo>
                <a:lnTo>
                  <a:pt x="1500" y="4188"/>
                </a:lnTo>
                <a:lnTo>
                  <a:pt x="1453" y="4182"/>
                </a:lnTo>
                <a:lnTo>
                  <a:pt x="1409" y="4174"/>
                </a:lnTo>
                <a:lnTo>
                  <a:pt x="1363" y="4164"/>
                </a:lnTo>
                <a:lnTo>
                  <a:pt x="1320" y="4151"/>
                </a:lnTo>
                <a:lnTo>
                  <a:pt x="1277" y="4137"/>
                </a:lnTo>
                <a:lnTo>
                  <a:pt x="1234" y="4121"/>
                </a:lnTo>
                <a:lnTo>
                  <a:pt x="1194" y="4102"/>
                </a:lnTo>
                <a:lnTo>
                  <a:pt x="1154" y="4082"/>
                </a:lnTo>
                <a:lnTo>
                  <a:pt x="1115" y="4059"/>
                </a:lnTo>
                <a:lnTo>
                  <a:pt x="1078" y="4035"/>
                </a:lnTo>
                <a:lnTo>
                  <a:pt x="1042" y="4009"/>
                </a:lnTo>
                <a:lnTo>
                  <a:pt x="1006" y="3982"/>
                </a:lnTo>
                <a:lnTo>
                  <a:pt x="973" y="3953"/>
                </a:lnTo>
                <a:lnTo>
                  <a:pt x="940" y="3922"/>
                </a:lnTo>
                <a:lnTo>
                  <a:pt x="910" y="3890"/>
                </a:lnTo>
                <a:lnTo>
                  <a:pt x="881" y="3857"/>
                </a:lnTo>
                <a:lnTo>
                  <a:pt x="853" y="3821"/>
                </a:lnTo>
                <a:lnTo>
                  <a:pt x="827" y="3785"/>
                </a:lnTo>
                <a:lnTo>
                  <a:pt x="804" y="3748"/>
                </a:lnTo>
                <a:lnTo>
                  <a:pt x="781" y="3709"/>
                </a:lnTo>
                <a:lnTo>
                  <a:pt x="761" y="3669"/>
                </a:lnTo>
                <a:lnTo>
                  <a:pt x="742" y="3628"/>
                </a:lnTo>
                <a:lnTo>
                  <a:pt x="725" y="3586"/>
                </a:lnTo>
                <a:lnTo>
                  <a:pt x="711" y="3543"/>
                </a:lnTo>
                <a:lnTo>
                  <a:pt x="699" y="3499"/>
                </a:lnTo>
                <a:lnTo>
                  <a:pt x="688" y="3454"/>
                </a:lnTo>
                <a:lnTo>
                  <a:pt x="681" y="3408"/>
                </a:lnTo>
                <a:lnTo>
                  <a:pt x="675" y="3363"/>
                </a:lnTo>
                <a:lnTo>
                  <a:pt x="671" y="3315"/>
                </a:lnTo>
                <a:lnTo>
                  <a:pt x="669" y="3268"/>
                </a:lnTo>
                <a:lnTo>
                  <a:pt x="671" y="3221"/>
                </a:lnTo>
                <a:lnTo>
                  <a:pt x="675" y="3173"/>
                </a:lnTo>
                <a:lnTo>
                  <a:pt x="681" y="3128"/>
                </a:lnTo>
                <a:lnTo>
                  <a:pt x="688" y="3082"/>
                </a:lnTo>
                <a:lnTo>
                  <a:pt x="699" y="3037"/>
                </a:lnTo>
                <a:lnTo>
                  <a:pt x="711" y="2993"/>
                </a:lnTo>
                <a:lnTo>
                  <a:pt x="725" y="2950"/>
                </a:lnTo>
                <a:lnTo>
                  <a:pt x="742" y="2908"/>
                </a:lnTo>
                <a:lnTo>
                  <a:pt x="761" y="2867"/>
                </a:lnTo>
                <a:lnTo>
                  <a:pt x="781" y="2827"/>
                </a:lnTo>
                <a:lnTo>
                  <a:pt x="804" y="2788"/>
                </a:lnTo>
                <a:lnTo>
                  <a:pt x="827" y="2751"/>
                </a:lnTo>
                <a:lnTo>
                  <a:pt x="853" y="2715"/>
                </a:lnTo>
                <a:lnTo>
                  <a:pt x="881" y="2679"/>
                </a:lnTo>
                <a:lnTo>
                  <a:pt x="910" y="2646"/>
                </a:lnTo>
                <a:lnTo>
                  <a:pt x="940" y="2614"/>
                </a:lnTo>
                <a:lnTo>
                  <a:pt x="973" y="2583"/>
                </a:lnTo>
                <a:lnTo>
                  <a:pt x="1006" y="2554"/>
                </a:lnTo>
                <a:lnTo>
                  <a:pt x="1042" y="2527"/>
                </a:lnTo>
                <a:lnTo>
                  <a:pt x="1078" y="2501"/>
                </a:lnTo>
                <a:lnTo>
                  <a:pt x="1115" y="2477"/>
                </a:lnTo>
                <a:lnTo>
                  <a:pt x="1154" y="2454"/>
                </a:lnTo>
                <a:lnTo>
                  <a:pt x="1194" y="2434"/>
                </a:lnTo>
                <a:lnTo>
                  <a:pt x="1234" y="2415"/>
                </a:lnTo>
                <a:lnTo>
                  <a:pt x="1277" y="2399"/>
                </a:lnTo>
                <a:lnTo>
                  <a:pt x="1320" y="2384"/>
                </a:lnTo>
                <a:lnTo>
                  <a:pt x="1363" y="2372"/>
                </a:lnTo>
                <a:lnTo>
                  <a:pt x="1409" y="2362"/>
                </a:lnTo>
                <a:lnTo>
                  <a:pt x="1453" y="2354"/>
                </a:lnTo>
                <a:lnTo>
                  <a:pt x="1500" y="2348"/>
                </a:lnTo>
                <a:lnTo>
                  <a:pt x="1548" y="2344"/>
                </a:lnTo>
                <a:lnTo>
                  <a:pt x="1595" y="2342"/>
                </a:lnTo>
                <a:lnTo>
                  <a:pt x="1642" y="2344"/>
                </a:lnTo>
                <a:lnTo>
                  <a:pt x="1690" y="2348"/>
                </a:lnTo>
                <a:lnTo>
                  <a:pt x="1736" y="2354"/>
                </a:lnTo>
                <a:lnTo>
                  <a:pt x="1781" y="2362"/>
                </a:lnTo>
                <a:lnTo>
                  <a:pt x="1826" y="2372"/>
                </a:lnTo>
                <a:lnTo>
                  <a:pt x="1870" y="2384"/>
                </a:lnTo>
                <a:lnTo>
                  <a:pt x="1913" y="2399"/>
                </a:lnTo>
                <a:lnTo>
                  <a:pt x="1955" y="2415"/>
                </a:lnTo>
                <a:lnTo>
                  <a:pt x="1996" y="2434"/>
                </a:lnTo>
                <a:lnTo>
                  <a:pt x="2035" y="2454"/>
                </a:lnTo>
                <a:lnTo>
                  <a:pt x="2074" y="2477"/>
                </a:lnTo>
                <a:lnTo>
                  <a:pt x="2112" y="2501"/>
                </a:lnTo>
                <a:lnTo>
                  <a:pt x="2148" y="2527"/>
                </a:lnTo>
                <a:lnTo>
                  <a:pt x="2183" y="2554"/>
                </a:lnTo>
                <a:lnTo>
                  <a:pt x="2217" y="2583"/>
                </a:lnTo>
                <a:lnTo>
                  <a:pt x="2249" y="2614"/>
                </a:lnTo>
                <a:lnTo>
                  <a:pt x="2280" y="2646"/>
                </a:lnTo>
                <a:lnTo>
                  <a:pt x="2309" y="2679"/>
                </a:lnTo>
                <a:lnTo>
                  <a:pt x="2336" y="2715"/>
                </a:lnTo>
                <a:lnTo>
                  <a:pt x="2362" y="2751"/>
                </a:lnTo>
                <a:lnTo>
                  <a:pt x="2386" y="2788"/>
                </a:lnTo>
                <a:lnTo>
                  <a:pt x="2408" y="2827"/>
                </a:lnTo>
                <a:lnTo>
                  <a:pt x="2429" y="2867"/>
                </a:lnTo>
                <a:lnTo>
                  <a:pt x="2448" y="2908"/>
                </a:lnTo>
                <a:lnTo>
                  <a:pt x="2464" y="2950"/>
                </a:lnTo>
                <a:lnTo>
                  <a:pt x="2478" y="2993"/>
                </a:lnTo>
                <a:lnTo>
                  <a:pt x="2491" y="3037"/>
                </a:lnTo>
                <a:lnTo>
                  <a:pt x="2501" y="3082"/>
                </a:lnTo>
                <a:lnTo>
                  <a:pt x="2509" y="3128"/>
                </a:lnTo>
                <a:lnTo>
                  <a:pt x="2515" y="3173"/>
                </a:lnTo>
                <a:lnTo>
                  <a:pt x="2518" y="3221"/>
                </a:lnTo>
                <a:lnTo>
                  <a:pt x="2519" y="3268"/>
                </a:lnTo>
                <a:lnTo>
                  <a:pt x="2518" y="3315"/>
                </a:lnTo>
                <a:lnTo>
                  <a:pt x="2515" y="3363"/>
                </a:lnTo>
                <a:lnTo>
                  <a:pt x="2509" y="3408"/>
                </a:lnTo>
                <a:lnTo>
                  <a:pt x="2501" y="3454"/>
                </a:lnTo>
                <a:lnTo>
                  <a:pt x="2491" y="3499"/>
                </a:lnTo>
                <a:lnTo>
                  <a:pt x="2478" y="3543"/>
                </a:lnTo>
                <a:lnTo>
                  <a:pt x="2464" y="3586"/>
                </a:lnTo>
                <a:lnTo>
                  <a:pt x="2448" y="3628"/>
                </a:lnTo>
                <a:lnTo>
                  <a:pt x="2429" y="3669"/>
                </a:lnTo>
                <a:lnTo>
                  <a:pt x="2408" y="3709"/>
                </a:lnTo>
                <a:lnTo>
                  <a:pt x="2386" y="3748"/>
                </a:lnTo>
                <a:lnTo>
                  <a:pt x="2362" y="3785"/>
                </a:lnTo>
                <a:lnTo>
                  <a:pt x="2336" y="3821"/>
                </a:lnTo>
                <a:lnTo>
                  <a:pt x="2309" y="3857"/>
                </a:lnTo>
                <a:lnTo>
                  <a:pt x="2280" y="3890"/>
                </a:lnTo>
                <a:lnTo>
                  <a:pt x="2249" y="3922"/>
                </a:lnTo>
                <a:lnTo>
                  <a:pt x="2217" y="3953"/>
                </a:lnTo>
                <a:lnTo>
                  <a:pt x="2183" y="3982"/>
                </a:lnTo>
                <a:lnTo>
                  <a:pt x="2148" y="4009"/>
                </a:lnTo>
                <a:lnTo>
                  <a:pt x="2112" y="4035"/>
                </a:lnTo>
                <a:lnTo>
                  <a:pt x="2074" y="4059"/>
                </a:lnTo>
                <a:lnTo>
                  <a:pt x="2035" y="4082"/>
                </a:lnTo>
                <a:lnTo>
                  <a:pt x="1996" y="4102"/>
                </a:lnTo>
                <a:lnTo>
                  <a:pt x="1955" y="4121"/>
                </a:lnTo>
                <a:lnTo>
                  <a:pt x="1913" y="4137"/>
                </a:lnTo>
                <a:lnTo>
                  <a:pt x="1870" y="4151"/>
                </a:lnTo>
                <a:lnTo>
                  <a:pt x="1826" y="4164"/>
                </a:lnTo>
                <a:lnTo>
                  <a:pt x="1781" y="4174"/>
                </a:lnTo>
                <a:lnTo>
                  <a:pt x="1736" y="4182"/>
                </a:lnTo>
                <a:lnTo>
                  <a:pt x="1690" y="4188"/>
                </a:lnTo>
                <a:lnTo>
                  <a:pt x="1642" y="4193"/>
                </a:lnTo>
                <a:lnTo>
                  <a:pt x="1595" y="4194"/>
                </a:lnTo>
                <a:close/>
                <a:moveTo>
                  <a:pt x="4272" y="1428"/>
                </a:moveTo>
                <a:lnTo>
                  <a:pt x="4272" y="1428"/>
                </a:lnTo>
                <a:lnTo>
                  <a:pt x="4236" y="1429"/>
                </a:lnTo>
                <a:lnTo>
                  <a:pt x="4202" y="1432"/>
                </a:lnTo>
                <a:lnTo>
                  <a:pt x="4168" y="1436"/>
                </a:lnTo>
                <a:lnTo>
                  <a:pt x="4135" y="1442"/>
                </a:lnTo>
                <a:lnTo>
                  <a:pt x="4102" y="1449"/>
                </a:lnTo>
                <a:lnTo>
                  <a:pt x="4069" y="1459"/>
                </a:lnTo>
                <a:lnTo>
                  <a:pt x="4037" y="1469"/>
                </a:lnTo>
                <a:lnTo>
                  <a:pt x="4006" y="1482"/>
                </a:lnTo>
                <a:lnTo>
                  <a:pt x="3976" y="1495"/>
                </a:lnTo>
                <a:lnTo>
                  <a:pt x="3947" y="1511"/>
                </a:lnTo>
                <a:lnTo>
                  <a:pt x="3918" y="1527"/>
                </a:lnTo>
                <a:lnTo>
                  <a:pt x="3890" y="1545"/>
                </a:lnTo>
                <a:lnTo>
                  <a:pt x="3864" y="1564"/>
                </a:lnTo>
                <a:lnTo>
                  <a:pt x="3838" y="1584"/>
                </a:lnTo>
                <a:lnTo>
                  <a:pt x="3812" y="1605"/>
                </a:lnTo>
                <a:lnTo>
                  <a:pt x="3789" y="1628"/>
                </a:lnTo>
                <a:lnTo>
                  <a:pt x="3766" y="1651"/>
                </a:lnTo>
                <a:lnTo>
                  <a:pt x="3745" y="1677"/>
                </a:lnTo>
                <a:lnTo>
                  <a:pt x="3725" y="1703"/>
                </a:lnTo>
                <a:lnTo>
                  <a:pt x="3705" y="1729"/>
                </a:lnTo>
                <a:lnTo>
                  <a:pt x="3687" y="1757"/>
                </a:lnTo>
                <a:lnTo>
                  <a:pt x="3672" y="1786"/>
                </a:lnTo>
                <a:lnTo>
                  <a:pt x="3656" y="1815"/>
                </a:lnTo>
                <a:lnTo>
                  <a:pt x="3643" y="1845"/>
                </a:lnTo>
                <a:lnTo>
                  <a:pt x="3630" y="1876"/>
                </a:lnTo>
                <a:lnTo>
                  <a:pt x="3619" y="1908"/>
                </a:lnTo>
                <a:lnTo>
                  <a:pt x="3610" y="1941"/>
                </a:lnTo>
                <a:lnTo>
                  <a:pt x="3603" y="1974"/>
                </a:lnTo>
                <a:lnTo>
                  <a:pt x="3597" y="2007"/>
                </a:lnTo>
                <a:lnTo>
                  <a:pt x="3591" y="2041"/>
                </a:lnTo>
                <a:lnTo>
                  <a:pt x="3590" y="2077"/>
                </a:lnTo>
                <a:lnTo>
                  <a:pt x="3589" y="2111"/>
                </a:lnTo>
                <a:lnTo>
                  <a:pt x="3590" y="2147"/>
                </a:lnTo>
                <a:lnTo>
                  <a:pt x="3591" y="2182"/>
                </a:lnTo>
                <a:lnTo>
                  <a:pt x="3597" y="2216"/>
                </a:lnTo>
                <a:lnTo>
                  <a:pt x="3603" y="2249"/>
                </a:lnTo>
                <a:lnTo>
                  <a:pt x="3610" y="2282"/>
                </a:lnTo>
                <a:lnTo>
                  <a:pt x="3619" y="2315"/>
                </a:lnTo>
                <a:lnTo>
                  <a:pt x="3630" y="2346"/>
                </a:lnTo>
                <a:lnTo>
                  <a:pt x="3643" y="2378"/>
                </a:lnTo>
                <a:lnTo>
                  <a:pt x="3656" y="2408"/>
                </a:lnTo>
                <a:lnTo>
                  <a:pt x="3672" y="2437"/>
                </a:lnTo>
                <a:lnTo>
                  <a:pt x="3687" y="2465"/>
                </a:lnTo>
                <a:lnTo>
                  <a:pt x="3705" y="2494"/>
                </a:lnTo>
                <a:lnTo>
                  <a:pt x="3725" y="2520"/>
                </a:lnTo>
                <a:lnTo>
                  <a:pt x="3745" y="2546"/>
                </a:lnTo>
                <a:lnTo>
                  <a:pt x="3766" y="2571"/>
                </a:lnTo>
                <a:lnTo>
                  <a:pt x="3789" y="2594"/>
                </a:lnTo>
                <a:lnTo>
                  <a:pt x="3812" y="2617"/>
                </a:lnTo>
                <a:lnTo>
                  <a:pt x="3838" y="2639"/>
                </a:lnTo>
                <a:lnTo>
                  <a:pt x="3864" y="2659"/>
                </a:lnTo>
                <a:lnTo>
                  <a:pt x="3890" y="2679"/>
                </a:lnTo>
                <a:lnTo>
                  <a:pt x="3918" y="2696"/>
                </a:lnTo>
                <a:lnTo>
                  <a:pt x="3947" y="2712"/>
                </a:lnTo>
                <a:lnTo>
                  <a:pt x="3976" y="2728"/>
                </a:lnTo>
                <a:lnTo>
                  <a:pt x="4006" y="2742"/>
                </a:lnTo>
                <a:lnTo>
                  <a:pt x="4037" y="2753"/>
                </a:lnTo>
                <a:lnTo>
                  <a:pt x="4069" y="2765"/>
                </a:lnTo>
                <a:lnTo>
                  <a:pt x="4102" y="2774"/>
                </a:lnTo>
                <a:lnTo>
                  <a:pt x="4135" y="2781"/>
                </a:lnTo>
                <a:lnTo>
                  <a:pt x="4168" y="2786"/>
                </a:lnTo>
                <a:lnTo>
                  <a:pt x="4202" y="2792"/>
                </a:lnTo>
                <a:lnTo>
                  <a:pt x="4236" y="2794"/>
                </a:lnTo>
                <a:lnTo>
                  <a:pt x="4272" y="2795"/>
                </a:lnTo>
                <a:lnTo>
                  <a:pt x="4307" y="2794"/>
                </a:lnTo>
                <a:lnTo>
                  <a:pt x="4342" y="2792"/>
                </a:lnTo>
                <a:lnTo>
                  <a:pt x="4377" y="2786"/>
                </a:lnTo>
                <a:lnTo>
                  <a:pt x="4410" y="2781"/>
                </a:lnTo>
                <a:lnTo>
                  <a:pt x="4443" y="2774"/>
                </a:lnTo>
                <a:lnTo>
                  <a:pt x="4476" y="2765"/>
                </a:lnTo>
                <a:lnTo>
                  <a:pt x="4507" y="2753"/>
                </a:lnTo>
                <a:lnTo>
                  <a:pt x="4539" y="2742"/>
                </a:lnTo>
                <a:lnTo>
                  <a:pt x="4569" y="2728"/>
                </a:lnTo>
                <a:lnTo>
                  <a:pt x="4597" y="2712"/>
                </a:lnTo>
                <a:lnTo>
                  <a:pt x="4626" y="2696"/>
                </a:lnTo>
                <a:lnTo>
                  <a:pt x="4655" y="2679"/>
                </a:lnTo>
                <a:lnTo>
                  <a:pt x="4681" y="2659"/>
                </a:lnTo>
                <a:lnTo>
                  <a:pt x="4706" y="2639"/>
                </a:lnTo>
                <a:lnTo>
                  <a:pt x="4732" y="2617"/>
                </a:lnTo>
                <a:lnTo>
                  <a:pt x="4755" y="2594"/>
                </a:lnTo>
                <a:lnTo>
                  <a:pt x="4778" y="2571"/>
                </a:lnTo>
                <a:lnTo>
                  <a:pt x="4800" y="2546"/>
                </a:lnTo>
                <a:lnTo>
                  <a:pt x="4820" y="2520"/>
                </a:lnTo>
                <a:lnTo>
                  <a:pt x="4838" y="2494"/>
                </a:lnTo>
                <a:lnTo>
                  <a:pt x="4857" y="2465"/>
                </a:lnTo>
                <a:lnTo>
                  <a:pt x="4873" y="2437"/>
                </a:lnTo>
                <a:lnTo>
                  <a:pt x="4888" y="2408"/>
                </a:lnTo>
                <a:lnTo>
                  <a:pt x="4901" y="2378"/>
                </a:lnTo>
                <a:lnTo>
                  <a:pt x="4914" y="2346"/>
                </a:lnTo>
                <a:lnTo>
                  <a:pt x="4924" y="2315"/>
                </a:lnTo>
                <a:lnTo>
                  <a:pt x="4934" y="2282"/>
                </a:lnTo>
                <a:lnTo>
                  <a:pt x="4941" y="2249"/>
                </a:lnTo>
                <a:lnTo>
                  <a:pt x="4947" y="2216"/>
                </a:lnTo>
                <a:lnTo>
                  <a:pt x="4951" y="2182"/>
                </a:lnTo>
                <a:lnTo>
                  <a:pt x="4954" y="2147"/>
                </a:lnTo>
                <a:lnTo>
                  <a:pt x="4956" y="2111"/>
                </a:lnTo>
                <a:lnTo>
                  <a:pt x="4954" y="2077"/>
                </a:lnTo>
                <a:lnTo>
                  <a:pt x="4951" y="2041"/>
                </a:lnTo>
                <a:lnTo>
                  <a:pt x="4947" y="2007"/>
                </a:lnTo>
                <a:lnTo>
                  <a:pt x="4941" y="1974"/>
                </a:lnTo>
                <a:lnTo>
                  <a:pt x="4934" y="1941"/>
                </a:lnTo>
                <a:lnTo>
                  <a:pt x="4924" y="1908"/>
                </a:lnTo>
                <a:lnTo>
                  <a:pt x="4914" y="1876"/>
                </a:lnTo>
                <a:lnTo>
                  <a:pt x="4901" y="1845"/>
                </a:lnTo>
                <a:lnTo>
                  <a:pt x="4888" y="1815"/>
                </a:lnTo>
                <a:lnTo>
                  <a:pt x="4873" y="1786"/>
                </a:lnTo>
                <a:lnTo>
                  <a:pt x="4857" y="1757"/>
                </a:lnTo>
                <a:lnTo>
                  <a:pt x="4838" y="1729"/>
                </a:lnTo>
                <a:lnTo>
                  <a:pt x="4820" y="1703"/>
                </a:lnTo>
                <a:lnTo>
                  <a:pt x="4800" y="1677"/>
                </a:lnTo>
                <a:lnTo>
                  <a:pt x="4778" y="1651"/>
                </a:lnTo>
                <a:lnTo>
                  <a:pt x="4755" y="1628"/>
                </a:lnTo>
                <a:lnTo>
                  <a:pt x="4732" y="1605"/>
                </a:lnTo>
                <a:lnTo>
                  <a:pt x="4706" y="1584"/>
                </a:lnTo>
                <a:lnTo>
                  <a:pt x="4681" y="1564"/>
                </a:lnTo>
                <a:lnTo>
                  <a:pt x="4655" y="1545"/>
                </a:lnTo>
                <a:lnTo>
                  <a:pt x="4626" y="1527"/>
                </a:lnTo>
                <a:lnTo>
                  <a:pt x="4597" y="1511"/>
                </a:lnTo>
                <a:lnTo>
                  <a:pt x="4569" y="1495"/>
                </a:lnTo>
                <a:lnTo>
                  <a:pt x="4539" y="1482"/>
                </a:lnTo>
                <a:lnTo>
                  <a:pt x="4507" y="1469"/>
                </a:lnTo>
                <a:lnTo>
                  <a:pt x="4476" y="1459"/>
                </a:lnTo>
                <a:lnTo>
                  <a:pt x="4443" y="1449"/>
                </a:lnTo>
                <a:lnTo>
                  <a:pt x="4410" y="1442"/>
                </a:lnTo>
                <a:lnTo>
                  <a:pt x="4377" y="1436"/>
                </a:lnTo>
                <a:lnTo>
                  <a:pt x="4342" y="1432"/>
                </a:lnTo>
                <a:lnTo>
                  <a:pt x="4307" y="1429"/>
                </a:lnTo>
                <a:lnTo>
                  <a:pt x="4272" y="1428"/>
                </a:lnTo>
                <a:close/>
                <a:moveTo>
                  <a:pt x="4272" y="2597"/>
                </a:moveTo>
                <a:lnTo>
                  <a:pt x="4272" y="2597"/>
                </a:lnTo>
                <a:lnTo>
                  <a:pt x="4248" y="2596"/>
                </a:lnTo>
                <a:lnTo>
                  <a:pt x="4222" y="2594"/>
                </a:lnTo>
                <a:lnTo>
                  <a:pt x="4198" y="2591"/>
                </a:lnTo>
                <a:lnTo>
                  <a:pt x="4175" y="2587"/>
                </a:lnTo>
                <a:lnTo>
                  <a:pt x="4150" y="2581"/>
                </a:lnTo>
                <a:lnTo>
                  <a:pt x="4127" y="2576"/>
                </a:lnTo>
                <a:lnTo>
                  <a:pt x="4104" y="2567"/>
                </a:lnTo>
                <a:lnTo>
                  <a:pt x="4083" y="2559"/>
                </a:lnTo>
                <a:lnTo>
                  <a:pt x="4062" y="2548"/>
                </a:lnTo>
                <a:lnTo>
                  <a:pt x="4040" y="2538"/>
                </a:lnTo>
                <a:lnTo>
                  <a:pt x="4020" y="2527"/>
                </a:lnTo>
                <a:lnTo>
                  <a:pt x="4001" y="2514"/>
                </a:lnTo>
                <a:lnTo>
                  <a:pt x="3981" y="2501"/>
                </a:lnTo>
                <a:lnTo>
                  <a:pt x="3963" y="2485"/>
                </a:lnTo>
                <a:lnTo>
                  <a:pt x="3945" y="2471"/>
                </a:lnTo>
                <a:lnTo>
                  <a:pt x="3928" y="2455"/>
                </a:lnTo>
                <a:lnTo>
                  <a:pt x="3912" y="2438"/>
                </a:lnTo>
                <a:lnTo>
                  <a:pt x="3898" y="2421"/>
                </a:lnTo>
                <a:lnTo>
                  <a:pt x="3882" y="2402"/>
                </a:lnTo>
                <a:lnTo>
                  <a:pt x="3869" y="2382"/>
                </a:lnTo>
                <a:lnTo>
                  <a:pt x="3857" y="2364"/>
                </a:lnTo>
                <a:lnTo>
                  <a:pt x="3845" y="2344"/>
                </a:lnTo>
                <a:lnTo>
                  <a:pt x="3835" y="2322"/>
                </a:lnTo>
                <a:lnTo>
                  <a:pt x="3825" y="2301"/>
                </a:lnTo>
                <a:lnTo>
                  <a:pt x="3816" y="2279"/>
                </a:lnTo>
                <a:lnTo>
                  <a:pt x="3808" y="2256"/>
                </a:lnTo>
                <a:lnTo>
                  <a:pt x="3802" y="2233"/>
                </a:lnTo>
                <a:lnTo>
                  <a:pt x="3796" y="2209"/>
                </a:lnTo>
                <a:lnTo>
                  <a:pt x="3792" y="2186"/>
                </a:lnTo>
                <a:lnTo>
                  <a:pt x="3789" y="2161"/>
                </a:lnTo>
                <a:lnTo>
                  <a:pt x="3788" y="2137"/>
                </a:lnTo>
                <a:lnTo>
                  <a:pt x="3786" y="2111"/>
                </a:lnTo>
                <a:lnTo>
                  <a:pt x="3788" y="2087"/>
                </a:lnTo>
                <a:lnTo>
                  <a:pt x="3789" y="2061"/>
                </a:lnTo>
                <a:lnTo>
                  <a:pt x="3792" y="2037"/>
                </a:lnTo>
                <a:lnTo>
                  <a:pt x="3796" y="2014"/>
                </a:lnTo>
                <a:lnTo>
                  <a:pt x="3802" y="1989"/>
                </a:lnTo>
                <a:lnTo>
                  <a:pt x="3808" y="1967"/>
                </a:lnTo>
                <a:lnTo>
                  <a:pt x="3816" y="1945"/>
                </a:lnTo>
                <a:lnTo>
                  <a:pt x="3825" y="1922"/>
                </a:lnTo>
                <a:lnTo>
                  <a:pt x="3835" y="1901"/>
                </a:lnTo>
                <a:lnTo>
                  <a:pt x="3845" y="1881"/>
                </a:lnTo>
                <a:lnTo>
                  <a:pt x="3857" y="1859"/>
                </a:lnTo>
                <a:lnTo>
                  <a:pt x="3869" y="1840"/>
                </a:lnTo>
                <a:lnTo>
                  <a:pt x="3882" y="1820"/>
                </a:lnTo>
                <a:lnTo>
                  <a:pt x="3898" y="1803"/>
                </a:lnTo>
                <a:lnTo>
                  <a:pt x="3912" y="1785"/>
                </a:lnTo>
                <a:lnTo>
                  <a:pt x="3928" y="1769"/>
                </a:lnTo>
                <a:lnTo>
                  <a:pt x="3945" y="1752"/>
                </a:lnTo>
                <a:lnTo>
                  <a:pt x="3963" y="1737"/>
                </a:lnTo>
                <a:lnTo>
                  <a:pt x="3981" y="1723"/>
                </a:lnTo>
                <a:lnTo>
                  <a:pt x="4001" y="1709"/>
                </a:lnTo>
                <a:lnTo>
                  <a:pt x="4020" y="1696"/>
                </a:lnTo>
                <a:lnTo>
                  <a:pt x="4040" y="1684"/>
                </a:lnTo>
                <a:lnTo>
                  <a:pt x="4062" y="1674"/>
                </a:lnTo>
                <a:lnTo>
                  <a:pt x="4083" y="1664"/>
                </a:lnTo>
                <a:lnTo>
                  <a:pt x="4104" y="1656"/>
                </a:lnTo>
                <a:lnTo>
                  <a:pt x="4127" y="1648"/>
                </a:lnTo>
                <a:lnTo>
                  <a:pt x="4150" y="1641"/>
                </a:lnTo>
                <a:lnTo>
                  <a:pt x="4175" y="1635"/>
                </a:lnTo>
                <a:lnTo>
                  <a:pt x="4198" y="1631"/>
                </a:lnTo>
                <a:lnTo>
                  <a:pt x="4222" y="1628"/>
                </a:lnTo>
                <a:lnTo>
                  <a:pt x="4248" y="1627"/>
                </a:lnTo>
                <a:lnTo>
                  <a:pt x="4272" y="1625"/>
                </a:lnTo>
                <a:lnTo>
                  <a:pt x="4297" y="1627"/>
                </a:lnTo>
                <a:lnTo>
                  <a:pt x="4322" y="1628"/>
                </a:lnTo>
                <a:lnTo>
                  <a:pt x="4347" y="1631"/>
                </a:lnTo>
                <a:lnTo>
                  <a:pt x="4370" y="1635"/>
                </a:lnTo>
                <a:lnTo>
                  <a:pt x="4394" y="1641"/>
                </a:lnTo>
                <a:lnTo>
                  <a:pt x="4417" y="1648"/>
                </a:lnTo>
                <a:lnTo>
                  <a:pt x="4438" y="1656"/>
                </a:lnTo>
                <a:lnTo>
                  <a:pt x="4461" y="1664"/>
                </a:lnTo>
                <a:lnTo>
                  <a:pt x="4483" y="1674"/>
                </a:lnTo>
                <a:lnTo>
                  <a:pt x="4503" y="1684"/>
                </a:lnTo>
                <a:lnTo>
                  <a:pt x="4524" y="1696"/>
                </a:lnTo>
                <a:lnTo>
                  <a:pt x="4543" y="1709"/>
                </a:lnTo>
                <a:lnTo>
                  <a:pt x="4563" y="1723"/>
                </a:lnTo>
                <a:lnTo>
                  <a:pt x="4580" y="1737"/>
                </a:lnTo>
                <a:lnTo>
                  <a:pt x="4599" y="1752"/>
                </a:lnTo>
                <a:lnTo>
                  <a:pt x="4615" y="1769"/>
                </a:lnTo>
                <a:lnTo>
                  <a:pt x="4632" y="1785"/>
                </a:lnTo>
                <a:lnTo>
                  <a:pt x="4646" y="1803"/>
                </a:lnTo>
                <a:lnTo>
                  <a:pt x="4661" y="1820"/>
                </a:lnTo>
                <a:lnTo>
                  <a:pt x="4675" y="1840"/>
                </a:lnTo>
                <a:lnTo>
                  <a:pt x="4688" y="1859"/>
                </a:lnTo>
                <a:lnTo>
                  <a:pt x="4699" y="1881"/>
                </a:lnTo>
                <a:lnTo>
                  <a:pt x="4709" y="1901"/>
                </a:lnTo>
                <a:lnTo>
                  <a:pt x="4719" y="1922"/>
                </a:lnTo>
                <a:lnTo>
                  <a:pt x="4728" y="1945"/>
                </a:lnTo>
                <a:lnTo>
                  <a:pt x="4735" y="1967"/>
                </a:lnTo>
                <a:lnTo>
                  <a:pt x="4742" y="1989"/>
                </a:lnTo>
                <a:lnTo>
                  <a:pt x="4748" y="2014"/>
                </a:lnTo>
                <a:lnTo>
                  <a:pt x="4752" y="2037"/>
                </a:lnTo>
                <a:lnTo>
                  <a:pt x="4755" y="2061"/>
                </a:lnTo>
                <a:lnTo>
                  <a:pt x="4757" y="2087"/>
                </a:lnTo>
                <a:lnTo>
                  <a:pt x="4758" y="2111"/>
                </a:lnTo>
                <a:lnTo>
                  <a:pt x="4757" y="2137"/>
                </a:lnTo>
                <a:lnTo>
                  <a:pt x="4755" y="2161"/>
                </a:lnTo>
                <a:lnTo>
                  <a:pt x="4752" y="2186"/>
                </a:lnTo>
                <a:lnTo>
                  <a:pt x="4748" y="2209"/>
                </a:lnTo>
                <a:lnTo>
                  <a:pt x="4742" y="2233"/>
                </a:lnTo>
                <a:lnTo>
                  <a:pt x="4735" y="2256"/>
                </a:lnTo>
                <a:lnTo>
                  <a:pt x="4728" y="2279"/>
                </a:lnTo>
                <a:lnTo>
                  <a:pt x="4719" y="2301"/>
                </a:lnTo>
                <a:lnTo>
                  <a:pt x="4709" y="2322"/>
                </a:lnTo>
                <a:lnTo>
                  <a:pt x="4699" y="2344"/>
                </a:lnTo>
                <a:lnTo>
                  <a:pt x="4688" y="2364"/>
                </a:lnTo>
                <a:lnTo>
                  <a:pt x="4675" y="2382"/>
                </a:lnTo>
                <a:lnTo>
                  <a:pt x="4661" y="2402"/>
                </a:lnTo>
                <a:lnTo>
                  <a:pt x="4646" y="2421"/>
                </a:lnTo>
                <a:lnTo>
                  <a:pt x="4632" y="2438"/>
                </a:lnTo>
                <a:lnTo>
                  <a:pt x="4615" y="2455"/>
                </a:lnTo>
                <a:lnTo>
                  <a:pt x="4599" y="2471"/>
                </a:lnTo>
                <a:lnTo>
                  <a:pt x="4580" y="2485"/>
                </a:lnTo>
                <a:lnTo>
                  <a:pt x="4563" y="2501"/>
                </a:lnTo>
                <a:lnTo>
                  <a:pt x="4543" y="2514"/>
                </a:lnTo>
                <a:lnTo>
                  <a:pt x="4524" y="2527"/>
                </a:lnTo>
                <a:lnTo>
                  <a:pt x="4503" y="2538"/>
                </a:lnTo>
                <a:lnTo>
                  <a:pt x="4483" y="2548"/>
                </a:lnTo>
                <a:lnTo>
                  <a:pt x="4461" y="2559"/>
                </a:lnTo>
                <a:lnTo>
                  <a:pt x="4438" y="2567"/>
                </a:lnTo>
                <a:lnTo>
                  <a:pt x="4417" y="2576"/>
                </a:lnTo>
                <a:lnTo>
                  <a:pt x="4394" y="2581"/>
                </a:lnTo>
                <a:lnTo>
                  <a:pt x="4370" y="2587"/>
                </a:lnTo>
                <a:lnTo>
                  <a:pt x="4347" y="2591"/>
                </a:lnTo>
                <a:lnTo>
                  <a:pt x="4322" y="2594"/>
                </a:lnTo>
                <a:lnTo>
                  <a:pt x="4297" y="2596"/>
                </a:lnTo>
                <a:lnTo>
                  <a:pt x="4272" y="2597"/>
                </a:lnTo>
                <a:close/>
                <a:moveTo>
                  <a:pt x="5744" y="2237"/>
                </a:moveTo>
                <a:lnTo>
                  <a:pt x="5744" y="1928"/>
                </a:lnTo>
                <a:lnTo>
                  <a:pt x="5410" y="1869"/>
                </a:lnTo>
                <a:lnTo>
                  <a:pt x="5400" y="1825"/>
                </a:lnTo>
                <a:lnTo>
                  <a:pt x="5389" y="1780"/>
                </a:lnTo>
                <a:lnTo>
                  <a:pt x="5374" y="1737"/>
                </a:lnTo>
                <a:lnTo>
                  <a:pt x="5358" y="1696"/>
                </a:lnTo>
                <a:lnTo>
                  <a:pt x="5611" y="1485"/>
                </a:lnTo>
                <a:lnTo>
                  <a:pt x="5455" y="1215"/>
                </a:lnTo>
                <a:lnTo>
                  <a:pt x="5136" y="1332"/>
                </a:lnTo>
                <a:lnTo>
                  <a:pt x="5105" y="1299"/>
                </a:lnTo>
                <a:lnTo>
                  <a:pt x="5073" y="1267"/>
                </a:lnTo>
                <a:lnTo>
                  <a:pt x="5040" y="1237"/>
                </a:lnTo>
                <a:lnTo>
                  <a:pt x="5005" y="1208"/>
                </a:lnTo>
                <a:lnTo>
                  <a:pt x="5118" y="899"/>
                </a:lnTo>
                <a:lnTo>
                  <a:pt x="4850" y="744"/>
                </a:lnTo>
                <a:lnTo>
                  <a:pt x="4630" y="1005"/>
                </a:lnTo>
                <a:lnTo>
                  <a:pt x="4587" y="990"/>
                </a:lnTo>
                <a:lnTo>
                  <a:pt x="4544" y="980"/>
                </a:lnTo>
                <a:lnTo>
                  <a:pt x="4500" y="970"/>
                </a:lnTo>
                <a:lnTo>
                  <a:pt x="4456" y="962"/>
                </a:lnTo>
                <a:lnTo>
                  <a:pt x="4398" y="639"/>
                </a:lnTo>
                <a:lnTo>
                  <a:pt x="4089" y="639"/>
                </a:lnTo>
                <a:lnTo>
                  <a:pt x="4030" y="973"/>
                </a:lnTo>
                <a:lnTo>
                  <a:pt x="3986" y="983"/>
                </a:lnTo>
                <a:lnTo>
                  <a:pt x="3941" y="995"/>
                </a:lnTo>
                <a:lnTo>
                  <a:pt x="3898" y="1009"/>
                </a:lnTo>
                <a:lnTo>
                  <a:pt x="3855" y="1025"/>
                </a:lnTo>
                <a:lnTo>
                  <a:pt x="3644" y="773"/>
                </a:lnTo>
                <a:lnTo>
                  <a:pt x="3376" y="929"/>
                </a:lnTo>
                <a:lnTo>
                  <a:pt x="3493" y="1247"/>
                </a:lnTo>
                <a:lnTo>
                  <a:pt x="3460" y="1279"/>
                </a:lnTo>
                <a:lnTo>
                  <a:pt x="3428" y="1310"/>
                </a:lnTo>
                <a:lnTo>
                  <a:pt x="3398" y="1343"/>
                </a:lnTo>
                <a:lnTo>
                  <a:pt x="3368" y="1379"/>
                </a:lnTo>
                <a:lnTo>
                  <a:pt x="3060" y="1266"/>
                </a:lnTo>
                <a:lnTo>
                  <a:pt x="2905" y="1534"/>
                </a:lnTo>
                <a:lnTo>
                  <a:pt x="3164" y="1753"/>
                </a:lnTo>
                <a:lnTo>
                  <a:pt x="3151" y="1796"/>
                </a:lnTo>
                <a:lnTo>
                  <a:pt x="3140" y="1839"/>
                </a:lnTo>
                <a:lnTo>
                  <a:pt x="3131" y="1883"/>
                </a:lnTo>
                <a:lnTo>
                  <a:pt x="3123" y="1928"/>
                </a:lnTo>
                <a:lnTo>
                  <a:pt x="2800" y="1985"/>
                </a:lnTo>
                <a:lnTo>
                  <a:pt x="2800" y="2295"/>
                </a:lnTo>
                <a:lnTo>
                  <a:pt x="3134" y="2354"/>
                </a:lnTo>
                <a:lnTo>
                  <a:pt x="3144" y="2398"/>
                </a:lnTo>
                <a:lnTo>
                  <a:pt x="3156" y="2442"/>
                </a:lnTo>
                <a:lnTo>
                  <a:pt x="3170" y="2485"/>
                </a:lnTo>
                <a:lnTo>
                  <a:pt x="3186" y="2528"/>
                </a:lnTo>
                <a:lnTo>
                  <a:pt x="2934" y="2739"/>
                </a:lnTo>
                <a:lnTo>
                  <a:pt x="3088" y="3007"/>
                </a:lnTo>
                <a:lnTo>
                  <a:pt x="3408" y="2891"/>
                </a:lnTo>
                <a:lnTo>
                  <a:pt x="3440" y="2924"/>
                </a:lnTo>
                <a:lnTo>
                  <a:pt x="3471" y="2956"/>
                </a:lnTo>
                <a:lnTo>
                  <a:pt x="3504" y="2986"/>
                </a:lnTo>
                <a:lnTo>
                  <a:pt x="3538" y="3016"/>
                </a:lnTo>
                <a:lnTo>
                  <a:pt x="3427" y="3324"/>
                </a:lnTo>
                <a:lnTo>
                  <a:pt x="3695" y="3479"/>
                </a:lnTo>
                <a:lnTo>
                  <a:pt x="3912" y="3219"/>
                </a:lnTo>
                <a:lnTo>
                  <a:pt x="3955" y="3232"/>
                </a:lnTo>
                <a:lnTo>
                  <a:pt x="4000" y="3244"/>
                </a:lnTo>
                <a:lnTo>
                  <a:pt x="4044" y="3252"/>
                </a:lnTo>
                <a:lnTo>
                  <a:pt x="4089" y="3261"/>
                </a:lnTo>
                <a:lnTo>
                  <a:pt x="4146" y="3583"/>
                </a:lnTo>
                <a:lnTo>
                  <a:pt x="4456" y="3583"/>
                </a:lnTo>
                <a:lnTo>
                  <a:pt x="4514" y="3249"/>
                </a:lnTo>
                <a:lnTo>
                  <a:pt x="4559" y="3239"/>
                </a:lnTo>
                <a:lnTo>
                  <a:pt x="4603" y="3228"/>
                </a:lnTo>
                <a:lnTo>
                  <a:pt x="4646" y="3214"/>
                </a:lnTo>
                <a:lnTo>
                  <a:pt x="4688" y="3198"/>
                </a:lnTo>
                <a:lnTo>
                  <a:pt x="4898" y="3450"/>
                </a:lnTo>
                <a:lnTo>
                  <a:pt x="5168" y="3295"/>
                </a:lnTo>
                <a:lnTo>
                  <a:pt x="5052" y="2976"/>
                </a:lnTo>
                <a:lnTo>
                  <a:pt x="5085" y="2944"/>
                </a:lnTo>
                <a:lnTo>
                  <a:pt x="5116" y="2913"/>
                </a:lnTo>
                <a:lnTo>
                  <a:pt x="5146" y="2880"/>
                </a:lnTo>
                <a:lnTo>
                  <a:pt x="5175" y="2845"/>
                </a:lnTo>
                <a:lnTo>
                  <a:pt x="5485" y="2957"/>
                </a:lnTo>
                <a:lnTo>
                  <a:pt x="5639" y="2689"/>
                </a:lnTo>
                <a:lnTo>
                  <a:pt x="5379" y="2471"/>
                </a:lnTo>
                <a:lnTo>
                  <a:pt x="5393" y="2428"/>
                </a:lnTo>
                <a:lnTo>
                  <a:pt x="5403" y="2384"/>
                </a:lnTo>
                <a:lnTo>
                  <a:pt x="5413" y="2339"/>
                </a:lnTo>
                <a:lnTo>
                  <a:pt x="5422" y="2295"/>
                </a:lnTo>
                <a:lnTo>
                  <a:pt x="5744" y="2237"/>
                </a:lnTo>
                <a:close/>
                <a:moveTo>
                  <a:pt x="4272" y="3024"/>
                </a:moveTo>
                <a:lnTo>
                  <a:pt x="4272" y="3024"/>
                </a:lnTo>
                <a:lnTo>
                  <a:pt x="4225" y="3023"/>
                </a:lnTo>
                <a:lnTo>
                  <a:pt x="4179" y="3020"/>
                </a:lnTo>
                <a:lnTo>
                  <a:pt x="4133" y="3014"/>
                </a:lnTo>
                <a:lnTo>
                  <a:pt x="4089" y="3006"/>
                </a:lnTo>
                <a:lnTo>
                  <a:pt x="4044" y="2996"/>
                </a:lnTo>
                <a:lnTo>
                  <a:pt x="4001" y="2983"/>
                </a:lnTo>
                <a:lnTo>
                  <a:pt x="3958" y="2968"/>
                </a:lnTo>
                <a:lnTo>
                  <a:pt x="3917" y="2953"/>
                </a:lnTo>
                <a:lnTo>
                  <a:pt x="3877" y="2934"/>
                </a:lnTo>
                <a:lnTo>
                  <a:pt x="3836" y="2914"/>
                </a:lnTo>
                <a:lnTo>
                  <a:pt x="3799" y="2892"/>
                </a:lnTo>
                <a:lnTo>
                  <a:pt x="3762" y="2868"/>
                </a:lnTo>
                <a:lnTo>
                  <a:pt x="3726" y="2842"/>
                </a:lnTo>
                <a:lnTo>
                  <a:pt x="3692" y="2817"/>
                </a:lnTo>
                <a:lnTo>
                  <a:pt x="3659" y="2788"/>
                </a:lnTo>
                <a:lnTo>
                  <a:pt x="3627" y="2756"/>
                </a:lnTo>
                <a:lnTo>
                  <a:pt x="3596" y="2725"/>
                </a:lnTo>
                <a:lnTo>
                  <a:pt x="3567" y="2692"/>
                </a:lnTo>
                <a:lnTo>
                  <a:pt x="3541" y="2657"/>
                </a:lnTo>
                <a:lnTo>
                  <a:pt x="3515" y="2622"/>
                </a:lnTo>
                <a:lnTo>
                  <a:pt x="3491" y="2584"/>
                </a:lnTo>
                <a:lnTo>
                  <a:pt x="3470" y="2547"/>
                </a:lnTo>
                <a:lnTo>
                  <a:pt x="3450" y="2507"/>
                </a:lnTo>
                <a:lnTo>
                  <a:pt x="3431" y="2467"/>
                </a:lnTo>
                <a:lnTo>
                  <a:pt x="3415" y="2425"/>
                </a:lnTo>
                <a:lnTo>
                  <a:pt x="3401" y="2382"/>
                </a:lnTo>
                <a:lnTo>
                  <a:pt x="3388" y="2339"/>
                </a:lnTo>
                <a:lnTo>
                  <a:pt x="3378" y="2295"/>
                </a:lnTo>
                <a:lnTo>
                  <a:pt x="3369" y="2250"/>
                </a:lnTo>
                <a:lnTo>
                  <a:pt x="3364" y="2204"/>
                </a:lnTo>
                <a:lnTo>
                  <a:pt x="3361" y="2159"/>
                </a:lnTo>
                <a:lnTo>
                  <a:pt x="3359" y="2111"/>
                </a:lnTo>
                <a:lnTo>
                  <a:pt x="3361" y="2064"/>
                </a:lnTo>
                <a:lnTo>
                  <a:pt x="3364" y="2018"/>
                </a:lnTo>
                <a:lnTo>
                  <a:pt x="3369" y="1972"/>
                </a:lnTo>
                <a:lnTo>
                  <a:pt x="3378" y="1928"/>
                </a:lnTo>
                <a:lnTo>
                  <a:pt x="3388" y="1883"/>
                </a:lnTo>
                <a:lnTo>
                  <a:pt x="3401" y="1840"/>
                </a:lnTo>
                <a:lnTo>
                  <a:pt x="3415" y="1797"/>
                </a:lnTo>
                <a:lnTo>
                  <a:pt x="3431" y="1756"/>
                </a:lnTo>
                <a:lnTo>
                  <a:pt x="3450" y="1716"/>
                </a:lnTo>
                <a:lnTo>
                  <a:pt x="3470" y="1676"/>
                </a:lnTo>
                <a:lnTo>
                  <a:pt x="3491" y="1638"/>
                </a:lnTo>
                <a:lnTo>
                  <a:pt x="3515" y="1601"/>
                </a:lnTo>
                <a:lnTo>
                  <a:pt x="3541" y="1565"/>
                </a:lnTo>
                <a:lnTo>
                  <a:pt x="3567" y="1531"/>
                </a:lnTo>
                <a:lnTo>
                  <a:pt x="3596" y="1498"/>
                </a:lnTo>
                <a:lnTo>
                  <a:pt x="3627" y="1466"/>
                </a:lnTo>
                <a:lnTo>
                  <a:pt x="3659" y="1436"/>
                </a:lnTo>
                <a:lnTo>
                  <a:pt x="3692" y="1408"/>
                </a:lnTo>
                <a:lnTo>
                  <a:pt x="3726" y="1380"/>
                </a:lnTo>
                <a:lnTo>
                  <a:pt x="3762" y="1355"/>
                </a:lnTo>
                <a:lnTo>
                  <a:pt x="3799" y="1330"/>
                </a:lnTo>
                <a:lnTo>
                  <a:pt x="3836" y="1309"/>
                </a:lnTo>
                <a:lnTo>
                  <a:pt x="3877" y="1289"/>
                </a:lnTo>
                <a:lnTo>
                  <a:pt x="3917" y="1270"/>
                </a:lnTo>
                <a:lnTo>
                  <a:pt x="3958" y="1254"/>
                </a:lnTo>
                <a:lnTo>
                  <a:pt x="4001" y="1240"/>
                </a:lnTo>
                <a:lnTo>
                  <a:pt x="4044" y="1227"/>
                </a:lnTo>
                <a:lnTo>
                  <a:pt x="4089" y="1217"/>
                </a:lnTo>
                <a:lnTo>
                  <a:pt x="4133" y="1208"/>
                </a:lnTo>
                <a:lnTo>
                  <a:pt x="4179" y="1203"/>
                </a:lnTo>
                <a:lnTo>
                  <a:pt x="4225" y="1200"/>
                </a:lnTo>
                <a:lnTo>
                  <a:pt x="4272" y="1198"/>
                </a:lnTo>
                <a:lnTo>
                  <a:pt x="4319" y="1200"/>
                </a:lnTo>
                <a:lnTo>
                  <a:pt x="4365" y="1203"/>
                </a:lnTo>
                <a:lnTo>
                  <a:pt x="4411" y="1208"/>
                </a:lnTo>
                <a:lnTo>
                  <a:pt x="4456" y="1217"/>
                </a:lnTo>
                <a:lnTo>
                  <a:pt x="4500" y="1227"/>
                </a:lnTo>
                <a:lnTo>
                  <a:pt x="4543" y="1240"/>
                </a:lnTo>
                <a:lnTo>
                  <a:pt x="4586" y="1254"/>
                </a:lnTo>
                <a:lnTo>
                  <a:pt x="4628" y="1270"/>
                </a:lnTo>
                <a:lnTo>
                  <a:pt x="4668" y="1289"/>
                </a:lnTo>
                <a:lnTo>
                  <a:pt x="4708" y="1309"/>
                </a:lnTo>
                <a:lnTo>
                  <a:pt x="4745" y="1330"/>
                </a:lnTo>
                <a:lnTo>
                  <a:pt x="4782" y="1355"/>
                </a:lnTo>
                <a:lnTo>
                  <a:pt x="4818" y="1380"/>
                </a:lnTo>
                <a:lnTo>
                  <a:pt x="4853" y="1408"/>
                </a:lnTo>
                <a:lnTo>
                  <a:pt x="4886" y="1436"/>
                </a:lnTo>
                <a:lnTo>
                  <a:pt x="4917" y="1466"/>
                </a:lnTo>
                <a:lnTo>
                  <a:pt x="4947" y="1498"/>
                </a:lnTo>
                <a:lnTo>
                  <a:pt x="4976" y="1531"/>
                </a:lnTo>
                <a:lnTo>
                  <a:pt x="5003" y="1565"/>
                </a:lnTo>
                <a:lnTo>
                  <a:pt x="5029" y="1601"/>
                </a:lnTo>
                <a:lnTo>
                  <a:pt x="5053" y="1638"/>
                </a:lnTo>
                <a:lnTo>
                  <a:pt x="5075" y="1676"/>
                </a:lnTo>
                <a:lnTo>
                  <a:pt x="5095" y="1716"/>
                </a:lnTo>
                <a:lnTo>
                  <a:pt x="5113" y="1756"/>
                </a:lnTo>
                <a:lnTo>
                  <a:pt x="5129" y="1797"/>
                </a:lnTo>
                <a:lnTo>
                  <a:pt x="5144" y="1840"/>
                </a:lnTo>
                <a:lnTo>
                  <a:pt x="5156" y="1883"/>
                </a:lnTo>
                <a:lnTo>
                  <a:pt x="5166" y="1928"/>
                </a:lnTo>
                <a:lnTo>
                  <a:pt x="5175" y="1972"/>
                </a:lnTo>
                <a:lnTo>
                  <a:pt x="5181" y="2018"/>
                </a:lnTo>
                <a:lnTo>
                  <a:pt x="5184" y="2064"/>
                </a:lnTo>
                <a:lnTo>
                  <a:pt x="5185" y="2111"/>
                </a:lnTo>
                <a:lnTo>
                  <a:pt x="5184" y="2159"/>
                </a:lnTo>
                <a:lnTo>
                  <a:pt x="5181" y="2204"/>
                </a:lnTo>
                <a:lnTo>
                  <a:pt x="5175" y="2250"/>
                </a:lnTo>
                <a:lnTo>
                  <a:pt x="5166" y="2295"/>
                </a:lnTo>
                <a:lnTo>
                  <a:pt x="5156" y="2339"/>
                </a:lnTo>
                <a:lnTo>
                  <a:pt x="5144" y="2382"/>
                </a:lnTo>
                <a:lnTo>
                  <a:pt x="5129" y="2425"/>
                </a:lnTo>
                <a:lnTo>
                  <a:pt x="5113" y="2467"/>
                </a:lnTo>
                <a:lnTo>
                  <a:pt x="5095" y="2507"/>
                </a:lnTo>
                <a:lnTo>
                  <a:pt x="5075" y="2547"/>
                </a:lnTo>
                <a:lnTo>
                  <a:pt x="5053" y="2584"/>
                </a:lnTo>
                <a:lnTo>
                  <a:pt x="5029" y="2622"/>
                </a:lnTo>
                <a:lnTo>
                  <a:pt x="5003" y="2657"/>
                </a:lnTo>
                <a:lnTo>
                  <a:pt x="4976" y="2692"/>
                </a:lnTo>
                <a:lnTo>
                  <a:pt x="4947" y="2725"/>
                </a:lnTo>
                <a:lnTo>
                  <a:pt x="4917" y="2756"/>
                </a:lnTo>
                <a:lnTo>
                  <a:pt x="4886" y="2788"/>
                </a:lnTo>
                <a:lnTo>
                  <a:pt x="4853" y="2817"/>
                </a:lnTo>
                <a:lnTo>
                  <a:pt x="4818" y="2842"/>
                </a:lnTo>
                <a:lnTo>
                  <a:pt x="4782" y="2868"/>
                </a:lnTo>
                <a:lnTo>
                  <a:pt x="4745" y="2892"/>
                </a:lnTo>
                <a:lnTo>
                  <a:pt x="4708" y="2914"/>
                </a:lnTo>
                <a:lnTo>
                  <a:pt x="4668" y="2934"/>
                </a:lnTo>
                <a:lnTo>
                  <a:pt x="4628" y="2953"/>
                </a:lnTo>
                <a:lnTo>
                  <a:pt x="4586" y="2968"/>
                </a:lnTo>
                <a:lnTo>
                  <a:pt x="4543" y="2983"/>
                </a:lnTo>
                <a:lnTo>
                  <a:pt x="4500" y="2996"/>
                </a:lnTo>
                <a:lnTo>
                  <a:pt x="4456" y="3006"/>
                </a:lnTo>
                <a:lnTo>
                  <a:pt x="4411" y="3014"/>
                </a:lnTo>
                <a:lnTo>
                  <a:pt x="4365" y="3020"/>
                </a:lnTo>
                <a:lnTo>
                  <a:pt x="4319" y="3023"/>
                </a:lnTo>
                <a:lnTo>
                  <a:pt x="4272" y="3024"/>
                </a:lnTo>
                <a:close/>
              </a:path>
            </a:pathLst>
          </a:custGeom>
          <a:solidFill>
            <a:schemeClr val="bg1"/>
          </a:solidFill>
          <a:ln w="9525">
            <a:noFill/>
            <a:round/>
            <a:headEnd/>
            <a:tailEnd/>
          </a:ln>
        </p:spPr>
        <p:txBody>
          <a:bodyPr/>
          <a:lstStyle/>
          <a:p>
            <a:endParaRPr lang="en-GB" dirty="0"/>
          </a:p>
        </p:txBody>
      </p:sp>
      <p:grpSp>
        <p:nvGrpSpPr>
          <p:cNvPr id="3" name="Group 2">
            <a:extLst>
              <a:ext uri="{FF2B5EF4-FFF2-40B4-BE49-F238E27FC236}">
                <a16:creationId xmlns:a16="http://schemas.microsoft.com/office/drawing/2014/main" id="{3A82829C-5B03-47BE-A87F-99B9AF6197B9}"/>
              </a:ext>
            </a:extLst>
          </p:cNvPr>
          <p:cNvGrpSpPr/>
          <p:nvPr/>
        </p:nvGrpSpPr>
        <p:grpSpPr>
          <a:xfrm>
            <a:off x="7467419" y="1367303"/>
            <a:ext cx="3382891" cy="1652947"/>
            <a:chOff x="2333382" y="1616330"/>
            <a:chExt cx="4926849" cy="1267147"/>
          </a:xfrm>
        </p:grpSpPr>
        <p:sp>
          <p:nvSpPr>
            <p:cNvPr id="53" name="Rectangle 52">
              <a:extLst>
                <a:ext uri="{FF2B5EF4-FFF2-40B4-BE49-F238E27FC236}">
                  <a16:creationId xmlns:a16="http://schemas.microsoft.com/office/drawing/2014/main" id="{2114BA31-06E8-4195-9937-3E3D373F0C60}"/>
                </a:ext>
              </a:extLst>
            </p:cNvPr>
            <p:cNvSpPr/>
            <p:nvPr/>
          </p:nvSpPr>
          <p:spPr>
            <a:xfrm>
              <a:off x="4133229" y="1616330"/>
              <a:ext cx="725895" cy="235942"/>
            </a:xfrm>
            <a:prstGeom prst="rect">
              <a:avLst/>
            </a:prstGeom>
          </p:spPr>
          <p:txBody>
            <a:bodyPr wrap="none">
              <a:spAutoFit/>
            </a:bodyPr>
            <a:lstStyle/>
            <a:p>
              <a:pPr algn="ctr"/>
              <a:r>
                <a:rPr lang="en-US" sz="1400" b="1" dirty="0">
                  <a:solidFill>
                    <a:schemeClr val="tx2"/>
                  </a:solidFill>
                </a:rPr>
                <a:t>ITD </a:t>
              </a:r>
            </a:p>
          </p:txBody>
        </p:sp>
        <p:sp>
          <p:nvSpPr>
            <p:cNvPr id="54" name="Rectangle 53">
              <a:extLst>
                <a:ext uri="{FF2B5EF4-FFF2-40B4-BE49-F238E27FC236}">
                  <a16:creationId xmlns:a16="http://schemas.microsoft.com/office/drawing/2014/main" id="{BE0547B0-C9C0-4ABF-B537-88D256644EB3}"/>
                </a:ext>
              </a:extLst>
            </p:cNvPr>
            <p:cNvSpPr/>
            <p:nvPr/>
          </p:nvSpPr>
          <p:spPr>
            <a:xfrm>
              <a:off x="4859125" y="1617615"/>
              <a:ext cx="1836689" cy="235941"/>
            </a:xfrm>
            <a:prstGeom prst="rect">
              <a:avLst/>
            </a:prstGeom>
          </p:spPr>
          <p:txBody>
            <a:bodyPr wrap="none">
              <a:spAutoFit/>
            </a:bodyPr>
            <a:lstStyle/>
            <a:p>
              <a:pPr algn="ctr"/>
              <a:r>
                <a:rPr lang="en-US" sz="1400" b="1" dirty="0">
                  <a:solidFill>
                    <a:schemeClr val="tx2"/>
                  </a:solidFill>
                  <a:latin typeface="Calibri" panose="020F0502020204030204" pitchFamily="34" charset="0"/>
                  <a:cs typeface="Calibri" panose="020F0502020204030204" pitchFamily="34" charset="0"/>
                </a:rPr>
                <a:t>Comparable IT</a:t>
              </a:r>
            </a:p>
          </p:txBody>
        </p:sp>
        <p:sp>
          <p:nvSpPr>
            <p:cNvPr id="55" name="Rectangle 54">
              <a:extLst>
                <a:ext uri="{FF2B5EF4-FFF2-40B4-BE49-F238E27FC236}">
                  <a16:creationId xmlns:a16="http://schemas.microsoft.com/office/drawing/2014/main" id="{EA4D336F-76C7-4F65-863D-20A422C6FCE7}"/>
                </a:ext>
              </a:extLst>
            </p:cNvPr>
            <p:cNvSpPr/>
            <p:nvPr/>
          </p:nvSpPr>
          <p:spPr>
            <a:xfrm>
              <a:off x="4113059" y="2009311"/>
              <a:ext cx="1002635" cy="330008"/>
            </a:xfrm>
            <a:prstGeom prst="rect">
              <a:avLst/>
            </a:prstGeom>
          </p:spPr>
          <p:txBody>
            <a:bodyPr wrap="none" lIns="0" tIns="0" rIns="0" bIns="0" anchor="ctr">
              <a:noAutofit/>
            </a:bodyPr>
            <a:lstStyle/>
            <a:p>
              <a:pPr marL="80550" lvl="1">
                <a:lnSpc>
                  <a:spcPts val="1600"/>
                </a:lnSpc>
                <a:buClr>
                  <a:srgbClr val="FFE600"/>
                </a:buClr>
                <a:buSzPct val="70000"/>
              </a:pPr>
              <a:r>
                <a:rPr lang="en-US" sz="1600" b="1" dirty="0">
                  <a:latin typeface="Calibri" panose="020F0502020204030204" pitchFamily="34" charset="0"/>
                  <a:cs typeface="Calibri" panose="020F0502020204030204" pitchFamily="34" charset="0"/>
                </a:rPr>
                <a:t>X%</a:t>
              </a:r>
              <a:endParaRPr lang="en-US" sz="1600" dirty="0">
                <a:latin typeface="Calibri" panose="020F0502020204030204" pitchFamily="34" charset="0"/>
                <a:cs typeface="Calibri" panose="020F0502020204030204" pitchFamily="34" charset="0"/>
              </a:endParaRPr>
            </a:p>
          </p:txBody>
        </p:sp>
        <p:sp>
          <p:nvSpPr>
            <p:cNvPr id="56" name="Rectangle 55">
              <a:extLst>
                <a:ext uri="{FF2B5EF4-FFF2-40B4-BE49-F238E27FC236}">
                  <a16:creationId xmlns:a16="http://schemas.microsoft.com/office/drawing/2014/main" id="{5F019D27-E797-4C54-9634-3BCA1FC7E036}"/>
                </a:ext>
              </a:extLst>
            </p:cNvPr>
            <p:cNvSpPr/>
            <p:nvPr/>
          </p:nvSpPr>
          <p:spPr>
            <a:xfrm>
              <a:off x="2333382" y="1902462"/>
              <a:ext cx="1631222" cy="459102"/>
            </a:xfrm>
            <a:prstGeom prst="rect">
              <a:avLst/>
            </a:prstGeom>
            <a:solidFill>
              <a:srgbClr val="999999"/>
            </a:solidFill>
          </p:spPr>
          <p:txBody>
            <a:bodyPr wrap="square" anchor="ctr">
              <a:noAutofit/>
            </a:bodyPr>
            <a:lstStyle/>
            <a:p>
              <a:pPr marL="6350" marR="0" lvl="1" indent="0" algn="ctr" defTabSz="914400" eaLnBrk="1" fontAlgn="auto" latinLnBrk="0" hangingPunct="1">
                <a:lnSpc>
                  <a:spcPct val="100000"/>
                </a:lnSpc>
                <a:spcBef>
                  <a:spcPts val="0"/>
                </a:spcBef>
                <a:spcAft>
                  <a:spcPts val="0"/>
                </a:spcAft>
                <a:buClr>
                  <a:srgbClr val="FFE600"/>
                </a:buClr>
                <a:buSzPct val="70000"/>
                <a:buFontTx/>
                <a:buNone/>
                <a:tabLst/>
                <a:defRPr/>
              </a:pPr>
              <a:r>
                <a:rPr kumimoji="0" lang="en-US"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IT Spending as a % of revenue</a:t>
              </a:r>
            </a:p>
          </p:txBody>
        </p:sp>
        <p:sp>
          <p:nvSpPr>
            <p:cNvPr id="57" name="Rectangle 56">
              <a:extLst>
                <a:ext uri="{FF2B5EF4-FFF2-40B4-BE49-F238E27FC236}">
                  <a16:creationId xmlns:a16="http://schemas.microsoft.com/office/drawing/2014/main" id="{9D78298E-2C40-4FE3-94DF-8BC2E9FEB452}"/>
                </a:ext>
              </a:extLst>
            </p:cNvPr>
            <p:cNvSpPr/>
            <p:nvPr/>
          </p:nvSpPr>
          <p:spPr>
            <a:xfrm>
              <a:off x="5081436" y="2020097"/>
              <a:ext cx="1141636" cy="325675"/>
            </a:xfrm>
            <a:prstGeom prst="rect">
              <a:avLst/>
            </a:prstGeom>
          </p:spPr>
          <p:txBody>
            <a:bodyPr wrap="none" lIns="0" tIns="0" rIns="0" bIns="0" anchor="ctr">
              <a:noAutofit/>
            </a:bodyPr>
            <a:lstStyle/>
            <a:p>
              <a:pPr marL="80550" lvl="1" algn="ctr">
                <a:lnSpc>
                  <a:spcPts val="1600"/>
                </a:lnSpc>
                <a:buClr>
                  <a:srgbClr val="FFE600"/>
                </a:buClr>
                <a:buSzPct val="70000"/>
              </a:pPr>
              <a:r>
                <a:rPr lang="en-US" sz="1600" b="1" dirty="0">
                  <a:solidFill>
                    <a:srgbClr val="00B050"/>
                  </a:solidFill>
                  <a:latin typeface="Calibri" panose="020F0502020204030204" pitchFamily="34" charset="0"/>
                  <a:cs typeface="Calibri" panose="020F0502020204030204" pitchFamily="34" charset="0"/>
                </a:rPr>
                <a:t>X %</a:t>
              </a:r>
              <a:endParaRPr lang="en-US" sz="1600" dirty="0">
                <a:solidFill>
                  <a:srgbClr val="00B050"/>
                </a:solidFill>
                <a:latin typeface="Calibri" panose="020F0502020204030204" pitchFamily="34" charset="0"/>
                <a:cs typeface="Calibri" panose="020F0502020204030204" pitchFamily="34" charset="0"/>
              </a:endParaRPr>
            </a:p>
          </p:txBody>
        </p:sp>
        <p:sp>
          <p:nvSpPr>
            <p:cNvPr id="77" name="Rectangle 76">
              <a:extLst>
                <a:ext uri="{FF2B5EF4-FFF2-40B4-BE49-F238E27FC236}">
                  <a16:creationId xmlns:a16="http://schemas.microsoft.com/office/drawing/2014/main" id="{49F425C3-310E-4379-A070-8C62D4D3FD38}"/>
                </a:ext>
              </a:extLst>
            </p:cNvPr>
            <p:cNvSpPr/>
            <p:nvPr/>
          </p:nvSpPr>
          <p:spPr>
            <a:xfrm>
              <a:off x="6118595" y="2040993"/>
              <a:ext cx="1141636" cy="325675"/>
            </a:xfrm>
            <a:prstGeom prst="rect">
              <a:avLst/>
            </a:prstGeom>
          </p:spPr>
          <p:txBody>
            <a:bodyPr wrap="none" lIns="0" tIns="0" rIns="0" bIns="0" anchor="ctr">
              <a:noAutofit/>
            </a:bodyPr>
            <a:lstStyle/>
            <a:p>
              <a:pPr marL="80550" lvl="1" algn="ctr">
                <a:lnSpc>
                  <a:spcPts val="1600"/>
                </a:lnSpc>
                <a:buClr>
                  <a:srgbClr val="FFE600"/>
                </a:buClr>
                <a:buSzPct val="70000"/>
              </a:pPr>
              <a:r>
                <a:rPr lang="en-US" sz="1600" b="1" dirty="0">
                  <a:solidFill>
                    <a:srgbClr val="FF0000"/>
                  </a:solidFill>
                  <a:latin typeface="Calibri" panose="020F0502020204030204" pitchFamily="34" charset="0"/>
                  <a:cs typeface="Calibri" panose="020F0502020204030204" pitchFamily="34" charset="0"/>
                </a:rPr>
                <a:t>X %</a:t>
              </a:r>
              <a:endParaRPr lang="en-US" sz="1600" dirty="0">
                <a:solidFill>
                  <a:srgbClr val="FF0000"/>
                </a:solidFill>
                <a:latin typeface="Calibri" panose="020F0502020204030204" pitchFamily="34" charset="0"/>
                <a:cs typeface="Calibri" panose="020F0502020204030204" pitchFamily="34" charset="0"/>
              </a:endParaRPr>
            </a:p>
          </p:txBody>
        </p:sp>
        <p:sp>
          <p:nvSpPr>
            <p:cNvPr id="78" name="Rectangle 77">
              <a:extLst>
                <a:ext uri="{FF2B5EF4-FFF2-40B4-BE49-F238E27FC236}">
                  <a16:creationId xmlns:a16="http://schemas.microsoft.com/office/drawing/2014/main" id="{DFD41FFE-847F-4284-9BB8-A9A09ED2D465}"/>
                </a:ext>
              </a:extLst>
            </p:cNvPr>
            <p:cNvSpPr/>
            <p:nvPr/>
          </p:nvSpPr>
          <p:spPr>
            <a:xfrm>
              <a:off x="4113058" y="2478152"/>
              <a:ext cx="807856" cy="341370"/>
            </a:xfrm>
            <a:prstGeom prst="rect">
              <a:avLst/>
            </a:prstGeom>
          </p:spPr>
          <p:txBody>
            <a:bodyPr wrap="none" lIns="0" tIns="0" rIns="0" bIns="0" anchor="ctr">
              <a:noAutofit/>
            </a:bodyPr>
            <a:lstStyle/>
            <a:p>
              <a:pPr marL="80550" lvl="1">
                <a:lnSpc>
                  <a:spcPts val="1600"/>
                </a:lnSpc>
                <a:buClr>
                  <a:srgbClr val="FFE600"/>
                </a:buClr>
                <a:buSzPct val="70000"/>
              </a:pPr>
              <a:r>
                <a:rPr lang="en-US" sz="1600" b="1" dirty="0">
                  <a:latin typeface="Calibri" panose="020F0502020204030204" pitchFamily="34" charset="0"/>
                  <a:cs typeface="Calibri" panose="020F0502020204030204" pitchFamily="34" charset="0"/>
                </a:rPr>
                <a:t>X%</a:t>
              </a:r>
              <a:endParaRPr lang="en-US" sz="1600" dirty="0">
                <a:latin typeface="Calibri" panose="020F0502020204030204" pitchFamily="34" charset="0"/>
                <a:cs typeface="Calibri" panose="020F0502020204030204" pitchFamily="34" charset="0"/>
              </a:endParaRPr>
            </a:p>
          </p:txBody>
        </p:sp>
        <p:sp>
          <p:nvSpPr>
            <p:cNvPr id="79" name="Rectangle 78">
              <a:extLst>
                <a:ext uri="{FF2B5EF4-FFF2-40B4-BE49-F238E27FC236}">
                  <a16:creationId xmlns:a16="http://schemas.microsoft.com/office/drawing/2014/main" id="{F6AD47A6-2D8C-4690-B983-1C444EADDC1F}"/>
                </a:ext>
              </a:extLst>
            </p:cNvPr>
            <p:cNvSpPr/>
            <p:nvPr/>
          </p:nvSpPr>
          <p:spPr>
            <a:xfrm>
              <a:off x="2339884" y="2436185"/>
              <a:ext cx="1645108" cy="447292"/>
            </a:xfrm>
            <a:prstGeom prst="rect">
              <a:avLst/>
            </a:prstGeom>
            <a:solidFill>
              <a:srgbClr val="999999"/>
            </a:solidFill>
          </p:spPr>
          <p:txBody>
            <a:bodyPr wrap="square" anchor="ctr">
              <a:noAutofit/>
            </a:bodyPr>
            <a:lstStyle/>
            <a:p>
              <a:pPr marL="6350" lvl="1" algn="ctr">
                <a:buClr>
                  <a:srgbClr val="FFE600"/>
                </a:buClr>
                <a:buSzPct val="70000"/>
                <a:defRPr/>
              </a:pPr>
              <a:r>
                <a:rPr kumimoji="0" lang="en-US" sz="11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IT </a:t>
              </a:r>
              <a:r>
                <a:rPr lang="en-US" sz="1100" kern="0" dirty="0">
                  <a:solidFill>
                    <a:srgbClr val="FFFFFF"/>
                  </a:solidFill>
                  <a:latin typeface="Calibri" panose="020F0502020204030204" pitchFamily="34" charset="0"/>
                  <a:cs typeface="Calibri" panose="020F0502020204030204" pitchFamily="34" charset="0"/>
                </a:rPr>
                <a:t>Staff as a % of Total Employees </a:t>
              </a:r>
              <a:endParaRPr kumimoji="0" lang="en-US" sz="11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80" name="Rectangle 79">
              <a:extLst>
                <a:ext uri="{FF2B5EF4-FFF2-40B4-BE49-F238E27FC236}">
                  <a16:creationId xmlns:a16="http://schemas.microsoft.com/office/drawing/2014/main" id="{505B3142-7775-48BE-B01F-6A6F46578615}"/>
                </a:ext>
              </a:extLst>
            </p:cNvPr>
            <p:cNvSpPr/>
            <p:nvPr/>
          </p:nvSpPr>
          <p:spPr>
            <a:xfrm>
              <a:off x="5081436" y="2480422"/>
              <a:ext cx="1141636" cy="325675"/>
            </a:xfrm>
            <a:prstGeom prst="rect">
              <a:avLst/>
            </a:prstGeom>
          </p:spPr>
          <p:txBody>
            <a:bodyPr wrap="none" lIns="0" tIns="0" rIns="0" bIns="0" anchor="ctr">
              <a:noAutofit/>
            </a:bodyPr>
            <a:lstStyle/>
            <a:p>
              <a:pPr marL="80550" lvl="1" algn="ctr">
                <a:lnSpc>
                  <a:spcPts val="1600"/>
                </a:lnSpc>
                <a:buClr>
                  <a:srgbClr val="FFE600"/>
                </a:buClr>
                <a:buSzPct val="70000"/>
              </a:pPr>
              <a:r>
                <a:rPr lang="en-US" sz="1600" b="1" dirty="0">
                  <a:solidFill>
                    <a:srgbClr val="00B050"/>
                  </a:solidFill>
                  <a:latin typeface="Calibri" panose="020F0502020204030204" pitchFamily="34" charset="0"/>
                  <a:cs typeface="Calibri" panose="020F0502020204030204" pitchFamily="34" charset="0"/>
                </a:rPr>
                <a:t>X %</a:t>
              </a:r>
              <a:endParaRPr lang="en-US" sz="1600" dirty="0">
                <a:solidFill>
                  <a:srgbClr val="00B050"/>
                </a:solidFill>
                <a:latin typeface="Calibri" panose="020F0502020204030204" pitchFamily="34" charset="0"/>
                <a:cs typeface="Calibri" panose="020F0502020204030204" pitchFamily="34" charset="0"/>
              </a:endParaRPr>
            </a:p>
          </p:txBody>
        </p:sp>
        <p:sp>
          <p:nvSpPr>
            <p:cNvPr id="81" name="Rectangle 80">
              <a:extLst>
                <a:ext uri="{FF2B5EF4-FFF2-40B4-BE49-F238E27FC236}">
                  <a16:creationId xmlns:a16="http://schemas.microsoft.com/office/drawing/2014/main" id="{CF69972F-68DD-486E-B496-151178EE1FAF}"/>
                </a:ext>
              </a:extLst>
            </p:cNvPr>
            <p:cNvSpPr/>
            <p:nvPr/>
          </p:nvSpPr>
          <p:spPr>
            <a:xfrm>
              <a:off x="6118595" y="2474377"/>
              <a:ext cx="1141636" cy="325675"/>
            </a:xfrm>
            <a:prstGeom prst="rect">
              <a:avLst/>
            </a:prstGeom>
          </p:spPr>
          <p:txBody>
            <a:bodyPr wrap="none" lIns="0" tIns="0" rIns="0" bIns="0" anchor="ctr">
              <a:noAutofit/>
            </a:bodyPr>
            <a:lstStyle/>
            <a:p>
              <a:pPr marL="80550" lvl="1" algn="ctr">
                <a:lnSpc>
                  <a:spcPts val="1600"/>
                </a:lnSpc>
                <a:buClr>
                  <a:srgbClr val="FFE600"/>
                </a:buClr>
                <a:buSzPct val="70000"/>
              </a:pPr>
              <a:r>
                <a:rPr lang="en-US" sz="1600" b="1" dirty="0">
                  <a:solidFill>
                    <a:srgbClr val="FF0000"/>
                  </a:solidFill>
                  <a:latin typeface="Calibri" panose="020F0502020204030204" pitchFamily="34" charset="0"/>
                  <a:cs typeface="Calibri" panose="020F0502020204030204" pitchFamily="34" charset="0"/>
                </a:rPr>
                <a:t>X %</a:t>
              </a:r>
              <a:endParaRPr lang="en-US" sz="1600" dirty="0">
                <a:solidFill>
                  <a:srgbClr val="FF0000"/>
                </a:solidFill>
                <a:latin typeface="Calibri" panose="020F0502020204030204" pitchFamily="34" charset="0"/>
                <a:cs typeface="Calibri" panose="020F0502020204030204" pitchFamily="34" charset="0"/>
              </a:endParaRPr>
            </a:p>
          </p:txBody>
        </p:sp>
      </p:grpSp>
      <p:sp>
        <p:nvSpPr>
          <p:cNvPr id="4" name="Rectangle 3">
            <a:extLst>
              <a:ext uri="{FF2B5EF4-FFF2-40B4-BE49-F238E27FC236}">
                <a16:creationId xmlns:a16="http://schemas.microsoft.com/office/drawing/2014/main" id="{0C8D7AB5-C22E-4B49-9F2F-F9929F124F47}"/>
              </a:ext>
            </a:extLst>
          </p:cNvPr>
          <p:cNvSpPr/>
          <p:nvPr/>
        </p:nvSpPr>
        <p:spPr>
          <a:xfrm>
            <a:off x="498600" y="929173"/>
            <a:ext cx="2232406" cy="369332"/>
          </a:xfrm>
          <a:prstGeom prst="rect">
            <a:avLst/>
          </a:prstGeom>
        </p:spPr>
        <p:txBody>
          <a:bodyPr wrap="none">
            <a:spAutoFit/>
          </a:bodyPr>
          <a:lstStyle/>
          <a:p>
            <a:r>
              <a:rPr lang="en-US" dirty="0">
                <a:solidFill>
                  <a:schemeClr val="bg1">
                    <a:lumMod val="50000"/>
                  </a:schemeClr>
                </a:solidFill>
              </a:rPr>
              <a:t>ITD’s As is Situation</a:t>
            </a:r>
          </a:p>
        </p:txBody>
      </p:sp>
      <p:sp>
        <p:nvSpPr>
          <p:cNvPr id="82" name="Rectangle 81">
            <a:extLst>
              <a:ext uri="{FF2B5EF4-FFF2-40B4-BE49-F238E27FC236}">
                <a16:creationId xmlns:a16="http://schemas.microsoft.com/office/drawing/2014/main" id="{2C75E89F-F887-4C49-BF72-DC344E49EA9B}"/>
              </a:ext>
            </a:extLst>
          </p:cNvPr>
          <p:cNvSpPr/>
          <p:nvPr/>
        </p:nvSpPr>
        <p:spPr>
          <a:xfrm>
            <a:off x="2212006" y="1564585"/>
            <a:ext cx="1752481" cy="249356"/>
          </a:xfrm>
          <a:prstGeom prst="rect">
            <a:avLst/>
          </a:prstGeom>
          <a:solidFill>
            <a:srgbClr val="999999"/>
          </a:solidFill>
        </p:spPr>
        <p:txBody>
          <a:bodyPr wrap="square" anchor="ctr">
            <a:noAutofit/>
          </a:bodyPr>
          <a:lstStyle/>
          <a:p>
            <a:pPr marL="6350" marR="0" lvl="1" indent="0" algn="ctr" defTabSz="914400" eaLnBrk="1" fontAlgn="auto" latinLnBrk="0" hangingPunct="1">
              <a:lnSpc>
                <a:spcPct val="100000"/>
              </a:lnSpc>
              <a:spcBef>
                <a:spcPts val="0"/>
              </a:spcBef>
              <a:spcAft>
                <a:spcPts val="0"/>
              </a:spcAft>
              <a:buClr>
                <a:srgbClr val="FFE600"/>
              </a:buClr>
              <a:buSzPct val="70000"/>
              <a:buFontTx/>
              <a:buNone/>
              <a:tabLst/>
              <a:defRPr/>
            </a:pPr>
            <a:r>
              <a:rPr lang="en-US" sz="1000" kern="0" dirty="0">
                <a:solidFill>
                  <a:srgbClr val="FFFFFF"/>
                </a:solidFill>
                <a:latin typeface="EYInterstate"/>
              </a:rPr>
              <a:t>Client Employees</a:t>
            </a:r>
            <a:endParaRPr kumimoji="0" lang="en-US" sz="1000" b="0" i="0" u="none" strike="noStrike" kern="0" cap="none" spc="0" normalizeH="0" baseline="0" noProof="0" dirty="0">
              <a:ln>
                <a:noFill/>
              </a:ln>
              <a:solidFill>
                <a:srgbClr val="FFFFFF"/>
              </a:solidFill>
              <a:effectLst/>
              <a:uLnTx/>
              <a:uFillTx/>
              <a:latin typeface="EYInterstate"/>
            </a:endParaRPr>
          </a:p>
        </p:txBody>
      </p:sp>
      <p:sp>
        <p:nvSpPr>
          <p:cNvPr id="84" name="Rectangle 83">
            <a:extLst>
              <a:ext uri="{FF2B5EF4-FFF2-40B4-BE49-F238E27FC236}">
                <a16:creationId xmlns:a16="http://schemas.microsoft.com/office/drawing/2014/main" id="{579DBA85-7DA9-432D-BD4F-FED6588E74B5}"/>
              </a:ext>
            </a:extLst>
          </p:cNvPr>
          <p:cNvSpPr/>
          <p:nvPr/>
        </p:nvSpPr>
        <p:spPr>
          <a:xfrm>
            <a:off x="3535989" y="1530809"/>
            <a:ext cx="2022426" cy="305240"/>
          </a:xfrm>
          <a:prstGeom prst="rect">
            <a:avLst/>
          </a:prstGeom>
        </p:spPr>
        <p:txBody>
          <a:bodyPr wrap="none" lIns="0" tIns="0" rIns="0" bIns="0" anchor="ctr">
            <a:noAutofit/>
          </a:bodyPr>
          <a:lstStyle/>
          <a:p>
            <a:pPr marL="80550" lvl="1" algn="ctr">
              <a:lnSpc>
                <a:spcPts val="1600"/>
              </a:lnSpc>
              <a:buClr>
                <a:srgbClr val="FFE600"/>
              </a:buClr>
              <a:buSzPct val="70000"/>
            </a:pPr>
            <a:r>
              <a:rPr lang="en-US" sz="1200" b="1" dirty="0">
                <a:latin typeface="EYInterstate"/>
              </a:rPr>
              <a:t>XXXXX</a:t>
            </a:r>
            <a:endParaRPr lang="en-US" sz="1100" dirty="0">
              <a:latin typeface="EYInterstate"/>
            </a:endParaRPr>
          </a:p>
        </p:txBody>
      </p:sp>
      <p:sp>
        <p:nvSpPr>
          <p:cNvPr id="86" name="Rectangle 85">
            <a:extLst>
              <a:ext uri="{FF2B5EF4-FFF2-40B4-BE49-F238E27FC236}">
                <a16:creationId xmlns:a16="http://schemas.microsoft.com/office/drawing/2014/main" id="{3339C835-711A-4B9B-9603-BB42CF32BB30}"/>
              </a:ext>
            </a:extLst>
          </p:cNvPr>
          <p:cNvSpPr/>
          <p:nvPr/>
        </p:nvSpPr>
        <p:spPr>
          <a:xfrm>
            <a:off x="2212006" y="1884172"/>
            <a:ext cx="1753588" cy="249356"/>
          </a:xfrm>
          <a:prstGeom prst="rect">
            <a:avLst/>
          </a:prstGeom>
          <a:solidFill>
            <a:srgbClr val="999999"/>
          </a:solidFill>
        </p:spPr>
        <p:txBody>
          <a:bodyPr wrap="square" anchor="ctr">
            <a:noAutofit/>
          </a:bodyPr>
          <a:lstStyle/>
          <a:p>
            <a:pPr marL="6350" marR="0" lvl="1" indent="0" algn="ctr" defTabSz="914400" eaLnBrk="1" fontAlgn="auto" latinLnBrk="0" hangingPunct="1">
              <a:lnSpc>
                <a:spcPct val="100000"/>
              </a:lnSpc>
              <a:spcBef>
                <a:spcPts val="0"/>
              </a:spcBef>
              <a:spcAft>
                <a:spcPts val="0"/>
              </a:spcAft>
              <a:buClr>
                <a:srgbClr val="FFE600"/>
              </a:buClr>
              <a:buSzPct val="70000"/>
              <a:buFontTx/>
              <a:buNone/>
              <a:tabLst/>
              <a:defRPr/>
            </a:pPr>
            <a:r>
              <a:rPr kumimoji="0" lang="en-US" sz="1000" b="0" i="0" u="none" strike="noStrike" kern="0" cap="none" spc="0" normalizeH="0" baseline="0" noProof="0" dirty="0">
                <a:ln>
                  <a:noFill/>
                </a:ln>
                <a:solidFill>
                  <a:srgbClr val="FFFFFF"/>
                </a:solidFill>
                <a:effectLst/>
                <a:uLnTx/>
                <a:uFillTx/>
                <a:latin typeface="EYInterstate"/>
              </a:rPr>
              <a:t>IT Staff</a:t>
            </a:r>
          </a:p>
        </p:txBody>
      </p:sp>
      <p:sp>
        <p:nvSpPr>
          <p:cNvPr id="87" name="Rectangle 86">
            <a:extLst>
              <a:ext uri="{FF2B5EF4-FFF2-40B4-BE49-F238E27FC236}">
                <a16:creationId xmlns:a16="http://schemas.microsoft.com/office/drawing/2014/main" id="{075A2D62-65B4-4508-B604-D1CA4C0AAA4E}"/>
              </a:ext>
            </a:extLst>
          </p:cNvPr>
          <p:cNvSpPr/>
          <p:nvPr/>
        </p:nvSpPr>
        <p:spPr>
          <a:xfrm>
            <a:off x="3535989" y="1869445"/>
            <a:ext cx="1989768" cy="305240"/>
          </a:xfrm>
          <a:prstGeom prst="rect">
            <a:avLst/>
          </a:prstGeom>
        </p:spPr>
        <p:txBody>
          <a:bodyPr wrap="none" lIns="0" tIns="0" rIns="0" bIns="0" anchor="ctr">
            <a:noAutofit/>
          </a:bodyPr>
          <a:lstStyle/>
          <a:p>
            <a:pPr marL="80550" lvl="1" algn="ctr">
              <a:lnSpc>
                <a:spcPts val="1600"/>
              </a:lnSpc>
              <a:buClr>
                <a:srgbClr val="FFE600"/>
              </a:buClr>
              <a:buSzPct val="70000"/>
            </a:pPr>
            <a:r>
              <a:rPr lang="en-US" sz="1200" b="1" dirty="0">
                <a:latin typeface="EYInterstate"/>
              </a:rPr>
              <a:t>XX</a:t>
            </a:r>
            <a:endParaRPr lang="en-US" sz="1100" dirty="0">
              <a:solidFill>
                <a:schemeClr val="tx2"/>
              </a:solidFill>
              <a:latin typeface="EYInterstate"/>
            </a:endParaRPr>
          </a:p>
        </p:txBody>
      </p:sp>
      <p:sp>
        <p:nvSpPr>
          <p:cNvPr id="88" name="Rectangle 87">
            <a:extLst>
              <a:ext uri="{FF2B5EF4-FFF2-40B4-BE49-F238E27FC236}">
                <a16:creationId xmlns:a16="http://schemas.microsoft.com/office/drawing/2014/main" id="{E9DA4A5D-64DC-4858-81D4-3425D90CC52E}"/>
              </a:ext>
            </a:extLst>
          </p:cNvPr>
          <p:cNvSpPr/>
          <p:nvPr/>
        </p:nvSpPr>
        <p:spPr>
          <a:xfrm>
            <a:off x="2212006" y="2203759"/>
            <a:ext cx="1753588" cy="249356"/>
          </a:xfrm>
          <a:prstGeom prst="rect">
            <a:avLst/>
          </a:prstGeom>
          <a:solidFill>
            <a:srgbClr val="999999"/>
          </a:solidFill>
        </p:spPr>
        <p:txBody>
          <a:bodyPr wrap="square" anchor="ctr">
            <a:noAutofit/>
          </a:bodyPr>
          <a:lstStyle/>
          <a:p>
            <a:pPr marL="6350" marR="0" lvl="1" indent="0" algn="ctr" defTabSz="914400" eaLnBrk="1" fontAlgn="auto" latinLnBrk="0" hangingPunct="1">
              <a:lnSpc>
                <a:spcPct val="100000"/>
              </a:lnSpc>
              <a:spcBef>
                <a:spcPts val="0"/>
              </a:spcBef>
              <a:spcAft>
                <a:spcPts val="0"/>
              </a:spcAft>
              <a:buClr>
                <a:srgbClr val="FFE600"/>
              </a:buClr>
              <a:buSzPct val="70000"/>
              <a:buFontTx/>
              <a:buNone/>
              <a:tabLst/>
              <a:defRPr/>
            </a:pPr>
            <a:r>
              <a:rPr lang="en-US" sz="1000" kern="0" dirty="0">
                <a:solidFill>
                  <a:srgbClr val="FFFFFF"/>
                </a:solidFill>
                <a:latin typeface="EYInterstate"/>
              </a:rPr>
              <a:t>Outsourced IT</a:t>
            </a:r>
            <a:r>
              <a:rPr kumimoji="0" lang="en-US" sz="1000" b="0" i="0" u="none" strike="noStrike" kern="0" cap="none" spc="0" normalizeH="0" baseline="0" noProof="0" dirty="0">
                <a:ln>
                  <a:noFill/>
                </a:ln>
                <a:solidFill>
                  <a:srgbClr val="FFFFFF"/>
                </a:solidFill>
                <a:effectLst/>
                <a:uLnTx/>
                <a:uFillTx/>
                <a:latin typeface="EYInterstate"/>
              </a:rPr>
              <a:t> Staff</a:t>
            </a:r>
          </a:p>
        </p:txBody>
      </p:sp>
      <p:sp>
        <p:nvSpPr>
          <p:cNvPr id="90" name="Rectangle 89">
            <a:extLst>
              <a:ext uri="{FF2B5EF4-FFF2-40B4-BE49-F238E27FC236}">
                <a16:creationId xmlns:a16="http://schemas.microsoft.com/office/drawing/2014/main" id="{BEB28E1F-C079-4058-8C85-5798A9EB1CC4}"/>
              </a:ext>
            </a:extLst>
          </p:cNvPr>
          <p:cNvSpPr/>
          <p:nvPr/>
        </p:nvSpPr>
        <p:spPr>
          <a:xfrm>
            <a:off x="3535989" y="2208081"/>
            <a:ext cx="1989768" cy="305240"/>
          </a:xfrm>
          <a:prstGeom prst="rect">
            <a:avLst/>
          </a:prstGeom>
        </p:spPr>
        <p:txBody>
          <a:bodyPr wrap="none" lIns="0" tIns="0" rIns="0" bIns="0" anchor="ctr">
            <a:noAutofit/>
          </a:bodyPr>
          <a:lstStyle/>
          <a:p>
            <a:pPr marL="80550" lvl="1" algn="ctr">
              <a:lnSpc>
                <a:spcPts val="1600"/>
              </a:lnSpc>
              <a:buClr>
                <a:srgbClr val="FFE600"/>
              </a:buClr>
              <a:buSzPct val="70000"/>
            </a:pPr>
            <a:r>
              <a:rPr lang="en-US" sz="1200" b="1" dirty="0">
                <a:latin typeface="EYInterstate"/>
              </a:rPr>
              <a:t>XX</a:t>
            </a:r>
            <a:endParaRPr lang="en-US" sz="1100" dirty="0">
              <a:solidFill>
                <a:schemeClr val="tx2"/>
              </a:solidFill>
              <a:latin typeface="EYInterstate"/>
            </a:endParaRPr>
          </a:p>
        </p:txBody>
      </p:sp>
      <p:sp>
        <p:nvSpPr>
          <p:cNvPr id="91" name="Rectangle 90">
            <a:extLst>
              <a:ext uri="{FF2B5EF4-FFF2-40B4-BE49-F238E27FC236}">
                <a16:creationId xmlns:a16="http://schemas.microsoft.com/office/drawing/2014/main" id="{1973CCBD-F240-4970-96D8-D37DDD43C7E6}"/>
              </a:ext>
            </a:extLst>
          </p:cNvPr>
          <p:cNvSpPr/>
          <p:nvPr/>
        </p:nvSpPr>
        <p:spPr>
          <a:xfrm>
            <a:off x="2603374" y="1314907"/>
            <a:ext cx="537327" cy="261610"/>
          </a:xfrm>
          <a:prstGeom prst="rect">
            <a:avLst/>
          </a:prstGeom>
        </p:spPr>
        <p:txBody>
          <a:bodyPr wrap="none">
            <a:spAutoFit/>
          </a:bodyPr>
          <a:lstStyle/>
          <a:p>
            <a:pPr lvl="0" algn="ctr">
              <a:defRPr/>
            </a:pPr>
            <a:r>
              <a:rPr lang="en-US" sz="1100" b="1" kern="0" dirty="0">
                <a:solidFill>
                  <a:srgbClr val="555555"/>
                </a:solidFill>
                <a:latin typeface="EYInterstate"/>
              </a:rPr>
              <a:t>2018</a:t>
            </a:r>
          </a:p>
        </p:txBody>
      </p:sp>
      <p:sp>
        <p:nvSpPr>
          <p:cNvPr id="92" name="Rectangle 91">
            <a:extLst>
              <a:ext uri="{FF2B5EF4-FFF2-40B4-BE49-F238E27FC236}">
                <a16:creationId xmlns:a16="http://schemas.microsoft.com/office/drawing/2014/main" id="{FC8CD4C0-BD99-442B-856E-930F87B64DF5}"/>
              </a:ext>
            </a:extLst>
          </p:cNvPr>
          <p:cNvSpPr/>
          <p:nvPr/>
        </p:nvSpPr>
        <p:spPr>
          <a:xfrm>
            <a:off x="2211587" y="2523346"/>
            <a:ext cx="1753588" cy="249356"/>
          </a:xfrm>
          <a:prstGeom prst="rect">
            <a:avLst/>
          </a:prstGeom>
          <a:solidFill>
            <a:srgbClr val="999999"/>
          </a:solidFill>
        </p:spPr>
        <p:txBody>
          <a:bodyPr wrap="square" anchor="ctr">
            <a:noAutofit/>
          </a:bodyPr>
          <a:lstStyle/>
          <a:p>
            <a:pPr marL="6350" marR="0" lvl="1" indent="0" algn="ctr" defTabSz="914400" eaLnBrk="1" fontAlgn="auto" latinLnBrk="0" hangingPunct="1">
              <a:lnSpc>
                <a:spcPct val="100000"/>
              </a:lnSpc>
              <a:spcBef>
                <a:spcPts val="0"/>
              </a:spcBef>
              <a:spcAft>
                <a:spcPts val="0"/>
              </a:spcAft>
              <a:buClr>
                <a:srgbClr val="FFE600"/>
              </a:buClr>
              <a:buSzPct val="70000"/>
              <a:buFontTx/>
              <a:buNone/>
              <a:tabLst/>
              <a:defRPr/>
            </a:pPr>
            <a:r>
              <a:rPr lang="en-US" sz="1000" kern="0" dirty="0">
                <a:solidFill>
                  <a:srgbClr val="FFFFFF"/>
                </a:solidFill>
                <a:latin typeface="EYInterstate"/>
              </a:rPr>
              <a:t>Number of applications</a:t>
            </a:r>
            <a:endParaRPr kumimoji="0" lang="en-US" sz="1000" b="0" i="0" u="none" strike="noStrike" kern="0" cap="none" spc="0" normalizeH="0" baseline="0" noProof="0" dirty="0">
              <a:ln>
                <a:noFill/>
              </a:ln>
              <a:solidFill>
                <a:srgbClr val="FFFFFF"/>
              </a:solidFill>
              <a:effectLst/>
              <a:uLnTx/>
              <a:uFillTx/>
              <a:latin typeface="EYInterstate"/>
            </a:endParaRPr>
          </a:p>
        </p:txBody>
      </p:sp>
      <p:sp>
        <p:nvSpPr>
          <p:cNvPr id="93" name="Rectangle 92">
            <a:extLst>
              <a:ext uri="{FF2B5EF4-FFF2-40B4-BE49-F238E27FC236}">
                <a16:creationId xmlns:a16="http://schemas.microsoft.com/office/drawing/2014/main" id="{CFD280B6-4E38-4B23-AA1B-2043412BEB1D}"/>
              </a:ext>
            </a:extLst>
          </p:cNvPr>
          <p:cNvSpPr/>
          <p:nvPr/>
        </p:nvSpPr>
        <p:spPr>
          <a:xfrm>
            <a:off x="3554633" y="2546718"/>
            <a:ext cx="1989768" cy="305240"/>
          </a:xfrm>
          <a:prstGeom prst="rect">
            <a:avLst/>
          </a:prstGeom>
        </p:spPr>
        <p:txBody>
          <a:bodyPr wrap="none" lIns="0" tIns="0" rIns="0" bIns="0" anchor="ctr">
            <a:noAutofit/>
          </a:bodyPr>
          <a:lstStyle/>
          <a:p>
            <a:pPr marL="80550" lvl="1" algn="ctr">
              <a:lnSpc>
                <a:spcPts val="1600"/>
              </a:lnSpc>
              <a:buClr>
                <a:srgbClr val="FFE600"/>
              </a:buClr>
              <a:buSzPct val="70000"/>
            </a:pPr>
            <a:r>
              <a:rPr lang="en-US" sz="1200" b="1" dirty="0">
                <a:latin typeface="EYInterstate"/>
              </a:rPr>
              <a:t>XXX</a:t>
            </a:r>
            <a:endParaRPr lang="en-US" sz="1100" dirty="0">
              <a:solidFill>
                <a:schemeClr val="tx2"/>
              </a:solidFill>
              <a:latin typeface="EYInterstate"/>
            </a:endParaRPr>
          </a:p>
        </p:txBody>
      </p:sp>
      <p:sp>
        <p:nvSpPr>
          <p:cNvPr id="94" name="Rectangle 93">
            <a:extLst>
              <a:ext uri="{FF2B5EF4-FFF2-40B4-BE49-F238E27FC236}">
                <a16:creationId xmlns:a16="http://schemas.microsoft.com/office/drawing/2014/main" id="{EBD3DD33-4C01-4EA9-A2D4-982CBF0C458B}"/>
              </a:ext>
            </a:extLst>
          </p:cNvPr>
          <p:cNvSpPr/>
          <p:nvPr/>
        </p:nvSpPr>
        <p:spPr>
          <a:xfrm>
            <a:off x="2205623" y="2842931"/>
            <a:ext cx="1753588" cy="249356"/>
          </a:xfrm>
          <a:prstGeom prst="rect">
            <a:avLst/>
          </a:prstGeom>
          <a:solidFill>
            <a:srgbClr val="999999"/>
          </a:solidFill>
        </p:spPr>
        <p:txBody>
          <a:bodyPr wrap="square" anchor="ctr">
            <a:noAutofit/>
          </a:bodyPr>
          <a:lstStyle/>
          <a:p>
            <a:pPr marL="6350" marR="0" lvl="1" indent="0" algn="ctr" defTabSz="914400" eaLnBrk="1" fontAlgn="auto" latinLnBrk="0" hangingPunct="1">
              <a:lnSpc>
                <a:spcPct val="100000"/>
              </a:lnSpc>
              <a:spcBef>
                <a:spcPts val="0"/>
              </a:spcBef>
              <a:spcAft>
                <a:spcPts val="0"/>
              </a:spcAft>
              <a:buClr>
                <a:srgbClr val="FFE600"/>
              </a:buClr>
              <a:buSzPct val="70000"/>
              <a:buFontTx/>
              <a:buNone/>
              <a:tabLst/>
              <a:defRPr/>
            </a:pPr>
            <a:r>
              <a:rPr lang="en-US" sz="1000" kern="0" dirty="0">
                <a:solidFill>
                  <a:srgbClr val="FFFFFF"/>
                </a:solidFill>
                <a:latin typeface="EYInterstate"/>
              </a:rPr>
              <a:t>Number Tickets /yearly</a:t>
            </a:r>
            <a:endParaRPr kumimoji="0" lang="en-US" sz="1000" b="0" i="0" u="none" strike="noStrike" kern="0" cap="none" spc="0" normalizeH="0" baseline="0" noProof="0" dirty="0">
              <a:ln>
                <a:noFill/>
              </a:ln>
              <a:solidFill>
                <a:srgbClr val="FFFFFF"/>
              </a:solidFill>
              <a:effectLst/>
              <a:uLnTx/>
              <a:uFillTx/>
              <a:latin typeface="EYInterstate"/>
            </a:endParaRPr>
          </a:p>
        </p:txBody>
      </p:sp>
      <p:sp>
        <p:nvSpPr>
          <p:cNvPr id="95" name="Rectangle 94">
            <a:extLst>
              <a:ext uri="{FF2B5EF4-FFF2-40B4-BE49-F238E27FC236}">
                <a16:creationId xmlns:a16="http://schemas.microsoft.com/office/drawing/2014/main" id="{C1E5472B-1B26-40BA-A709-F426467BDF73}"/>
              </a:ext>
            </a:extLst>
          </p:cNvPr>
          <p:cNvSpPr/>
          <p:nvPr/>
        </p:nvSpPr>
        <p:spPr>
          <a:xfrm>
            <a:off x="3548669" y="2837730"/>
            <a:ext cx="1989768" cy="305240"/>
          </a:xfrm>
          <a:prstGeom prst="rect">
            <a:avLst/>
          </a:prstGeom>
        </p:spPr>
        <p:txBody>
          <a:bodyPr wrap="none" lIns="0" tIns="0" rIns="0" bIns="0" anchor="ctr">
            <a:noAutofit/>
          </a:bodyPr>
          <a:lstStyle/>
          <a:p>
            <a:pPr marL="80550" lvl="1" algn="ctr">
              <a:lnSpc>
                <a:spcPts val="1600"/>
              </a:lnSpc>
              <a:buClr>
                <a:srgbClr val="FFE600"/>
              </a:buClr>
              <a:buSzPct val="70000"/>
            </a:pPr>
            <a:r>
              <a:rPr lang="en-US" sz="1200" b="1" dirty="0">
                <a:latin typeface="EYInterstate"/>
              </a:rPr>
              <a:t>XX XXX</a:t>
            </a:r>
            <a:endParaRPr lang="en-US" sz="1100" dirty="0">
              <a:solidFill>
                <a:schemeClr val="tx2"/>
              </a:solidFill>
              <a:latin typeface="EYInterstate"/>
            </a:endParaRPr>
          </a:p>
        </p:txBody>
      </p:sp>
    </p:spTree>
    <p:extLst>
      <p:ext uri="{BB962C8B-B14F-4D97-AF65-F5344CB8AC3E}">
        <p14:creationId xmlns:p14="http://schemas.microsoft.com/office/powerpoint/2010/main" val="2988677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434851" y="1495112"/>
            <a:ext cx="10289943" cy="5168752"/>
            <a:chOff x="1016296" y="1759271"/>
            <a:chExt cx="7764268" cy="4996334"/>
          </a:xfrm>
        </p:grpSpPr>
        <p:grpSp>
          <p:nvGrpSpPr>
            <p:cNvPr id="50" name="Group 49"/>
            <p:cNvGrpSpPr/>
            <p:nvPr/>
          </p:nvGrpSpPr>
          <p:grpSpPr>
            <a:xfrm>
              <a:off x="1533898" y="1759272"/>
              <a:ext cx="7239000" cy="4637313"/>
              <a:chOff x="903515" y="1774372"/>
              <a:chExt cx="7239000" cy="4452257"/>
            </a:xfrm>
          </p:grpSpPr>
          <p:sp>
            <p:nvSpPr>
              <p:cNvPr id="51" name="Rectangle 50"/>
              <p:cNvSpPr/>
              <p:nvPr/>
            </p:nvSpPr>
            <p:spPr>
              <a:xfrm>
                <a:off x="903515" y="1774372"/>
                <a:ext cx="7239000" cy="4452257"/>
              </a:xfrm>
              <a:prstGeom prst="rect">
                <a:avLst/>
              </a:prstGeom>
              <a:solidFill>
                <a:schemeClr val="bg1">
                  <a:lumMod val="95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2" name="Straight Connector 51"/>
              <p:cNvCxnSpPr>
                <a:stCxn id="51" idx="0"/>
                <a:endCxn id="51" idx="2"/>
              </p:cNvCxnSpPr>
              <p:nvPr/>
            </p:nvCxnSpPr>
            <p:spPr>
              <a:xfrm>
                <a:off x="4523015" y="1774372"/>
                <a:ext cx="0" cy="445225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51" idx="1"/>
                <a:endCxn id="51" idx="3"/>
              </p:cNvCxnSpPr>
              <p:nvPr/>
            </p:nvCxnSpPr>
            <p:spPr>
              <a:xfrm>
                <a:off x="903515" y="4000501"/>
                <a:ext cx="723900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4" name="Rectangle 10"/>
            <p:cNvSpPr>
              <a:spLocks noChangeArrowheads="1"/>
            </p:cNvSpPr>
            <p:nvPr/>
          </p:nvSpPr>
          <p:spPr bwMode="auto">
            <a:xfrm>
              <a:off x="5161064" y="1761301"/>
              <a:ext cx="3619500" cy="2312219"/>
            </a:xfrm>
            <a:prstGeom prst="rect">
              <a:avLst/>
            </a:prstGeom>
            <a:solidFill>
              <a:schemeClr val="bg1">
                <a:lumMod val="85000"/>
              </a:schemeClr>
            </a:solidFill>
            <a:ln w="9525">
              <a:solidFill>
                <a:schemeClr val="bg1">
                  <a:lumMod val="50000"/>
                </a:schemeClr>
              </a:solidFill>
              <a:miter lim="800000"/>
              <a:headEnd/>
              <a:tailEnd/>
            </a:ln>
            <a:effectLst/>
          </p:spPr>
          <p:txBody>
            <a:bodyPr anchor="ctr"/>
            <a:lstStyle/>
            <a:p>
              <a:pPr algn="ctr" defTabSz="914260">
                <a:spcBef>
                  <a:spcPct val="20000"/>
                </a:spcBef>
                <a:defRPr/>
              </a:pPr>
              <a:endParaRPr lang="en-US" sz="900" kern="0" dirty="0">
                <a:solidFill>
                  <a:sysClr val="windowText" lastClr="000000"/>
                </a:solidFill>
              </a:endParaRPr>
            </a:p>
          </p:txBody>
        </p:sp>
        <p:grpSp>
          <p:nvGrpSpPr>
            <p:cNvPr id="55" name="Group 54"/>
            <p:cNvGrpSpPr/>
            <p:nvPr/>
          </p:nvGrpSpPr>
          <p:grpSpPr>
            <a:xfrm>
              <a:off x="1533899" y="6502721"/>
              <a:ext cx="7239000" cy="252884"/>
              <a:chOff x="4397495" y="6356350"/>
              <a:chExt cx="4757699" cy="252884"/>
            </a:xfrm>
          </p:grpSpPr>
          <p:sp>
            <p:nvSpPr>
              <p:cNvPr id="56" name="Rectangle 55"/>
              <p:cNvSpPr>
                <a:spLocks noChangeArrowheads="1"/>
              </p:cNvSpPr>
              <p:nvPr/>
            </p:nvSpPr>
            <p:spPr bwMode="gray">
              <a:xfrm>
                <a:off x="4397495" y="6394147"/>
                <a:ext cx="440720" cy="127390"/>
              </a:xfrm>
              <a:prstGeom prst="rect">
                <a:avLst/>
              </a:prstGeom>
              <a:noFill/>
              <a:ln w="9525">
                <a:noFill/>
                <a:miter lim="800000"/>
                <a:headEnd/>
                <a:tailEnd/>
              </a:ln>
              <a:effectLst/>
            </p:spPr>
            <p:txBody>
              <a:bodyPr lIns="0" tIns="0" rIns="0" bIns="0"/>
              <a:lstStyle/>
              <a:p>
                <a:pPr algn="ctr" defTabSz="895350">
                  <a:spcBef>
                    <a:spcPct val="20000"/>
                  </a:spcBef>
                  <a:defRPr/>
                </a:pPr>
                <a:r>
                  <a:rPr lang="en-US" sz="1000" i="1" kern="0" dirty="0"/>
                  <a:t>Low</a:t>
                </a:r>
              </a:p>
            </p:txBody>
          </p:sp>
          <p:sp>
            <p:nvSpPr>
              <p:cNvPr id="64" name="Rectangle 57"/>
              <p:cNvSpPr>
                <a:spLocks noChangeArrowheads="1"/>
              </p:cNvSpPr>
              <p:nvPr/>
            </p:nvSpPr>
            <p:spPr bwMode="gray">
              <a:xfrm>
                <a:off x="8736658" y="6381556"/>
                <a:ext cx="418536" cy="152587"/>
              </a:xfrm>
              <a:prstGeom prst="rect">
                <a:avLst/>
              </a:prstGeom>
              <a:noFill/>
              <a:ln w="9525">
                <a:noFill/>
                <a:miter lim="800000"/>
                <a:headEnd/>
                <a:tailEnd/>
              </a:ln>
              <a:effectLst/>
            </p:spPr>
            <p:txBody>
              <a:bodyPr lIns="0" tIns="0" rIns="0" bIns="0"/>
              <a:lstStyle/>
              <a:p>
                <a:pPr algn="ctr" defTabSz="895350">
                  <a:spcBef>
                    <a:spcPct val="20000"/>
                  </a:spcBef>
                  <a:defRPr/>
                </a:pPr>
                <a:r>
                  <a:rPr lang="en-US" sz="1000" i="1" kern="0" dirty="0"/>
                  <a:t>High</a:t>
                </a:r>
              </a:p>
            </p:txBody>
          </p:sp>
          <p:cxnSp>
            <p:nvCxnSpPr>
              <p:cNvPr id="65" name="Straight Arrow Connector 64"/>
              <p:cNvCxnSpPr/>
              <p:nvPr/>
            </p:nvCxnSpPr>
            <p:spPr>
              <a:xfrm>
                <a:off x="4838211" y="6457842"/>
                <a:ext cx="3908796" cy="0"/>
              </a:xfrm>
              <a:prstGeom prst="straightConnector1">
                <a:avLst/>
              </a:prstGeom>
              <a:noFill/>
              <a:ln w="9525" cap="flat" cmpd="sng" algn="ctr">
                <a:solidFill>
                  <a:schemeClr val="bg1">
                    <a:lumMod val="50000"/>
                  </a:schemeClr>
                </a:solidFill>
                <a:prstDash val="solid"/>
                <a:headEnd type="none" w="med" len="med"/>
                <a:tailEnd type="triangle" w="med" len="med"/>
              </a:ln>
              <a:effectLst/>
            </p:spPr>
          </p:cxnSp>
          <p:sp>
            <p:nvSpPr>
              <p:cNvPr id="66" name="Text Box 59"/>
              <p:cNvSpPr txBox="1">
                <a:spLocks noChangeArrowheads="1"/>
              </p:cNvSpPr>
              <p:nvPr/>
            </p:nvSpPr>
            <p:spPr bwMode="auto">
              <a:xfrm>
                <a:off x="6502197" y="6356350"/>
                <a:ext cx="861923" cy="252884"/>
              </a:xfrm>
              <a:prstGeom prst="rect">
                <a:avLst/>
              </a:prstGeom>
              <a:solidFill>
                <a:schemeClr val="bg1">
                  <a:lumMod val="95000"/>
                </a:schemeClr>
              </a:solidFill>
              <a:ln w="9525" algn="ctr">
                <a:noFill/>
                <a:miter lim="800000"/>
                <a:headEnd/>
                <a:tailEnd/>
              </a:ln>
              <a:effectLst/>
            </p:spPr>
            <p:txBody>
              <a:bodyPr wrap="square">
                <a:spAutoFit/>
              </a:bodyPr>
              <a:lstStyle/>
              <a:p>
                <a:pPr marL="0" marR="0" lvl="0" indent="0" algn="ctr" defTabSz="91426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rPr>
                  <a:t>IT </a:t>
                </a:r>
                <a:r>
                  <a:rPr lang="en-US" sz="1100" b="1" kern="0" noProof="0" dirty="0"/>
                  <a:t>C</a:t>
                </a:r>
                <a:r>
                  <a:rPr lang="en-US" sz="1100" b="1" kern="0" dirty="0" err="1"/>
                  <a:t>apability</a:t>
                </a:r>
                <a:r>
                  <a:rPr kumimoji="0" lang="en-US" sz="1100" b="1" i="0" u="none" strike="noStrike" kern="0" cap="none" spc="0" normalizeH="0" baseline="0" noProof="0" dirty="0">
                    <a:ln>
                      <a:noFill/>
                    </a:ln>
                    <a:effectLst/>
                    <a:uLnTx/>
                    <a:uFillTx/>
                  </a:rPr>
                  <a:t> Gap</a:t>
                </a:r>
              </a:p>
            </p:txBody>
          </p:sp>
        </p:grpSp>
        <p:grpSp>
          <p:nvGrpSpPr>
            <p:cNvPr id="68" name="Group 67"/>
            <p:cNvGrpSpPr/>
            <p:nvPr/>
          </p:nvGrpSpPr>
          <p:grpSpPr>
            <a:xfrm>
              <a:off x="1016296" y="1759271"/>
              <a:ext cx="425116" cy="4640120"/>
              <a:chOff x="3561766" y="1524001"/>
              <a:chExt cx="425116" cy="4106941"/>
            </a:xfrm>
          </p:grpSpPr>
          <p:sp>
            <p:nvSpPr>
              <p:cNvPr id="69" name="Rectangle 27"/>
              <p:cNvSpPr>
                <a:spLocks noChangeArrowheads="1"/>
              </p:cNvSpPr>
              <p:nvPr/>
            </p:nvSpPr>
            <p:spPr bwMode="auto">
              <a:xfrm>
                <a:off x="3578676" y="5413013"/>
                <a:ext cx="396262" cy="217929"/>
              </a:xfrm>
              <a:prstGeom prst="rect">
                <a:avLst/>
              </a:prstGeom>
              <a:noFill/>
              <a:ln w="9525">
                <a:noFill/>
                <a:miter lim="800000"/>
                <a:headEnd/>
                <a:tailEnd/>
              </a:ln>
              <a:effectLst/>
            </p:spPr>
            <p:txBody>
              <a:bodyPr wrap="none">
                <a:spAutoFit/>
              </a:bodyPr>
              <a:lstStyle/>
              <a:p>
                <a:pPr algn="r" defTabSz="914260">
                  <a:spcBef>
                    <a:spcPct val="50000"/>
                  </a:spcBef>
                  <a:defRPr/>
                </a:pPr>
                <a:r>
                  <a:rPr lang="en-US" sz="1000" i="1" kern="0" dirty="0"/>
                  <a:t>Low</a:t>
                </a:r>
              </a:p>
            </p:txBody>
          </p:sp>
          <p:sp>
            <p:nvSpPr>
              <p:cNvPr id="77" name="Rectangle 29"/>
              <p:cNvSpPr>
                <a:spLocks noChangeArrowheads="1"/>
              </p:cNvSpPr>
              <p:nvPr/>
            </p:nvSpPr>
            <p:spPr bwMode="auto">
              <a:xfrm>
                <a:off x="3561766" y="1524001"/>
                <a:ext cx="425116" cy="217929"/>
              </a:xfrm>
              <a:prstGeom prst="rect">
                <a:avLst/>
              </a:prstGeom>
              <a:noFill/>
              <a:ln w="9525">
                <a:noFill/>
                <a:miter lim="800000"/>
                <a:headEnd/>
                <a:tailEnd/>
              </a:ln>
              <a:effectLst/>
            </p:spPr>
            <p:txBody>
              <a:bodyPr wrap="none">
                <a:spAutoFit/>
              </a:bodyPr>
              <a:lstStyle/>
              <a:p>
                <a:pPr algn="r" defTabSz="914260">
                  <a:defRPr/>
                </a:pPr>
                <a:r>
                  <a:rPr lang="en-US" sz="1000" i="1" kern="0" dirty="0">
                    <a:solidFill>
                      <a:sysClr val="windowText" lastClr="000000"/>
                    </a:solidFill>
                  </a:rPr>
                  <a:t>High</a:t>
                </a:r>
              </a:p>
            </p:txBody>
          </p:sp>
          <p:cxnSp>
            <p:nvCxnSpPr>
              <p:cNvPr id="78" name="Straight Arrow Connector 77"/>
              <p:cNvCxnSpPr>
                <a:stCxn id="69" idx="0"/>
                <a:endCxn id="77" idx="2"/>
              </p:cNvCxnSpPr>
              <p:nvPr/>
            </p:nvCxnSpPr>
            <p:spPr>
              <a:xfrm flipH="1" flipV="1">
                <a:off x="3774324" y="1741930"/>
                <a:ext cx="2483" cy="3671084"/>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9" name="Text Box 51"/>
              <p:cNvSpPr txBox="1">
                <a:spLocks noChangeArrowheads="1"/>
              </p:cNvSpPr>
              <p:nvPr/>
            </p:nvSpPr>
            <p:spPr bwMode="auto">
              <a:xfrm>
                <a:off x="3650804" y="2889745"/>
                <a:ext cx="246221" cy="1372598"/>
              </a:xfrm>
              <a:prstGeom prst="rect">
                <a:avLst/>
              </a:prstGeom>
              <a:solidFill>
                <a:schemeClr val="bg1">
                  <a:lumMod val="95000"/>
                </a:schemeClr>
              </a:solidFill>
              <a:ln w="9525" algn="ctr">
                <a:noFill/>
                <a:miter lim="800000"/>
                <a:headEnd/>
                <a:tailEnd/>
              </a:ln>
              <a:effectLst/>
            </p:spPr>
            <p:txBody>
              <a:bodyPr vert="vert270" wrap="square" lIns="45720" rIns="45720">
                <a:spAutoFit/>
              </a:bodyPr>
              <a:lstStyle/>
              <a:p>
                <a:pPr algn="ctr" defTabSz="914260">
                  <a:defRPr/>
                </a:pPr>
                <a:r>
                  <a:rPr lang="en-US" sz="1000" b="1" kern="0" dirty="0"/>
                  <a:t>Importance to IT Strategy</a:t>
                </a:r>
              </a:p>
            </p:txBody>
          </p:sp>
        </p:grpSp>
        <p:sp>
          <p:nvSpPr>
            <p:cNvPr id="89" name="Rounded Rectangle 88"/>
            <p:cNvSpPr/>
            <p:nvPr/>
          </p:nvSpPr>
          <p:spPr>
            <a:xfrm>
              <a:off x="7519362" y="1957049"/>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Governance</a:t>
              </a:r>
            </a:p>
          </p:txBody>
        </p:sp>
        <p:sp>
          <p:nvSpPr>
            <p:cNvPr id="93" name="Rounded Rectangle 92"/>
            <p:cNvSpPr/>
            <p:nvPr/>
          </p:nvSpPr>
          <p:spPr>
            <a:xfrm>
              <a:off x="7360011" y="2312162"/>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Strategic Planning</a:t>
              </a:r>
            </a:p>
          </p:txBody>
        </p:sp>
        <p:sp>
          <p:nvSpPr>
            <p:cNvPr id="94" name="Rounded Rectangle 93"/>
            <p:cNvSpPr/>
            <p:nvPr/>
          </p:nvSpPr>
          <p:spPr>
            <a:xfrm>
              <a:off x="7327508" y="3391167"/>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Portfolio Management</a:t>
              </a:r>
            </a:p>
          </p:txBody>
        </p:sp>
        <p:sp>
          <p:nvSpPr>
            <p:cNvPr id="95" name="Rounded Rectangle 94"/>
            <p:cNvSpPr/>
            <p:nvPr/>
          </p:nvSpPr>
          <p:spPr>
            <a:xfrm>
              <a:off x="5719196" y="2644428"/>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Enterprise Architecture</a:t>
              </a:r>
            </a:p>
          </p:txBody>
        </p:sp>
        <p:sp>
          <p:nvSpPr>
            <p:cNvPr id="96" name="Rounded Rectangle 95"/>
            <p:cNvSpPr/>
            <p:nvPr/>
          </p:nvSpPr>
          <p:spPr>
            <a:xfrm>
              <a:off x="6600631" y="3014619"/>
              <a:ext cx="1079141" cy="331176"/>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Business Delivery Management (Business Champions)</a:t>
              </a:r>
            </a:p>
          </p:txBody>
        </p:sp>
        <p:sp>
          <p:nvSpPr>
            <p:cNvPr id="97" name="Rounded Rectangle 96"/>
            <p:cNvSpPr/>
            <p:nvPr/>
          </p:nvSpPr>
          <p:spPr>
            <a:xfrm>
              <a:off x="7155145" y="2699004"/>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Innovation Management</a:t>
              </a:r>
            </a:p>
          </p:txBody>
        </p:sp>
        <p:sp>
          <p:nvSpPr>
            <p:cNvPr id="98" name="Rounded Rectangle 97"/>
            <p:cNvSpPr/>
            <p:nvPr/>
          </p:nvSpPr>
          <p:spPr>
            <a:xfrm>
              <a:off x="5032202" y="4351179"/>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Project Management Office</a:t>
              </a:r>
            </a:p>
          </p:txBody>
        </p:sp>
        <p:sp>
          <p:nvSpPr>
            <p:cNvPr id="99" name="Rounded Rectangle 98"/>
            <p:cNvSpPr/>
            <p:nvPr/>
          </p:nvSpPr>
          <p:spPr>
            <a:xfrm>
              <a:off x="6238252" y="1957049"/>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Sourcing</a:t>
              </a:r>
            </a:p>
          </p:txBody>
        </p:sp>
        <p:sp>
          <p:nvSpPr>
            <p:cNvPr id="100" name="Rounded Rectangle 99"/>
            <p:cNvSpPr/>
            <p:nvPr/>
          </p:nvSpPr>
          <p:spPr>
            <a:xfrm>
              <a:off x="3421777" y="4583990"/>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Service Catalog Management</a:t>
              </a:r>
            </a:p>
          </p:txBody>
        </p:sp>
        <p:sp>
          <p:nvSpPr>
            <p:cNvPr id="101" name="Rounded Rectangle 100"/>
            <p:cNvSpPr/>
            <p:nvPr/>
          </p:nvSpPr>
          <p:spPr>
            <a:xfrm>
              <a:off x="4863541" y="3109271"/>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Business Analysis</a:t>
              </a:r>
            </a:p>
          </p:txBody>
        </p:sp>
        <p:sp>
          <p:nvSpPr>
            <p:cNvPr id="102" name="Rounded Rectangle 101"/>
            <p:cNvSpPr/>
            <p:nvPr/>
          </p:nvSpPr>
          <p:spPr>
            <a:xfrm>
              <a:off x="7230520" y="4960489"/>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Dev. &amp; Testing</a:t>
              </a:r>
            </a:p>
          </p:txBody>
        </p:sp>
        <p:sp>
          <p:nvSpPr>
            <p:cNvPr id="103" name="Rounded Rectangle 102"/>
            <p:cNvSpPr/>
            <p:nvPr/>
          </p:nvSpPr>
          <p:spPr>
            <a:xfrm>
              <a:off x="1849506" y="5123416"/>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Network &amp; Communication</a:t>
              </a:r>
            </a:p>
          </p:txBody>
        </p:sp>
        <p:sp>
          <p:nvSpPr>
            <p:cNvPr id="104" name="Rounded Rectangle 103"/>
            <p:cNvSpPr/>
            <p:nvPr/>
          </p:nvSpPr>
          <p:spPr>
            <a:xfrm>
              <a:off x="1731608" y="4672786"/>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Infrastructure &amp; Datacentre Mgmt.</a:t>
              </a:r>
            </a:p>
          </p:txBody>
        </p:sp>
        <p:sp>
          <p:nvSpPr>
            <p:cNvPr id="105" name="Rounded Rectangle 104"/>
            <p:cNvSpPr/>
            <p:nvPr/>
          </p:nvSpPr>
          <p:spPr>
            <a:xfrm>
              <a:off x="2469605" y="5434057"/>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Incidents Mgmt.</a:t>
              </a:r>
            </a:p>
          </p:txBody>
        </p:sp>
        <p:sp>
          <p:nvSpPr>
            <p:cNvPr id="106" name="Rounded Rectangle 105"/>
            <p:cNvSpPr/>
            <p:nvPr/>
          </p:nvSpPr>
          <p:spPr>
            <a:xfrm>
              <a:off x="2006783" y="4331063"/>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Request fulfilment</a:t>
              </a:r>
            </a:p>
          </p:txBody>
        </p:sp>
        <p:sp>
          <p:nvSpPr>
            <p:cNvPr id="107" name="Rounded Rectangle 106"/>
            <p:cNvSpPr/>
            <p:nvPr/>
          </p:nvSpPr>
          <p:spPr>
            <a:xfrm>
              <a:off x="5231646" y="2301488"/>
              <a:ext cx="1097280" cy="244800"/>
            </a:xfrm>
            <a:prstGeom prst="roundRect">
              <a:avLst/>
            </a:prstGeom>
            <a:solidFill>
              <a:srgbClr val="FAA22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Financial Management</a:t>
              </a:r>
            </a:p>
          </p:txBody>
        </p:sp>
        <p:sp>
          <p:nvSpPr>
            <p:cNvPr id="109" name="Rounded Rectangle 108"/>
            <p:cNvSpPr/>
            <p:nvPr/>
          </p:nvSpPr>
          <p:spPr>
            <a:xfrm>
              <a:off x="6311825" y="4137215"/>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Resource Management</a:t>
              </a:r>
            </a:p>
          </p:txBody>
        </p:sp>
        <p:sp>
          <p:nvSpPr>
            <p:cNvPr id="110" name="Rounded Rectangle 109"/>
            <p:cNvSpPr/>
            <p:nvPr/>
          </p:nvSpPr>
          <p:spPr>
            <a:xfrm>
              <a:off x="7144998" y="4461590"/>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Vendor Management</a:t>
              </a:r>
            </a:p>
          </p:txBody>
        </p:sp>
        <p:sp>
          <p:nvSpPr>
            <p:cNvPr id="111" name="Rounded Rectangle 110"/>
            <p:cNvSpPr/>
            <p:nvPr/>
          </p:nvSpPr>
          <p:spPr>
            <a:xfrm>
              <a:off x="1769752" y="3959697"/>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Application Support</a:t>
              </a:r>
            </a:p>
          </p:txBody>
        </p:sp>
        <p:sp>
          <p:nvSpPr>
            <p:cNvPr id="112" name="Rounded Rectangle 111"/>
            <p:cNvSpPr/>
            <p:nvPr/>
          </p:nvSpPr>
          <p:spPr>
            <a:xfrm>
              <a:off x="4717646" y="4673436"/>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Solution Integration &amp; Deployment</a:t>
              </a:r>
            </a:p>
          </p:txBody>
        </p:sp>
        <p:sp>
          <p:nvSpPr>
            <p:cNvPr id="113" name="Rounded Rectangle 112"/>
            <p:cNvSpPr/>
            <p:nvPr/>
          </p:nvSpPr>
          <p:spPr>
            <a:xfrm>
              <a:off x="6047719" y="5402187"/>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Knowledge Management </a:t>
              </a:r>
            </a:p>
          </p:txBody>
        </p:sp>
      </p:grpSp>
      <p:sp>
        <p:nvSpPr>
          <p:cNvPr id="12" name="Rectangle 11"/>
          <p:cNvSpPr/>
          <p:nvPr/>
        </p:nvSpPr>
        <p:spPr>
          <a:xfrm>
            <a:off x="1433402" y="1753015"/>
            <a:ext cx="3174621" cy="1600438"/>
          </a:xfrm>
          <a:prstGeom prst="rect">
            <a:avLst/>
          </a:prstGeom>
        </p:spPr>
        <p:txBody>
          <a:bodyPr wrap="square">
            <a:spAutoFit/>
          </a:bodyPr>
          <a:lstStyle/>
          <a:p>
            <a:pPr>
              <a:defRPr/>
            </a:pPr>
            <a:r>
              <a:rPr lang="en-US" sz="1400" kern="0" dirty="0">
                <a:solidFill>
                  <a:schemeClr val="accent5"/>
                </a:solidFill>
              </a:rPr>
              <a:t>A gap assessment indicates the need for ITD to significantly uplift capabilities in areas of high importance particularly IT governance, planning, resource capabilities, sourcing and service delivery </a:t>
            </a:r>
          </a:p>
        </p:txBody>
      </p:sp>
      <p:sp>
        <p:nvSpPr>
          <p:cNvPr id="114" name="Rounded Rectangle 113"/>
          <p:cNvSpPr/>
          <p:nvPr/>
        </p:nvSpPr>
        <p:spPr>
          <a:xfrm>
            <a:off x="10808685" y="5608429"/>
            <a:ext cx="1098735" cy="313211"/>
          </a:xfrm>
          <a:prstGeom prst="roundRect">
            <a:avLst/>
          </a:prstGeom>
          <a:solidFill>
            <a:srgbClr val="FAA22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Improvement needed</a:t>
            </a:r>
          </a:p>
        </p:txBody>
      </p:sp>
      <p:sp>
        <p:nvSpPr>
          <p:cNvPr id="115" name="Rounded Rectangle 114"/>
          <p:cNvSpPr/>
          <p:nvPr/>
        </p:nvSpPr>
        <p:spPr>
          <a:xfrm>
            <a:off x="10799179" y="5957719"/>
            <a:ext cx="1098735" cy="313211"/>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Not a current capability</a:t>
            </a:r>
          </a:p>
        </p:txBody>
      </p:sp>
      <p:sp>
        <p:nvSpPr>
          <p:cNvPr id="117" name="Rounded Rectangle 116"/>
          <p:cNvSpPr/>
          <p:nvPr/>
        </p:nvSpPr>
        <p:spPr>
          <a:xfrm>
            <a:off x="10799178" y="5228598"/>
            <a:ext cx="1098735" cy="313211"/>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Established capability</a:t>
            </a:r>
          </a:p>
        </p:txBody>
      </p:sp>
      <p:sp>
        <p:nvSpPr>
          <p:cNvPr id="119" name="Rounded Rectangle 118"/>
          <p:cNvSpPr/>
          <p:nvPr/>
        </p:nvSpPr>
        <p:spPr>
          <a:xfrm>
            <a:off x="5294322" y="3364008"/>
            <a:ext cx="1454219" cy="253248"/>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Solution Design</a:t>
            </a:r>
          </a:p>
        </p:txBody>
      </p:sp>
      <p:sp>
        <p:nvSpPr>
          <p:cNvPr id="120" name="Rounded Rectangle 119"/>
          <p:cNvSpPr/>
          <p:nvPr/>
        </p:nvSpPr>
        <p:spPr>
          <a:xfrm>
            <a:off x="1946820" y="5685204"/>
            <a:ext cx="1454219" cy="253248"/>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Assets &amp; </a:t>
            </a:r>
            <a:r>
              <a:rPr lang="en-AU" sz="800" b="1" dirty="0" err="1">
                <a:solidFill>
                  <a:srgbClr val="FFFFFF"/>
                </a:solidFill>
              </a:rPr>
              <a:t>Config</a:t>
            </a:r>
            <a:r>
              <a:rPr lang="en-AU" sz="800" b="1" dirty="0">
                <a:solidFill>
                  <a:srgbClr val="FFFFFF"/>
                </a:solidFill>
              </a:rPr>
              <a:t> Mgmt.</a:t>
            </a:r>
          </a:p>
        </p:txBody>
      </p:sp>
      <p:sp>
        <p:nvSpPr>
          <p:cNvPr id="47" name="Slide Number Placeholder 14">
            <a:extLst>
              <a:ext uri="{FF2B5EF4-FFF2-40B4-BE49-F238E27FC236}">
                <a16:creationId xmlns:a16="http://schemas.microsoft.com/office/drawing/2014/main" id="{ABE3F904-663B-4298-BAB1-0086DF5B4DBD}"/>
              </a:ext>
            </a:extLst>
          </p:cNvPr>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dirty="0"/>
              <a:t>Executive Summary</a:t>
            </a:r>
          </a:p>
        </p:txBody>
      </p:sp>
      <p:sp>
        <p:nvSpPr>
          <p:cNvPr id="48" name="Rectangle 47">
            <a:extLst>
              <a:ext uri="{FF2B5EF4-FFF2-40B4-BE49-F238E27FC236}">
                <a16:creationId xmlns:a16="http://schemas.microsoft.com/office/drawing/2014/main" id="{B95F5684-4ACB-402B-A9C8-3C4ACEF349F2}"/>
              </a:ext>
            </a:extLst>
          </p:cNvPr>
          <p:cNvSpPr/>
          <p:nvPr/>
        </p:nvSpPr>
        <p:spPr>
          <a:xfrm>
            <a:off x="498600" y="929173"/>
            <a:ext cx="4139018" cy="369332"/>
          </a:xfrm>
          <a:prstGeom prst="rect">
            <a:avLst/>
          </a:prstGeom>
        </p:spPr>
        <p:txBody>
          <a:bodyPr wrap="none">
            <a:spAutoFit/>
          </a:bodyPr>
          <a:lstStyle/>
          <a:p>
            <a:r>
              <a:rPr lang="en-US" dirty="0">
                <a:solidFill>
                  <a:schemeClr val="bg1">
                    <a:lumMod val="50000"/>
                  </a:schemeClr>
                </a:solidFill>
              </a:rPr>
              <a:t>ITD’s As is Situation: IT Capability Gap</a:t>
            </a:r>
          </a:p>
        </p:txBody>
      </p:sp>
    </p:spTree>
    <p:extLst>
      <p:ext uri="{BB962C8B-B14F-4D97-AF65-F5344CB8AC3E}">
        <p14:creationId xmlns:p14="http://schemas.microsoft.com/office/powerpoint/2010/main" val="2253409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dirty="0"/>
              <a:t>Executive Summary</a:t>
            </a:r>
          </a:p>
        </p:txBody>
      </p:sp>
      <p:sp>
        <p:nvSpPr>
          <p:cNvPr id="2" name="TextBox 1"/>
          <p:cNvSpPr txBox="1"/>
          <p:nvPr/>
        </p:nvSpPr>
        <p:spPr>
          <a:xfrm>
            <a:off x="587515" y="696238"/>
            <a:ext cx="5175109" cy="457507"/>
          </a:xfrm>
          <a:prstGeom prst="rect">
            <a:avLst/>
          </a:prstGeom>
          <a:noFill/>
        </p:spPr>
        <p:txBody>
          <a:bodyPr wrap="square" lIns="0" tIns="0" rIns="0" bIns="0" rtlCol="0">
            <a:noAutofit/>
          </a:bodyPr>
          <a:lstStyle/>
          <a:p>
            <a:pPr>
              <a:spcBef>
                <a:spcPts val="800"/>
              </a:spcBef>
            </a:pPr>
            <a:r>
              <a:rPr lang="en-GB" sz="2800" b="1" cap="all" dirty="0">
                <a:solidFill>
                  <a:schemeClr val="accent4">
                    <a:lumMod val="60000"/>
                    <a:lumOff val="40000"/>
                  </a:schemeClr>
                </a:solidFill>
                <a:latin typeface="Arial"/>
                <a:cs typeface="Arial"/>
              </a:rPr>
              <a:t>Initiatives till 2020</a:t>
            </a:r>
          </a:p>
        </p:txBody>
      </p:sp>
      <p:grpSp>
        <p:nvGrpSpPr>
          <p:cNvPr id="4" name="Group 3"/>
          <p:cNvGrpSpPr/>
          <p:nvPr/>
        </p:nvGrpSpPr>
        <p:grpSpPr>
          <a:xfrm>
            <a:off x="393877" y="1302516"/>
            <a:ext cx="11404388" cy="5301483"/>
            <a:chOff x="163286" y="1232894"/>
            <a:chExt cx="11982784" cy="5222335"/>
          </a:xfrm>
        </p:grpSpPr>
        <p:grpSp>
          <p:nvGrpSpPr>
            <p:cNvPr id="84" name="Group 83"/>
            <p:cNvGrpSpPr/>
            <p:nvPr/>
          </p:nvGrpSpPr>
          <p:grpSpPr>
            <a:xfrm>
              <a:off x="163286" y="1232894"/>
              <a:ext cx="11982784" cy="5222335"/>
              <a:chOff x="284821" y="1405053"/>
              <a:chExt cx="11737301" cy="5030418"/>
            </a:xfrm>
          </p:grpSpPr>
          <p:sp>
            <p:nvSpPr>
              <p:cNvPr id="86" name="Rectangle 3"/>
              <p:cNvSpPr txBox="1">
                <a:spLocks noChangeArrowheads="1"/>
              </p:cNvSpPr>
              <p:nvPr/>
            </p:nvSpPr>
            <p:spPr>
              <a:xfrm>
                <a:off x="293305" y="1748171"/>
                <a:ext cx="2411305" cy="4687300"/>
              </a:xfrm>
              <a:prstGeom prst="rect">
                <a:avLst/>
              </a:prstGeom>
              <a:solidFill>
                <a:schemeClr val="bg1"/>
              </a:solidFill>
              <a:ln w="19050">
                <a:solidFill>
                  <a:schemeClr val="tx2"/>
                </a:solidFill>
              </a:ln>
            </p:spPr>
            <p:txBody>
              <a:bodyPr lIns="91418" tIns="45710" rIns="91418" bIns="45710"/>
              <a:lstStyle/>
              <a:p>
                <a:pPr algn="l">
                  <a:lnSpc>
                    <a:spcPct val="110000"/>
                  </a:lnSpc>
                  <a:spcAft>
                    <a:spcPts val="300"/>
                  </a:spcAft>
                  <a:defRPr/>
                </a:pPr>
                <a:r>
                  <a:rPr lang="en-US" sz="1200" kern="0" dirty="0">
                    <a:ea typeface="ＭＳ Ｐゴシック"/>
                    <a:cs typeface="Arial" pitchFamily="34" charset="0"/>
                  </a:rPr>
                  <a:t>Top Metrics Describing the Initial State</a:t>
                </a:r>
              </a:p>
              <a:p>
                <a:pPr marL="144000" indent="-144000">
                  <a:lnSpc>
                    <a:spcPct val="80000"/>
                  </a:lnSpc>
                  <a:spcAft>
                    <a:spcPts val="0"/>
                  </a:spcAft>
                  <a:defRPr/>
                </a:pPr>
                <a:endParaRPr lang="en-US" sz="1200" kern="0" dirty="0">
                  <a:ea typeface="ＭＳ Ｐゴシック"/>
                  <a:cs typeface="Arial" pitchFamily="34" charset="0"/>
                </a:endParaRPr>
              </a:p>
              <a:p>
                <a:pPr marL="144000" indent="-144000">
                  <a:spcAft>
                    <a:spcPts val="600"/>
                  </a:spcAft>
                  <a:buFont typeface="Arial" panose="020B0604020202020204" pitchFamily="34" charset="0"/>
                  <a:buChar char="•"/>
                  <a:defRPr/>
                </a:pPr>
                <a:r>
                  <a:rPr lang="en-US" sz="1150" kern="0" dirty="0">
                    <a:solidFill>
                      <a:prstClr val="black"/>
                    </a:solidFill>
                    <a:ea typeface="ＭＳ Ｐゴシック"/>
                    <a:cs typeface="Arial" pitchFamily="34" charset="0"/>
                  </a:rPr>
                  <a:t>Lack in automation with major technology debt for major business Divisions (i.e. Retail, Commercial 7 Marketing) and no vision nor roadmap of the way forward</a:t>
                </a:r>
              </a:p>
              <a:p>
                <a:pPr marL="144000" indent="-144000">
                  <a:spcAft>
                    <a:spcPts val="600"/>
                  </a:spcAft>
                  <a:buFont typeface="Arial" panose="020B0604020202020204" pitchFamily="34" charset="0"/>
                  <a:buChar char="•"/>
                  <a:defRPr/>
                </a:pPr>
                <a:r>
                  <a:rPr lang="en-US" sz="1150" kern="0" dirty="0">
                    <a:solidFill>
                      <a:prstClr val="black"/>
                    </a:solidFill>
                    <a:ea typeface="ＭＳ Ｐゴシック"/>
                    <a:cs typeface="Arial" pitchFamily="34" charset="0"/>
                  </a:rPr>
                  <a:t>Recognized lack of responsiveness to business needs due to escalation-based demand management</a:t>
                </a:r>
              </a:p>
              <a:p>
                <a:pPr marL="144000" indent="-144000">
                  <a:spcAft>
                    <a:spcPts val="600"/>
                  </a:spcAft>
                  <a:buFont typeface="Arial" panose="020B0604020202020204" pitchFamily="34" charset="0"/>
                  <a:buChar char="•"/>
                  <a:defRPr/>
                </a:pPr>
                <a:r>
                  <a:rPr lang="en-US" sz="1150" kern="0" dirty="0">
                    <a:solidFill>
                      <a:prstClr val="black"/>
                    </a:solidFill>
                    <a:ea typeface="ＭＳ Ｐゴシック"/>
                    <a:cs typeface="Arial" pitchFamily="34" charset="0"/>
                  </a:rPr>
                  <a:t>Missing key IT governance and planning functions throughout ITD Value chain and tools to manage IT KPIs</a:t>
                </a:r>
              </a:p>
              <a:p>
                <a:pPr marL="144000" indent="-144000">
                  <a:spcAft>
                    <a:spcPts val="600"/>
                  </a:spcAft>
                  <a:buFont typeface="Arial" panose="020B0604020202020204" pitchFamily="34" charset="0"/>
                  <a:buChar char="•"/>
                  <a:defRPr/>
                </a:pPr>
                <a:r>
                  <a:rPr lang="en-US" sz="1150" kern="0" dirty="0">
                    <a:solidFill>
                      <a:prstClr val="black"/>
                    </a:solidFill>
                    <a:ea typeface="ＭＳ Ｐゴシック"/>
                    <a:cs typeface="Arial" pitchFamily="34" charset="0"/>
                  </a:rPr>
                  <a:t>Costly long cycle service and solution creation (lack in innovation thinking)</a:t>
                </a:r>
              </a:p>
              <a:p>
                <a:pPr marL="144000" indent="-144000">
                  <a:spcAft>
                    <a:spcPts val="600"/>
                  </a:spcAft>
                  <a:buFont typeface="Arial" panose="020B0604020202020204" pitchFamily="34" charset="0"/>
                  <a:buChar char="•"/>
                  <a:defRPr/>
                </a:pPr>
                <a:endParaRPr lang="en-US" sz="1200" kern="0" dirty="0">
                  <a:solidFill>
                    <a:prstClr val="black"/>
                  </a:solidFill>
                  <a:ea typeface="ＭＳ Ｐゴシック"/>
                  <a:cs typeface="Arial" pitchFamily="34" charset="0"/>
                </a:endParaRPr>
              </a:p>
              <a:p>
                <a:pPr marL="144000" indent="-144000">
                  <a:spcAft>
                    <a:spcPts val="600"/>
                  </a:spcAft>
                  <a:buFont typeface="Arial" panose="020B0604020202020204" pitchFamily="34" charset="0"/>
                  <a:buChar char="•"/>
                  <a:defRPr/>
                </a:pPr>
                <a:endParaRPr lang="en-US" sz="1200" kern="0" dirty="0">
                  <a:solidFill>
                    <a:prstClr val="black"/>
                  </a:solidFill>
                  <a:ea typeface="ＭＳ Ｐゴシック"/>
                  <a:cs typeface="Arial" pitchFamily="34" charset="0"/>
                </a:endParaRPr>
              </a:p>
              <a:p>
                <a:pPr marL="144000" indent="-144000">
                  <a:spcAft>
                    <a:spcPts val="600"/>
                  </a:spcAft>
                  <a:buFont typeface="Arial" panose="020B0604020202020204" pitchFamily="34" charset="0"/>
                  <a:buChar char="•"/>
                  <a:defRPr/>
                </a:pPr>
                <a:endParaRPr lang="en-US" sz="1200" kern="0" dirty="0">
                  <a:solidFill>
                    <a:prstClr val="black"/>
                  </a:solidFill>
                  <a:ea typeface="ＭＳ Ｐゴシック"/>
                  <a:cs typeface="Arial" pitchFamily="34" charset="0"/>
                </a:endParaRPr>
              </a:p>
            </p:txBody>
          </p:sp>
          <p:sp>
            <p:nvSpPr>
              <p:cNvPr id="87" name="Rectangle 24"/>
              <p:cNvSpPr>
                <a:spLocks noChangeArrowheads="1"/>
              </p:cNvSpPr>
              <p:nvPr/>
            </p:nvSpPr>
            <p:spPr bwMode="auto">
              <a:xfrm>
                <a:off x="284821" y="1405056"/>
                <a:ext cx="2419789" cy="271281"/>
              </a:xfrm>
              <a:prstGeom prst="rect">
                <a:avLst/>
              </a:prstGeom>
              <a:solidFill>
                <a:schemeClr val="accent2"/>
              </a:solidFill>
              <a:ln w="12700">
                <a:solidFill>
                  <a:schemeClr val="tx2">
                    <a:lumMod val="20000"/>
                    <a:lumOff val="80000"/>
                  </a:schemeClr>
                </a:solidFill>
              </a:ln>
            </p:spPr>
            <p:txBody>
              <a:bodyPr lIns="45710" tIns="0" rIns="45710" bIns="0" anchor="ctr"/>
              <a:lstStyle>
                <a:lvl1pPr eaLnBrk="0" hangingPunct="0">
                  <a:lnSpc>
                    <a:spcPts val="2400"/>
                  </a:lnSpc>
                  <a:defRPr>
                    <a:solidFill>
                      <a:schemeClr val="tx1"/>
                    </a:solidFill>
                    <a:latin typeface="Arial" pitchFamily="34" charset="0"/>
                    <a:ea typeface="ＭＳ Ｐゴシック" pitchFamily="34" charset="-128"/>
                  </a:defRPr>
                </a:lvl1pPr>
                <a:lvl2pPr marL="742950" indent="-285750" eaLnBrk="0" hangingPunct="0">
                  <a:lnSpc>
                    <a:spcPts val="2400"/>
                  </a:lnSpc>
                  <a:buChar char="–"/>
                  <a:defRPr>
                    <a:solidFill>
                      <a:schemeClr val="tx1"/>
                    </a:solidFill>
                    <a:latin typeface="Arial" pitchFamily="34" charset="0"/>
                    <a:ea typeface="ＭＳ Ｐゴシック" pitchFamily="34" charset="-128"/>
                  </a:defRPr>
                </a:lvl2pPr>
                <a:lvl3pPr marL="1143000" indent="-228600" eaLnBrk="0" hangingPunct="0">
                  <a:lnSpc>
                    <a:spcPts val="2400"/>
                  </a:lnSpc>
                  <a:buChar char="•"/>
                  <a:defRPr>
                    <a:solidFill>
                      <a:schemeClr val="tx1"/>
                    </a:solidFill>
                    <a:latin typeface="Arial" pitchFamily="34" charset="0"/>
                    <a:ea typeface="ＭＳ Ｐゴシック" pitchFamily="34" charset="-128"/>
                  </a:defRPr>
                </a:lvl3pPr>
                <a:lvl4pPr marL="1600200" indent="-228600" eaLnBrk="0" hangingPunct="0">
                  <a:lnSpc>
                    <a:spcPts val="2400"/>
                  </a:lnSpc>
                  <a:buChar char="–"/>
                  <a:defRPr>
                    <a:solidFill>
                      <a:schemeClr val="tx1"/>
                    </a:solidFill>
                    <a:latin typeface="Arial" pitchFamily="34" charset="0"/>
                    <a:ea typeface="ＭＳ Ｐゴシック" pitchFamily="34" charset="-128"/>
                  </a:defRPr>
                </a:lvl4pPr>
                <a:lvl5pPr marL="2057400" indent="-228600" eaLnBrk="0" hangingPunct="0">
                  <a:lnSpc>
                    <a:spcPts val="2400"/>
                  </a:lnSpc>
                  <a:buChar char="»"/>
                  <a:defRPr>
                    <a:solidFill>
                      <a:schemeClr val="tx1"/>
                    </a:solidFill>
                    <a:latin typeface="Arial" pitchFamily="34" charset="0"/>
                    <a:ea typeface="ＭＳ Ｐゴシック" pitchFamily="34" charset="-128"/>
                  </a:defRPr>
                </a:lvl5pPr>
                <a:lvl6pPr marL="25146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6pPr>
                <a:lvl7pPr marL="29718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7pPr>
                <a:lvl8pPr marL="34290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8pPr>
                <a:lvl9pPr marL="38862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9pPr>
              </a:lstStyle>
              <a:p>
                <a:pPr algn="ctr" eaLnBrk="1" hangingPunct="1">
                  <a:lnSpc>
                    <a:spcPct val="100000"/>
                  </a:lnSpc>
                  <a:spcBef>
                    <a:spcPct val="50000"/>
                  </a:spcBef>
                </a:pPr>
                <a:r>
                  <a:rPr lang="en-US" altLang="en-US" sz="1200" b="1" dirty="0">
                    <a:solidFill>
                      <a:schemeClr val="bg1"/>
                    </a:solidFill>
                    <a:latin typeface="+mn-lt"/>
                  </a:rPr>
                  <a:t>State of IT in 2018 (Baseline)</a:t>
                </a:r>
              </a:p>
            </p:txBody>
          </p:sp>
          <p:sp>
            <p:nvSpPr>
              <p:cNvPr id="88" name="Rectangle 24"/>
              <p:cNvSpPr>
                <a:spLocks noChangeArrowheads="1"/>
              </p:cNvSpPr>
              <p:nvPr/>
            </p:nvSpPr>
            <p:spPr bwMode="auto">
              <a:xfrm>
                <a:off x="9486954" y="1405056"/>
                <a:ext cx="2535168" cy="271281"/>
              </a:xfrm>
              <a:prstGeom prst="rect">
                <a:avLst/>
              </a:prstGeom>
              <a:solidFill>
                <a:schemeClr val="accent2"/>
              </a:solidFill>
              <a:ln w="12700">
                <a:solidFill>
                  <a:schemeClr val="tx2">
                    <a:lumMod val="20000"/>
                    <a:lumOff val="80000"/>
                  </a:schemeClr>
                </a:solidFill>
              </a:ln>
            </p:spPr>
            <p:txBody>
              <a:bodyPr lIns="45710" tIns="0" rIns="45710" bIns="0" anchor="ctr"/>
              <a:lstStyle>
                <a:lvl1pPr eaLnBrk="0" hangingPunct="0">
                  <a:lnSpc>
                    <a:spcPts val="2400"/>
                  </a:lnSpc>
                  <a:defRPr>
                    <a:solidFill>
                      <a:schemeClr val="tx1"/>
                    </a:solidFill>
                    <a:latin typeface="Arial" pitchFamily="34" charset="0"/>
                    <a:ea typeface="ＭＳ Ｐゴシック" pitchFamily="34" charset="-128"/>
                  </a:defRPr>
                </a:lvl1pPr>
                <a:lvl2pPr marL="742950" indent="-285750" eaLnBrk="0" hangingPunct="0">
                  <a:lnSpc>
                    <a:spcPts val="2400"/>
                  </a:lnSpc>
                  <a:buChar char="–"/>
                  <a:defRPr>
                    <a:solidFill>
                      <a:schemeClr val="tx1"/>
                    </a:solidFill>
                    <a:latin typeface="Arial" pitchFamily="34" charset="0"/>
                    <a:ea typeface="ＭＳ Ｐゴシック" pitchFamily="34" charset="-128"/>
                  </a:defRPr>
                </a:lvl2pPr>
                <a:lvl3pPr marL="1143000" indent="-228600" eaLnBrk="0" hangingPunct="0">
                  <a:lnSpc>
                    <a:spcPts val="2400"/>
                  </a:lnSpc>
                  <a:buChar char="•"/>
                  <a:defRPr>
                    <a:solidFill>
                      <a:schemeClr val="tx1"/>
                    </a:solidFill>
                    <a:latin typeface="Arial" pitchFamily="34" charset="0"/>
                    <a:ea typeface="ＭＳ Ｐゴシック" pitchFamily="34" charset="-128"/>
                  </a:defRPr>
                </a:lvl3pPr>
                <a:lvl4pPr marL="1600200" indent="-228600" eaLnBrk="0" hangingPunct="0">
                  <a:lnSpc>
                    <a:spcPts val="2400"/>
                  </a:lnSpc>
                  <a:buChar char="–"/>
                  <a:defRPr>
                    <a:solidFill>
                      <a:schemeClr val="tx1"/>
                    </a:solidFill>
                    <a:latin typeface="Arial" pitchFamily="34" charset="0"/>
                    <a:ea typeface="ＭＳ Ｐゴシック" pitchFamily="34" charset="-128"/>
                  </a:defRPr>
                </a:lvl4pPr>
                <a:lvl5pPr marL="2057400" indent="-228600" eaLnBrk="0" hangingPunct="0">
                  <a:lnSpc>
                    <a:spcPts val="2400"/>
                  </a:lnSpc>
                  <a:buChar char="»"/>
                  <a:defRPr>
                    <a:solidFill>
                      <a:schemeClr val="tx1"/>
                    </a:solidFill>
                    <a:latin typeface="Arial" pitchFamily="34" charset="0"/>
                    <a:ea typeface="ＭＳ Ｐゴシック" pitchFamily="34" charset="-128"/>
                  </a:defRPr>
                </a:lvl5pPr>
                <a:lvl6pPr marL="25146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6pPr>
                <a:lvl7pPr marL="29718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7pPr>
                <a:lvl8pPr marL="34290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8pPr>
                <a:lvl9pPr marL="38862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9pPr>
              </a:lstStyle>
              <a:p>
                <a:pPr algn="ctr" eaLnBrk="1" hangingPunct="1">
                  <a:lnSpc>
                    <a:spcPct val="100000"/>
                  </a:lnSpc>
                  <a:spcBef>
                    <a:spcPct val="50000"/>
                  </a:spcBef>
                </a:pPr>
                <a:r>
                  <a:rPr lang="en-US" altLang="en-US" sz="1200" b="1" dirty="0">
                    <a:solidFill>
                      <a:schemeClr val="bg1"/>
                    </a:solidFill>
                    <a:latin typeface="+mn-lt"/>
                  </a:rPr>
                  <a:t>State of ITD end of 2020 (Future)</a:t>
                </a:r>
              </a:p>
            </p:txBody>
          </p:sp>
          <p:sp>
            <p:nvSpPr>
              <p:cNvPr id="90" name="Rectangle 3"/>
              <p:cNvSpPr txBox="1">
                <a:spLocks noChangeArrowheads="1"/>
              </p:cNvSpPr>
              <p:nvPr/>
            </p:nvSpPr>
            <p:spPr>
              <a:xfrm>
                <a:off x="9495438" y="1748169"/>
                <a:ext cx="2526684" cy="4687300"/>
              </a:xfrm>
              <a:prstGeom prst="rect">
                <a:avLst/>
              </a:prstGeom>
              <a:solidFill>
                <a:schemeClr val="bg1"/>
              </a:solidFill>
              <a:ln w="28575">
                <a:solidFill>
                  <a:schemeClr val="tx2"/>
                </a:solidFill>
              </a:ln>
            </p:spPr>
            <p:txBody>
              <a:bodyPr lIns="91418" tIns="45710" rIns="91418" bIns="45710"/>
              <a:lstStyle/>
              <a:p>
                <a:pPr algn="l">
                  <a:lnSpc>
                    <a:spcPct val="110000"/>
                  </a:lnSpc>
                  <a:spcAft>
                    <a:spcPts val="300"/>
                  </a:spcAft>
                  <a:defRPr/>
                </a:pPr>
                <a:r>
                  <a:rPr lang="en-US" sz="1200" b="1" kern="0" dirty="0">
                    <a:ea typeface="ＭＳ Ｐゴシック"/>
                    <a:cs typeface="Arial" pitchFamily="34" charset="0"/>
                  </a:rPr>
                  <a:t>Top Metrics Describing the Target States</a:t>
                </a:r>
              </a:p>
              <a:p>
                <a:pPr marL="144000" indent="-144000">
                  <a:lnSpc>
                    <a:spcPct val="80000"/>
                  </a:lnSpc>
                  <a:spcAft>
                    <a:spcPts val="0"/>
                  </a:spcAft>
                  <a:defRPr/>
                </a:pPr>
                <a:endParaRPr lang="en-US" sz="1200" b="1" kern="0" dirty="0">
                  <a:ea typeface="ＭＳ Ｐゴシック"/>
                  <a:cs typeface="Arial" pitchFamily="34" charset="0"/>
                </a:endParaRPr>
              </a:p>
              <a:p>
                <a:pPr marL="144000" indent="-144000">
                  <a:spcAft>
                    <a:spcPts val="600"/>
                  </a:spcAft>
                  <a:buFont typeface="Arial" panose="020B0604020202020204" pitchFamily="34" charset="0"/>
                  <a:buChar char="•"/>
                  <a:defRPr/>
                </a:pPr>
                <a:r>
                  <a:rPr lang="en-US" sz="1150" kern="0" dirty="0">
                    <a:solidFill>
                      <a:prstClr val="black"/>
                    </a:solidFill>
                    <a:ea typeface="ＭＳ Ｐゴシック"/>
                    <a:cs typeface="Arial" pitchFamily="34" charset="0"/>
                  </a:rPr>
                  <a:t>Become the center of excellence</a:t>
                </a:r>
                <a:br>
                  <a:rPr lang="en-US" sz="1150" kern="0" dirty="0">
                    <a:solidFill>
                      <a:prstClr val="black"/>
                    </a:solidFill>
                    <a:ea typeface="ＭＳ Ｐゴシック"/>
                    <a:cs typeface="Arial" pitchFamily="34" charset="0"/>
                  </a:rPr>
                </a:br>
                <a:r>
                  <a:rPr lang="en-US" sz="1150" kern="0" dirty="0">
                    <a:solidFill>
                      <a:prstClr val="black"/>
                    </a:solidFill>
                    <a:ea typeface="ＭＳ Ｐゴシック"/>
                    <a:cs typeface="Arial" pitchFamily="34" charset="0"/>
                  </a:rPr>
                  <a:t>for automation: Clear, approved and financed business automation roadmap enabling customer oriented, industry focused and highly interconnected solutions</a:t>
                </a:r>
              </a:p>
              <a:p>
                <a:pPr marL="144000" indent="-144000">
                  <a:spcAft>
                    <a:spcPts val="600"/>
                  </a:spcAft>
                  <a:buFont typeface="Arial" panose="020B0604020202020204" pitchFamily="34" charset="0"/>
                  <a:buChar char="•"/>
                  <a:defRPr/>
                </a:pPr>
                <a:r>
                  <a:rPr lang="en-US" sz="1150" kern="0" dirty="0">
                    <a:solidFill>
                      <a:prstClr val="black"/>
                    </a:solidFill>
                    <a:ea typeface="ＭＳ Ｐゴシック"/>
                    <a:cs typeface="Arial" pitchFamily="34" charset="0"/>
                  </a:rPr>
                  <a:t>Predictable IT demand and supply management process followed by the whole company</a:t>
                </a:r>
              </a:p>
              <a:p>
                <a:pPr marL="144000" indent="-144000">
                  <a:spcAft>
                    <a:spcPts val="600"/>
                  </a:spcAft>
                  <a:buFont typeface="Arial" panose="020B0604020202020204" pitchFamily="34" charset="0"/>
                  <a:buChar char="•"/>
                  <a:defRPr/>
                </a:pPr>
                <a:r>
                  <a:rPr lang="en-US" sz="1150" kern="0" dirty="0">
                    <a:solidFill>
                      <a:prstClr val="black"/>
                    </a:solidFill>
                    <a:ea typeface="ＭＳ Ｐゴシック"/>
                    <a:cs typeface="Arial" pitchFamily="34" charset="0"/>
                  </a:rPr>
                  <a:t>Established strong &amp; robust value chain (from Plan to Run) and sufficient number and quality of IT KPIs to allow proper management and a digital ready workforce with a new set of competencies </a:t>
                </a:r>
              </a:p>
              <a:p>
                <a:pPr marL="144000" indent="-144000">
                  <a:spcAft>
                    <a:spcPts val="600"/>
                  </a:spcAft>
                  <a:buFont typeface="Arial" panose="020B0604020202020204" pitchFamily="34" charset="0"/>
                  <a:buChar char="•"/>
                  <a:defRPr/>
                </a:pPr>
                <a:r>
                  <a:rPr lang="en-US" altLang="en-US" sz="1150" kern="0" dirty="0">
                    <a:solidFill>
                      <a:prstClr val="black"/>
                    </a:solidFill>
                    <a:ea typeface="ＭＳ Ｐゴシック"/>
                    <a:cs typeface="Arial" pitchFamily="34" charset="0"/>
                  </a:rPr>
                  <a:t>Create the technology environment that will enable the business to innovate</a:t>
                </a:r>
              </a:p>
            </p:txBody>
          </p:sp>
          <p:sp>
            <p:nvSpPr>
              <p:cNvPr id="91" name="Rectangle 3"/>
              <p:cNvSpPr txBox="1">
                <a:spLocks noChangeArrowheads="1"/>
              </p:cNvSpPr>
              <p:nvPr/>
            </p:nvSpPr>
            <p:spPr>
              <a:xfrm>
                <a:off x="2852876" y="5450768"/>
                <a:ext cx="6478696" cy="984702"/>
              </a:xfrm>
              <a:prstGeom prst="rect">
                <a:avLst/>
              </a:prstGeom>
              <a:solidFill>
                <a:srgbClr val="D6D6D6"/>
              </a:solidFill>
              <a:ln w="12700">
                <a:solidFill>
                  <a:schemeClr val="tx2">
                    <a:lumMod val="20000"/>
                    <a:lumOff val="80000"/>
                  </a:schemeClr>
                </a:solidFill>
              </a:ln>
            </p:spPr>
            <p:txBody>
              <a:bodyPr lIns="91418" tIns="45710" rIns="91418" bIns="45710"/>
              <a:lstStyle/>
              <a:p>
                <a:pPr>
                  <a:spcBef>
                    <a:spcPts val="0"/>
                  </a:spcBef>
                  <a:spcAft>
                    <a:spcPts val="600"/>
                  </a:spcAft>
                  <a:defRPr/>
                </a:pPr>
                <a:r>
                  <a:rPr lang="en-US" sz="1200" b="1" dirty="0">
                    <a:solidFill>
                      <a:prstClr val="black"/>
                    </a:solidFill>
                    <a:ea typeface="ＭＳ Ｐゴシック" pitchFamily="34" charset="-128"/>
                  </a:rPr>
                  <a:t>Top Underlying Beliefs and Assumptions</a:t>
                </a:r>
              </a:p>
              <a:p>
                <a:pPr marL="144000" lvl="0" indent="-144000">
                  <a:lnSpc>
                    <a:spcPct val="80000"/>
                  </a:lnSpc>
                  <a:spcAft>
                    <a:spcPts val="300"/>
                  </a:spcAft>
                  <a:buFont typeface="Arial" panose="020B0604020202020204" pitchFamily="34" charset="0"/>
                  <a:buChar char="•"/>
                  <a:defRPr/>
                </a:pPr>
                <a:r>
                  <a:rPr lang="en-US" sz="1200" kern="0" dirty="0">
                    <a:ea typeface="ＭＳ Ｐゴシック"/>
                    <a:cs typeface="Arial" pitchFamily="34" charset="0"/>
                  </a:rPr>
                  <a:t>Capacity of IT team needs to be increased</a:t>
                </a:r>
              </a:p>
              <a:p>
                <a:pPr marL="144000" lvl="0" indent="-144000">
                  <a:lnSpc>
                    <a:spcPct val="80000"/>
                  </a:lnSpc>
                  <a:spcAft>
                    <a:spcPts val="300"/>
                  </a:spcAft>
                  <a:buFont typeface="Arial" panose="020B0604020202020204" pitchFamily="34" charset="0"/>
                  <a:buChar char="•"/>
                  <a:defRPr/>
                </a:pPr>
                <a:r>
                  <a:rPr lang="en-US" sz="1200" kern="0" dirty="0">
                    <a:ea typeface="ＭＳ Ｐゴシック"/>
                    <a:cs typeface="Arial" pitchFamily="34" charset="0"/>
                  </a:rPr>
                  <a:t>One ERP implementation for all support functions (Finance, HR, Procurement, </a:t>
                </a:r>
                <a:r>
                  <a:rPr lang="en-US" sz="1200" kern="0" dirty="0" err="1">
                    <a:ea typeface="ＭＳ Ｐゴシック"/>
                    <a:cs typeface="Arial" pitchFamily="34" charset="0"/>
                  </a:rPr>
                  <a:t>etc</a:t>
                </a:r>
                <a:r>
                  <a:rPr lang="en-US" sz="1200" kern="0" dirty="0">
                    <a:ea typeface="ＭＳ Ｐゴシック"/>
                    <a:cs typeface="Arial" pitchFamily="34" charset="0"/>
                  </a:rPr>
                  <a:t>)</a:t>
                </a:r>
              </a:p>
              <a:p>
                <a:pPr marL="144000" lvl="0" indent="-144000">
                  <a:lnSpc>
                    <a:spcPct val="80000"/>
                  </a:lnSpc>
                  <a:spcAft>
                    <a:spcPts val="300"/>
                  </a:spcAft>
                  <a:buFont typeface="Arial" panose="020B0604020202020204" pitchFamily="34" charset="0"/>
                  <a:buChar char="•"/>
                  <a:defRPr/>
                </a:pPr>
                <a:r>
                  <a:rPr lang="en-US" sz="1200" kern="0" dirty="0">
                    <a:ea typeface="ＭＳ Ｐゴシック"/>
                    <a:cs typeface="Arial" pitchFamily="34" charset="0"/>
                  </a:rPr>
                  <a:t>Business direction will not significantly deviate from the approved business strategy</a:t>
                </a:r>
              </a:p>
              <a:p>
                <a:pPr algn="l">
                  <a:spcBef>
                    <a:spcPts val="0"/>
                  </a:spcBef>
                  <a:defRPr/>
                </a:pPr>
                <a:endParaRPr lang="en-US" altLang="en-US" sz="1200" b="1" dirty="0">
                  <a:ea typeface="ＭＳ Ｐゴシック" pitchFamily="34" charset="-128"/>
                </a:endParaRPr>
              </a:p>
            </p:txBody>
          </p:sp>
          <p:sp>
            <p:nvSpPr>
              <p:cNvPr id="92" name="Right Arrow 19"/>
              <p:cNvSpPr>
                <a:spLocks noChangeArrowheads="1"/>
              </p:cNvSpPr>
              <p:nvPr/>
            </p:nvSpPr>
            <p:spPr bwMode="auto">
              <a:xfrm>
                <a:off x="2852876" y="1405053"/>
                <a:ext cx="6478696" cy="4000052"/>
              </a:xfrm>
              <a:prstGeom prst="homePlate">
                <a:avLst>
                  <a:gd name="adj" fmla="val 6183"/>
                </a:avLst>
              </a:prstGeom>
              <a:noFill/>
              <a:ln w="12700">
                <a:solidFill>
                  <a:schemeClr val="tx2">
                    <a:lumMod val="20000"/>
                    <a:lumOff val="80000"/>
                  </a:schemeClr>
                </a:solidFill>
              </a:ln>
            </p:spPr>
            <p:txBody>
              <a:bodyPr lIns="35991" tIns="36000" rIns="71982" bIns="35991"/>
              <a:lstStyle>
                <a:lvl1pPr marL="119063" indent="-119063" eaLnBrk="0" hangingPunct="0">
                  <a:lnSpc>
                    <a:spcPts val="2400"/>
                  </a:lnSpc>
                  <a:defRPr>
                    <a:solidFill>
                      <a:schemeClr val="tx1"/>
                    </a:solidFill>
                    <a:latin typeface="Arial" pitchFamily="34" charset="0"/>
                    <a:ea typeface="ＭＳ Ｐゴシック" pitchFamily="34" charset="-128"/>
                  </a:defRPr>
                </a:lvl1pPr>
                <a:lvl2pPr marL="742950" indent="-285750" eaLnBrk="0" hangingPunct="0">
                  <a:lnSpc>
                    <a:spcPts val="2400"/>
                  </a:lnSpc>
                  <a:buChar char="–"/>
                  <a:defRPr>
                    <a:solidFill>
                      <a:schemeClr val="tx1"/>
                    </a:solidFill>
                    <a:latin typeface="Arial" pitchFamily="34" charset="0"/>
                    <a:ea typeface="ＭＳ Ｐゴシック" pitchFamily="34" charset="-128"/>
                  </a:defRPr>
                </a:lvl2pPr>
                <a:lvl3pPr marL="1143000" indent="-228600" eaLnBrk="0" hangingPunct="0">
                  <a:lnSpc>
                    <a:spcPts val="2400"/>
                  </a:lnSpc>
                  <a:buChar char="•"/>
                  <a:defRPr>
                    <a:solidFill>
                      <a:schemeClr val="tx1"/>
                    </a:solidFill>
                    <a:latin typeface="Arial" pitchFamily="34" charset="0"/>
                    <a:ea typeface="ＭＳ Ｐゴシック" pitchFamily="34" charset="-128"/>
                  </a:defRPr>
                </a:lvl3pPr>
                <a:lvl4pPr marL="1600200" indent="-228600" eaLnBrk="0" hangingPunct="0">
                  <a:lnSpc>
                    <a:spcPts val="2400"/>
                  </a:lnSpc>
                  <a:buChar char="–"/>
                  <a:defRPr>
                    <a:solidFill>
                      <a:schemeClr val="tx1"/>
                    </a:solidFill>
                    <a:latin typeface="Arial" pitchFamily="34" charset="0"/>
                    <a:ea typeface="ＭＳ Ｐゴシック" pitchFamily="34" charset="-128"/>
                  </a:defRPr>
                </a:lvl4pPr>
                <a:lvl5pPr marL="2057400" indent="-228600" eaLnBrk="0" hangingPunct="0">
                  <a:lnSpc>
                    <a:spcPts val="2400"/>
                  </a:lnSpc>
                  <a:buChar char="»"/>
                  <a:defRPr>
                    <a:solidFill>
                      <a:schemeClr val="tx1"/>
                    </a:solidFill>
                    <a:latin typeface="Arial" pitchFamily="34" charset="0"/>
                    <a:ea typeface="ＭＳ Ｐゴシック" pitchFamily="34" charset="-128"/>
                  </a:defRPr>
                </a:lvl5pPr>
                <a:lvl6pPr marL="25146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6pPr>
                <a:lvl7pPr marL="29718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7pPr>
                <a:lvl8pPr marL="34290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8pPr>
                <a:lvl9pPr marL="3886200" indent="-228600" eaLnBrk="0" fontAlgn="base" hangingPunct="0">
                  <a:lnSpc>
                    <a:spcPts val="2400"/>
                  </a:lnSpc>
                  <a:spcBef>
                    <a:spcPct val="0"/>
                  </a:spcBef>
                  <a:spcAft>
                    <a:spcPct val="0"/>
                  </a:spcAft>
                  <a:buChar char="»"/>
                  <a:defRPr>
                    <a:solidFill>
                      <a:schemeClr val="tx1"/>
                    </a:solidFill>
                    <a:latin typeface="Arial" pitchFamily="34" charset="0"/>
                    <a:ea typeface="ＭＳ Ｐゴシック" pitchFamily="34" charset="-128"/>
                  </a:defRPr>
                </a:lvl9pPr>
              </a:lstStyle>
              <a:p>
                <a:pPr marL="0" indent="0" algn="l" eaLnBrk="1" hangingPunct="1">
                  <a:lnSpc>
                    <a:spcPct val="100000"/>
                  </a:lnSpc>
                  <a:spcBef>
                    <a:spcPts val="0"/>
                  </a:spcBef>
                </a:pPr>
                <a:r>
                  <a:rPr lang="en-US" altLang="en-US" sz="1200" b="1" dirty="0">
                    <a:latin typeface="+mn-lt"/>
                  </a:rPr>
                  <a:t>Key IT strategic initiatives influencing IT &amp; Business:</a:t>
                </a:r>
              </a:p>
            </p:txBody>
          </p:sp>
        </p:grpSp>
        <p:sp>
          <p:nvSpPr>
            <p:cNvPr id="93" name="Rectangle 92"/>
            <p:cNvSpPr/>
            <p:nvPr/>
          </p:nvSpPr>
          <p:spPr>
            <a:xfrm>
              <a:off x="2818330" y="3431449"/>
              <a:ext cx="1903878" cy="34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spcAft>
                  <a:spcPts val="600"/>
                </a:spcAft>
                <a:buFont typeface="+mj-lt"/>
                <a:buAutoNum type="arabicPeriod" startAt="3"/>
              </a:pPr>
              <a:endParaRPr lang="en-US" sz="1600" dirty="0"/>
            </a:p>
          </p:txBody>
        </p:sp>
        <p:sp>
          <p:nvSpPr>
            <p:cNvPr id="94" name="Rectangle 93"/>
            <p:cNvSpPr/>
            <p:nvPr/>
          </p:nvSpPr>
          <p:spPr>
            <a:xfrm>
              <a:off x="2818330" y="1532236"/>
              <a:ext cx="1903878" cy="34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spcAft>
                  <a:spcPts val="600"/>
                </a:spcAft>
                <a:buFont typeface="+mj-lt"/>
                <a:buAutoNum type="arabicPeriod"/>
              </a:pPr>
              <a:r>
                <a:rPr lang="en-US" altLang="en-US" sz="1200" b="1" dirty="0">
                  <a:solidFill>
                    <a:prstClr val="black"/>
                  </a:solidFill>
                  <a:ea typeface="ＭＳ Ｐゴシック" pitchFamily="34" charset="-128"/>
                </a:rPr>
                <a:t>Enable The Business Transformation</a:t>
              </a:r>
            </a:p>
          </p:txBody>
        </p:sp>
        <p:sp>
          <p:nvSpPr>
            <p:cNvPr id="95" name="Rectangle 94"/>
            <p:cNvSpPr/>
            <p:nvPr/>
          </p:nvSpPr>
          <p:spPr>
            <a:xfrm>
              <a:off x="2818330" y="4673780"/>
              <a:ext cx="1919804" cy="34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spcAft>
                  <a:spcPts val="600"/>
                </a:spcAft>
                <a:buFont typeface="+mj-lt"/>
                <a:buAutoNum type="arabicPeriod" startAt="3"/>
              </a:pPr>
              <a:r>
                <a:rPr lang="en-US" altLang="en-US" sz="1200" b="1" dirty="0">
                  <a:solidFill>
                    <a:prstClr val="black"/>
                  </a:solidFill>
                  <a:ea typeface="ＭＳ Ｐゴシック" pitchFamily="34" charset="-128"/>
                </a:rPr>
                <a:t>Leverage Client Group Initiatives</a:t>
              </a:r>
            </a:p>
          </p:txBody>
        </p:sp>
        <p:sp>
          <p:nvSpPr>
            <p:cNvPr id="96" name="Rectangle 95"/>
            <p:cNvSpPr/>
            <p:nvPr/>
          </p:nvSpPr>
          <p:spPr>
            <a:xfrm>
              <a:off x="2818330" y="2576897"/>
              <a:ext cx="1919804" cy="34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spcAft>
                  <a:spcPts val="600"/>
                </a:spcAft>
                <a:buFont typeface="+mj-lt"/>
                <a:buAutoNum type="arabicPeriod" startAt="2"/>
              </a:pPr>
              <a:r>
                <a:rPr lang="en-US" altLang="en-US" sz="1200" b="1" dirty="0">
                  <a:solidFill>
                    <a:prstClr val="black"/>
                  </a:solidFill>
                  <a:ea typeface="ＭＳ Ｐゴシック" pitchFamily="34" charset="-128"/>
                </a:rPr>
                <a:t>Fix the basics</a:t>
              </a:r>
            </a:p>
          </p:txBody>
        </p:sp>
        <p:sp>
          <p:nvSpPr>
            <p:cNvPr id="97" name="Rectangle 96"/>
            <p:cNvSpPr/>
            <p:nvPr/>
          </p:nvSpPr>
          <p:spPr>
            <a:xfrm>
              <a:off x="4597399" y="4701961"/>
              <a:ext cx="4584699" cy="623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Introducing and implementing centralized solutions across Client Group of companies (GITI projects &amp; One ERP) while ensuring return on investment</a:t>
              </a:r>
            </a:p>
            <a:p>
              <a:pPr marL="0" lvl="1">
                <a:lnSpc>
                  <a:spcPct val="80000"/>
                </a:lnSpc>
                <a:spcAft>
                  <a:spcPts val="300"/>
                </a:spcAft>
                <a:defRPr/>
              </a:pPr>
              <a:endParaRPr lang="en-US" altLang="en-US" sz="1300" kern="0" dirty="0">
                <a:solidFill>
                  <a:prstClr val="black"/>
                </a:solidFill>
                <a:ea typeface="ＭＳ Ｐゴシック"/>
                <a:cs typeface="Arial" pitchFamily="34" charset="0"/>
              </a:endParaRPr>
            </a:p>
          </p:txBody>
        </p:sp>
        <p:sp>
          <p:nvSpPr>
            <p:cNvPr id="98" name="Rectangle 97"/>
            <p:cNvSpPr/>
            <p:nvPr/>
          </p:nvSpPr>
          <p:spPr>
            <a:xfrm>
              <a:off x="4580189" y="1522228"/>
              <a:ext cx="4601911" cy="916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Digital &amp; Customer Journey technology enrichments</a:t>
              </a: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Process automation to support business achieve their strategic objectives</a:t>
              </a: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Strong leverage of technologies and data to deliver proactive actionable insights to the business </a:t>
              </a:r>
            </a:p>
            <a:p>
              <a:pPr marL="0" lvl="1">
                <a:lnSpc>
                  <a:spcPct val="80000"/>
                </a:lnSpc>
                <a:spcAft>
                  <a:spcPts val="300"/>
                </a:spcAft>
                <a:defRPr/>
              </a:pPr>
              <a:endParaRPr lang="en-US" altLang="en-US" sz="1300" kern="0" dirty="0">
                <a:solidFill>
                  <a:prstClr val="black"/>
                </a:solidFill>
                <a:ea typeface="ＭＳ Ｐゴシック"/>
                <a:cs typeface="Arial" pitchFamily="34" charset="0"/>
              </a:endParaRPr>
            </a:p>
          </p:txBody>
        </p:sp>
        <p:sp>
          <p:nvSpPr>
            <p:cNvPr id="99" name="Rectangle 98"/>
            <p:cNvSpPr/>
            <p:nvPr/>
          </p:nvSpPr>
          <p:spPr>
            <a:xfrm>
              <a:off x="4580189" y="3415627"/>
              <a:ext cx="4601911" cy="999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144000" lvl="1" indent="-144000">
                <a:lnSpc>
                  <a:spcPct val="80000"/>
                </a:lnSpc>
                <a:spcAft>
                  <a:spcPts val="300"/>
                </a:spcAft>
                <a:buFont typeface="Arial" panose="020B0604020202020204" pitchFamily="34" charset="0"/>
                <a:buChar char="•"/>
                <a:defRPr/>
              </a:pPr>
              <a:endParaRPr lang="en-US" altLang="en-US" sz="1150" kern="0" dirty="0">
                <a:solidFill>
                  <a:prstClr val="black"/>
                </a:solidFill>
                <a:ea typeface="ＭＳ Ｐゴシック"/>
                <a:cs typeface="Arial" pitchFamily="34" charset="0"/>
              </a:endParaRPr>
            </a:p>
          </p:txBody>
        </p:sp>
        <p:sp>
          <p:nvSpPr>
            <p:cNvPr id="100" name="Rectangle 99"/>
            <p:cNvSpPr/>
            <p:nvPr/>
          </p:nvSpPr>
          <p:spPr>
            <a:xfrm>
              <a:off x="4580189" y="2576897"/>
              <a:ext cx="4601911" cy="20494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Improving predictability of delivery (demand &amp; supply management)</a:t>
              </a:r>
            </a:p>
            <a:p>
              <a:pPr marL="144000" lvl="1" indent="-144000">
                <a:lnSpc>
                  <a:spcPct val="80000"/>
                </a:lnSpc>
                <a:spcAft>
                  <a:spcPts val="300"/>
                </a:spcAft>
                <a:buFont typeface="Arial" panose="020B0604020202020204" pitchFamily="34" charset="0"/>
                <a:buChar char="•"/>
                <a:defRPr/>
              </a:pPr>
              <a:r>
                <a:rPr lang="en-GB" sz="1300" kern="0" dirty="0">
                  <a:solidFill>
                    <a:schemeClr val="tx1"/>
                  </a:solidFill>
                </a:rPr>
                <a:t>Simplifying technologies and eliminating the non value adding activities (or waste)</a:t>
              </a:r>
              <a:endParaRPr lang="en-US" altLang="en-US" sz="1300" kern="0" dirty="0">
                <a:solidFill>
                  <a:prstClr val="black"/>
                </a:solidFill>
                <a:ea typeface="ＭＳ Ｐゴシック"/>
                <a:cs typeface="Arial" pitchFamily="34" charset="0"/>
              </a:endParaRP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People development and trainings</a:t>
              </a: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Modern development practices and tooling</a:t>
              </a: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KPIs and Business service quality</a:t>
              </a: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Transition to agile in IT</a:t>
              </a: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IT reorganization - breaking down silos and building up missing governance and capabilities</a:t>
              </a:r>
            </a:p>
            <a:p>
              <a:pPr marL="144000" lvl="1" indent="-144000">
                <a:lnSpc>
                  <a:spcPct val="80000"/>
                </a:lnSpc>
                <a:spcAft>
                  <a:spcPts val="300"/>
                </a:spcAft>
                <a:buFont typeface="Arial" panose="020B0604020202020204" pitchFamily="34" charset="0"/>
                <a:buChar char="•"/>
                <a:defRPr/>
              </a:pPr>
              <a:r>
                <a:rPr lang="en-US" altLang="en-US" sz="1300" kern="0" dirty="0">
                  <a:solidFill>
                    <a:prstClr val="black"/>
                  </a:solidFill>
                  <a:ea typeface="ＭＳ Ｐゴシック"/>
                  <a:cs typeface="Arial" pitchFamily="34" charset="0"/>
                </a:rPr>
                <a:t>Enterprise architecture vision and plan</a:t>
              </a:r>
            </a:p>
          </p:txBody>
        </p:sp>
      </p:grpSp>
    </p:spTree>
    <p:extLst>
      <p:ext uri="{BB962C8B-B14F-4D97-AF65-F5344CB8AC3E}">
        <p14:creationId xmlns:p14="http://schemas.microsoft.com/office/powerpoint/2010/main" val="1616293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extLst>
              <p:ext uri="{D42A27DB-BD31-4B8C-83A1-F6EECF244321}">
                <p14:modId xmlns:p14="http://schemas.microsoft.com/office/powerpoint/2010/main" val="3246876511"/>
              </p:ext>
            </p:extLst>
          </p:nvPr>
        </p:nvGraphicFramePr>
        <p:xfrm>
          <a:off x="1525191" y="859780"/>
          <a:ext cx="1190" cy="1190"/>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25191" y="859780"/>
                        <a:ext cx="1190" cy="1190"/>
                      </a:xfrm>
                      <a:prstGeom prst="rect">
                        <a:avLst/>
                      </a:prstGeom>
                    </p:spPr>
                  </p:pic>
                </p:oleObj>
              </mc:Fallback>
            </mc:AlternateContent>
          </a:graphicData>
        </a:graphic>
      </p:graphicFrame>
      <p:sp>
        <p:nvSpPr>
          <p:cNvPr id="8" name="Rectangle 7"/>
          <p:cNvSpPr/>
          <p:nvPr/>
        </p:nvSpPr>
        <p:spPr>
          <a:xfrm>
            <a:off x="983432" y="908720"/>
            <a:ext cx="5764673" cy="5178689"/>
          </a:xfrm>
          <a:prstGeom prst="rect">
            <a:avLst/>
          </a:prstGeom>
          <a:solidFill>
            <a:srgbClr val="646464">
              <a:alpha val="5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5" name="Oval 4"/>
          <p:cNvSpPr/>
          <p:nvPr/>
        </p:nvSpPr>
        <p:spPr>
          <a:xfrm>
            <a:off x="624412" y="1288603"/>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26" name="Oval 25"/>
          <p:cNvSpPr/>
          <p:nvPr/>
        </p:nvSpPr>
        <p:spPr>
          <a:xfrm>
            <a:off x="624412" y="2208392"/>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6" name="Oval 5"/>
          <p:cNvSpPr/>
          <p:nvPr/>
        </p:nvSpPr>
        <p:spPr>
          <a:xfrm>
            <a:off x="624412" y="3128181"/>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17" name="Oval 16"/>
          <p:cNvSpPr/>
          <p:nvPr/>
        </p:nvSpPr>
        <p:spPr>
          <a:xfrm>
            <a:off x="624412" y="4047970"/>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7" name="Oval 6"/>
          <p:cNvSpPr/>
          <p:nvPr/>
        </p:nvSpPr>
        <p:spPr>
          <a:xfrm>
            <a:off x="624412" y="4967759"/>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grpSp>
        <p:nvGrpSpPr>
          <p:cNvPr id="4" name="Group 3"/>
          <p:cNvGrpSpPr/>
          <p:nvPr/>
        </p:nvGrpSpPr>
        <p:grpSpPr>
          <a:xfrm>
            <a:off x="2363215" y="1368001"/>
            <a:ext cx="107944" cy="566705"/>
            <a:chOff x="6348787" y="589394"/>
            <a:chExt cx="144000" cy="756000"/>
          </a:xfrm>
          <a:solidFill>
            <a:srgbClr val="1859A9"/>
          </a:solidFill>
        </p:grpSpPr>
        <p:cxnSp>
          <p:nvCxnSpPr>
            <p:cNvPr id="18" name="Straight Connector 17"/>
            <p:cNvCxnSpPr/>
            <p:nvPr/>
          </p:nvCxnSpPr>
          <p:spPr>
            <a:xfrm>
              <a:off x="6420787" y="589394"/>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348787" y="895394"/>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2" name="Group 11"/>
          <p:cNvGrpSpPr/>
          <p:nvPr/>
        </p:nvGrpSpPr>
        <p:grpSpPr>
          <a:xfrm>
            <a:off x="2363215" y="2287790"/>
            <a:ext cx="107944" cy="566705"/>
            <a:chOff x="6348787" y="1804920"/>
            <a:chExt cx="144000" cy="756000"/>
          </a:xfrm>
          <a:solidFill>
            <a:srgbClr val="1859A9"/>
          </a:solidFill>
        </p:grpSpPr>
        <p:cxnSp>
          <p:nvCxnSpPr>
            <p:cNvPr id="49" name="Straight Connector 48"/>
            <p:cNvCxnSpPr/>
            <p:nvPr/>
          </p:nvCxnSpPr>
          <p:spPr>
            <a:xfrm>
              <a:off x="6420787" y="180492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6348787" y="211092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3" name="Group 12"/>
          <p:cNvGrpSpPr/>
          <p:nvPr/>
        </p:nvGrpSpPr>
        <p:grpSpPr>
          <a:xfrm>
            <a:off x="2363215" y="3207579"/>
            <a:ext cx="107944" cy="566705"/>
            <a:chOff x="6348787" y="2943916"/>
            <a:chExt cx="144000" cy="756000"/>
          </a:xfrm>
          <a:solidFill>
            <a:srgbClr val="1859A9"/>
          </a:solidFill>
        </p:grpSpPr>
        <p:cxnSp>
          <p:nvCxnSpPr>
            <p:cNvPr id="52" name="Straight Connector 51"/>
            <p:cNvCxnSpPr/>
            <p:nvPr/>
          </p:nvCxnSpPr>
          <p:spPr>
            <a:xfrm>
              <a:off x="6420787" y="2943916"/>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6348787" y="3249916"/>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4" name="Group 13"/>
          <p:cNvGrpSpPr/>
          <p:nvPr/>
        </p:nvGrpSpPr>
        <p:grpSpPr>
          <a:xfrm>
            <a:off x="2363215" y="4127368"/>
            <a:ext cx="107944" cy="566705"/>
            <a:chOff x="6348787" y="4243830"/>
            <a:chExt cx="144000" cy="756000"/>
          </a:xfrm>
          <a:solidFill>
            <a:srgbClr val="1859A9"/>
          </a:solidFill>
        </p:grpSpPr>
        <p:cxnSp>
          <p:nvCxnSpPr>
            <p:cNvPr id="55" name="Straight Connector 54"/>
            <p:cNvCxnSpPr/>
            <p:nvPr/>
          </p:nvCxnSpPr>
          <p:spPr>
            <a:xfrm>
              <a:off x="6420787" y="424383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6348787" y="454983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5" name="Group 14"/>
          <p:cNvGrpSpPr/>
          <p:nvPr/>
        </p:nvGrpSpPr>
        <p:grpSpPr>
          <a:xfrm>
            <a:off x="2363215" y="5047157"/>
            <a:ext cx="107944" cy="566705"/>
            <a:chOff x="6348787" y="5496138"/>
            <a:chExt cx="144000" cy="756000"/>
          </a:xfrm>
          <a:solidFill>
            <a:srgbClr val="1859A9"/>
          </a:solidFill>
        </p:grpSpPr>
        <p:cxnSp>
          <p:nvCxnSpPr>
            <p:cNvPr id="58" name="Straight Connector 57"/>
            <p:cNvCxnSpPr/>
            <p:nvPr/>
          </p:nvCxnSpPr>
          <p:spPr>
            <a:xfrm>
              <a:off x="6420787" y="5496138"/>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6348787" y="5802138"/>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aphicFrame>
        <p:nvGraphicFramePr>
          <p:cNvPr id="44" name="AgendaTable"/>
          <p:cNvGraphicFramePr>
            <a:graphicFrameLocks noGrp="1"/>
          </p:cNvGraphicFramePr>
          <p:nvPr>
            <p:extLst>
              <p:ext uri="{D42A27DB-BD31-4B8C-83A1-F6EECF244321}">
                <p14:modId xmlns:p14="http://schemas.microsoft.com/office/powerpoint/2010/main" val="1276659763"/>
              </p:ext>
            </p:extLst>
          </p:nvPr>
        </p:nvGraphicFramePr>
        <p:xfrm>
          <a:off x="1564665" y="1199166"/>
          <a:ext cx="4524401" cy="4606965"/>
        </p:xfrm>
        <a:graphic>
          <a:graphicData uri="http://schemas.openxmlformats.org/drawingml/2006/table">
            <a:tbl>
              <a:tblPr bandRow="1">
                <a:tableStyleId>{5C22544A-7EE6-4342-B048-85BDC9FD1C3A}</a:tableStyleId>
              </a:tblPr>
              <a:tblGrid>
                <a:gridCol w="767425">
                  <a:extLst>
                    <a:ext uri="{9D8B030D-6E8A-4147-A177-3AD203B41FA5}">
                      <a16:colId xmlns:a16="http://schemas.microsoft.com/office/drawing/2014/main" val="20000"/>
                    </a:ext>
                  </a:extLst>
                </a:gridCol>
                <a:gridCol w="3756976">
                  <a:extLst>
                    <a:ext uri="{9D8B030D-6E8A-4147-A177-3AD203B41FA5}">
                      <a16:colId xmlns:a16="http://schemas.microsoft.com/office/drawing/2014/main" val="20001"/>
                    </a:ext>
                  </a:extLst>
                </a:gridCol>
              </a:tblGrid>
              <a:tr h="921393">
                <a:tc>
                  <a:txBody>
                    <a:bodyPr/>
                    <a:lstStyle/>
                    <a:p>
                      <a:pPr algn="ctr"/>
                      <a:r>
                        <a:rPr lang="en-US" sz="2700" b="1" kern="1200" dirty="0">
                          <a:solidFill>
                            <a:srgbClr val="FFFFFF"/>
                          </a:solidFill>
                          <a:latin typeface="+mn-lt"/>
                          <a:ea typeface="+mn-ea"/>
                          <a:cs typeface="+mn-cs"/>
                        </a:rPr>
                        <a:t>01</a:t>
                      </a:r>
                    </a:p>
                  </a:txBody>
                  <a:tcPr marL="68580" marR="68580" marT="34290" marB="3429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Executive</a:t>
                      </a:r>
                      <a:r>
                        <a:rPr lang="en-US" sz="1300" b="1" kern="1200" baseline="0" dirty="0">
                          <a:solidFill>
                            <a:srgbClr val="FFFFFF"/>
                          </a:solidFill>
                          <a:latin typeface="+mn-lt"/>
                          <a:ea typeface="+mn-ea"/>
                          <a:cs typeface="+mn-cs"/>
                        </a:rPr>
                        <a:t> Summary</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21393">
                <a:tc>
                  <a:txBody>
                    <a:bodyPr/>
                    <a:lstStyle/>
                    <a:p>
                      <a:pPr algn="ctr"/>
                      <a:r>
                        <a:rPr lang="en-US" sz="2700" b="1" kern="1200" dirty="0">
                          <a:solidFill>
                            <a:srgbClr val="FFFFFF"/>
                          </a:solidFill>
                          <a:latin typeface="+mn-lt"/>
                          <a:ea typeface="+mn-ea"/>
                          <a:cs typeface="+mn-cs"/>
                        </a:rPr>
                        <a:t>02</a:t>
                      </a:r>
                    </a:p>
                  </a:txBody>
                  <a:tcPr marL="68580" marR="68580" marT="34290" marB="34290" anchor="ctr">
                    <a:lnL w="1270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Ou</a:t>
                      </a:r>
                      <a:r>
                        <a:rPr lang="en-US" sz="1300" b="1" kern="1200" baseline="0" dirty="0">
                          <a:solidFill>
                            <a:srgbClr val="FFFFFF"/>
                          </a:solidFill>
                          <a:latin typeface="+mn-lt"/>
                          <a:ea typeface="+mn-ea"/>
                          <a:cs typeface="+mn-cs"/>
                        </a:rPr>
                        <a:t>r Approach &amp; Scope</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21393">
                <a:tc>
                  <a:txBody>
                    <a:bodyPr/>
                    <a:lstStyle/>
                    <a:p>
                      <a:pPr algn="ctr"/>
                      <a:r>
                        <a:rPr lang="en-US" sz="2700" b="1" kern="1200">
                          <a:solidFill>
                            <a:srgbClr val="FFFFFF"/>
                          </a:solidFill>
                          <a:latin typeface="+mn-lt"/>
                          <a:ea typeface="+mn-ea"/>
                          <a:cs typeface="+mn-cs"/>
                        </a:rPr>
                        <a:t>03</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Vision &amp; Mission</a:t>
                      </a: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21393">
                <a:tc>
                  <a:txBody>
                    <a:bodyPr/>
                    <a:lstStyle/>
                    <a:p>
                      <a:pPr algn="ctr"/>
                      <a:r>
                        <a:rPr lang="en-US" sz="2700" b="1" kern="1200">
                          <a:solidFill>
                            <a:srgbClr val="FFFFFF"/>
                          </a:solidFill>
                          <a:latin typeface="+mn-lt"/>
                          <a:ea typeface="+mn-ea"/>
                          <a:cs typeface="+mn-cs"/>
                        </a:rPr>
                        <a:t>04</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Takeaway from Surveys &amp; Interviews</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21393">
                <a:tc>
                  <a:txBody>
                    <a:bodyPr/>
                    <a:lstStyle/>
                    <a:p>
                      <a:pPr marL="0" algn="ctr" defTabSz="914400" rtl="0" eaLnBrk="1" latinLnBrk="0" hangingPunct="1">
                        <a:lnSpc>
                          <a:spcPct val="85000"/>
                        </a:lnSpc>
                        <a:spcAft>
                          <a:spcPts val="600"/>
                        </a:spcAft>
                        <a:buClr>
                          <a:schemeClr val="accent2"/>
                        </a:buClr>
                        <a:buSzPct val="70000"/>
                      </a:pPr>
                      <a:r>
                        <a:rPr lang="en-US" sz="2700" b="1" kern="1200">
                          <a:solidFill>
                            <a:srgbClr val="FFFFFF"/>
                          </a:solidFill>
                          <a:latin typeface="+mn-lt"/>
                          <a:ea typeface="+mn-ea"/>
                          <a:cs typeface="+mn-cs"/>
                        </a:rPr>
                        <a:t>05</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Key Initiatives</a:t>
                      </a:r>
                      <a:r>
                        <a:rPr lang="en-US" sz="1300" b="1" kern="1200" baseline="0" dirty="0">
                          <a:solidFill>
                            <a:srgbClr val="FFFFFF"/>
                          </a:solidFill>
                          <a:latin typeface="+mn-lt"/>
                          <a:ea typeface="+mn-ea"/>
                          <a:cs typeface="+mn-cs"/>
                        </a:rPr>
                        <a:t> &amp; </a:t>
                      </a:r>
                      <a:r>
                        <a:rPr lang="en-US" sz="1300" b="1" kern="1200" dirty="0">
                          <a:solidFill>
                            <a:srgbClr val="FFFFFF"/>
                          </a:solidFill>
                          <a:latin typeface="+mn-lt"/>
                          <a:ea typeface="+mn-ea"/>
                          <a:cs typeface="+mn-cs"/>
                        </a:rPr>
                        <a:t>Roadmap</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 name="SlideType:Agenda" hidden="1"/>
          <p:cNvSpPr/>
          <p:nvPr/>
        </p:nvSpPr>
        <p:spPr>
          <a:xfrm>
            <a:off x="1524000" y="857250"/>
            <a:ext cx="0" cy="0"/>
          </a:xfrm>
          <a:prstGeom prst="rect">
            <a:avLst/>
          </a:prstGeom>
          <a:pattFill prst="pct5">
            <a:fgClr>
              <a:srgbClr val="FFFFFF">
                <a:alpha val="0"/>
              </a:srgbClr>
            </a:fgClr>
            <a:bgClr>
              <a:srgbClr val="FFFFFF">
                <a:alpha val="0"/>
              </a:srgbClr>
            </a:bgClr>
          </a:pattFill>
          <a:ln w="9525" cap="flat" cmpd="sng" algn="ctr">
            <a:solidFill>
              <a:srgbClr val="FFFFFF">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900" dirty="0">
              <a:solidFill>
                <a:srgbClr val="646464"/>
              </a:solidFill>
            </a:endParaRPr>
          </a:p>
        </p:txBody>
      </p:sp>
    </p:spTree>
    <p:extLst>
      <p:ext uri="{BB962C8B-B14F-4D97-AF65-F5344CB8AC3E}">
        <p14:creationId xmlns:p14="http://schemas.microsoft.com/office/powerpoint/2010/main" val="67856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reeform 11"/>
          <p:cNvSpPr>
            <a:spLocks noEditPoints="1"/>
          </p:cNvSpPr>
          <p:nvPr/>
        </p:nvSpPr>
        <p:spPr bwMode="auto">
          <a:xfrm>
            <a:off x="10148991" y="4803177"/>
            <a:ext cx="663476" cy="698076"/>
          </a:xfrm>
          <a:custGeom>
            <a:avLst/>
            <a:gdLst>
              <a:gd name="T0" fmla="*/ 590 w 801"/>
              <a:gd name="T1" fmla="*/ 349 h 979"/>
              <a:gd name="T2" fmla="*/ 776 w 801"/>
              <a:gd name="T3" fmla="*/ 349 h 979"/>
              <a:gd name="T4" fmla="*/ 801 w 801"/>
              <a:gd name="T5" fmla="*/ 326 h 979"/>
              <a:gd name="T6" fmla="*/ 801 w 801"/>
              <a:gd name="T7" fmla="*/ 48 h 979"/>
              <a:gd name="T8" fmla="*/ 753 w 801"/>
              <a:gd name="T9" fmla="*/ 0 h 979"/>
              <a:gd name="T10" fmla="*/ 48 w 801"/>
              <a:gd name="T11" fmla="*/ 0 h 979"/>
              <a:gd name="T12" fmla="*/ 0 w 801"/>
              <a:gd name="T13" fmla="*/ 48 h 979"/>
              <a:gd name="T14" fmla="*/ 0 w 801"/>
              <a:gd name="T15" fmla="*/ 931 h 979"/>
              <a:gd name="T16" fmla="*/ 48 w 801"/>
              <a:gd name="T17" fmla="*/ 979 h 979"/>
              <a:gd name="T18" fmla="*/ 753 w 801"/>
              <a:gd name="T19" fmla="*/ 979 h 979"/>
              <a:gd name="T20" fmla="*/ 801 w 801"/>
              <a:gd name="T21" fmla="*/ 931 h 979"/>
              <a:gd name="T22" fmla="*/ 801 w 801"/>
              <a:gd name="T23" fmla="*/ 658 h 979"/>
              <a:gd name="T24" fmla="*/ 773 w 801"/>
              <a:gd name="T25" fmla="*/ 629 h 979"/>
              <a:gd name="T26" fmla="*/ 590 w 801"/>
              <a:gd name="T27" fmla="*/ 629 h 979"/>
              <a:gd name="T28" fmla="*/ 571 w 801"/>
              <a:gd name="T29" fmla="*/ 610 h 979"/>
              <a:gd name="T30" fmla="*/ 571 w 801"/>
              <a:gd name="T31" fmla="*/ 369 h 979"/>
              <a:gd name="T32" fmla="*/ 590 w 801"/>
              <a:gd name="T33" fmla="*/ 349 h 979"/>
              <a:gd name="T34" fmla="*/ 364 w 801"/>
              <a:gd name="T35" fmla="*/ 461 h 979"/>
              <a:gd name="T36" fmla="*/ 335 w 801"/>
              <a:gd name="T37" fmla="*/ 489 h 979"/>
              <a:gd name="T38" fmla="*/ 173 w 801"/>
              <a:gd name="T39" fmla="*/ 489 h 979"/>
              <a:gd name="T40" fmla="*/ 145 w 801"/>
              <a:gd name="T41" fmla="*/ 461 h 979"/>
              <a:gd name="T42" fmla="*/ 145 w 801"/>
              <a:gd name="T43" fmla="*/ 441 h 979"/>
              <a:gd name="T44" fmla="*/ 173 w 801"/>
              <a:gd name="T45" fmla="*/ 413 h 979"/>
              <a:gd name="T46" fmla="*/ 335 w 801"/>
              <a:gd name="T47" fmla="*/ 413 h 979"/>
              <a:gd name="T48" fmla="*/ 364 w 801"/>
              <a:gd name="T49" fmla="*/ 441 h 979"/>
              <a:gd name="T50" fmla="*/ 364 w 801"/>
              <a:gd name="T51" fmla="*/ 461 h 979"/>
              <a:gd name="T52" fmla="*/ 493 w 801"/>
              <a:gd name="T53" fmla="*/ 276 h 979"/>
              <a:gd name="T54" fmla="*/ 465 w 801"/>
              <a:gd name="T55" fmla="*/ 305 h 979"/>
              <a:gd name="T56" fmla="*/ 173 w 801"/>
              <a:gd name="T57" fmla="*/ 305 h 979"/>
              <a:gd name="T58" fmla="*/ 145 w 801"/>
              <a:gd name="T59" fmla="*/ 276 h 979"/>
              <a:gd name="T60" fmla="*/ 145 w 801"/>
              <a:gd name="T61" fmla="*/ 257 h 979"/>
              <a:gd name="T62" fmla="*/ 173 w 801"/>
              <a:gd name="T63" fmla="*/ 228 h 979"/>
              <a:gd name="T64" fmla="*/ 465 w 801"/>
              <a:gd name="T65" fmla="*/ 228 h 979"/>
              <a:gd name="T66" fmla="*/ 493 w 801"/>
              <a:gd name="T67" fmla="*/ 257 h 979"/>
              <a:gd name="T68" fmla="*/ 493 w 801"/>
              <a:gd name="T69" fmla="*/ 276 h 979"/>
              <a:gd name="T70" fmla="*/ 493 w 801"/>
              <a:gd name="T71" fmla="*/ 276 h 979"/>
              <a:gd name="T72" fmla="*/ 493 w 801"/>
              <a:gd name="T73" fmla="*/ 276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01" h="979">
                <a:moveTo>
                  <a:pt x="590" y="349"/>
                </a:moveTo>
                <a:cubicBezTo>
                  <a:pt x="590" y="349"/>
                  <a:pt x="729" y="349"/>
                  <a:pt x="776" y="349"/>
                </a:cubicBezTo>
                <a:cubicBezTo>
                  <a:pt x="784" y="349"/>
                  <a:pt x="801" y="350"/>
                  <a:pt x="801" y="326"/>
                </a:cubicBezTo>
                <a:cubicBezTo>
                  <a:pt x="801" y="48"/>
                  <a:pt x="801" y="48"/>
                  <a:pt x="801" y="48"/>
                </a:cubicBezTo>
                <a:cubicBezTo>
                  <a:pt x="801" y="21"/>
                  <a:pt x="780" y="0"/>
                  <a:pt x="753" y="0"/>
                </a:cubicBezTo>
                <a:cubicBezTo>
                  <a:pt x="48" y="0"/>
                  <a:pt x="48" y="0"/>
                  <a:pt x="48" y="0"/>
                </a:cubicBezTo>
                <a:cubicBezTo>
                  <a:pt x="22" y="0"/>
                  <a:pt x="0" y="21"/>
                  <a:pt x="0" y="48"/>
                </a:cubicBezTo>
                <a:cubicBezTo>
                  <a:pt x="0" y="931"/>
                  <a:pt x="0" y="931"/>
                  <a:pt x="0" y="931"/>
                </a:cubicBezTo>
                <a:cubicBezTo>
                  <a:pt x="0" y="958"/>
                  <a:pt x="22" y="979"/>
                  <a:pt x="48" y="979"/>
                </a:cubicBezTo>
                <a:cubicBezTo>
                  <a:pt x="753" y="979"/>
                  <a:pt x="753" y="979"/>
                  <a:pt x="753" y="979"/>
                </a:cubicBezTo>
                <a:cubicBezTo>
                  <a:pt x="780" y="979"/>
                  <a:pt x="801" y="958"/>
                  <a:pt x="801" y="931"/>
                </a:cubicBezTo>
                <a:cubicBezTo>
                  <a:pt x="801" y="658"/>
                  <a:pt x="801" y="658"/>
                  <a:pt x="801" y="658"/>
                </a:cubicBezTo>
                <a:cubicBezTo>
                  <a:pt x="801" y="634"/>
                  <a:pt x="790" y="629"/>
                  <a:pt x="773" y="629"/>
                </a:cubicBezTo>
                <a:cubicBezTo>
                  <a:pt x="590" y="629"/>
                  <a:pt x="590" y="629"/>
                  <a:pt x="590" y="629"/>
                </a:cubicBezTo>
                <a:cubicBezTo>
                  <a:pt x="579" y="629"/>
                  <a:pt x="571" y="621"/>
                  <a:pt x="571" y="610"/>
                </a:cubicBezTo>
                <a:cubicBezTo>
                  <a:pt x="571" y="369"/>
                  <a:pt x="571" y="369"/>
                  <a:pt x="571" y="369"/>
                </a:cubicBezTo>
                <a:cubicBezTo>
                  <a:pt x="571" y="358"/>
                  <a:pt x="579" y="349"/>
                  <a:pt x="590" y="349"/>
                </a:cubicBezTo>
                <a:close/>
                <a:moveTo>
                  <a:pt x="364" y="461"/>
                </a:moveTo>
                <a:cubicBezTo>
                  <a:pt x="364" y="476"/>
                  <a:pt x="351" y="489"/>
                  <a:pt x="335" y="489"/>
                </a:cubicBezTo>
                <a:cubicBezTo>
                  <a:pt x="173" y="489"/>
                  <a:pt x="173" y="489"/>
                  <a:pt x="173" y="489"/>
                </a:cubicBezTo>
                <a:cubicBezTo>
                  <a:pt x="158" y="489"/>
                  <a:pt x="145" y="476"/>
                  <a:pt x="145" y="461"/>
                </a:cubicBezTo>
                <a:cubicBezTo>
                  <a:pt x="145" y="441"/>
                  <a:pt x="145" y="441"/>
                  <a:pt x="145" y="441"/>
                </a:cubicBezTo>
                <a:cubicBezTo>
                  <a:pt x="145" y="425"/>
                  <a:pt x="158" y="413"/>
                  <a:pt x="173" y="413"/>
                </a:cubicBezTo>
                <a:cubicBezTo>
                  <a:pt x="335" y="413"/>
                  <a:pt x="335" y="413"/>
                  <a:pt x="335" y="413"/>
                </a:cubicBezTo>
                <a:cubicBezTo>
                  <a:pt x="351" y="413"/>
                  <a:pt x="364" y="425"/>
                  <a:pt x="364" y="441"/>
                </a:cubicBezTo>
                <a:lnTo>
                  <a:pt x="364" y="461"/>
                </a:lnTo>
                <a:close/>
                <a:moveTo>
                  <a:pt x="493" y="276"/>
                </a:moveTo>
                <a:cubicBezTo>
                  <a:pt x="493" y="292"/>
                  <a:pt x="481" y="305"/>
                  <a:pt x="465" y="305"/>
                </a:cubicBezTo>
                <a:cubicBezTo>
                  <a:pt x="173" y="305"/>
                  <a:pt x="173" y="305"/>
                  <a:pt x="173" y="305"/>
                </a:cubicBezTo>
                <a:cubicBezTo>
                  <a:pt x="158" y="305"/>
                  <a:pt x="145" y="292"/>
                  <a:pt x="145" y="276"/>
                </a:cubicBezTo>
                <a:cubicBezTo>
                  <a:pt x="145" y="257"/>
                  <a:pt x="145" y="257"/>
                  <a:pt x="145" y="257"/>
                </a:cubicBezTo>
                <a:cubicBezTo>
                  <a:pt x="145" y="241"/>
                  <a:pt x="158" y="228"/>
                  <a:pt x="173" y="228"/>
                </a:cubicBezTo>
                <a:cubicBezTo>
                  <a:pt x="465" y="228"/>
                  <a:pt x="465" y="228"/>
                  <a:pt x="465" y="228"/>
                </a:cubicBezTo>
                <a:cubicBezTo>
                  <a:pt x="481" y="228"/>
                  <a:pt x="493" y="241"/>
                  <a:pt x="493" y="257"/>
                </a:cubicBezTo>
                <a:lnTo>
                  <a:pt x="493" y="276"/>
                </a:lnTo>
                <a:close/>
                <a:moveTo>
                  <a:pt x="493" y="276"/>
                </a:moveTo>
                <a:cubicBezTo>
                  <a:pt x="493" y="276"/>
                  <a:pt x="493" y="276"/>
                  <a:pt x="493" y="276"/>
                </a:cubicBezTo>
              </a:path>
            </a:pathLst>
          </a:custGeom>
          <a:solidFill>
            <a:schemeClr val="accent4">
              <a:lumMod val="40000"/>
              <a:lumOff val="60000"/>
            </a:schemeClr>
          </a:solidFill>
          <a:ln>
            <a:noFill/>
          </a:ln>
        </p:spPr>
        <p:txBody>
          <a:bodyPr vert="horz" wrap="square" lIns="82935" tIns="41468" rIns="82935" bIns="41468" numCol="1" anchor="t" anchorCtr="0" compatLnSpc="1">
            <a:prstTxWarp prst="textNoShape">
              <a:avLst/>
            </a:prstTxWarp>
          </a:bodyPr>
          <a:lstStyle/>
          <a:p>
            <a:endParaRPr lang="en-IN" sz="833" dirty="0">
              <a:solidFill>
                <a:srgbClr val="FFFFFF"/>
              </a:solidFill>
            </a:endParaRPr>
          </a:p>
        </p:txBody>
      </p:sp>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dirty="0"/>
              <a:t>Our approach</a:t>
            </a:r>
          </a:p>
        </p:txBody>
      </p:sp>
      <p:sp>
        <p:nvSpPr>
          <p:cNvPr id="17" name="Rectangle 16"/>
          <p:cNvSpPr/>
          <p:nvPr/>
        </p:nvSpPr>
        <p:spPr>
          <a:xfrm>
            <a:off x="473739" y="947753"/>
            <a:ext cx="9765413" cy="723916"/>
          </a:xfrm>
          <a:prstGeom prst="rect">
            <a:avLst/>
          </a:prstGeom>
        </p:spPr>
        <p:txBody>
          <a:bodyPr wrap="square">
            <a:spAutoFit/>
          </a:bodyPr>
          <a:lstStyle/>
          <a:p>
            <a:pPr>
              <a:lnSpc>
                <a:spcPct val="114000"/>
              </a:lnSpc>
            </a:pPr>
            <a:r>
              <a:rPr lang="en-US" dirty="0"/>
              <a:t>A multi-dimensional approach was adopted to develop the Technology Strategy to support and enable Client Distribution’s Strategy</a:t>
            </a:r>
          </a:p>
        </p:txBody>
      </p:sp>
      <p:grpSp>
        <p:nvGrpSpPr>
          <p:cNvPr id="92" name="Group 91"/>
          <p:cNvGrpSpPr/>
          <p:nvPr/>
        </p:nvGrpSpPr>
        <p:grpSpPr>
          <a:xfrm>
            <a:off x="2884963" y="1309711"/>
            <a:ext cx="6245229" cy="5366337"/>
            <a:chOff x="4278335" y="1298308"/>
            <a:chExt cx="6245229" cy="5366337"/>
          </a:xfrm>
        </p:grpSpPr>
        <p:sp>
          <p:nvSpPr>
            <p:cNvPr id="68" name="Rectangle 67"/>
            <p:cNvSpPr/>
            <p:nvPr/>
          </p:nvSpPr>
          <p:spPr bwMode="auto">
            <a:xfrm>
              <a:off x="4311183" y="2801720"/>
              <a:ext cx="2735113" cy="2196000"/>
            </a:xfrm>
            <a:prstGeom prst="rect">
              <a:avLst/>
            </a:prstGeom>
            <a:no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171450" lvl="0" indent="-171450">
                <a:lnSpc>
                  <a:spcPct val="114000"/>
                </a:lnSpc>
                <a:buFont typeface="Arial" panose="020B0604020202020204" pitchFamily="34" charset="0"/>
                <a:buChar char="•"/>
                <a:defRPr/>
              </a:pPr>
              <a:r>
                <a:rPr lang="en-US" sz="1000" dirty="0">
                  <a:solidFill>
                    <a:schemeClr val="accent6">
                      <a:lumMod val="75000"/>
                    </a:schemeClr>
                  </a:solidFill>
                  <a:cs typeface="Arial" panose="020B0604020202020204" pitchFamily="34" charset="0"/>
                </a:rPr>
                <a:t>Analyze survey results</a:t>
              </a:r>
            </a:p>
            <a:p>
              <a:pPr marL="171450" lvl="0" indent="-171450">
                <a:lnSpc>
                  <a:spcPct val="114000"/>
                </a:lnSpc>
                <a:buFont typeface="Arial" panose="020B0604020202020204" pitchFamily="34" charset="0"/>
                <a:buChar char="•"/>
                <a:defRPr/>
              </a:pPr>
              <a:r>
                <a:rPr lang="en-US" sz="1000" dirty="0">
                  <a:solidFill>
                    <a:schemeClr val="accent6">
                      <a:lumMod val="75000"/>
                    </a:schemeClr>
                  </a:solidFill>
                  <a:cs typeface="Arial" panose="020B0604020202020204" pitchFamily="34" charset="0"/>
                </a:rPr>
                <a:t>Summarize the finding from business interviews </a:t>
              </a:r>
            </a:p>
            <a:p>
              <a:pPr marL="171450" indent="-171450">
                <a:lnSpc>
                  <a:spcPct val="114000"/>
                </a:lnSpc>
                <a:buFont typeface="Arial" panose="020B0604020202020204" pitchFamily="34" charset="0"/>
                <a:buChar char="•"/>
                <a:defRPr/>
              </a:pPr>
              <a:r>
                <a:rPr lang="en-US" sz="1000" dirty="0">
                  <a:solidFill>
                    <a:schemeClr val="accent6">
                      <a:lumMod val="75000"/>
                    </a:schemeClr>
                  </a:solidFill>
                  <a:cs typeface="Arial" panose="020B0604020202020204" pitchFamily="34" charset="0"/>
                </a:rPr>
                <a:t>Conduct sessions with the ELT members to confirm the priorities</a:t>
              </a:r>
            </a:p>
            <a:p>
              <a:pPr marL="171450" indent="-171450">
                <a:lnSpc>
                  <a:spcPct val="114000"/>
                </a:lnSpc>
                <a:buFont typeface="Arial" panose="020B0604020202020204" pitchFamily="34" charset="0"/>
                <a:buChar char="•"/>
                <a:defRPr/>
              </a:pPr>
              <a:r>
                <a:rPr lang="en-US" sz="1000" dirty="0">
                  <a:solidFill>
                    <a:schemeClr val="accent6">
                      <a:lumMod val="75000"/>
                    </a:schemeClr>
                  </a:solidFill>
                  <a:cs typeface="Arial" panose="020B0604020202020204" pitchFamily="34" charset="0"/>
                </a:rPr>
                <a:t>Conduct a one day workshop to determine the Technology maturity to-be for Business</a:t>
              </a:r>
            </a:p>
          </p:txBody>
        </p:sp>
        <p:sp>
          <p:nvSpPr>
            <p:cNvPr id="69" name="Rectangle 68"/>
            <p:cNvSpPr/>
            <p:nvPr/>
          </p:nvSpPr>
          <p:spPr bwMode="auto">
            <a:xfrm>
              <a:off x="8031364" y="4432645"/>
              <a:ext cx="2492200" cy="2232000"/>
            </a:xfrm>
            <a:prstGeom prst="rect">
              <a:avLst/>
            </a:prstGeom>
            <a:no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171450" indent="-171450">
                <a:lnSpc>
                  <a:spcPct val="114000"/>
                </a:lnSpc>
                <a:buFont typeface="Arial" panose="020B0604020202020204" pitchFamily="34" charset="0"/>
                <a:buChar char="•"/>
                <a:defRPr/>
              </a:pPr>
              <a:r>
                <a:rPr lang="en-US" sz="1000" dirty="0">
                  <a:solidFill>
                    <a:schemeClr val="accent6">
                      <a:lumMod val="75000"/>
                    </a:schemeClr>
                  </a:solidFill>
                  <a:cs typeface="Arial" panose="020B0604020202020204" pitchFamily="34" charset="0"/>
                </a:rPr>
                <a:t>Document the IT Strategy Map summarizing the influences, IT demand and supply at Client Distribution, existing constraints and high-level transformation roadmap</a:t>
              </a:r>
            </a:p>
          </p:txBody>
        </p:sp>
        <p:sp>
          <p:nvSpPr>
            <p:cNvPr id="70" name="Rectangle 69"/>
            <p:cNvSpPr/>
            <p:nvPr/>
          </p:nvSpPr>
          <p:spPr bwMode="auto">
            <a:xfrm>
              <a:off x="8031365" y="1298308"/>
              <a:ext cx="2277870" cy="2196000"/>
            </a:xfrm>
            <a:prstGeom prst="rect">
              <a:avLst/>
            </a:prstGeom>
            <a:no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171450" indent="-171450">
                <a:lnSpc>
                  <a:spcPct val="114000"/>
                </a:lnSpc>
                <a:buFont typeface="Arial" panose="020B0604020202020204" pitchFamily="34" charset="0"/>
                <a:buChar char="•"/>
                <a:defRPr/>
              </a:pPr>
              <a:r>
                <a:rPr lang="en-US" sz="1000" dirty="0">
                  <a:solidFill>
                    <a:schemeClr val="accent6">
                      <a:lumMod val="75000"/>
                    </a:schemeClr>
                  </a:solidFill>
                  <a:cs typeface="Arial" panose="020B0604020202020204" pitchFamily="34" charset="0"/>
                </a:rPr>
                <a:t>Run a satisfaction survey: </a:t>
              </a:r>
            </a:p>
            <a:p>
              <a:pPr marL="171450" indent="-171450">
                <a:lnSpc>
                  <a:spcPct val="114000"/>
                </a:lnSpc>
                <a:buFont typeface="Arial" panose="020B0604020202020204" pitchFamily="34" charset="0"/>
                <a:buChar char="•"/>
                <a:defRPr/>
              </a:pPr>
              <a:r>
                <a:rPr lang="en-US" sz="1000" dirty="0">
                  <a:solidFill>
                    <a:schemeClr val="accent6">
                      <a:lumMod val="75000"/>
                    </a:schemeClr>
                  </a:solidFill>
                  <a:cs typeface="Arial" panose="020B0604020202020204" pitchFamily="34" charset="0"/>
                </a:rPr>
                <a:t>Identify and conduct meetings with department Managers and business VPs to understand the “Voice of the Business” and to discuss the strategic direction and key priorities of Client Distribution</a:t>
              </a:r>
            </a:p>
          </p:txBody>
        </p:sp>
        <p:sp>
          <p:nvSpPr>
            <p:cNvPr id="72" name="Rectangle 71"/>
            <p:cNvSpPr/>
            <p:nvPr/>
          </p:nvSpPr>
          <p:spPr>
            <a:xfrm>
              <a:off x="7281772" y="1546244"/>
              <a:ext cx="259249" cy="4897485"/>
            </a:xfrm>
            <a:prstGeom prst="rect">
              <a:avLst/>
            </a:prstGeom>
            <a:solidFill>
              <a:schemeClr val="accent2"/>
            </a:solidFill>
            <a:ln w="9525" cap="flat" cmpd="sng" algn="ctr">
              <a:noFill/>
              <a:prstDash val="soli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000000"/>
                </a:solidFill>
                <a:effectLst/>
                <a:uLnTx/>
                <a:uFillTx/>
                <a:latin typeface="+mj-lt"/>
                <a:ea typeface="+mn-ea"/>
                <a:cs typeface="+mn-cs"/>
              </a:endParaRPr>
            </a:p>
          </p:txBody>
        </p:sp>
        <p:grpSp>
          <p:nvGrpSpPr>
            <p:cNvPr id="3" name="Group 2"/>
            <p:cNvGrpSpPr/>
            <p:nvPr/>
          </p:nvGrpSpPr>
          <p:grpSpPr>
            <a:xfrm>
              <a:off x="6841975" y="3099711"/>
              <a:ext cx="3397178" cy="1433302"/>
              <a:chOff x="5176461" y="3223082"/>
              <a:chExt cx="3397178" cy="1433302"/>
            </a:xfrm>
          </p:grpSpPr>
          <p:sp>
            <p:nvSpPr>
              <p:cNvPr id="77" name="Rectangle 33"/>
              <p:cNvSpPr/>
              <p:nvPr/>
            </p:nvSpPr>
            <p:spPr>
              <a:xfrm rot="10800000" flipV="1">
                <a:off x="5433197" y="3372695"/>
                <a:ext cx="183061" cy="1143621"/>
              </a:xfrm>
              <a:custGeom>
                <a:avLst/>
                <a:gdLst>
                  <a:gd name="connsiteX0" fmla="*/ 0 w 69850"/>
                  <a:gd name="connsiteY0" fmla="*/ 0 h 882650"/>
                  <a:gd name="connsiteX1" fmla="*/ 69850 w 69850"/>
                  <a:gd name="connsiteY1" fmla="*/ 0 h 882650"/>
                  <a:gd name="connsiteX2" fmla="*/ 69850 w 69850"/>
                  <a:gd name="connsiteY2" fmla="*/ 882650 h 882650"/>
                  <a:gd name="connsiteX3" fmla="*/ 0 w 69850"/>
                  <a:gd name="connsiteY3" fmla="*/ 882650 h 882650"/>
                  <a:gd name="connsiteX4" fmla="*/ 0 w 69850"/>
                  <a:gd name="connsiteY4" fmla="*/ 0 h 882650"/>
                  <a:gd name="connsiteX0" fmla="*/ 0 w 69850"/>
                  <a:gd name="connsiteY0" fmla="*/ 0 h 882650"/>
                  <a:gd name="connsiteX1" fmla="*/ 60325 w 69850"/>
                  <a:gd name="connsiteY1" fmla="*/ 47625 h 882650"/>
                  <a:gd name="connsiteX2" fmla="*/ 69850 w 69850"/>
                  <a:gd name="connsiteY2" fmla="*/ 882650 h 882650"/>
                  <a:gd name="connsiteX3" fmla="*/ 0 w 69850"/>
                  <a:gd name="connsiteY3" fmla="*/ 882650 h 882650"/>
                  <a:gd name="connsiteX4" fmla="*/ 0 w 69850"/>
                  <a:gd name="connsiteY4" fmla="*/ 0 h 882650"/>
                  <a:gd name="connsiteX0" fmla="*/ 0 w 69850"/>
                  <a:gd name="connsiteY0" fmla="*/ 0 h 882650"/>
                  <a:gd name="connsiteX1" fmla="*/ 60325 w 69850"/>
                  <a:gd name="connsiteY1" fmla="*/ 47625 h 882650"/>
                  <a:gd name="connsiteX2" fmla="*/ 69850 w 69850"/>
                  <a:gd name="connsiteY2" fmla="*/ 825500 h 882650"/>
                  <a:gd name="connsiteX3" fmla="*/ 0 w 69850"/>
                  <a:gd name="connsiteY3" fmla="*/ 882650 h 882650"/>
                  <a:gd name="connsiteX4" fmla="*/ 0 w 69850"/>
                  <a:gd name="connsiteY4" fmla="*/ 0 h 882650"/>
                  <a:gd name="connsiteX0" fmla="*/ 0 w 69850"/>
                  <a:gd name="connsiteY0" fmla="*/ 0 h 882650"/>
                  <a:gd name="connsiteX1" fmla="*/ 68429 w 69850"/>
                  <a:gd name="connsiteY1" fmla="*/ 42863 h 882650"/>
                  <a:gd name="connsiteX2" fmla="*/ 69850 w 69850"/>
                  <a:gd name="connsiteY2" fmla="*/ 825500 h 882650"/>
                  <a:gd name="connsiteX3" fmla="*/ 0 w 69850"/>
                  <a:gd name="connsiteY3" fmla="*/ 882650 h 882650"/>
                  <a:gd name="connsiteX4" fmla="*/ 0 w 69850"/>
                  <a:gd name="connsiteY4" fmla="*/ 0 h 882650"/>
                  <a:gd name="connsiteX0" fmla="*/ 0 w 68692"/>
                  <a:gd name="connsiteY0" fmla="*/ 0 h 882650"/>
                  <a:gd name="connsiteX1" fmla="*/ 68429 w 68692"/>
                  <a:gd name="connsiteY1" fmla="*/ 42863 h 882650"/>
                  <a:gd name="connsiteX2" fmla="*/ 68692 w 68692"/>
                  <a:gd name="connsiteY2" fmla="*/ 832643 h 882650"/>
                  <a:gd name="connsiteX3" fmla="*/ 0 w 68692"/>
                  <a:gd name="connsiteY3" fmla="*/ 882650 h 882650"/>
                  <a:gd name="connsiteX4" fmla="*/ 0 w 68692"/>
                  <a:gd name="connsiteY4" fmla="*/ 0 h 882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692" h="882650">
                    <a:moveTo>
                      <a:pt x="0" y="0"/>
                    </a:moveTo>
                    <a:lnTo>
                      <a:pt x="68429" y="42863"/>
                    </a:lnTo>
                    <a:cubicBezTo>
                      <a:pt x="68903" y="303742"/>
                      <a:pt x="68218" y="571764"/>
                      <a:pt x="68692" y="832643"/>
                    </a:cubicBezTo>
                    <a:lnTo>
                      <a:pt x="0" y="882650"/>
                    </a:lnTo>
                    <a:lnTo>
                      <a:pt x="0" y="0"/>
                    </a:lnTo>
                    <a:close/>
                  </a:path>
                </a:pathLst>
              </a:custGeom>
              <a:solidFill>
                <a:schemeClr val="accent2">
                  <a:lumMod val="75000"/>
                </a:schemeClr>
              </a:solidFill>
              <a:ln w="9525" cap="flat" cmpd="sng" algn="ctr">
                <a:noFill/>
                <a:prstDash val="soli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000000"/>
                  </a:solidFill>
                  <a:effectLst/>
                  <a:uLnTx/>
                  <a:uFillTx/>
                  <a:latin typeface="+mj-lt"/>
                  <a:ea typeface="+mn-ea"/>
                  <a:cs typeface="+mn-cs"/>
                </a:endParaRPr>
              </a:p>
            </p:txBody>
          </p:sp>
          <p:sp>
            <p:nvSpPr>
              <p:cNvPr id="78" name="Rectangle 77"/>
              <p:cNvSpPr/>
              <p:nvPr/>
            </p:nvSpPr>
            <p:spPr>
              <a:xfrm rot="10800000" flipV="1">
                <a:off x="5433199" y="3429300"/>
                <a:ext cx="2124341" cy="1020867"/>
              </a:xfrm>
              <a:prstGeom prst="rect">
                <a:avLst/>
              </a:prstGeom>
              <a:solidFill>
                <a:schemeClr val="accent2">
                  <a:lumMod val="60000"/>
                  <a:lumOff val="40000"/>
                </a:schemeClr>
              </a:solidFill>
              <a:ln w="9525" cap="flat" cmpd="sng" algn="ctr">
                <a:noFill/>
                <a:prstDash val="soli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000000"/>
                  </a:solidFill>
                  <a:effectLst/>
                  <a:uLnTx/>
                  <a:uFillTx/>
                  <a:latin typeface="+mj-lt"/>
                  <a:ea typeface="+mn-ea"/>
                  <a:cs typeface="+mn-cs"/>
                </a:endParaRPr>
              </a:p>
            </p:txBody>
          </p:sp>
          <p:sp>
            <p:nvSpPr>
              <p:cNvPr id="79" name="Ellipse 22"/>
              <p:cNvSpPr/>
              <p:nvPr/>
            </p:nvSpPr>
            <p:spPr bwMode="gray">
              <a:xfrm rot="10800000" flipV="1">
                <a:off x="7140337" y="3223082"/>
                <a:ext cx="1433302" cy="1433302"/>
              </a:xfrm>
              <a:prstGeom prst="ellipse">
                <a:avLst/>
              </a:prstGeom>
              <a:solidFill>
                <a:schemeClr val="accent2">
                  <a:lumMod val="60000"/>
                  <a:lumOff val="40000"/>
                </a:schemeClr>
              </a:solidFill>
              <a:ln w="25400" cap="flat" cmpd="sng" algn="ctr">
                <a:noFill/>
                <a:prstDash val="solid"/>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600" b="1" i="0" u="none" strike="noStrike" kern="0" cap="none" spc="0" normalizeH="0" baseline="0" noProof="0" dirty="0">
                    <a:ln>
                      <a:noFill/>
                    </a:ln>
                    <a:solidFill>
                      <a:schemeClr val="tx1"/>
                    </a:solidFill>
                    <a:effectLst/>
                    <a:uLnTx/>
                    <a:uFillTx/>
                    <a:latin typeface="+mj-lt"/>
                    <a:ea typeface="+mn-ea"/>
                    <a:cs typeface="+mn-cs"/>
                  </a:rPr>
                  <a:t> 2</a:t>
                </a:r>
              </a:p>
            </p:txBody>
          </p:sp>
          <p:sp>
            <p:nvSpPr>
              <p:cNvPr id="80" name="Rechteck 65"/>
              <p:cNvSpPr/>
              <p:nvPr/>
            </p:nvSpPr>
            <p:spPr bwMode="gray">
              <a:xfrm>
                <a:off x="5505994" y="3756894"/>
                <a:ext cx="2201092" cy="388568"/>
              </a:xfrm>
              <a:prstGeom prst="rect">
                <a:avLst/>
              </a:prstGeom>
              <a:ln>
                <a:noFill/>
              </a:ln>
            </p:spPr>
            <p:txBody>
              <a:bodyPr wrap="square" anchor="ctr">
                <a:noAutofit/>
              </a:bodyPr>
              <a:lstStyle/>
              <a:p>
                <a:pPr marL="0" marR="0" lvl="0" indent="0" algn="l" defTabSz="914400" eaLnBrk="1" fontAlgn="auto" latinLnBrk="0" hangingPunct="1">
                  <a:lnSpc>
                    <a:spcPct val="95000"/>
                  </a:lnSpc>
                  <a:spcBef>
                    <a:spcPts val="0"/>
                  </a:spcBef>
                  <a:spcAft>
                    <a:spcPts val="800"/>
                  </a:spcAft>
                  <a:buClrTx/>
                  <a:buSzTx/>
                  <a:buFontTx/>
                  <a:buNone/>
                  <a:tabLst/>
                  <a:defRPr/>
                </a:pPr>
                <a:r>
                  <a:rPr lang="en-US" sz="1400" b="1" kern="0" dirty="0">
                    <a:latin typeface="+mj-lt"/>
                  </a:rPr>
                  <a:t>Analyzed the results and understood top priorities…</a:t>
                </a:r>
                <a:endParaRPr lang="en-US" sz="1400" b="1" kern="0" dirty="0">
                  <a:solidFill>
                    <a:schemeClr val="tx1"/>
                  </a:solidFill>
                  <a:latin typeface="+mj-lt"/>
                  <a:cs typeface="+mn-cs"/>
                </a:endParaRPr>
              </a:p>
            </p:txBody>
          </p:sp>
          <p:sp>
            <p:nvSpPr>
              <p:cNvPr id="81" name="Isosceles Triangle 80"/>
              <p:cNvSpPr/>
              <p:nvPr/>
            </p:nvSpPr>
            <p:spPr bwMode="auto">
              <a:xfrm rot="16200000" flipH="1">
                <a:off x="5088331" y="3845730"/>
                <a:ext cx="363782" cy="187521"/>
              </a:xfrm>
              <a:prstGeom prst="triangle">
                <a:avLst/>
              </a:prstGeom>
              <a:solidFill>
                <a:schemeClr val="accent2">
                  <a:lumMod val="60000"/>
                  <a:lumOff val="40000"/>
                </a:schemeClr>
              </a:solidFill>
              <a:ln w="25400" cap="flat" cmpd="sng" algn="ctr">
                <a:noFill/>
                <a:prstDash val="solid"/>
                <a:headEnd/>
                <a:tailEnd/>
              </a:ln>
              <a:effectLst/>
            </p:spPr>
            <p:txBody>
              <a:bodyPr wrap="none" rtlCol="0" anchor="ctr"/>
              <a:lstStyle/>
              <a:p>
                <a:pPr fontAlgn="auto">
                  <a:spcBef>
                    <a:spcPts val="0"/>
                  </a:spcBef>
                  <a:spcAft>
                    <a:spcPts val="0"/>
                  </a:spcAft>
                </a:pPr>
                <a:endParaRPr lang="en-IN" sz="5600" b="1" kern="0" dirty="0">
                  <a:solidFill>
                    <a:schemeClr val="tx1"/>
                  </a:solidFill>
                  <a:latin typeface="+mj-lt"/>
                  <a:cs typeface="+mn-cs"/>
                </a:endParaRPr>
              </a:p>
            </p:txBody>
          </p:sp>
        </p:grpSp>
        <p:grpSp>
          <p:nvGrpSpPr>
            <p:cNvPr id="91" name="Group 90"/>
            <p:cNvGrpSpPr/>
            <p:nvPr/>
          </p:nvGrpSpPr>
          <p:grpSpPr>
            <a:xfrm>
              <a:off x="4278336" y="1586601"/>
              <a:ext cx="3700681" cy="1433302"/>
              <a:chOff x="2612822" y="1760772"/>
              <a:chExt cx="3700681" cy="1433302"/>
            </a:xfrm>
          </p:grpSpPr>
          <p:sp>
            <p:nvSpPr>
              <p:cNvPr id="73" name="Rectangle 33"/>
              <p:cNvSpPr/>
              <p:nvPr/>
            </p:nvSpPr>
            <p:spPr>
              <a:xfrm>
                <a:off x="5875508" y="1910385"/>
                <a:ext cx="183061" cy="1143621"/>
              </a:xfrm>
              <a:custGeom>
                <a:avLst/>
                <a:gdLst>
                  <a:gd name="connsiteX0" fmla="*/ 0 w 69850"/>
                  <a:gd name="connsiteY0" fmla="*/ 0 h 882650"/>
                  <a:gd name="connsiteX1" fmla="*/ 69850 w 69850"/>
                  <a:gd name="connsiteY1" fmla="*/ 0 h 882650"/>
                  <a:gd name="connsiteX2" fmla="*/ 69850 w 69850"/>
                  <a:gd name="connsiteY2" fmla="*/ 882650 h 882650"/>
                  <a:gd name="connsiteX3" fmla="*/ 0 w 69850"/>
                  <a:gd name="connsiteY3" fmla="*/ 882650 h 882650"/>
                  <a:gd name="connsiteX4" fmla="*/ 0 w 69850"/>
                  <a:gd name="connsiteY4" fmla="*/ 0 h 882650"/>
                  <a:gd name="connsiteX0" fmla="*/ 0 w 69850"/>
                  <a:gd name="connsiteY0" fmla="*/ 0 h 882650"/>
                  <a:gd name="connsiteX1" fmla="*/ 60325 w 69850"/>
                  <a:gd name="connsiteY1" fmla="*/ 47625 h 882650"/>
                  <a:gd name="connsiteX2" fmla="*/ 69850 w 69850"/>
                  <a:gd name="connsiteY2" fmla="*/ 882650 h 882650"/>
                  <a:gd name="connsiteX3" fmla="*/ 0 w 69850"/>
                  <a:gd name="connsiteY3" fmla="*/ 882650 h 882650"/>
                  <a:gd name="connsiteX4" fmla="*/ 0 w 69850"/>
                  <a:gd name="connsiteY4" fmla="*/ 0 h 882650"/>
                  <a:gd name="connsiteX0" fmla="*/ 0 w 69850"/>
                  <a:gd name="connsiteY0" fmla="*/ 0 h 882650"/>
                  <a:gd name="connsiteX1" fmla="*/ 60325 w 69850"/>
                  <a:gd name="connsiteY1" fmla="*/ 47625 h 882650"/>
                  <a:gd name="connsiteX2" fmla="*/ 69850 w 69850"/>
                  <a:gd name="connsiteY2" fmla="*/ 825500 h 882650"/>
                  <a:gd name="connsiteX3" fmla="*/ 0 w 69850"/>
                  <a:gd name="connsiteY3" fmla="*/ 882650 h 882650"/>
                  <a:gd name="connsiteX4" fmla="*/ 0 w 69850"/>
                  <a:gd name="connsiteY4" fmla="*/ 0 h 882650"/>
                  <a:gd name="connsiteX0" fmla="*/ 0 w 69850"/>
                  <a:gd name="connsiteY0" fmla="*/ 0 h 882650"/>
                  <a:gd name="connsiteX1" fmla="*/ 68429 w 69850"/>
                  <a:gd name="connsiteY1" fmla="*/ 42863 h 882650"/>
                  <a:gd name="connsiteX2" fmla="*/ 69850 w 69850"/>
                  <a:gd name="connsiteY2" fmla="*/ 825500 h 882650"/>
                  <a:gd name="connsiteX3" fmla="*/ 0 w 69850"/>
                  <a:gd name="connsiteY3" fmla="*/ 882650 h 882650"/>
                  <a:gd name="connsiteX4" fmla="*/ 0 w 69850"/>
                  <a:gd name="connsiteY4" fmla="*/ 0 h 882650"/>
                  <a:gd name="connsiteX0" fmla="*/ 0 w 68692"/>
                  <a:gd name="connsiteY0" fmla="*/ 0 h 882650"/>
                  <a:gd name="connsiteX1" fmla="*/ 68429 w 68692"/>
                  <a:gd name="connsiteY1" fmla="*/ 42863 h 882650"/>
                  <a:gd name="connsiteX2" fmla="*/ 68692 w 68692"/>
                  <a:gd name="connsiteY2" fmla="*/ 832643 h 882650"/>
                  <a:gd name="connsiteX3" fmla="*/ 0 w 68692"/>
                  <a:gd name="connsiteY3" fmla="*/ 882650 h 882650"/>
                  <a:gd name="connsiteX4" fmla="*/ 0 w 68692"/>
                  <a:gd name="connsiteY4" fmla="*/ 0 h 882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692" h="882650">
                    <a:moveTo>
                      <a:pt x="0" y="0"/>
                    </a:moveTo>
                    <a:lnTo>
                      <a:pt x="68429" y="42863"/>
                    </a:lnTo>
                    <a:cubicBezTo>
                      <a:pt x="68903" y="303742"/>
                      <a:pt x="68218" y="571764"/>
                      <a:pt x="68692" y="832643"/>
                    </a:cubicBezTo>
                    <a:lnTo>
                      <a:pt x="0" y="882650"/>
                    </a:lnTo>
                    <a:lnTo>
                      <a:pt x="0" y="0"/>
                    </a:lnTo>
                    <a:close/>
                  </a:path>
                </a:pathLst>
              </a:custGeom>
              <a:solidFill>
                <a:schemeClr val="accent2">
                  <a:lumMod val="75000"/>
                </a:schemeClr>
              </a:solidFill>
              <a:ln w="9525" cap="flat" cmpd="sng" algn="ctr">
                <a:noFill/>
                <a:prstDash val="solid"/>
              </a:ln>
              <a:effectLst/>
            </p:spPr>
            <p:txBody>
              <a:bodyPr rtlCol="0" anchor="t" anchorCtr="0"/>
              <a:lstStyle/>
              <a:p>
                <a:pPr fontAlgn="auto">
                  <a:spcBef>
                    <a:spcPts val="0"/>
                  </a:spcBef>
                  <a:spcAft>
                    <a:spcPts val="0"/>
                  </a:spcAft>
                </a:pPr>
                <a:endParaRPr lang="en-IN" sz="1200" kern="0" dirty="0">
                  <a:solidFill>
                    <a:srgbClr val="000000"/>
                  </a:solidFill>
                  <a:latin typeface="+mj-lt"/>
                  <a:cs typeface="+mn-cs"/>
                </a:endParaRPr>
              </a:p>
            </p:txBody>
          </p:sp>
          <p:sp>
            <p:nvSpPr>
              <p:cNvPr id="74" name="Rectangle 73"/>
              <p:cNvSpPr/>
              <p:nvPr/>
            </p:nvSpPr>
            <p:spPr>
              <a:xfrm>
                <a:off x="3628919" y="1966990"/>
                <a:ext cx="2429651" cy="1020867"/>
              </a:xfrm>
              <a:prstGeom prst="rect">
                <a:avLst/>
              </a:prstGeom>
              <a:solidFill>
                <a:schemeClr val="accent2">
                  <a:lumMod val="60000"/>
                  <a:lumOff val="40000"/>
                </a:schemeClr>
              </a:solidFill>
              <a:ln w="9525" cap="flat" cmpd="sng" algn="ctr">
                <a:noFill/>
                <a:prstDash val="soli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000000"/>
                  </a:solidFill>
                  <a:effectLst/>
                  <a:uLnTx/>
                  <a:uFillTx/>
                  <a:latin typeface="+mj-lt"/>
                  <a:ea typeface="+mn-ea"/>
                  <a:cs typeface="+mn-cs"/>
                </a:endParaRPr>
              </a:p>
            </p:txBody>
          </p:sp>
          <p:sp>
            <p:nvSpPr>
              <p:cNvPr id="75" name="Ellipse 22"/>
              <p:cNvSpPr/>
              <p:nvPr/>
            </p:nvSpPr>
            <p:spPr bwMode="gray">
              <a:xfrm>
                <a:off x="2612822" y="1760772"/>
                <a:ext cx="1433302" cy="1433302"/>
              </a:xfrm>
              <a:prstGeom prst="ellipse">
                <a:avLst/>
              </a:prstGeom>
              <a:solidFill>
                <a:schemeClr val="accent2">
                  <a:lumMod val="60000"/>
                  <a:lumOff val="40000"/>
                </a:schemeClr>
              </a:solidFill>
              <a:ln w="25400" cap="flat" cmpd="sng" algn="ctr">
                <a:noFill/>
                <a:prstDash val="solid"/>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600" b="1" i="0" u="none" strike="noStrike" kern="0" cap="none" spc="0" normalizeH="0" baseline="0" noProof="0" dirty="0">
                    <a:ln>
                      <a:noFill/>
                    </a:ln>
                    <a:solidFill>
                      <a:schemeClr val="tx1"/>
                    </a:solidFill>
                    <a:effectLst/>
                    <a:uLnTx/>
                    <a:uFillTx/>
                    <a:latin typeface="+mj-lt"/>
                    <a:ea typeface="+mn-ea"/>
                    <a:cs typeface="+mn-cs"/>
                  </a:rPr>
                  <a:t> 1</a:t>
                </a:r>
              </a:p>
            </p:txBody>
          </p:sp>
          <p:sp>
            <p:nvSpPr>
              <p:cNvPr id="76" name="Rechteck 65"/>
              <p:cNvSpPr/>
              <p:nvPr/>
            </p:nvSpPr>
            <p:spPr bwMode="gray">
              <a:xfrm>
                <a:off x="3780953" y="2292150"/>
                <a:ext cx="2100477" cy="380090"/>
              </a:xfrm>
              <a:prstGeom prst="rect">
                <a:avLst/>
              </a:prstGeom>
              <a:ln>
                <a:noFill/>
              </a:ln>
            </p:spPr>
            <p:txBody>
              <a:bodyPr wrap="square" anchor="ctr">
                <a:noAutofit/>
              </a:bodyPr>
              <a:lstStyle/>
              <a:p>
                <a:pPr marL="0" marR="0" lvl="0" indent="0" algn="l" defTabSz="914400" eaLnBrk="1" fontAlgn="auto" latinLnBrk="0" hangingPunct="1">
                  <a:lnSpc>
                    <a:spcPct val="95000"/>
                  </a:lnSpc>
                  <a:spcBef>
                    <a:spcPts val="0"/>
                  </a:spcBef>
                  <a:spcAft>
                    <a:spcPts val="800"/>
                  </a:spcAft>
                  <a:buClrTx/>
                  <a:buSzTx/>
                  <a:buFontTx/>
                  <a:buNone/>
                  <a:tabLst/>
                  <a:defRPr/>
                </a:pPr>
                <a:r>
                  <a:rPr lang="en-IN" sz="1400" b="1" kern="0" dirty="0">
                    <a:solidFill>
                      <a:schemeClr val="tx1"/>
                    </a:solidFill>
                    <a:latin typeface="+mj-lt"/>
                    <a:cs typeface="+mn-cs"/>
                  </a:rPr>
                  <a:t>We conducted survey, interviews &amp; workshops…</a:t>
                </a:r>
              </a:p>
            </p:txBody>
          </p:sp>
          <p:sp>
            <p:nvSpPr>
              <p:cNvPr id="82" name="Isosceles Triangle 81"/>
              <p:cNvSpPr/>
              <p:nvPr/>
            </p:nvSpPr>
            <p:spPr bwMode="auto">
              <a:xfrm rot="5400000">
                <a:off x="6037852" y="2384611"/>
                <a:ext cx="363782" cy="187521"/>
              </a:xfrm>
              <a:prstGeom prst="triangle">
                <a:avLst/>
              </a:prstGeom>
              <a:solidFill>
                <a:schemeClr val="accent2">
                  <a:lumMod val="60000"/>
                  <a:lumOff val="40000"/>
                </a:schemeClr>
              </a:solidFill>
              <a:ln w="25400" cap="flat" cmpd="sng" algn="ctr">
                <a:noFill/>
                <a:prstDash val="solid"/>
                <a:headEnd/>
                <a:tailEnd/>
              </a:ln>
              <a:effectLst/>
            </p:spPr>
            <p:txBody>
              <a:bodyPr wrap="none" rtlCol="0" anchor="ctr"/>
              <a:lstStyle/>
              <a:p>
                <a:pPr fontAlgn="auto">
                  <a:spcBef>
                    <a:spcPts val="0"/>
                  </a:spcBef>
                  <a:spcAft>
                    <a:spcPts val="0"/>
                  </a:spcAft>
                </a:pPr>
                <a:endParaRPr lang="en-IN" sz="5600" b="1" kern="0" dirty="0">
                  <a:solidFill>
                    <a:schemeClr val="tx1"/>
                  </a:solidFill>
                  <a:latin typeface="+mj-lt"/>
                  <a:cs typeface="+mn-cs"/>
                </a:endParaRPr>
              </a:p>
            </p:txBody>
          </p:sp>
        </p:grpSp>
        <p:grpSp>
          <p:nvGrpSpPr>
            <p:cNvPr id="83" name="Group 82"/>
            <p:cNvGrpSpPr/>
            <p:nvPr/>
          </p:nvGrpSpPr>
          <p:grpSpPr>
            <a:xfrm rot="5400000">
              <a:off x="5411710" y="3539184"/>
              <a:ext cx="1433302" cy="3700052"/>
              <a:chOff x="362726" y="6218648"/>
              <a:chExt cx="1433302" cy="3700052"/>
            </a:xfrm>
          </p:grpSpPr>
          <p:grpSp>
            <p:nvGrpSpPr>
              <p:cNvPr id="84" name="Group 83"/>
              <p:cNvGrpSpPr/>
              <p:nvPr/>
            </p:nvGrpSpPr>
            <p:grpSpPr>
              <a:xfrm>
                <a:off x="362726" y="6472952"/>
                <a:ext cx="1433302" cy="3445748"/>
                <a:chOff x="-754801" y="6472952"/>
                <a:chExt cx="1433302" cy="3445748"/>
              </a:xfrm>
            </p:grpSpPr>
            <p:sp>
              <p:nvSpPr>
                <p:cNvPr id="86" name="Rectangle 33"/>
                <p:cNvSpPr/>
                <p:nvPr/>
              </p:nvSpPr>
              <p:spPr>
                <a:xfrm rot="16200000">
                  <a:off x="-124908" y="5992673"/>
                  <a:ext cx="183061" cy="1143621"/>
                </a:xfrm>
                <a:custGeom>
                  <a:avLst/>
                  <a:gdLst>
                    <a:gd name="connsiteX0" fmla="*/ 0 w 69850"/>
                    <a:gd name="connsiteY0" fmla="*/ 0 h 882650"/>
                    <a:gd name="connsiteX1" fmla="*/ 69850 w 69850"/>
                    <a:gd name="connsiteY1" fmla="*/ 0 h 882650"/>
                    <a:gd name="connsiteX2" fmla="*/ 69850 w 69850"/>
                    <a:gd name="connsiteY2" fmla="*/ 882650 h 882650"/>
                    <a:gd name="connsiteX3" fmla="*/ 0 w 69850"/>
                    <a:gd name="connsiteY3" fmla="*/ 882650 h 882650"/>
                    <a:gd name="connsiteX4" fmla="*/ 0 w 69850"/>
                    <a:gd name="connsiteY4" fmla="*/ 0 h 882650"/>
                    <a:gd name="connsiteX0" fmla="*/ 0 w 69850"/>
                    <a:gd name="connsiteY0" fmla="*/ 0 h 882650"/>
                    <a:gd name="connsiteX1" fmla="*/ 60325 w 69850"/>
                    <a:gd name="connsiteY1" fmla="*/ 47625 h 882650"/>
                    <a:gd name="connsiteX2" fmla="*/ 69850 w 69850"/>
                    <a:gd name="connsiteY2" fmla="*/ 882650 h 882650"/>
                    <a:gd name="connsiteX3" fmla="*/ 0 w 69850"/>
                    <a:gd name="connsiteY3" fmla="*/ 882650 h 882650"/>
                    <a:gd name="connsiteX4" fmla="*/ 0 w 69850"/>
                    <a:gd name="connsiteY4" fmla="*/ 0 h 882650"/>
                    <a:gd name="connsiteX0" fmla="*/ 0 w 69850"/>
                    <a:gd name="connsiteY0" fmla="*/ 0 h 882650"/>
                    <a:gd name="connsiteX1" fmla="*/ 60325 w 69850"/>
                    <a:gd name="connsiteY1" fmla="*/ 47625 h 882650"/>
                    <a:gd name="connsiteX2" fmla="*/ 69850 w 69850"/>
                    <a:gd name="connsiteY2" fmla="*/ 825500 h 882650"/>
                    <a:gd name="connsiteX3" fmla="*/ 0 w 69850"/>
                    <a:gd name="connsiteY3" fmla="*/ 882650 h 882650"/>
                    <a:gd name="connsiteX4" fmla="*/ 0 w 69850"/>
                    <a:gd name="connsiteY4" fmla="*/ 0 h 882650"/>
                    <a:gd name="connsiteX0" fmla="*/ 0 w 69850"/>
                    <a:gd name="connsiteY0" fmla="*/ 0 h 882650"/>
                    <a:gd name="connsiteX1" fmla="*/ 68429 w 69850"/>
                    <a:gd name="connsiteY1" fmla="*/ 42863 h 882650"/>
                    <a:gd name="connsiteX2" fmla="*/ 69850 w 69850"/>
                    <a:gd name="connsiteY2" fmla="*/ 825500 h 882650"/>
                    <a:gd name="connsiteX3" fmla="*/ 0 w 69850"/>
                    <a:gd name="connsiteY3" fmla="*/ 882650 h 882650"/>
                    <a:gd name="connsiteX4" fmla="*/ 0 w 69850"/>
                    <a:gd name="connsiteY4" fmla="*/ 0 h 882650"/>
                    <a:gd name="connsiteX0" fmla="*/ 0 w 68692"/>
                    <a:gd name="connsiteY0" fmla="*/ 0 h 882650"/>
                    <a:gd name="connsiteX1" fmla="*/ 68429 w 68692"/>
                    <a:gd name="connsiteY1" fmla="*/ 42863 h 882650"/>
                    <a:gd name="connsiteX2" fmla="*/ 68692 w 68692"/>
                    <a:gd name="connsiteY2" fmla="*/ 832643 h 882650"/>
                    <a:gd name="connsiteX3" fmla="*/ 0 w 68692"/>
                    <a:gd name="connsiteY3" fmla="*/ 882650 h 882650"/>
                    <a:gd name="connsiteX4" fmla="*/ 0 w 68692"/>
                    <a:gd name="connsiteY4" fmla="*/ 0 h 882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692" h="882650">
                      <a:moveTo>
                        <a:pt x="0" y="0"/>
                      </a:moveTo>
                      <a:lnTo>
                        <a:pt x="68429" y="42863"/>
                      </a:lnTo>
                      <a:cubicBezTo>
                        <a:pt x="68903" y="303742"/>
                        <a:pt x="68218" y="571764"/>
                        <a:pt x="68692" y="832643"/>
                      </a:cubicBezTo>
                      <a:lnTo>
                        <a:pt x="0" y="882650"/>
                      </a:lnTo>
                      <a:lnTo>
                        <a:pt x="0" y="0"/>
                      </a:lnTo>
                      <a:close/>
                    </a:path>
                  </a:pathLst>
                </a:custGeom>
                <a:solidFill>
                  <a:schemeClr val="accent2">
                    <a:lumMod val="75000"/>
                  </a:schemeClr>
                </a:solidFill>
                <a:ln w="9525" cap="flat" cmpd="sng" algn="ctr">
                  <a:noFill/>
                  <a:prstDash val="solid"/>
                </a:ln>
                <a:effectLst/>
              </p:spPr>
              <p:txBody>
                <a:bodyPr rtlCol="0" anchor="t" anchorCtr="0"/>
                <a:lstStyle/>
                <a:p>
                  <a:pPr fontAlgn="auto">
                    <a:spcBef>
                      <a:spcPts val="0"/>
                    </a:spcBef>
                    <a:spcAft>
                      <a:spcPts val="0"/>
                    </a:spcAft>
                  </a:pPr>
                  <a:endParaRPr lang="en-IN" sz="1200" kern="0" dirty="0">
                    <a:solidFill>
                      <a:srgbClr val="000000"/>
                    </a:solidFill>
                    <a:latin typeface="+mj-lt"/>
                    <a:cs typeface="+mn-cs"/>
                  </a:endParaRPr>
                </a:p>
              </p:txBody>
            </p:sp>
            <p:sp>
              <p:nvSpPr>
                <p:cNvPr id="87" name="Rectangle 86"/>
                <p:cNvSpPr/>
                <p:nvPr/>
              </p:nvSpPr>
              <p:spPr>
                <a:xfrm rot="16200000">
                  <a:off x="-1252975" y="7177344"/>
                  <a:ext cx="2429651" cy="1020867"/>
                </a:xfrm>
                <a:prstGeom prst="rect">
                  <a:avLst/>
                </a:prstGeom>
                <a:solidFill>
                  <a:schemeClr val="accent2">
                    <a:lumMod val="60000"/>
                    <a:lumOff val="40000"/>
                  </a:schemeClr>
                </a:solidFill>
                <a:ln w="9525" cap="flat" cmpd="sng" algn="ctr">
                  <a:noFill/>
                  <a:prstDash val="soli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000000"/>
                    </a:solidFill>
                    <a:effectLst/>
                    <a:uLnTx/>
                    <a:uFillTx/>
                    <a:latin typeface="+mj-lt"/>
                    <a:ea typeface="+mn-ea"/>
                    <a:cs typeface="+mn-cs"/>
                  </a:endParaRPr>
                </a:p>
              </p:txBody>
            </p:sp>
            <p:sp>
              <p:nvSpPr>
                <p:cNvPr id="88" name="Ellipse 22"/>
                <p:cNvSpPr/>
                <p:nvPr/>
              </p:nvSpPr>
              <p:spPr bwMode="gray">
                <a:xfrm rot="16200000">
                  <a:off x="-754801" y="8485398"/>
                  <a:ext cx="1433302" cy="1433302"/>
                </a:xfrm>
                <a:prstGeom prst="ellipse">
                  <a:avLst/>
                </a:prstGeom>
                <a:solidFill>
                  <a:schemeClr val="accent2">
                    <a:lumMod val="60000"/>
                    <a:lumOff val="40000"/>
                  </a:schemeClr>
                </a:solidFill>
                <a:ln w="25400" cap="flat" cmpd="sng" algn="ctr">
                  <a:noFill/>
                  <a:prstDash val="solid"/>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600" b="1" i="0" u="none" strike="noStrike" kern="0" cap="none" spc="0" normalizeH="0" baseline="0" noProof="0" dirty="0">
                      <a:ln>
                        <a:noFill/>
                      </a:ln>
                      <a:solidFill>
                        <a:schemeClr val="tx1"/>
                      </a:solidFill>
                      <a:effectLst/>
                      <a:uLnTx/>
                      <a:uFillTx/>
                      <a:latin typeface="+mj-lt"/>
                      <a:ea typeface="+mn-ea"/>
                      <a:cs typeface="+mn-cs"/>
                    </a:rPr>
                    <a:t> 3</a:t>
                  </a:r>
                </a:p>
              </p:txBody>
            </p:sp>
            <p:sp>
              <p:nvSpPr>
                <p:cNvPr id="90" name="Rechteck 65"/>
                <p:cNvSpPr/>
                <p:nvPr/>
              </p:nvSpPr>
              <p:spPr bwMode="gray">
                <a:xfrm rot="16200000">
                  <a:off x="-1083617" y="7510286"/>
                  <a:ext cx="2100477" cy="380090"/>
                </a:xfrm>
                <a:prstGeom prst="rect">
                  <a:avLst/>
                </a:prstGeom>
                <a:ln>
                  <a:noFill/>
                </a:ln>
              </p:spPr>
              <p:txBody>
                <a:bodyPr wrap="square" anchor="ctr">
                  <a:noAutofit/>
                </a:bodyPr>
                <a:lstStyle/>
                <a:p>
                  <a:pPr lvl="0" algn="ctr">
                    <a:lnSpc>
                      <a:spcPct val="95000"/>
                    </a:lnSpc>
                    <a:spcAft>
                      <a:spcPts val="800"/>
                    </a:spcAft>
                    <a:defRPr/>
                  </a:pPr>
                  <a:r>
                    <a:rPr lang="en-US" sz="1400" b="1" kern="0" dirty="0">
                      <a:latin typeface="+mj-lt"/>
                    </a:rPr>
                    <a:t>To develop the Technology Strategy</a:t>
                  </a:r>
                </a:p>
              </p:txBody>
            </p:sp>
          </p:grpSp>
          <p:sp>
            <p:nvSpPr>
              <p:cNvPr id="85" name="Isosceles Triangle 84"/>
              <p:cNvSpPr/>
              <p:nvPr/>
            </p:nvSpPr>
            <p:spPr bwMode="auto">
              <a:xfrm rot="10800000" flipV="1">
                <a:off x="897486" y="6218648"/>
                <a:ext cx="363782" cy="187521"/>
              </a:xfrm>
              <a:prstGeom prst="triangle">
                <a:avLst/>
              </a:prstGeom>
              <a:solidFill>
                <a:schemeClr val="accent2">
                  <a:lumMod val="60000"/>
                  <a:lumOff val="40000"/>
                </a:schemeClr>
              </a:solidFill>
              <a:ln w="25400" cap="flat" cmpd="sng" algn="ctr">
                <a:noFill/>
                <a:prstDash val="solid"/>
                <a:headEnd/>
                <a:tailEnd/>
              </a:ln>
              <a:effectLst/>
            </p:spPr>
            <p:txBody>
              <a:bodyPr wrap="none" rtlCol="0" anchor="ctr"/>
              <a:lstStyle/>
              <a:p>
                <a:pPr fontAlgn="auto">
                  <a:spcBef>
                    <a:spcPts val="0"/>
                  </a:spcBef>
                  <a:spcAft>
                    <a:spcPts val="0"/>
                  </a:spcAft>
                </a:pPr>
                <a:endParaRPr lang="en-IN" sz="5600" b="1" kern="0" dirty="0">
                  <a:solidFill>
                    <a:schemeClr val="tx1"/>
                  </a:solidFill>
                  <a:latin typeface="+mj-lt"/>
                  <a:cs typeface="+mn-cs"/>
                </a:endParaRPr>
              </a:p>
            </p:txBody>
          </p:sp>
        </p:grpSp>
      </p:grpSp>
      <p:sp>
        <p:nvSpPr>
          <p:cNvPr id="2" name="TextBox 1"/>
          <p:cNvSpPr txBox="1"/>
          <p:nvPr/>
        </p:nvSpPr>
        <p:spPr>
          <a:xfrm>
            <a:off x="9130192" y="3476844"/>
            <a:ext cx="2122249" cy="914279"/>
          </a:xfrm>
          <a:prstGeom prst="rect">
            <a:avLst/>
          </a:prstGeom>
          <a:noFill/>
        </p:spPr>
        <p:txBody>
          <a:bodyPr wrap="square" lIns="0" tIns="0" rIns="0" bIns="0" rtlCol="0">
            <a:noAutofit/>
          </a:bodyPr>
          <a:lstStyle/>
          <a:p>
            <a:pPr marL="171450" indent="-171450">
              <a:buFont typeface="Wingdings" panose="05000000000000000000" pitchFamily="2" charset="2"/>
              <a:buChar char="ü"/>
            </a:pPr>
            <a:r>
              <a:rPr lang="en-US" sz="1400" b="1" dirty="0">
                <a:solidFill>
                  <a:schemeClr val="bg2">
                    <a:lumMod val="25000"/>
                  </a:schemeClr>
                </a:solidFill>
              </a:rPr>
              <a:t>60+</a:t>
            </a:r>
            <a:r>
              <a:rPr lang="en-US" sz="1400" dirty="0">
                <a:solidFill>
                  <a:schemeClr val="bg2">
                    <a:lumMod val="25000"/>
                  </a:schemeClr>
                </a:solidFill>
              </a:rPr>
              <a:t> business </a:t>
            </a:r>
            <a:r>
              <a:rPr lang="en-US" sz="1400" b="1" dirty="0">
                <a:solidFill>
                  <a:schemeClr val="bg2">
                    <a:lumMod val="25000"/>
                  </a:schemeClr>
                </a:solidFill>
              </a:rPr>
              <a:t>priorities </a:t>
            </a:r>
          </a:p>
          <a:p>
            <a:pPr marL="171450" indent="-171450">
              <a:buFont typeface="Wingdings" panose="05000000000000000000" pitchFamily="2" charset="2"/>
              <a:buChar char="ü"/>
            </a:pPr>
            <a:r>
              <a:rPr lang="en-US" sz="1400" b="1" dirty="0">
                <a:solidFill>
                  <a:schemeClr val="bg2">
                    <a:lumMod val="25000"/>
                  </a:schemeClr>
                </a:solidFill>
              </a:rPr>
              <a:t>7 ELT/</a:t>
            </a:r>
            <a:r>
              <a:rPr lang="en-US" sz="1400" b="1" dirty="0" err="1">
                <a:solidFill>
                  <a:schemeClr val="bg2">
                    <a:lumMod val="25000"/>
                  </a:schemeClr>
                </a:solidFill>
              </a:rPr>
              <a:t>CxOs</a:t>
            </a:r>
            <a:r>
              <a:rPr lang="en-US" sz="1400" b="1" dirty="0">
                <a:solidFill>
                  <a:schemeClr val="bg2">
                    <a:lumMod val="25000"/>
                  </a:schemeClr>
                </a:solidFill>
              </a:rPr>
              <a:t> </a:t>
            </a:r>
            <a:r>
              <a:rPr lang="en-US" sz="1400" dirty="0">
                <a:solidFill>
                  <a:schemeClr val="bg2">
                    <a:lumMod val="25000"/>
                  </a:schemeClr>
                </a:solidFill>
              </a:rPr>
              <a:t>members interviewed </a:t>
            </a:r>
          </a:p>
        </p:txBody>
      </p:sp>
      <p:sp>
        <p:nvSpPr>
          <p:cNvPr id="33" name="TextBox 32"/>
          <p:cNvSpPr txBox="1"/>
          <p:nvPr/>
        </p:nvSpPr>
        <p:spPr>
          <a:xfrm>
            <a:off x="807916" y="1916185"/>
            <a:ext cx="2233963" cy="808233"/>
          </a:xfrm>
          <a:prstGeom prst="rect">
            <a:avLst/>
          </a:prstGeom>
          <a:noFill/>
        </p:spPr>
        <p:txBody>
          <a:bodyPr wrap="square" lIns="0" tIns="0" rIns="0" bIns="0" rtlCol="0">
            <a:noAutofit/>
          </a:bodyPr>
          <a:lstStyle/>
          <a:p>
            <a:pPr marL="171450" indent="-171450">
              <a:buFont typeface="Wingdings" panose="05000000000000000000" pitchFamily="2" charset="2"/>
              <a:buChar char="ü"/>
            </a:pPr>
            <a:r>
              <a:rPr lang="en-US" sz="1400" b="1" dirty="0">
                <a:solidFill>
                  <a:schemeClr val="bg2">
                    <a:lumMod val="25000"/>
                  </a:schemeClr>
                </a:solidFill>
              </a:rPr>
              <a:t>527</a:t>
            </a:r>
            <a:r>
              <a:rPr lang="en-US" sz="1400" dirty="0">
                <a:solidFill>
                  <a:schemeClr val="bg2">
                    <a:lumMod val="25000"/>
                  </a:schemeClr>
                </a:solidFill>
              </a:rPr>
              <a:t>/1062 </a:t>
            </a:r>
            <a:r>
              <a:rPr lang="en-US" sz="1400" b="1" dirty="0">
                <a:solidFill>
                  <a:schemeClr val="bg2">
                    <a:lumMod val="25000"/>
                  </a:schemeClr>
                </a:solidFill>
              </a:rPr>
              <a:t>Respondents</a:t>
            </a:r>
          </a:p>
          <a:p>
            <a:pPr marL="171450" indent="-171450">
              <a:buFont typeface="Wingdings" panose="05000000000000000000" pitchFamily="2" charset="2"/>
              <a:buChar char="ü"/>
            </a:pPr>
            <a:r>
              <a:rPr lang="en-US" sz="1400" b="1" dirty="0">
                <a:solidFill>
                  <a:schemeClr val="bg2">
                    <a:lumMod val="25000"/>
                  </a:schemeClr>
                </a:solidFill>
              </a:rPr>
              <a:t>60+ </a:t>
            </a:r>
            <a:r>
              <a:rPr lang="en-US" sz="1400" dirty="0">
                <a:solidFill>
                  <a:schemeClr val="bg2">
                    <a:lumMod val="25000"/>
                  </a:schemeClr>
                </a:solidFill>
              </a:rPr>
              <a:t>Manager/VPs</a:t>
            </a:r>
            <a:r>
              <a:rPr lang="en-US" sz="1400" b="1" dirty="0">
                <a:solidFill>
                  <a:schemeClr val="bg2">
                    <a:lumMod val="25000"/>
                  </a:schemeClr>
                </a:solidFill>
              </a:rPr>
              <a:t> interviews</a:t>
            </a:r>
            <a:endParaRPr lang="en-US" sz="1400" dirty="0">
              <a:solidFill>
                <a:schemeClr val="bg2">
                  <a:lumMod val="25000"/>
                </a:schemeClr>
              </a:solidFill>
            </a:endParaRPr>
          </a:p>
        </p:txBody>
      </p:sp>
      <p:sp>
        <p:nvSpPr>
          <p:cNvPr id="34" name="TextBox 33"/>
          <p:cNvSpPr txBox="1"/>
          <p:nvPr/>
        </p:nvSpPr>
        <p:spPr>
          <a:xfrm>
            <a:off x="970151" y="4996496"/>
            <a:ext cx="1785187" cy="808233"/>
          </a:xfrm>
          <a:prstGeom prst="rect">
            <a:avLst/>
          </a:prstGeom>
          <a:noFill/>
        </p:spPr>
        <p:txBody>
          <a:bodyPr wrap="square" lIns="0" tIns="0" rIns="0" bIns="0" rtlCol="0">
            <a:noAutofit/>
          </a:bodyPr>
          <a:lstStyle/>
          <a:p>
            <a:pPr marL="171450" indent="-171450">
              <a:buFont typeface="Wingdings" panose="05000000000000000000" pitchFamily="2" charset="2"/>
              <a:buChar char="ü"/>
            </a:pPr>
            <a:r>
              <a:rPr lang="en-US" sz="1400" b="1" dirty="0">
                <a:solidFill>
                  <a:schemeClr val="bg2">
                    <a:lumMod val="25000"/>
                  </a:schemeClr>
                </a:solidFill>
              </a:rPr>
              <a:t>4 Key Technology initiatives themes </a:t>
            </a:r>
            <a:endParaRPr lang="en-US" sz="1400" dirty="0">
              <a:solidFill>
                <a:schemeClr val="bg2">
                  <a:lumMod val="25000"/>
                </a:schemeClr>
              </a:solidFill>
            </a:endParaRPr>
          </a:p>
          <a:p>
            <a:pPr marL="171450" indent="-171450">
              <a:buFont typeface="Wingdings" panose="05000000000000000000" pitchFamily="2" charset="2"/>
              <a:buChar char="ü"/>
            </a:pPr>
            <a:r>
              <a:rPr lang="en-US" sz="1400" b="1" dirty="0">
                <a:solidFill>
                  <a:schemeClr val="bg2">
                    <a:lumMod val="25000"/>
                  </a:schemeClr>
                </a:solidFill>
              </a:rPr>
              <a:t>~20 Key Projects</a:t>
            </a:r>
            <a:endParaRPr lang="en-US" sz="1400" dirty="0">
              <a:solidFill>
                <a:schemeClr val="bg2">
                  <a:lumMod val="25000"/>
                </a:schemeClr>
              </a:solidFill>
            </a:endParaRPr>
          </a:p>
        </p:txBody>
      </p:sp>
      <p:grpSp>
        <p:nvGrpSpPr>
          <p:cNvPr id="32" name="Group 31"/>
          <p:cNvGrpSpPr>
            <a:grpSpLocks noChangeAspect="1"/>
          </p:cNvGrpSpPr>
          <p:nvPr/>
        </p:nvGrpSpPr>
        <p:grpSpPr>
          <a:xfrm>
            <a:off x="9143045" y="1721712"/>
            <a:ext cx="1551094" cy="1139042"/>
            <a:chOff x="1260523" y="2751202"/>
            <a:chExt cx="646289" cy="474601"/>
          </a:xfrm>
        </p:grpSpPr>
        <p:pic>
          <p:nvPicPr>
            <p:cNvPr id="35" name="Picture 3"/>
            <p:cNvPicPr>
              <a:picLocks noChangeAspect="1" noChangeArrowheads="1"/>
            </p:cNvPicPr>
            <p:nvPr/>
          </p:nvPicPr>
          <p:blipFill>
            <a:blip r:embed="rId20" cstate="email">
              <a:duotone>
                <a:schemeClr val="accent4">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592559" y="2751202"/>
              <a:ext cx="260100" cy="210375"/>
            </a:xfrm>
            <a:prstGeom prst="rect">
              <a:avLst/>
            </a:prstGeom>
            <a:noFill/>
            <a:ln w="9525">
              <a:noFill/>
              <a:miter lim="800000"/>
              <a:headEnd/>
              <a:tailEnd/>
            </a:ln>
            <a:effectLst/>
          </p:spPr>
        </p:pic>
        <p:pic>
          <p:nvPicPr>
            <p:cNvPr id="36" name="Picture 5"/>
            <p:cNvPicPr>
              <a:picLocks noChangeAspect="1" noChangeArrowheads="1"/>
            </p:cNvPicPr>
            <p:nvPr/>
          </p:nvPicPr>
          <p:blipFill>
            <a:blip r:embed="rId21" cstate="print">
              <a:duotone>
                <a:schemeClr val="accent4">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260523" y="2924944"/>
              <a:ext cx="646289" cy="300859"/>
            </a:xfrm>
            <a:prstGeom prst="rect">
              <a:avLst/>
            </a:prstGeom>
            <a:noFill/>
            <a:ln w="9525">
              <a:noFill/>
              <a:miter lim="800000"/>
              <a:headEnd/>
              <a:tailEnd/>
            </a:ln>
            <a:effectLst/>
          </p:spPr>
        </p:pic>
      </p:grpSp>
      <p:grpSp>
        <p:nvGrpSpPr>
          <p:cNvPr id="37" name="Gruppieren 851">
            <a:extLst>
              <a:ext uri="{FF2B5EF4-FFF2-40B4-BE49-F238E27FC236}">
                <a16:creationId xmlns:a16="http://schemas.microsoft.com/office/drawing/2014/main" id="{2FE48860-EBA8-44F3-864C-82D2BBA6CFCC}"/>
              </a:ext>
            </a:extLst>
          </p:cNvPr>
          <p:cNvGrpSpPr>
            <a:grpSpLocks noChangeAspect="1"/>
          </p:cNvGrpSpPr>
          <p:nvPr>
            <p:custDataLst>
              <p:tags r:id="rId1"/>
            </p:custDataLst>
          </p:nvPr>
        </p:nvGrpSpPr>
        <p:grpSpPr bwMode="gray">
          <a:xfrm>
            <a:off x="1004218" y="3256075"/>
            <a:ext cx="421298" cy="697536"/>
            <a:chOff x="7936110" y="3644896"/>
            <a:chExt cx="233867" cy="387208"/>
          </a:xfrm>
          <a:solidFill>
            <a:schemeClr val="accent4">
              <a:lumMod val="40000"/>
              <a:lumOff val="60000"/>
            </a:schemeClr>
          </a:solidFill>
        </p:grpSpPr>
        <p:sp>
          <p:nvSpPr>
            <p:cNvPr id="38" name="Ellipse 852">
              <a:extLst>
                <a:ext uri="{FF2B5EF4-FFF2-40B4-BE49-F238E27FC236}">
                  <a16:creationId xmlns:a16="http://schemas.microsoft.com/office/drawing/2014/main" id="{E8A60208-33C5-4067-BD9E-C6DB20A1713C}"/>
                </a:ext>
              </a:extLst>
            </p:cNvPr>
            <p:cNvSpPr/>
            <p:nvPr>
              <p:custDataLst>
                <p:tags r:id="rId14"/>
              </p:custDataLst>
            </p:nvPr>
          </p:nvSpPr>
          <p:spPr bwMode="gray">
            <a:xfrm>
              <a:off x="7936110" y="3644896"/>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39" name="Ellipse 853">
              <a:extLst>
                <a:ext uri="{FF2B5EF4-FFF2-40B4-BE49-F238E27FC236}">
                  <a16:creationId xmlns:a16="http://schemas.microsoft.com/office/drawing/2014/main" id="{7073AE8B-78E5-45EC-B280-7067171BCEF2}"/>
                </a:ext>
              </a:extLst>
            </p:cNvPr>
            <p:cNvSpPr/>
            <p:nvPr>
              <p:custDataLst>
                <p:tags r:id="rId15"/>
              </p:custDataLst>
            </p:nvPr>
          </p:nvSpPr>
          <p:spPr bwMode="gray">
            <a:xfrm>
              <a:off x="8017043" y="3723285"/>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40" name="Ellipse 854">
              <a:extLst>
                <a:ext uri="{FF2B5EF4-FFF2-40B4-BE49-F238E27FC236}">
                  <a16:creationId xmlns:a16="http://schemas.microsoft.com/office/drawing/2014/main" id="{F2FC1390-CBF1-46D7-9AD1-DA7B914053B9}"/>
                </a:ext>
              </a:extLst>
            </p:cNvPr>
            <p:cNvSpPr/>
            <p:nvPr>
              <p:custDataLst>
                <p:tags r:id="rId16"/>
              </p:custDataLst>
            </p:nvPr>
          </p:nvSpPr>
          <p:spPr bwMode="gray">
            <a:xfrm>
              <a:off x="8097977" y="3801674"/>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41" name="Ellipse 855">
              <a:extLst>
                <a:ext uri="{FF2B5EF4-FFF2-40B4-BE49-F238E27FC236}">
                  <a16:creationId xmlns:a16="http://schemas.microsoft.com/office/drawing/2014/main" id="{570175A2-6579-4067-A792-844FA09B0BA7}"/>
                </a:ext>
              </a:extLst>
            </p:cNvPr>
            <p:cNvSpPr/>
            <p:nvPr>
              <p:custDataLst>
                <p:tags r:id="rId17"/>
              </p:custDataLst>
            </p:nvPr>
          </p:nvSpPr>
          <p:spPr bwMode="gray">
            <a:xfrm flipV="1">
              <a:off x="7936110" y="3960104"/>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42" name="Ellipse 856">
              <a:extLst>
                <a:ext uri="{FF2B5EF4-FFF2-40B4-BE49-F238E27FC236}">
                  <a16:creationId xmlns:a16="http://schemas.microsoft.com/office/drawing/2014/main" id="{5B41CD2B-1E5E-4820-BA27-DA2F255641CA}"/>
                </a:ext>
              </a:extLst>
            </p:cNvPr>
            <p:cNvSpPr/>
            <p:nvPr>
              <p:custDataLst>
                <p:tags r:id="rId18"/>
              </p:custDataLst>
            </p:nvPr>
          </p:nvSpPr>
          <p:spPr bwMode="gray">
            <a:xfrm flipV="1">
              <a:off x="8017043" y="3881715"/>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grpSp>
      <p:grpSp>
        <p:nvGrpSpPr>
          <p:cNvPr id="43" name="Gruppieren 851">
            <a:extLst>
              <a:ext uri="{FF2B5EF4-FFF2-40B4-BE49-F238E27FC236}">
                <a16:creationId xmlns:a16="http://schemas.microsoft.com/office/drawing/2014/main" id="{2FE48860-EBA8-44F3-864C-82D2BBA6CFCC}"/>
              </a:ext>
            </a:extLst>
          </p:cNvPr>
          <p:cNvGrpSpPr>
            <a:grpSpLocks noChangeAspect="1"/>
          </p:cNvGrpSpPr>
          <p:nvPr>
            <p:custDataLst>
              <p:tags r:id="rId2"/>
            </p:custDataLst>
          </p:nvPr>
        </p:nvGrpSpPr>
        <p:grpSpPr bwMode="gray">
          <a:xfrm>
            <a:off x="1348320" y="3256075"/>
            <a:ext cx="421298" cy="697536"/>
            <a:chOff x="7936110" y="3644896"/>
            <a:chExt cx="233867" cy="387208"/>
          </a:xfrm>
          <a:solidFill>
            <a:schemeClr val="accent4">
              <a:lumMod val="60000"/>
              <a:lumOff val="40000"/>
            </a:schemeClr>
          </a:solidFill>
        </p:grpSpPr>
        <p:sp>
          <p:nvSpPr>
            <p:cNvPr id="44" name="Ellipse 852">
              <a:extLst>
                <a:ext uri="{FF2B5EF4-FFF2-40B4-BE49-F238E27FC236}">
                  <a16:creationId xmlns:a16="http://schemas.microsoft.com/office/drawing/2014/main" id="{E8A60208-33C5-4067-BD9E-C6DB20A1713C}"/>
                </a:ext>
              </a:extLst>
            </p:cNvPr>
            <p:cNvSpPr/>
            <p:nvPr>
              <p:custDataLst>
                <p:tags r:id="rId9"/>
              </p:custDataLst>
            </p:nvPr>
          </p:nvSpPr>
          <p:spPr bwMode="gray">
            <a:xfrm>
              <a:off x="7936110" y="3644896"/>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45" name="Ellipse 853">
              <a:extLst>
                <a:ext uri="{FF2B5EF4-FFF2-40B4-BE49-F238E27FC236}">
                  <a16:creationId xmlns:a16="http://schemas.microsoft.com/office/drawing/2014/main" id="{7073AE8B-78E5-45EC-B280-7067171BCEF2}"/>
                </a:ext>
              </a:extLst>
            </p:cNvPr>
            <p:cNvSpPr/>
            <p:nvPr>
              <p:custDataLst>
                <p:tags r:id="rId10"/>
              </p:custDataLst>
            </p:nvPr>
          </p:nvSpPr>
          <p:spPr bwMode="gray">
            <a:xfrm>
              <a:off x="8017043" y="3723285"/>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46" name="Ellipse 854">
              <a:extLst>
                <a:ext uri="{FF2B5EF4-FFF2-40B4-BE49-F238E27FC236}">
                  <a16:creationId xmlns:a16="http://schemas.microsoft.com/office/drawing/2014/main" id="{F2FC1390-CBF1-46D7-9AD1-DA7B914053B9}"/>
                </a:ext>
              </a:extLst>
            </p:cNvPr>
            <p:cNvSpPr/>
            <p:nvPr>
              <p:custDataLst>
                <p:tags r:id="rId11"/>
              </p:custDataLst>
            </p:nvPr>
          </p:nvSpPr>
          <p:spPr bwMode="gray">
            <a:xfrm>
              <a:off x="8097977" y="3801674"/>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47" name="Ellipse 855">
              <a:extLst>
                <a:ext uri="{FF2B5EF4-FFF2-40B4-BE49-F238E27FC236}">
                  <a16:creationId xmlns:a16="http://schemas.microsoft.com/office/drawing/2014/main" id="{570175A2-6579-4067-A792-844FA09B0BA7}"/>
                </a:ext>
              </a:extLst>
            </p:cNvPr>
            <p:cNvSpPr/>
            <p:nvPr>
              <p:custDataLst>
                <p:tags r:id="rId12"/>
              </p:custDataLst>
            </p:nvPr>
          </p:nvSpPr>
          <p:spPr bwMode="gray">
            <a:xfrm flipV="1">
              <a:off x="7936110" y="3960104"/>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48" name="Ellipse 856">
              <a:extLst>
                <a:ext uri="{FF2B5EF4-FFF2-40B4-BE49-F238E27FC236}">
                  <a16:creationId xmlns:a16="http://schemas.microsoft.com/office/drawing/2014/main" id="{5B41CD2B-1E5E-4820-BA27-DA2F255641CA}"/>
                </a:ext>
              </a:extLst>
            </p:cNvPr>
            <p:cNvSpPr/>
            <p:nvPr>
              <p:custDataLst>
                <p:tags r:id="rId13"/>
              </p:custDataLst>
            </p:nvPr>
          </p:nvSpPr>
          <p:spPr bwMode="gray">
            <a:xfrm flipV="1">
              <a:off x="8017043" y="3881715"/>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grpSp>
      <p:grpSp>
        <p:nvGrpSpPr>
          <p:cNvPr id="49" name="Gruppieren 851">
            <a:extLst>
              <a:ext uri="{FF2B5EF4-FFF2-40B4-BE49-F238E27FC236}">
                <a16:creationId xmlns:a16="http://schemas.microsoft.com/office/drawing/2014/main" id="{2FE48860-EBA8-44F3-864C-82D2BBA6CFCC}"/>
              </a:ext>
            </a:extLst>
          </p:cNvPr>
          <p:cNvGrpSpPr>
            <a:grpSpLocks noChangeAspect="1"/>
          </p:cNvGrpSpPr>
          <p:nvPr>
            <p:custDataLst>
              <p:tags r:id="rId3"/>
            </p:custDataLst>
          </p:nvPr>
        </p:nvGrpSpPr>
        <p:grpSpPr bwMode="gray">
          <a:xfrm>
            <a:off x="1679296" y="3256075"/>
            <a:ext cx="421298" cy="697536"/>
            <a:chOff x="7936110" y="3644896"/>
            <a:chExt cx="233867" cy="387208"/>
          </a:xfrm>
          <a:solidFill>
            <a:schemeClr val="accent4"/>
          </a:solidFill>
        </p:grpSpPr>
        <p:sp>
          <p:nvSpPr>
            <p:cNvPr id="50" name="Ellipse 852">
              <a:extLst>
                <a:ext uri="{FF2B5EF4-FFF2-40B4-BE49-F238E27FC236}">
                  <a16:creationId xmlns:a16="http://schemas.microsoft.com/office/drawing/2014/main" id="{E8A60208-33C5-4067-BD9E-C6DB20A1713C}"/>
                </a:ext>
              </a:extLst>
            </p:cNvPr>
            <p:cNvSpPr/>
            <p:nvPr>
              <p:custDataLst>
                <p:tags r:id="rId4"/>
              </p:custDataLst>
            </p:nvPr>
          </p:nvSpPr>
          <p:spPr bwMode="gray">
            <a:xfrm>
              <a:off x="7936110" y="3644896"/>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51" name="Ellipse 853">
              <a:extLst>
                <a:ext uri="{FF2B5EF4-FFF2-40B4-BE49-F238E27FC236}">
                  <a16:creationId xmlns:a16="http://schemas.microsoft.com/office/drawing/2014/main" id="{7073AE8B-78E5-45EC-B280-7067171BCEF2}"/>
                </a:ext>
              </a:extLst>
            </p:cNvPr>
            <p:cNvSpPr/>
            <p:nvPr>
              <p:custDataLst>
                <p:tags r:id="rId5"/>
              </p:custDataLst>
            </p:nvPr>
          </p:nvSpPr>
          <p:spPr bwMode="gray">
            <a:xfrm>
              <a:off x="8017043" y="3723285"/>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52" name="Ellipse 854">
              <a:extLst>
                <a:ext uri="{FF2B5EF4-FFF2-40B4-BE49-F238E27FC236}">
                  <a16:creationId xmlns:a16="http://schemas.microsoft.com/office/drawing/2014/main" id="{F2FC1390-CBF1-46D7-9AD1-DA7B914053B9}"/>
                </a:ext>
              </a:extLst>
            </p:cNvPr>
            <p:cNvSpPr/>
            <p:nvPr>
              <p:custDataLst>
                <p:tags r:id="rId6"/>
              </p:custDataLst>
            </p:nvPr>
          </p:nvSpPr>
          <p:spPr bwMode="gray">
            <a:xfrm>
              <a:off x="8097977" y="3801674"/>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53" name="Ellipse 855">
              <a:extLst>
                <a:ext uri="{FF2B5EF4-FFF2-40B4-BE49-F238E27FC236}">
                  <a16:creationId xmlns:a16="http://schemas.microsoft.com/office/drawing/2014/main" id="{570175A2-6579-4067-A792-844FA09B0BA7}"/>
                </a:ext>
              </a:extLst>
            </p:cNvPr>
            <p:cNvSpPr/>
            <p:nvPr>
              <p:custDataLst>
                <p:tags r:id="rId7"/>
              </p:custDataLst>
            </p:nvPr>
          </p:nvSpPr>
          <p:spPr bwMode="gray">
            <a:xfrm flipV="1">
              <a:off x="7936110" y="3960104"/>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sp>
          <p:nvSpPr>
            <p:cNvPr id="54" name="Ellipse 856">
              <a:extLst>
                <a:ext uri="{FF2B5EF4-FFF2-40B4-BE49-F238E27FC236}">
                  <a16:creationId xmlns:a16="http://schemas.microsoft.com/office/drawing/2014/main" id="{5B41CD2B-1E5E-4820-BA27-DA2F255641CA}"/>
                </a:ext>
              </a:extLst>
            </p:cNvPr>
            <p:cNvSpPr/>
            <p:nvPr>
              <p:custDataLst>
                <p:tags r:id="rId8"/>
              </p:custDataLst>
            </p:nvPr>
          </p:nvSpPr>
          <p:spPr bwMode="gray">
            <a:xfrm flipV="1">
              <a:off x="8017043" y="3881715"/>
              <a:ext cx="72000" cy="7200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1200" dirty="0">
                <a:solidFill>
                  <a:schemeClr val="tx1"/>
                </a:solidFill>
              </a:endParaRPr>
            </a:p>
          </p:txBody>
        </p:sp>
      </p:grpSp>
      <p:sp>
        <p:nvSpPr>
          <p:cNvPr id="56" name="Freeform 6"/>
          <p:cNvSpPr>
            <a:spLocks noEditPoints="1"/>
          </p:cNvSpPr>
          <p:nvPr/>
        </p:nvSpPr>
        <p:spPr bwMode="auto">
          <a:xfrm>
            <a:off x="9620535" y="5212508"/>
            <a:ext cx="912601" cy="695079"/>
          </a:xfrm>
          <a:custGeom>
            <a:avLst/>
            <a:gdLst>
              <a:gd name="T0" fmla="*/ 86 w 173"/>
              <a:gd name="T1" fmla="*/ 138 h 173"/>
              <a:gd name="T2" fmla="*/ 83 w 173"/>
              <a:gd name="T3" fmla="*/ 134 h 173"/>
              <a:gd name="T4" fmla="*/ 86 w 173"/>
              <a:gd name="T5" fmla="*/ 131 h 173"/>
              <a:gd name="T6" fmla="*/ 101 w 173"/>
              <a:gd name="T7" fmla="*/ 131 h 173"/>
              <a:gd name="T8" fmla="*/ 143 w 173"/>
              <a:gd name="T9" fmla="*/ 90 h 173"/>
              <a:gd name="T10" fmla="*/ 86 w 173"/>
              <a:gd name="T11" fmla="*/ 90 h 173"/>
              <a:gd name="T12" fmla="*/ 83 w 173"/>
              <a:gd name="T13" fmla="*/ 86 h 173"/>
              <a:gd name="T14" fmla="*/ 86 w 173"/>
              <a:gd name="T15" fmla="*/ 83 h 173"/>
              <a:gd name="T16" fmla="*/ 144 w 173"/>
              <a:gd name="T17" fmla="*/ 83 h 173"/>
              <a:gd name="T18" fmla="*/ 147 w 173"/>
              <a:gd name="T19" fmla="*/ 86 h 173"/>
              <a:gd name="T20" fmla="*/ 161 w 173"/>
              <a:gd name="T21" fmla="*/ 80 h 173"/>
              <a:gd name="T22" fmla="*/ 173 w 173"/>
              <a:gd name="T23" fmla="*/ 84 h 173"/>
              <a:gd name="T24" fmla="*/ 173 w 173"/>
              <a:gd name="T25" fmla="*/ 39 h 173"/>
              <a:gd name="T26" fmla="*/ 134 w 173"/>
              <a:gd name="T27" fmla="*/ 0 h 173"/>
              <a:gd name="T28" fmla="*/ 39 w 173"/>
              <a:gd name="T29" fmla="*/ 0 h 173"/>
              <a:gd name="T30" fmla="*/ 0 w 173"/>
              <a:gd name="T31" fmla="*/ 39 h 173"/>
              <a:gd name="T32" fmla="*/ 0 w 173"/>
              <a:gd name="T33" fmla="*/ 134 h 173"/>
              <a:gd name="T34" fmla="*/ 39 w 173"/>
              <a:gd name="T35" fmla="*/ 173 h 173"/>
              <a:gd name="T36" fmla="*/ 86 w 173"/>
              <a:gd name="T37" fmla="*/ 173 h 173"/>
              <a:gd name="T38" fmla="*/ 96 w 173"/>
              <a:gd name="T39" fmla="*/ 138 h 173"/>
              <a:gd name="T40" fmla="*/ 86 w 173"/>
              <a:gd name="T41" fmla="*/ 138 h 173"/>
              <a:gd name="T42" fmla="*/ 86 w 173"/>
              <a:gd name="T43" fmla="*/ 38 h 173"/>
              <a:gd name="T44" fmla="*/ 144 w 173"/>
              <a:gd name="T45" fmla="*/ 38 h 173"/>
              <a:gd name="T46" fmla="*/ 147 w 173"/>
              <a:gd name="T47" fmla="*/ 42 h 173"/>
              <a:gd name="T48" fmla="*/ 144 w 173"/>
              <a:gd name="T49" fmla="*/ 45 h 173"/>
              <a:gd name="T50" fmla="*/ 86 w 173"/>
              <a:gd name="T51" fmla="*/ 45 h 173"/>
              <a:gd name="T52" fmla="*/ 83 w 173"/>
              <a:gd name="T53" fmla="*/ 42 h 173"/>
              <a:gd name="T54" fmla="*/ 86 w 173"/>
              <a:gd name="T55" fmla="*/ 38 h 173"/>
              <a:gd name="T56" fmla="*/ 66 w 173"/>
              <a:gd name="T57" fmla="*/ 120 h 173"/>
              <a:gd name="T58" fmla="*/ 44 w 173"/>
              <a:gd name="T59" fmla="*/ 146 h 173"/>
              <a:gd name="T60" fmla="*/ 42 w 173"/>
              <a:gd name="T61" fmla="*/ 147 h 173"/>
              <a:gd name="T62" fmla="*/ 40 w 173"/>
              <a:gd name="T63" fmla="*/ 147 h 173"/>
              <a:gd name="T64" fmla="*/ 25 w 173"/>
              <a:gd name="T65" fmla="*/ 136 h 173"/>
              <a:gd name="T66" fmla="*/ 25 w 173"/>
              <a:gd name="T67" fmla="*/ 131 h 173"/>
              <a:gd name="T68" fmla="*/ 29 w 173"/>
              <a:gd name="T69" fmla="*/ 130 h 173"/>
              <a:gd name="T70" fmla="*/ 41 w 173"/>
              <a:gd name="T71" fmla="*/ 140 h 173"/>
              <a:gd name="T72" fmla="*/ 61 w 173"/>
              <a:gd name="T73" fmla="*/ 116 h 173"/>
              <a:gd name="T74" fmla="*/ 66 w 173"/>
              <a:gd name="T75" fmla="*/ 116 h 173"/>
              <a:gd name="T76" fmla="*/ 66 w 173"/>
              <a:gd name="T77" fmla="*/ 120 h 173"/>
              <a:gd name="T78" fmla="*/ 66 w 173"/>
              <a:gd name="T79" fmla="*/ 72 h 173"/>
              <a:gd name="T80" fmla="*/ 44 w 173"/>
              <a:gd name="T81" fmla="*/ 98 h 173"/>
              <a:gd name="T82" fmla="*/ 42 w 173"/>
              <a:gd name="T83" fmla="*/ 99 h 173"/>
              <a:gd name="T84" fmla="*/ 40 w 173"/>
              <a:gd name="T85" fmla="*/ 99 h 173"/>
              <a:gd name="T86" fmla="*/ 25 w 173"/>
              <a:gd name="T87" fmla="*/ 88 h 173"/>
              <a:gd name="T88" fmla="*/ 25 w 173"/>
              <a:gd name="T89" fmla="*/ 83 h 173"/>
              <a:gd name="T90" fmla="*/ 29 w 173"/>
              <a:gd name="T91" fmla="*/ 82 h 173"/>
              <a:gd name="T92" fmla="*/ 41 w 173"/>
              <a:gd name="T93" fmla="*/ 92 h 173"/>
              <a:gd name="T94" fmla="*/ 61 w 173"/>
              <a:gd name="T95" fmla="*/ 68 h 173"/>
              <a:gd name="T96" fmla="*/ 66 w 173"/>
              <a:gd name="T97" fmla="*/ 68 h 173"/>
              <a:gd name="T98" fmla="*/ 66 w 173"/>
              <a:gd name="T99" fmla="*/ 72 h 173"/>
              <a:gd name="T100" fmla="*/ 66 w 173"/>
              <a:gd name="T101" fmla="*/ 28 h 173"/>
              <a:gd name="T102" fmla="*/ 44 w 173"/>
              <a:gd name="T103" fmla="*/ 53 h 173"/>
              <a:gd name="T104" fmla="*/ 42 w 173"/>
              <a:gd name="T105" fmla="*/ 54 h 173"/>
              <a:gd name="T106" fmla="*/ 40 w 173"/>
              <a:gd name="T107" fmla="*/ 54 h 173"/>
              <a:gd name="T108" fmla="*/ 25 w 173"/>
              <a:gd name="T109" fmla="*/ 43 h 173"/>
              <a:gd name="T110" fmla="*/ 25 w 173"/>
              <a:gd name="T111" fmla="*/ 38 h 173"/>
              <a:gd name="T112" fmla="*/ 29 w 173"/>
              <a:gd name="T113" fmla="*/ 38 h 173"/>
              <a:gd name="T114" fmla="*/ 41 w 173"/>
              <a:gd name="T115" fmla="*/ 47 h 173"/>
              <a:gd name="T116" fmla="*/ 61 w 173"/>
              <a:gd name="T117" fmla="*/ 24 h 173"/>
              <a:gd name="T118" fmla="*/ 66 w 173"/>
              <a:gd name="T119" fmla="*/ 23 h 173"/>
              <a:gd name="T120" fmla="*/ 66 w 173"/>
              <a:gd name="T121" fmla="*/ 28 h 173"/>
              <a:gd name="T122" fmla="*/ 66 w 173"/>
              <a:gd name="T123" fmla="*/ 28 h 173"/>
              <a:gd name="T124" fmla="*/ 66 w 173"/>
              <a:gd name="T125" fmla="*/ 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3" h="173">
                <a:moveTo>
                  <a:pt x="86" y="138"/>
                </a:moveTo>
                <a:cubicBezTo>
                  <a:pt x="85" y="138"/>
                  <a:pt x="83" y="136"/>
                  <a:pt x="83" y="134"/>
                </a:cubicBezTo>
                <a:cubicBezTo>
                  <a:pt x="83" y="133"/>
                  <a:pt x="85" y="131"/>
                  <a:pt x="86" y="131"/>
                </a:cubicBezTo>
                <a:cubicBezTo>
                  <a:pt x="101" y="131"/>
                  <a:pt x="101" y="131"/>
                  <a:pt x="101" y="131"/>
                </a:cubicBezTo>
                <a:cubicBezTo>
                  <a:pt x="143" y="90"/>
                  <a:pt x="143" y="90"/>
                  <a:pt x="143" y="90"/>
                </a:cubicBezTo>
                <a:cubicBezTo>
                  <a:pt x="86" y="90"/>
                  <a:pt x="86" y="90"/>
                  <a:pt x="86" y="90"/>
                </a:cubicBezTo>
                <a:cubicBezTo>
                  <a:pt x="85" y="90"/>
                  <a:pt x="83" y="88"/>
                  <a:pt x="83" y="86"/>
                </a:cubicBezTo>
                <a:cubicBezTo>
                  <a:pt x="83" y="85"/>
                  <a:pt x="85" y="83"/>
                  <a:pt x="86" y="83"/>
                </a:cubicBezTo>
                <a:cubicBezTo>
                  <a:pt x="144" y="83"/>
                  <a:pt x="144" y="83"/>
                  <a:pt x="144" y="83"/>
                </a:cubicBezTo>
                <a:cubicBezTo>
                  <a:pt x="145" y="83"/>
                  <a:pt x="147" y="84"/>
                  <a:pt x="147" y="86"/>
                </a:cubicBezTo>
                <a:cubicBezTo>
                  <a:pt x="151" y="82"/>
                  <a:pt x="155" y="80"/>
                  <a:pt x="161" y="80"/>
                </a:cubicBezTo>
                <a:cubicBezTo>
                  <a:pt x="165" y="80"/>
                  <a:pt x="169" y="82"/>
                  <a:pt x="173" y="84"/>
                </a:cubicBezTo>
                <a:cubicBezTo>
                  <a:pt x="173" y="39"/>
                  <a:pt x="173" y="39"/>
                  <a:pt x="173" y="39"/>
                </a:cubicBezTo>
                <a:cubicBezTo>
                  <a:pt x="173" y="17"/>
                  <a:pt x="155" y="0"/>
                  <a:pt x="134" y="0"/>
                </a:cubicBezTo>
                <a:cubicBezTo>
                  <a:pt x="39" y="0"/>
                  <a:pt x="39" y="0"/>
                  <a:pt x="39" y="0"/>
                </a:cubicBezTo>
                <a:cubicBezTo>
                  <a:pt x="17" y="0"/>
                  <a:pt x="0" y="17"/>
                  <a:pt x="0" y="39"/>
                </a:cubicBezTo>
                <a:cubicBezTo>
                  <a:pt x="0" y="134"/>
                  <a:pt x="0" y="134"/>
                  <a:pt x="0" y="134"/>
                </a:cubicBezTo>
                <a:cubicBezTo>
                  <a:pt x="0" y="155"/>
                  <a:pt x="17" y="173"/>
                  <a:pt x="39" y="173"/>
                </a:cubicBezTo>
                <a:cubicBezTo>
                  <a:pt x="86" y="173"/>
                  <a:pt x="86" y="173"/>
                  <a:pt x="86" y="173"/>
                </a:cubicBezTo>
                <a:cubicBezTo>
                  <a:pt x="96" y="138"/>
                  <a:pt x="96" y="138"/>
                  <a:pt x="96" y="138"/>
                </a:cubicBezTo>
                <a:cubicBezTo>
                  <a:pt x="86" y="138"/>
                  <a:pt x="86" y="138"/>
                  <a:pt x="86" y="138"/>
                </a:cubicBezTo>
                <a:close/>
                <a:moveTo>
                  <a:pt x="86" y="38"/>
                </a:moveTo>
                <a:cubicBezTo>
                  <a:pt x="144" y="38"/>
                  <a:pt x="144" y="38"/>
                  <a:pt x="144" y="38"/>
                </a:cubicBezTo>
                <a:cubicBezTo>
                  <a:pt x="146" y="38"/>
                  <a:pt x="147" y="40"/>
                  <a:pt x="147" y="42"/>
                </a:cubicBezTo>
                <a:cubicBezTo>
                  <a:pt x="147" y="43"/>
                  <a:pt x="146" y="45"/>
                  <a:pt x="144" y="45"/>
                </a:cubicBezTo>
                <a:cubicBezTo>
                  <a:pt x="86" y="45"/>
                  <a:pt x="86" y="45"/>
                  <a:pt x="86" y="45"/>
                </a:cubicBezTo>
                <a:cubicBezTo>
                  <a:pt x="85" y="45"/>
                  <a:pt x="83" y="43"/>
                  <a:pt x="83" y="42"/>
                </a:cubicBezTo>
                <a:cubicBezTo>
                  <a:pt x="83" y="40"/>
                  <a:pt x="85" y="38"/>
                  <a:pt x="86" y="38"/>
                </a:cubicBezTo>
                <a:close/>
                <a:moveTo>
                  <a:pt x="66" y="120"/>
                </a:moveTo>
                <a:cubicBezTo>
                  <a:pt x="44" y="146"/>
                  <a:pt x="44" y="146"/>
                  <a:pt x="44" y="146"/>
                </a:cubicBezTo>
                <a:cubicBezTo>
                  <a:pt x="44" y="147"/>
                  <a:pt x="43" y="147"/>
                  <a:pt x="42" y="147"/>
                </a:cubicBezTo>
                <a:cubicBezTo>
                  <a:pt x="41" y="147"/>
                  <a:pt x="40" y="147"/>
                  <a:pt x="40" y="147"/>
                </a:cubicBezTo>
                <a:cubicBezTo>
                  <a:pt x="25" y="136"/>
                  <a:pt x="25" y="136"/>
                  <a:pt x="25" y="136"/>
                </a:cubicBezTo>
                <a:cubicBezTo>
                  <a:pt x="24" y="135"/>
                  <a:pt x="24" y="133"/>
                  <a:pt x="25" y="131"/>
                </a:cubicBezTo>
                <a:cubicBezTo>
                  <a:pt x="26" y="130"/>
                  <a:pt x="28" y="129"/>
                  <a:pt x="29" y="130"/>
                </a:cubicBezTo>
                <a:cubicBezTo>
                  <a:pt x="41" y="140"/>
                  <a:pt x="41" y="140"/>
                  <a:pt x="41" y="140"/>
                </a:cubicBezTo>
                <a:cubicBezTo>
                  <a:pt x="61" y="116"/>
                  <a:pt x="61" y="116"/>
                  <a:pt x="61" y="116"/>
                </a:cubicBezTo>
                <a:cubicBezTo>
                  <a:pt x="63" y="115"/>
                  <a:pt x="65" y="115"/>
                  <a:pt x="66" y="116"/>
                </a:cubicBezTo>
                <a:cubicBezTo>
                  <a:pt x="67" y="117"/>
                  <a:pt x="67" y="119"/>
                  <a:pt x="66" y="120"/>
                </a:cubicBezTo>
                <a:close/>
                <a:moveTo>
                  <a:pt x="66" y="72"/>
                </a:moveTo>
                <a:cubicBezTo>
                  <a:pt x="44" y="98"/>
                  <a:pt x="44" y="98"/>
                  <a:pt x="44" y="98"/>
                </a:cubicBezTo>
                <a:cubicBezTo>
                  <a:pt x="44" y="99"/>
                  <a:pt x="43" y="99"/>
                  <a:pt x="42" y="99"/>
                </a:cubicBezTo>
                <a:cubicBezTo>
                  <a:pt x="41" y="99"/>
                  <a:pt x="40" y="99"/>
                  <a:pt x="40" y="99"/>
                </a:cubicBezTo>
                <a:cubicBezTo>
                  <a:pt x="25" y="88"/>
                  <a:pt x="25" y="88"/>
                  <a:pt x="25" y="88"/>
                </a:cubicBezTo>
                <a:cubicBezTo>
                  <a:pt x="24" y="87"/>
                  <a:pt x="24" y="85"/>
                  <a:pt x="25" y="83"/>
                </a:cubicBezTo>
                <a:cubicBezTo>
                  <a:pt x="26" y="82"/>
                  <a:pt x="28" y="81"/>
                  <a:pt x="29" y="82"/>
                </a:cubicBezTo>
                <a:cubicBezTo>
                  <a:pt x="41" y="92"/>
                  <a:pt x="41" y="92"/>
                  <a:pt x="41" y="92"/>
                </a:cubicBezTo>
                <a:cubicBezTo>
                  <a:pt x="61" y="68"/>
                  <a:pt x="61" y="68"/>
                  <a:pt x="61" y="68"/>
                </a:cubicBezTo>
                <a:cubicBezTo>
                  <a:pt x="63" y="67"/>
                  <a:pt x="65" y="67"/>
                  <a:pt x="66" y="68"/>
                </a:cubicBezTo>
                <a:cubicBezTo>
                  <a:pt x="67" y="69"/>
                  <a:pt x="67" y="71"/>
                  <a:pt x="66" y="72"/>
                </a:cubicBezTo>
                <a:close/>
                <a:moveTo>
                  <a:pt x="66" y="28"/>
                </a:moveTo>
                <a:cubicBezTo>
                  <a:pt x="44" y="53"/>
                  <a:pt x="44" y="53"/>
                  <a:pt x="44" y="53"/>
                </a:cubicBezTo>
                <a:cubicBezTo>
                  <a:pt x="44" y="54"/>
                  <a:pt x="43" y="54"/>
                  <a:pt x="42" y="54"/>
                </a:cubicBezTo>
                <a:cubicBezTo>
                  <a:pt x="41" y="54"/>
                  <a:pt x="40" y="54"/>
                  <a:pt x="40" y="54"/>
                </a:cubicBezTo>
                <a:cubicBezTo>
                  <a:pt x="25" y="43"/>
                  <a:pt x="25" y="43"/>
                  <a:pt x="25" y="43"/>
                </a:cubicBezTo>
                <a:cubicBezTo>
                  <a:pt x="24" y="42"/>
                  <a:pt x="24" y="40"/>
                  <a:pt x="25" y="38"/>
                </a:cubicBezTo>
                <a:cubicBezTo>
                  <a:pt x="26" y="37"/>
                  <a:pt x="28" y="37"/>
                  <a:pt x="29" y="38"/>
                </a:cubicBezTo>
                <a:cubicBezTo>
                  <a:pt x="41" y="47"/>
                  <a:pt x="41" y="47"/>
                  <a:pt x="41" y="47"/>
                </a:cubicBezTo>
                <a:cubicBezTo>
                  <a:pt x="61" y="24"/>
                  <a:pt x="61" y="24"/>
                  <a:pt x="61" y="24"/>
                </a:cubicBezTo>
                <a:cubicBezTo>
                  <a:pt x="63" y="22"/>
                  <a:pt x="65" y="22"/>
                  <a:pt x="66" y="23"/>
                </a:cubicBezTo>
                <a:cubicBezTo>
                  <a:pt x="67" y="24"/>
                  <a:pt x="67" y="26"/>
                  <a:pt x="66" y="28"/>
                </a:cubicBezTo>
                <a:close/>
                <a:moveTo>
                  <a:pt x="66" y="28"/>
                </a:moveTo>
                <a:cubicBezTo>
                  <a:pt x="66" y="28"/>
                  <a:pt x="66" y="28"/>
                  <a:pt x="66" y="28"/>
                </a:cubicBezTo>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en-IN" sz="833" dirty="0">
              <a:solidFill>
                <a:srgbClr val="FFFFFF"/>
              </a:solidFill>
            </a:endParaRPr>
          </a:p>
        </p:txBody>
      </p:sp>
      <p:sp>
        <p:nvSpPr>
          <p:cNvPr id="57" name="Freeform 5"/>
          <p:cNvSpPr>
            <a:spLocks noEditPoints="1"/>
          </p:cNvSpPr>
          <p:nvPr/>
        </p:nvSpPr>
        <p:spPr bwMode="auto">
          <a:xfrm>
            <a:off x="10109551" y="5578575"/>
            <a:ext cx="453360" cy="329012"/>
          </a:xfrm>
          <a:custGeom>
            <a:avLst/>
            <a:gdLst>
              <a:gd name="T0" fmla="*/ 81 w 85"/>
              <a:gd name="T1" fmla="*/ 13 h 85"/>
              <a:gd name="T2" fmla="*/ 72 w 85"/>
              <a:gd name="T3" fmla="*/ 3 h 85"/>
              <a:gd name="T4" fmla="*/ 59 w 85"/>
              <a:gd name="T5" fmla="*/ 3 h 85"/>
              <a:gd name="T6" fmla="*/ 10 w 85"/>
              <a:gd name="T7" fmla="*/ 53 h 85"/>
              <a:gd name="T8" fmla="*/ 3 w 85"/>
              <a:gd name="T9" fmla="*/ 78 h 85"/>
              <a:gd name="T10" fmla="*/ 1 w 85"/>
              <a:gd name="T11" fmla="*/ 79 h 85"/>
              <a:gd name="T12" fmla="*/ 1 w 85"/>
              <a:gd name="T13" fmla="*/ 84 h 85"/>
              <a:gd name="T14" fmla="*/ 1 w 85"/>
              <a:gd name="T15" fmla="*/ 84 h 85"/>
              <a:gd name="T16" fmla="*/ 1 w 85"/>
              <a:gd name="T17" fmla="*/ 84 h 85"/>
              <a:gd name="T18" fmla="*/ 3 w 85"/>
              <a:gd name="T19" fmla="*/ 85 h 85"/>
              <a:gd name="T20" fmla="*/ 6 w 85"/>
              <a:gd name="T21" fmla="*/ 84 h 85"/>
              <a:gd name="T22" fmla="*/ 7 w 85"/>
              <a:gd name="T23" fmla="*/ 82 h 85"/>
              <a:gd name="T24" fmla="*/ 32 w 85"/>
              <a:gd name="T25" fmla="*/ 75 h 85"/>
              <a:gd name="T26" fmla="*/ 81 w 85"/>
              <a:gd name="T27" fmla="*/ 26 h 85"/>
              <a:gd name="T28" fmla="*/ 81 w 85"/>
              <a:gd name="T29" fmla="*/ 13 h 85"/>
              <a:gd name="T30" fmla="*/ 17 w 85"/>
              <a:gd name="T31" fmla="*/ 54 h 85"/>
              <a:gd name="T32" fmla="*/ 50 w 85"/>
              <a:gd name="T33" fmla="*/ 22 h 85"/>
              <a:gd name="T34" fmla="*/ 63 w 85"/>
              <a:gd name="T35" fmla="*/ 35 h 85"/>
              <a:gd name="T36" fmla="*/ 30 w 85"/>
              <a:gd name="T37" fmla="*/ 68 h 85"/>
              <a:gd name="T38" fmla="*/ 17 w 85"/>
              <a:gd name="T39" fmla="*/ 54 h 85"/>
              <a:gd name="T40" fmla="*/ 14 w 85"/>
              <a:gd name="T41" fmla="*/ 60 h 85"/>
              <a:gd name="T42" fmla="*/ 24 w 85"/>
              <a:gd name="T43" fmla="*/ 71 h 85"/>
              <a:gd name="T44" fmla="*/ 10 w 85"/>
              <a:gd name="T45" fmla="*/ 75 h 85"/>
              <a:gd name="T46" fmla="*/ 14 w 85"/>
              <a:gd name="T47" fmla="*/ 60 h 85"/>
              <a:gd name="T48" fmla="*/ 77 w 85"/>
              <a:gd name="T49" fmla="*/ 22 h 85"/>
              <a:gd name="T50" fmla="*/ 68 w 85"/>
              <a:gd name="T51" fmla="*/ 31 h 85"/>
              <a:gd name="T52" fmla="*/ 54 w 85"/>
              <a:gd name="T53" fmla="*/ 17 h 85"/>
              <a:gd name="T54" fmla="*/ 63 w 85"/>
              <a:gd name="T55" fmla="*/ 8 h 85"/>
              <a:gd name="T56" fmla="*/ 68 w 85"/>
              <a:gd name="T57" fmla="*/ 8 h 85"/>
              <a:gd name="T58" fmla="*/ 77 w 85"/>
              <a:gd name="T59" fmla="*/ 17 h 85"/>
              <a:gd name="T60" fmla="*/ 77 w 85"/>
              <a:gd name="T61" fmla="*/ 22 h 85"/>
              <a:gd name="T62" fmla="*/ 77 w 85"/>
              <a:gd name="T63" fmla="*/ 22 h 85"/>
              <a:gd name="T64" fmla="*/ 77 w 85"/>
              <a:gd name="T65" fmla="*/ 2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5" h="85">
                <a:moveTo>
                  <a:pt x="81" y="13"/>
                </a:moveTo>
                <a:cubicBezTo>
                  <a:pt x="72" y="3"/>
                  <a:pt x="72" y="3"/>
                  <a:pt x="72" y="3"/>
                </a:cubicBezTo>
                <a:cubicBezTo>
                  <a:pt x="69" y="0"/>
                  <a:pt x="62" y="0"/>
                  <a:pt x="59" y="3"/>
                </a:cubicBezTo>
                <a:cubicBezTo>
                  <a:pt x="10" y="53"/>
                  <a:pt x="10" y="53"/>
                  <a:pt x="10" y="53"/>
                </a:cubicBezTo>
                <a:cubicBezTo>
                  <a:pt x="3" y="78"/>
                  <a:pt x="3" y="78"/>
                  <a:pt x="3" y="78"/>
                </a:cubicBezTo>
                <a:cubicBezTo>
                  <a:pt x="1" y="79"/>
                  <a:pt x="1" y="79"/>
                  <a:pt x="1" y="79"/>
                </a:cubicBezTo>
                <a:cubicBezTo>
                  <a:pt x="0" y="80"/>
                  <a:pt x="0" y="82"/>
                  <a:pt x="1" y="84"/>
                </a:cubicBezTo>
                <a:cubicBezTo>
                  <a:pt x="1" y="84"/>
                  <a:pt x="1" y="84"/>
                  <a:pt x="1" y="84"/>
                </a:cubicBezTo>
                <a:cubicBezTo>
                  <a:pt x="1" y="84"/>
                  <a:pt x="1" y="84"/>
                  <a:pt x="1" y="84"/>
                </a:cubicBezTo>
                <a:cubicBezTo>
                  <a:pt x="2" y="84"/>
                  <a:pt x="3" y="85"/>
                  <a:pt x="3" y="85"/>
                </a:cubicBezTo>
                <a:cubicBezTo>
                  <a:pt x="4" y="85"/>
                  <a:pt x="5" y="84"/>
                  <a:pt x="6" y="84"/>
                </a:cubicBezTo>
                <a:cubicBezTo>
                  <a:pt x="7" y="82"/>
                  <a:pt x="7" y="82"/>
                  <a:pt x="7" y="82"/>
                </a:cubicBezTo>
                <a:cubicBezTo>
                  <a:pt x="32" y="75"/>
                  <a:pt x="32" y="75"/>
                  <a:pt x="32" y="75"/>
                </a:cubicBezTo>
                <a:cubicBezTo>
                  <a:pt x="81" y="26"/>
                  <a:pt x="81" y="26"/>
                  <a:pt x="81" y="26"/>
                </a:cubicBezTo>
                <a:cubicBezTo>
                  <a:pt x="85" y="22"/>
                  <a:pt x="85" y="16"/>
                  <a:pt x="81" y="13"/>
                </a:cubicBezTo>
                <a:close/>
                <a:moveTo>
                  <a:pt x="17" y="54"/>
                </a:moveTo>
                <a:cubicBezTo>
                  <a:pt x="50" y="22"/>
                  <a:pt x="50" y="22"/>
                  <a:pt x="50" y="22"/>
                </a:cubicBezTo>
                <a:cubicBezTo>
                  <a:pt x="63" y="35"/>
                  <a:pt x="63" y="35"/>
                  <a:pt x="63" y="35"/>
                </a:cubicBezTo>
                <a:cubicBezTo>
                  <a:pt x="30" y="68"/>
                  <a:pt x="30" y="68"/>
                  <a:pt x="30" y="68"/>
                </a:cubicBezTo>
                <a:lnTo>
                  <a:pt x="17" y="54"/>
                </a:lnTo>
                <a:close/>
                <a:moveTo>
                  <a:pt x="14" y="60"/>
                </a:moveTo>
                <a:cubicBezTo>
                  <a:pt x="24" y="71"/>
                  <a:pt x="24" y="71"/>
                  <a:pt x="24" y="71"/>
                </a:cubicBezTo>
                <a:cubicBezTo>
                  <a:pt x="10" y="75"/>
                  <a:pt x="10" y="75"/>
                  <a:pt x="10" y="75"/>
                </a:cubicBezTo>
                <a:lnTo>
                  <a:pt x="14" y="60"/>
                </a:lnTo>
                <a:close/>
                <a:moveTo>
                  <a:pt x="77" y="22"/>
                </a:moveTo>
                <a:cubicBezTo>
                  <a:pt x="68" y="31"/>
                  <a:pt x="68" y="31"/>
                  <a:pt x="68" y="31"/>
                </a:cubicBezTo>
                <a:cubicBezTo>
                  <a:pt x="54" y="17"/>
                  <a:pt x="54" y="17"/>
                  <a:pt x="54" y="17"/>
                </a:cubicBezTo>
                <a:cubicBezTo>
                  <a:pt x="63" y="8"/>
                  <a:pt x="63" y="8"/>
                  <a:pt x="63" y="8"/>
                </a:cubicBezTo>
                <a:cubicBezTo>
                  <a:pt x="64" y="7"/>
                  <a:pt x="67" y="7"/>
                  <a:pt x="68" y="8"/>
                </a:cubicBezTo>
                <a:cubicBezTo>
                  <a:pt x="77" y="17"/>
                  <a:pt x="77" y="17"/>
                  <a:pt x="77" y="17"/>
                </a:cubicBezTo>
                <a:cubicBezTo>
                  <a:pt x="78" y="18"/>
                  <a:pt x="78" y="20"/>
                  <a:pt x="77" y="22"/>
                </a:cubicBezTo>
                <a:close/>
                <a:moveTo>
                  <a:pt x="77" y="22"/>
                </a:moveTo>
                <a:cubicBezTo>
                  <a:pt x="77" y="22"/>
                  <a:pt x="77" y="22"/>
                  <a:pt x="77" y="22"/>
                </a:cubicBezTo>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en-IN" sz="833" dirty="0">
              <a:solidFill>
                <a:srgbClr val="FFFFFF"/>
              </a:solidFill>
            </a:endParaRPr>
          </a:p>
        </p:txBody>
      </p:sp>
    </p:spTree>
    <p:extLst>
      <p:ext uri="{BB962C8B-B14F-4D97-AF65-F5344CB8AC3E}">
        <p14:creationId xmlns:p14="http://schemas.microsoft.com/office/powerpoint/2010/main" val="4275071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8"/>
          <p:cNvSpPr txBox="1">
            <a:spLocks/>
          </p:cNvSpPr>
          <p:nvPr/>
        </p:nvSpPr>
        <p:spPr bwMode="gray">
          <a:xfrm>
            <a:off x="5394482" y="1351659"/>
            <a:ext cx="6495217" cy="4953502"/>
          </a:xfrm>
          <a:prstGeom prst="rect">
            <a:avLst/>
          </a:prstGeom>
          <a:solidFill>
            <a:schemeClr val="bg1"/>
          </a:solidFill>
          <a:ln w="9525">
            <a:solidFill>
              <a:schemeClr val="accent2"/>
            </a:solidFill>
            <a:miter lim="800000"/>
            <a:headEnd/>
            <a:tailEnd/>
          </a:ln>
          <a:effectLst/>
        </p:spPr>
        <p:txBody>
          <a:bodyPr vert="horz" wrap="square" lIns="97955" tIns="228562" rIns="97955" bIns="97955" numCol="1" anchor="t" anchorCtr="0" compatLnSpc="1">
            <a:prstTxWarp prst="textNoShape">
              <a:avLst/>
            </a:prstTxWarp>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marL="4760" lvl="3" indent="0">
              <a:spcAft>
                <a:spcPts val="200"/>
              </a:spcAft>
              <a:buClr>
                <a:srgbClr val="000000"/>
              </a:buClr>
              <a:buFont typeface="EYInterstate" pitchFamily="2" charset="0"/>
              <a:buNone/>
              <a:defRPr/>
            </a:pPr>
            <a:endParaRPr lang="en-IN" sz="1050" i="1" dirty="0">
              <a:solidFill>
                <a:schemeClr val="tx2"/>
              </a:solidFill>
            </a:endParaRPr>
          </a:p>
        </p:txBody>
      </p:sp>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dirty="0"/>
              <a:t>The Strategy scope</a:t>
            </a:r>
          </a:p>
        </p:txBody>
      </p:sp>
      <p:sp>
        <p:nvSpPr>
          <p:cNvPr id="49" name="Content Placeholder 9"/>
          <p:cNvSpPr txBox="1">
            <a:spLocks/>
          </p:cNvSpPr>
          <p:nvPr/>
        </p:nvSpPr>
        <p:spPr>
          <a:xfrm>
            <a:off x="5678298" y="1984658"/>
            <a:ext cx="5605482" cy="2320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200" kern="1200" dirty="0" smtClean="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IT strategy is split into three parts:</a:t>
            </a: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Business strategy, business capabilities and drivers that shape external</a:t>
            </a:r>
            <a:r>
              <a:rPr kumimoji="0" lang="en-US" sz="1400" b="0" i="0" u="none" strike="noStrike" kern="1200" cap="none" spc="0" normalizeH="0" noProof="0" dirty="0">
                <a:ln>
                  <a:noFill/>
                </a:ln>
                <a:solidFill>
                  <a:sysClr val="windowText" lastClr="000000"/>
                </a:solidFill>
                <a:effectLst/>
                <a:uLnTx/>
                <a:uFillTx/>
                <a:latin typeface="Calibri" panose="020F0502020204030204"/>
                <a:ea typeface="+mn-ea"/>
                <a:cs typeface="+mn-cs"/>
              </a:rPr>
              <a:t> </a:t>
            </a: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r>
              <a:rPr kumimoji="0" lang="en-US" sz="14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Tech. demand</a:t>
            </a: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Current IT supply constraints and gap that describe “</a:t>
            </a:r>
            <a:r>
              <a:rPr kumimoji="0" lang="en-US" sz="14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Current</a:t>
            </a: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lang="en-US" sz="1400" b="1" dirty="0">
                <a:solidFill>
                  <a:sysClr val="windowText" lastClr="000000"/>
                </a:solidFill>
                <a:latin typeface="Calibri" panose="020F0502020204030204"/>
              </a:rPr>
              <a:t>Tech. </a:t>
            </a:r>
            <a:r>
              <a:rPr kumimoji="0" lang="en-US" sz="14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supply</a:t>
            </a: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Change initiatives and roadmap to arrive at “</a:t>
            </a:r>
            <a:r>
              <a:rPr kumimoji="0" lang="en-US" sz="14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Future Tech supply</a:t>
            </a:r>
            <a:r>
              <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717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4320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4320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grpSp>
        <p:nvGrpSpPr>
          <p:cNvPr id="50" name="Group 49"/>
          <p:cNvGrpSpPr/>
          <p:nvPr/>
        </p:nvGrpSpPr>
        <p:grpSpPr>
          <a:xfrm>
            <a:off x="5789287" y="3928212"/>
            <a:ext cx="5605481" cy="1501508"/>
            <a:chOff x="6172200" y="3893900"/>
            <a:chExt cx="5605481" cy="1501508"/>
          </a:xfrm>
        </p:grpSpPr>
        <p:sp>
          <p:nvSpPr>
            <p:cNvPr id="51" name="Rectangle 50"/>
            <p:cNvSpPr>
              <a:spLocks/>
            </p:cNvSpPr>
            <p:nvPr>
              <p:custDataLst>
                <p:tags r:id="rId1"/>
              </p:custDataLst>
            </p:nvPr>
          </p:nvSpPr>
          <p:spPr bwMode="auto">
            <a:xfrm>
              <a:off x="6927552" y="5055444"/>
              <a:ext cx="4850129" cy="339964"/>
            </a:xfrm>
            <a:prstGeom prst="rect">
              <a:avLst/>
            </a:prstGeom>
            <a:solidFill>
              <a:schemeClr val="tx2">
                <a:lumMod val="20000"/>
                <a:lumOff val="80000"/>
              </a:schemeClr>
            </a:solidFill>
            <a:ln w="12700" cap="flat" cmpd="sng" algn="ctr">
              <a:noFill/>
              <a:prstDash val="solid"/>
              <a:round/>
              <a:headEnd type="none" w="med" len="med"/>
              <a:tailEnd type="none" w="med" len="med"/>
            </a:ln>
            <a:effectLst/>
          </p:spPr>
          <p:txBody>
            <a:bodyPr vert="horz" wrap="square" lIns="54000" tIns="108000" rIns="54000" bIns="108000" numCol="1" rtlCol="0" anchor="ctr" anchorCtr="0" compatLnSpc="1">
              <a:prstTxWarp prst="textNoShape">
                <a:avLst/>
              </a:prstTxWarp>
            </a:bodyPr>
            <a:lstStyle/>
            <a:p>
              <a:pPr marL="0" marR="0" lvl="0" indent="0" algn="ctr" defTabSz="914400" eaLnBrk="1" fontAlgn="base" latinLnBrk="0" hangingPunct="1">
                <a:lnSpc>
                  <a:spcPts val="15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IT control</a:t>
              </a:r>
            </a:p>
            <a:p>
              <a:pPr marL="0" marR="0" lvl="0" indent="0" algn="ctr" defTabSz="914400" eaLnBrk="1" fontAlgn="base" latinLnBrk="0" hangingPunct="1">
                <a:lnSpc>
                  <a:spcPts val="1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(IT Governance and Organization)</a:t>
              </a:r>
            </a:p>
          </p:txBody>
        </p:sp>
        <p:sp>
          <p:nvSpPr>
            <p:cNvPr id="52" name="Rectangle 51"/>
            <p:cNvSpPr>
              <a:spLocks noChangeAspect="1"/>
            </p:cNvSpPr>
            <p:nvPr>
              <p:custDataLst>
                <p:tags r:id="rId2"/>
              </p:custDataLst>
            </p:nvPr>
          </p:nvSpPr>
          <p:spPr bwMode="auto">
            <a:xfrm>
              <a:off x="8870403" y="4294508"/>
              <a:ext cx="2899615" cy="708420"/>
            </a:xfrm>
            <a:prstGeom prst="rect">
              <a:avLst/>
            </a:prstGeom>
            <a:solidFill>
              <a:srgbClr val="A5A5A5">
                <a:lumMod val="20000"/>
                <a:lumOff val="80000"/>
              </a:srgbClr>
            </a:solidFill>
            <a:ln w="12700" cap="flat" cmpd="sng" algn="ctr">
              <a:noFill/>
              <a:prstDash val="solid"/>
              <a:round/>
              <a:headEnd type="none" w="med" len="med"/>
              <a:tailEnd type="none" w="med" len="med"/>
            </a:ln>
            <a:effectLst/>
          </p:spPr>
          <p:txBody>
            <a:bodyPr vert="horz" wrap="square" lIns="54000" tIns="0" rIns="54000" bIns="0" numCol="1" rtlCol="0" anchor="t" anchorCtr="0" compatLnSpc="1">
              <a:prstTxWarp prst="textNoShape">
                <a:avLst/>
              </a:prstTxWarp>
            </a:bodyP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rPr>
                <a:t>IT supply</a:t>
              </a:r>
            </a:p>
            <a:p>
              <a:pPr marL="0" marR="0" lvl="0" indent="0" defTabSz="914400" eaLnBrk="1" fontAlgn="base"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Calibri" panose="020F0502020204030204"/>
                </a:rPr>
                <a:t>Current constraints</a:t>
              </a:r>
            </a:p>
            <a:p>
              <a:pPr marL="0" marR="0" lvl="0" indent="0" defTabSz="914400" eaLnBrk="1" fontAlgn="base"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Calibri" panose="020F0502020204030204"/>
                </a:rPr>
                <a:t>Change initiatives and roadmap</a:t>
              </a:r>
            </a:p>
          </p:txBody>
        </p:sp>
        <p:sp>
          <p:nvSpPr>
            <p:cNvPr id="53" name="Rectangle 52"/>
            <p:cNvSpPr>
              <a:spLocks noChangeAspect="1"/>
            </p:cNvSpPr>
            <p:nvPr>
              <p:custDataLst>
                <p:tags r:id="rId3"/>
              </p:custDataLst>
            </p:nvPr>
          </p:nvSpPr>
          <p:spPr bwMode="auto">
            <a:xfrm>
              <a:off x="6941870" y="4289279"/>
              <a:ext cx="1758145" cy="713001"/>
            </a:xfrm>
            <a:prstGeom prst="rect">
              <a:avLst/>
            </a:prstGeom>
            <a:solidFill>
              <a:srgbClr val="A5A5A5">
                <a:lumMod val="20000"/>
                <a:lumOff val="80000"/>
              </a:srgbClr>
            </a:solidFill>
            <a:ln w="12700" cap="flat" cmpd="sng" algn="ctr">
              <a:noFill/>
              <a:prstDash val="solid"/>
              <a:round/>
              <a:headEnd type="none" w="med" len="med"/>
              <a:tailEnd type="none" w="med" len="med"/>
            </a:ln>
            <a:effectLst/>
          </p:spPr>
          <p:txBody>
            <a:bodyPr vert="horz" wrap="square" lIns="54000" tIns="0" rIns="54000" bIns="0" numCol="1" rtlCol="0" anchor="t" anchorCtr="0" compatLnSpc="1">
              <a:prstTxWarp prst="textNoShape">
                <a:avLst/>
              </a:prstTxWarp>
            </a:bodyP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rPr>
                <a:t>IT demand</a:t>
              </a:r>
            </a:p>
            <a:p>
              <a:pPr marL="0" marR="0" lvl="0" indent="0" defTabSz="914400" eaLnBrk="1" fontAlgn="base"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Calibri" panose="020F0502020204030204"/>
                </a:rPr>
                <a:t>Business capabilities and drivers</a:t>
              </a:r>
            </a:p>
          </p:txBody>
        </p:sp>
        <p:sp>
          <p:nvSpPr>
            <p:cNvPr id="54" name="Rectangle 53"/>
            <p:cNvSpPr>
              <a:spLocks noChangeAspect="1"/>
            </p:cNvSpPr>
            <p:nvPr>
              <p:custDataLst>
                <p:tags r:id="rId4"/>
              </p:custDataLst>
            </p:nvPr>
          </p:nvSpPr>
          <p:spPr bwMode="auto">
            <a:xfrm>
              <a:off x="6172200" y="4289282"/>
              <a:ext cx="611636" cy="1106126"/>
            </a:xfrm>
            <a:prstGeom prst="rect">
              <a:avLst/>
            </a:prstGeom>
            <a:solidFill>
              <a:schemeClr val="tx2"/>
            </a:solidFill>
            <a:ln w="12700" cap="flat" cmpd="sng" algn="ctr">
              <a:noFill/>
              <a:prstDash val="solid"/>
              <a:round/>
              <a:headEnd type="none" w="med" len="med"/>
              <a:tailEnd type="none" w="med" len="med"/>
            </a:ln>
            <a:effectLst/>
          </p:spPr>
          <p:txBody>
            <a:bodyPr vert="horz" wrap="square" lIns="54000" tIns="54000" rIns="54000" bIns="54000" numCol="1" rtlCol="0" anchor="ctr" anchorCtr="0" compatLnSpc="1">
              <a:prstTxWarp prst="textNoShape">
                <a:avLst/>
              </a:prstTxWarp>
            </a:bodyP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Calibri" panose="020F0502020204030204"/>
                </a:rPr>
                <a:t>Business strategy</a:t>
              </a:r>
            </a:p>
          </p:txBody>
        </p:sp>
        <p:sp>
          <p:nvSpPr>
            <p:cNvPr id="55" name="Rectangle 54"/>
            <p:cNvSpPr>
              <a:spLocks noChangeAspect="1"/>
            </p:cNvSpPr>
            <p:nvPr>
              <p:custDataLst>
                <p:tags r:id="rId5"/>
              </p:custDataLst>
            </p:nvPr>
          </p:nvSpPr>
          <p:spPr bwMode="auto">
            <a:xfrm>
              <a:off x="10817942" y="4481440"/>
              <a:ext cx="890800" cy="449592"/>
            </a:xfrm>
            <a:prstGeom prst="rect">
              <a:avLst/>
            </a:prstGeom>
            <a:solidFill>
              <a:srgbClr val="E7E6E6">
                <a:lumMod val="90000"/>
              </a:srgbClr>
            </a:solidFill>
            <a:ln w="12700" cap="flat" cmpd="sng" algn="ctr">
              <a:solidFill>
                <a:schemeClr val="tx2"/>
              </a:solidFill>
              <a:prstDash val="solid"/>
              <a:round/>
              <a:headEnd type="none" w="med" len="med"/>
              <a:tailEnd type="none" w="med" len="med"/>
            </a:ln>
            <a:effectLst/>
          </p:spPr>
          <p:txBody>
            <a:bodyPr vert="horz" wrap="square" lIns="54000" tIns="54000" rIns="54000" bIns="54000" numCol="1" rtlCol="0" anchor="t" anchorCtr="0" compatLnSpc="1">
              <a:prstTxWarp prst="textNoShape">
                <a:avLst/>
              </a:prstTxWarp>
            </a:bodyP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lumMod val="50000"/>
                    </a:srgbClr>
                  </a:solidFill>
                  <a:effectLst/>
                  <a:uLnTx/>
                  <a:uFillTx/>
                  <a:latin typeface="Calibri" panose="020F0502020204030204"/>
                </a:rPr>
                <a:t>Future IT supply</a:t>
              </a:r>
            </a:p>
          </p:txBody>
        </p:sp>
        <p:sp>
          <p:nvSpPr>
            <p:cNvPr id="56" name="Rectangle 55"/>
            <p:cNvSpPr>
              <a:spLocks noChangeAspect="1"/>
            </p:cNvSpPr>
            <p:nvPr>
              <p:custDataLst>
                <p:tags r:id="rId6"/>
              </p:custDataLst>
            </p:nvPr>
          </p:nvSpPr>
          <p:spPr bwMode="auto">
            <a:xfrm>
              <a:off x="6172200" y="3893900"/>
              <a:ext cx="5597818" cy="340606"/>
            </a:xfrm>
            <a:prstGeom prst="rect">
              <a:avLst/>
            </a:prstGeom>
            <a:solidFill>
              <a:schemeClr val="tx2">
                <a:lumMod val="20000"/>
                <a:lumOff val="80000"/>
              </a:schemeClr>
            </a:solidFill>
            <a:ln w="12700" cap="flat" cmpd="sng" algn="ctr">
              <a:noFill/>
              <a:prstDash val="solid"/>
              <a:round/>
              <a:headEnd type="none" w="med" len="med"/>
              <a:tailEnd type="none" w="med" len="med"/>
            </a:ln>
            <a:effectLst/>
          </p:spPr>
          <p:txBody>
            <a:bodyPr vert="horz" wrap="square" lIns="54000" tIns="108000" rIns="54000" bIns="108000" numCol="1" rtlCol="0" anchor="ctr" anchorCtr="0" compatLnSpc="1">
              <a:prstTxWarp prst="textNoShape">
                <a:avLst/>
              </a:prstTxWarp>
            </a:bodyPr>
            <a:lstStyle/>
            <a:p>
              <a:pPr marL="0" marR="0" lvl="0" indent="0" algn="ctr" defTabSz="914400" eaLnBrk="1" fontAlgn="base" latinLnBrk="0" hangingPunct="1">
                <a:lnSpc>
                  <a:spcPts val="15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Influences</a:t>
              </a:r>
              <a:r>
                <a:rPr kumimoji="0" lang="en-US" sz="1600" b="0" i="0" u="none" strike="noStrike" kern="0" cap="none" spc="0" normalizeH="0" baseline="0" noProof="0" dirty="0">
                  <a:ln>
                    <a:noFill/>
                  </a:ln>
                  <a:solidFill>
                    <a:prstClr val="black"/>
                  </a:solidFill>
                  <a:effectLst/>
                  <a:uLnTx/>
                  <a:uFillTx/>
                  <a:latin typeface="Calibri" panose="020F0502020204030204"/>
                </a:rPr>
                <a:t> </a:t>
              </a:r>
            </a:p>
            <a:p>
              <a:pPr marL="0" marR="0" lvl="0" indent="0" algn="ctr" defTabSz="914400" eaLnBrk="1" fontAlgn="base" latinLnBrk="0" hangingPunct="1">
                <a:lnSpc>
                  <a:spcPts val="1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a:t>
              </a:r>
              <a:r>
                <a:rPr kumimoji="0" lang="en-US" sz="1050" b="0" i="0" u="none" strike="noStrike" kern="0" cap="none" spc="0" normalizeH="0" baseline="0" noProof="0" dirty="0">
                  <a:ln>
                    <a:noFill/>
                  </a:ln>
                  <a:solidFill>
                    <a:prstClr val="black"/>
                  </a:solidFill>
                  <a:effectLst/>
                  <a:uLnTx/>
                  <a:uFillTx/>
                  <a:latin typeface="Calibri" panose="020F0502020204030204"/>
                </a:rPr>
                <a:t>Innovation, emerging trends, market and regulatory)</a:t>
              </a:r>
            </a:p>
          </p:txBody>
        </p:sp>
        <p:sp>
          <p:nvSpPr>
            <p:cNvPr id="57" name="Down Arrow 56"/>
            <p:cNvSpPr>
              <a:spLocks noChangeAspect="1"/>
            </p:cNvSpPr>
            <p:nvPr>
              <p:custDataLst>
                <p:tags r:id="rId7"/>
              </p:custDataLst>
            </p:nvPr>
          </p:nvSpPr>
          <p:spPr bwMode="auto">
            <a:xfrm rot="16200000">
              <a:off x="6757524" y="4560899"/>
              <a:ext cx="205968" cy="134089"/>
            </a:xfrm>
            <a:prstGeom prst="downArrow">
              <a:avLst/>
            </a:prstGeom>
            <a:solidFill>
              <a:srgbClr val="808080"/>
            </a:solidFill>
            <a:ln w="12700" cap="flat" cmpd="sng" algn="ctr">
              <a:noFill/>
              <a:prstDash val="solid"/>
              <a:round/>
              <a:headEnd type="none" w="med" len="med"/>
              <a:tailEnd type="none" w="med" len="med"/>
            </a:ln>
            <a:effectLst/>
          </p:spPr>
          <p:txBody>
            <a:bodyPr vert="horz" wrap="square" lIns="54000" tIns="54000" rIns="54000" bIns="54000" numCol="1" rtlCol="0" anchor="ctr" anchorCtr="0" compatLnSpc="1">
              <a:prstTxWarp prst="textNoShape">
                <a:avLst/>
              </a:prstTxWarp>
            </a:bodyPr>
            <a:lstStyle/>
            <a:p>
              <a:pPr marL="0" marR="0" lvl="0" indent="0" algn="ctr" defTabSz="914400" eaLnBrk="1" fontAlgn="base"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ndParaRPr>
            </a:p>
          </p:txBody>
        </p:sp>
        <p:sp>
          <p:nvSpPr>
            <p:cNvPr id="58" name="Down Arrow 57"/>
            <p:cNvSpPr>
              <a:spLocks noChangeAspect="1"/>
            </p:cNvSpPr>
            <p:nvPr>
              <p:custDataLst>
                <p:tags r:id="rId8"/>
              </p:custDataLst>
            </p:nvPr>
          </p:nvSpPr>
          <p:spPr bwMode="auto">
            <a:xfrm rot="16200000">
              <a:off x="8692711" y="4560899"/>
              <a:ext cx="205968" cy="134089"/>
            </a:xfrm>
            <a:prstGeom prst="downArrow">
              <a:avLst/>
            </a:prstGeom>
            <a:solidFill>
              <a:srgbClr val="808080"/>
            </a:solidFill>
            <a:ln w="12700" cap="flat" cmpd="sng" algn="ctr">
              <a:noFill/>
              <a:prstDash val="solid"/>
              <a:round/>
              <a:headEnd type="none" w="med" len="med"/>
              <a:tailEnd type="none" w="med" len="med"/>
            </a:ln>
            <a:effectLst/>
          </p:spPr>
          <p:txBody>
            <a:bodyPr vert="horz" wrap="square" lIns="54000" tIns="54000" rIns="54000" bIns="54000" numCol="1" rtlCol="0" anchor="ctr" anchorCtr="0" compatLnSpc="1">
              <a:prstTxWarp prst="textNoShape">
                <a:avLst/>
              </a:prstTxWarp>
            </a:bodyPr>
            <a:lstStyle/>
            <a:p>
              <a:pPr marL="0" marR="0" lvl="0" indent="0" algn="ctr" defTabSz="914400" eaLnBrk="1" fontAlgn="base"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808080"/>
                </a:solidFill>
                <a:effectLst/>
                <a:uLnTx/>
                <a:uFillTx/>
                <a:latin typeface="Calibri" panose="020F0502020204030204"/>
              </a:endParaRPr>
            </a:p>
          </p:txBody>
        </p:sp>
      </p:grpSp>
      <p:sp>
        <p:nvSpPr>
          <p:cNvPr id="15" name="Content Placeholder 8"/>
          <p:cNvSpPr txBox="1">
            <a:spLocks/>
          </p:cNvSpPr>
          <p:nvPr/>
        </p:nvSpPr>
        <p:spPr bwMode="gray">
          <a:xfrm>
            <a:off x="499048" y="1351659"/>
            <a:ext cx="4798028" cy="2042014"/>
          </a:xfrm>
          <a:prstGeom prst="rect">
            <a:avLst/>
          </a:prstGeom>
          <a:noFill/>
          <a:ln w="9525">
            <a:solidFill>
              <a:srgbClr val="808080"/>
            </a:solidFill>
            <a:miter lim="800000"/>
            <a:headEnd/>
            <a:tailEnd/>
          </a:ln>
          <a:effectLst/>
        </p:spPr>
        <p:txBody>
          <a:bodyPr vert="horz" wrap="square" lIns="97955" tIns="228562" rIns="97955" bIns="97955" numCol="1" anchor="t" anchorCtr="0" compatLnSpc="1">
            <a:prstTxWarp prst="textNoShape">
              <a:avLst/>
            </a:prstTxWarp>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0" defTabSz="914400" fontAlgn="auto">
              <a:lnSpc>
                <a:spcPct val="90000"/>
              </a:lnSpc>
              <a:spcBef>
                <a:spcPts val="1000"/>
              </a:spcBef>
              <a:spcAft>
                <a:spcPts val="0"/>
              </a:spcAft>
              <a:buClrTx/>
              <a:buSzTx/>
              <a:tabLst/>
              <a:defRPr/>
            </a:pPr>
            <a:r>
              <a:rPr lang="en-US" sz="1400" dirty="0">
                <a:solidFill>
                  <a:sysClr val="windowText" lastClr="000000"/>
                </a:solidFill>
                <a:latin typeface="Calibri" panose="020F0502020204030204"/>
              </a:rPr>
              <a:t>The Technology strategy concerns all areas of the technology sector of [COMPANY] Distribution, that is:</a:t>
            </a:r>
          </a:p>
          <a:p>
            <a:pPr marL="717750" lvl="1" indent="-285750" defTabSz="914400" fontAlgn="auto">
              <a:lnSpc>
                <a:spcPct val="90000"/>
              </a:lnSpc>
              <a:spcBef>
                <a:spcPts val="500"/>
              </a:spcBef>
              <a:spcAft>
                <a:spcPts val="0"/>
              </a:spcAft>
              <a:buClrTx/>
              <a:buSzTx/>
              <a:buFont typeface="Arial" panose="020B0604020202020204" pitchFamily="34" charset="0"/>
              <a:buChar char="•"/>
              <a:tabLst/>
              <a:defRPr/>
            </a:pPr>
            <a:r>
              <a:rPr lang="en-US" b="0" dirty="0">
                <a:solidFill>
                  <a:sysClr val="windowText" lastClr="000000"/>
                </a:solidFill>
                <a:latin typeface="Calibri" panose="020F0502020204030204"/>
              </a:rPr>
              <a:t>Technology Solutions,</a:t>
            </a:r>
          </a:p>
          <a:p>
            <a:pPr marL="717750" lvl="1" indent="-285750" defTabSz="914400" fontAlgn="auto">
              <a:lnSpc>
                <a:spcPct val="90000"/>
              </a:lnSpc>
              <a:spcBef>
                <a:spcPts val="500"/>
              </a:spcBef>
              <a:spcAft>
                <a:spcPts val="0"/>
              </a:spcAft>
              <a:buClrTx/>
              <a:buSzTx/>
              <a:buFont typeface="Arial" panose="020B0604020202020204" pitchFamily="34" charset="0"/>
              <a:buChar char="•"/>
              <a:tabLst/>
              <a:defRPr/>
            </a:pPr>
            <a:r>
              <a:rPr lang="en-US" b="0" dirty="0">
                <a:solidFill>
                  <a:sysClr val="windowText" lastClr="000000"/>
                </a:solidFill>
                <a:latin typeface="Calibri" panose="020F0502020204030204"/>
              </a:rPr>
              <a:t>Technology Operations,</a:t>
            </a:r>
          </a:p>
          <a:p>
            <a:pPr marL="717750" lvl="1" indent="-285750" defTabSz="914400" fontAlgn="auto">
              <a:lnSpc>
                <a:spcPct val="90000"/>
              </a:lnSpc>
              <a:spcBef>
                <a:spcPts val="500"/>
              </a:spcBef>
              <a:spcAft>
                <a:spcPts val="0"/>
              </a:spcAft>
              <a:buClrTx/>
              <a:buSzTx/>
              <a:buFont typeface="Arial" panose="020B0604020202020204" pitchFamily="34" charset="0"/>
              <a:buChar char="•"/>
              <a:tabLst/>
              <a:defRPr/>
            </a:pPr>
            <a:r>
              <a:rPr lang="en-US" b="0" dirty="0">
                <a:solidFill>
                  <a:sysClr val="windowText" lastClr="000000"/>
                </a:solidFill>
                <a:latin typeface="Calibri" panose="020F0502020204030204"/>
              </a:rPr>
              <a:t>Technology Services and</a:t>
            </a:r>
          </a:p>
          <a:p>
            <a:pPr marL="717750" lvl="1" indent="-285750" defTabSz="914400" fontAlgn="auto">
              <a:lnSpc>
                <a:spcPct val="90000"/>
              </a:lnSpc>
              <a:spcBef>
                <a:spcPts val="500"/>
              </a:spcBef>
              <a:spcAft>
                <a:spcPts val="0"/>
              </a:spcAft>
              <a:buClrTx/>
              <a:buSzTx/>
              <a:buFont typeface="Arial" panose="020B0604020202020204" pitchFamily="34" charset="0"/>
              <a:buChar char="•"/>
              <a:tabLst/>
              <a:defRPr/>
            </a:pPr>
            <a:r>
              <a:rPr lang="en-US" b="0" dirty="0">
                <a:solidFill>
                  <a:sysClr val="windowText" lastClr="000000"/>
                </a:solidFill>
                <a:latin typeface="Calibri" panose="020F0502020204030204"/>
              </a:rPr>
              <a:t>IT governance functions</a:t>
            </a:r>
          </a:p>
          <a:p>
            <a:pPr lvl="0" defTabSz="914400" fontAlgn="auto">
              <a:lnSpc>
                <a:spcPct val="90000"/>
              </a:lnSpc>
              <a:spcBef>
                <a:spcPts val="1000"/>
              </a:spcBef>
              <a:spcAft>
                <a:spcPts val="0"/>
              </a:spcAft>
              <a:buClrTx/>
              <a:buSzTx/>
              <a:tabLst/>
              <a:defRPr/>
            </a:pPr>
            <a:r>
              <a:rPr lang="en-US" sz="1400" dirty="0">
                <a:solidFill>
                  <a:sysClr val="windowText" lastClr="000000"/>
                </a:solidFill>
                <a:latin typeface="Calibri" panose="020F0502020204030204"/>
              </a:rPr>
              <a:t>The strategy is aligned with but does not cover Digital Strategy.</a:t>
            </a:r>
            <a:endParaRPr lang="en-IN" sz="1050" dirty="0">
              <a:solidFill>
                <a:srgbClr val="000000"/>
              </a:solidFill>
            </a:endParaRPr>
          </a:p>
        </p:txBody>
      </p:sp>
      <p:sp>
        <p:nvSpPr>
          <p:cNvPr id="16" name="Content Placeholder 8"/>
          <p:cNvSpPr txBox="1">
            <a:spLocks/>
          </p:cNvSpPr>
          <p:nvPr/>
        </p:nvSpPr>
        <p:spPr bwMode="gray">
          <a:xfrm>
            <a:off x="658489" y="1208407"/>
            <a:ext cx="2122113" cy="329381"/>
          </a:xfrm>
          <a:prstGeom prst="rect">
            <a:avLst/>
          </a:prstGeom>
          <a:solidFill>
            <a:srgbClr val="808080"/>
          </a:solidFill>
          <a:ln w="9525">
            <a:noFill/>
            <a:miter lim="800000"/>
            <a:headEnd/>
            <a:tailEnd/>
          </a:ln>
          <a:effectLst/>
        </p:spPr>
        <p:txBody>
          <a:bodyPr vert="horz" wrap="square" lIns="81629" tIns="81629" rIns="81629" bIns="81629" numCol="1" anchor="ctr" anchorCtr="0" compatLnSpc="1">
            <a:prstTxWarp prst="textNoShape">
              <a:avLst/>
            </a:prstTxWarp>
            <a:noAutofit/>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1">
              <a:spcBef>
                <a:spcPts val="0"/>
              </a:spcBef>
              <a:spcAft>
                <a:spcPts val="0"/>
              </a:spcAft>
              <a:defRPr/>
            </a:pPr>
            <a:r>
              <a:rPr lang="en-US" sz="1100" dirty="0">
                <a:solidFill>
                  <a:srgbClr val="FFFFFF"/>
                </a:solidFill>
              </a:rPr>
              <a:t>Organization scope</a:t>
            </a:r>
          </a:p>
        </p:txBody>
      </p:sp>
      <p:sp>
        <p:nvSpPr>
          <p:cNvPr id="17" name="Content Placeholder 8"/>
          <p:cNvSpPr txBox="1">
            <a:spLocks/>
          </p:cNvSpPr>
          <p:nvPr/>
        </p:nvSpPr>
        <p:spPr bwMode="gray">
          <a:xfrm>
            <a:off x="485466" y="3619521"/>
            <a:ext cx="4798028" cy="1133170"/>
          </a:xfrm>
          <a:prstGeom prst="rect">
            <a:avLst/>
          </a:prstGeom>
          <a:noFill/>
          <a:ln w="9525">
            <a:solidFill>
              <a:srgbClr val="808080"/>
            </a:solidFill>
            <a:miter lim="800000"/>
            <a:headEnd/>
            <a:tailEnd/>
          </a:ln>
          <a:effectLst/>
        </p:spPr>
        <p:txBody>
          <a:bodyPr vert="horz" wrap="square" lIns="97955" tIns="228562" rIns="97955" bIns="97955" numCol="1" anchor="t" anchorCtr="0" compatLnSpc="1">
            <a:prstTxWarp prst="textNoShape">
              <a:avLst/>
            </a:prstTxWarp>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0" defTabSz="914400" fontAlgn="auto">
              <a:lnSpc>
                <a:spcPct val="90000"/>
              </a:lnSpc>
              <a:spcBef>
                <a:spcPts val="1000"/>
              </a:spcBef>
              <a:spcAft>
                <a:spcPts val="0"/>
              </a:spcAft>
              <a:buClrTx/>
              <a:buSzTx/>
              <a:tabLst/>
              <a:defRPr/>
            </a:pPr>
            <a:r>
              <a:rPr lang="en-US" sz="1400" dirty="0">
                <a:solidFill>
                  <a:sysClr val="windowText" lastClr="000000"/>
                </a:solidFill>
                <a:latin typeface="Calibri" panose="020F0502020204030204"/>
              </a:rPr>
              <a:t>The IT strategy takes into account AS-IS core system, IT architecture and IT landscape, lays out prerequisites for improvement of current IT landscape and possible classes of IT landscape improvements.</a:t>
            </a:r>
          </a:p>
        </p:txBody>
      </p:sp>
      <p:sp>
        <p:nvSpPr>
          <p:cNvPr id="18" name="Content Placeholder 8"/>
          <p:cNvSpPr txBox="1">
            <a:spLocks/>
          </p:cNvSpPr>
          <p:nvPr/>
        </p:nvSpPr>
        <p:spPr bwMode="gray">
          <a:xfrm>
            <a:off x="658489" y="3471239"/>
            <a:ext cx="2122113" cy="329381"/>
          </a:xfrm>
          <a:prstGeom prst="rect">
            <a:avLst/>
          </a:prstGeom>
          <a:solidFill>
            <a:srgbClr val="808080"/>
          </a:solidFill>
          <a:ln w="9525">
            <a:noFill/>
            <a:miter lim="800000"/>
            <a:headEnd/>
            <a:tailEnd/>
          </a:ln>
          <a:effectLst/>
        </p:spPr>
        <p:txBody>
          <a:bodyPr vert="horz" wrap="square" lIns="81629" tIns="81629" rIns="81629" bIns="81629" numCol="1" anchor="ctr" anchorCtr="0" compatLnSpc="1">
            <a:prstTxWarp prst="textNoShape">
              <a:avLst/>
            </a:prstTxWarp>
            <a:noAutofit/>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1">
              <a:spcBef>
                <a:spcPts val="0"/>
              </a:spcBef>
              <a:spcAft>
                <a:spcPts val="0"/>
              </a:spcAft>
              <a:defRPr/>
            </a:pPr>
            <a:r>
              <a:rPr lang="en-US" sz="1100" dirty="0">
                <a:solidFill>
                  <a:srgbClr val="FFFFFF"/>
                </a:solidFill>
              </a:rPr>
              <a:t>Technology scope</a:t>
            </a:r>
          </a:p>
        </p:txBody>
      </p:sp>
      <p:sp>
        <p:nvSpPr>
          <p:cNvPr id="19" name="Content Placeholder 8"/>
          <p:cNvSpPr txBox="1">
            <a:spLocks/>
          </p:cNvSpPr>
          <p:nvPr/>
        </p:nvSpPr>
        <p:spPr bwMode="gray">
          <a:xfrm>
            <a:off x="499048" y="4957849"/>
            <a:ext cx="4798028" cy="507281"/>
          </a:xfrm>
          <a:prstGeom prst="rect">
            <a:avLst/>
          </a:prstGeom>
          <a:noFill/>
          <a:ln w="9525">
            <a:solidFill>
              <a:srgbClr val="808080"/>
            </a:solidFill>
            <a:miter lim="800000"/>
            <a:headEnd/>
            <a:tailEnd/>
          </a:ln>
          <a:effectLst/>
        </p:spPr>
        <p:txBody>
          <a:bodyPr vert="horz" wrap="square" lIns="97955" tIns="228562" rIns="97955" bIns="97955" numCol="1" anchor="t" anchorCtr="0" compatLnSpc="1">
            <a:prstTxWarp prst="textNoShape">
              <a:avLst/>
            </a:prstTxWarp>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0" defTabSz="914400" fontAlgn="auto">
              <a:lnSpc>
                <a:spcPct val="90000"/>
              </a:lnSpc>
              <a:spcBef>
                <a:spcPts val="1000"/>
              </a:spcBef>
              <a:spcAft>
                <a:spcPts val="0"/>
              </a:spcAft>
              <a:buClrTx/>
              <a:buSzTx/>
              <a:tabLst/>
              <a:defRPr/>
            </a:pPr>
            <a:r>
              <a:rPr lang="en-US" sz="1400" dirty="0">
                <a:solidFill>
                  <a:sysClr val="windowText" lastClr="000000"/>
                </a:solidFill>
                <a:latin typeface="Calibri" panose="020F0502020204030204"/>
              </a:rPr>
              <a:t>The strategy has a medium term (2 years) focus.</a:t>
            </a:r>
          </a:p>
        </p:txBody>
      </p:sp>
      <p:sp>
        <p:nvSpPr>
          <p:cNvPr id="20" name="Content Placeholder 8"/>
          <p:cNvSpPr txBox="1">
            <a:spLocks/>
          </p:cNvSpPr>
          <p:nvPr/>
        </p:nvSpPr>
        <p:spPr bwMode="gray">
          <a:xfrm>
            <a:off x="672071" y="4809567"/>
            <a:ext cx="2122113" cy="329381"/>
          </a:xfrm>
          <a:prstGeom prst="rect">
            <a:avLst/>
          </a:prstGeom>
          <a:solidFill>
            <a:srgbClr val="808080"/>
          </a:solidFill>
          <a:ln w="9525">
            <a:noFill/>
            <a:miter lim="800000"/>
            <a:headEnd/>
            <a:tailEnd/>
          </a:ln>
          <a:effectLst/>
        </p:spPr>
        <p:txBody>
          <a:bodyPr vert="horz" wrap="square" lIns="81629" tIns="81629" rIns="81629" bIns="81629" numCol="1" anchor="ctr" anchorCtr="0" compatLnSpc="1">
            <a:prstTxWarp prst="textNoShape">
              <a:avLst/>
            </a:prstTxWarp>
            <a:noAutofit/>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1">
              <a:spcBef>
                <a:spcPts val="0"/>
              </a:spcBef>
              <a:spcAft>
                <a:spcPts val="0"/>
              </a:spcAft>
              <a:defRPr/>
            </a:pPr>
            <a:r>
              <a:rPr lang="en-US" sz="1100" dirty="0">
                <a:solidFill>
                  <a:srgbClr val="FFFFFF"/>
                </a:solidFill>
              </a:rPr>
              <a:t>Time scope</a:t>
            </a:r>
          </a:p>
        </p:txBody>
      </p:sp>
      <p:sp>
        <p:nvSpPr>
          <p:cNvPr id="22" name="Content Placeholder 8"/>
          <p:cNvSpPr txBox="1">
            <a:spLocks/>
          </p:cNvSpPr>
          <p:nvPr/>
        </p:nvSpPr>
        <p:spPr bwMode="gray">
          <a:xfrm>
            <a:off x="499048" y="5670288"/>
            <a:ext cx="4798028" cy="646579"/>
          </a:xfrm>
          <a:prstGeom prst="rect">
            <a:avLst/>
          </a:prstGeom>
          <a:noFill/>
          <a:ln w="9525">
            <a:solidFill>
              <a:srgbClr val="808080"/>
            </a:solidFill>
            <a:miter lim="800000"/>
            <a:headEnd/>
            <a:tailEnd/>
          </a:ln>
          <a:effectLst/>
        </p:spPr>
        <p:txBody>
          <a:bodyPr vert="horz" wrap="square" lIns="97955" tIns="228562" rIns="97955" bIns="97955" numCol="1" anchor="t" anchorCtr="0" compatLnSpc="1">
            <a:prstTxWarp prst="textNoShape">
              <a:avLst/>
            </a:prstTxWarp>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0" defTabSz="914400" fontAlgn="auto">
              <a:lnSpc>
                <a:spcPct val="90000"/>
              </a:lnSpc>
              <a:spcBef>
                <a:spcPts val="1000"/>
              </a:spcBef>
              <a:spcAft>
                <a:spcPts val="0"/>
              </a:spcAft>
              <a:buClrTx/>
              <a:buSzTx/>
              <a:tabLst/>
              <a:defRPr/>
            </a:pPr>
            <a:r>
              <a:rPr lang="en-US" sz="1400" dirty="0">
                <a:solidFill>
                  <a:sysClr val="windowText" lastClr="000000"/>
                </a:solidFill>
                <a:latin typeface="Calibri" panose="020F0502020204030204"/>
              </a:rPr>
              <a:t>The strategy is a living document and will be updated and adapted based on future changes.</a:t>
            </a:r>
          </a:p>
        </p:txBody>
      </p:sp>
      <p:sp>
        <p:nvSpPr>
          <p:cNvPr id="23" name="Content Placeholder 8"/>
          <p:cNvSpPr txBox="1">
            <a:spLocks/>
          </p:cNvSpPr>
          <p:nvPr/>
        </p:nvSpPr>
        <p:spPr bwMode="gray">
          <a:xfrm>
            <a:off x="672071" y="5522006"/>
            <a:ext cx="2122113" cy="329381"/>
          </a:xfrm>
          <a:prstGeom prst="rect">
            <a:avLst/>
          </a:prstGeom>
          <a:solidFill>
            <a:srgbClr val="808080"/>
          </a:solidFill>
          <a:ln w="9525">
            <a:noFill/>
            <a:miter lim="800000"/>
            <a:headEnd/>
            <a:tailEnd/>
          </a:ln>
          <a:effectLst/>
        </p:spPr>
        <p:txBody>
          <a:bodyPr vert="horz" wrap="square" lIns="81629" tIns="81629" rIns="81629" bIns="81629" numCol="1" anchor="ctr" anchorCtr="0" compatLnSpc="1">
            <a:prstTxWarp prst="textNoShape">
              <a:avLst/>
            </a:prstTxWarp>
            <a:noAutofit/>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1">
              <a:spcBef>
                <a:spcPts val="0"/>
              </a:spcBef>
              <a:spcAft>
                <a:spcPts val="0"/>
              </a:spcAft>
              <a:defRPr/>
            </a:pPr>
            <a:r>
              <a:rPr lang="en-US" sz="1100" dirty="0">
                <a:solidFill>
                  <a:srgbClr val="FFFFFF"/>
                </a:solidFill>
              </a:rPr>
              <a:t>Time scope</a:t>
            </a:r>
          </a:p>
        </p:txBody>
      </p:sp>
      <p:grpSp>
        <p:nvGrpSpPr>
          <p:cNvPr id="25" name="Group 24"/>
          <p:cNvGrpSpPr/>
          <p:nvPr/>
        </p:nvGrpSpPr>
        <p:grpSpPr>
          <a:xfrm>
            <a:off x="5591495" y="1236372"/>
            <a:ext cx="2737417" cy="306997"/>
            <a:chOff x="708660" y="1404940"/>
            <a:chExt cx="4257039" cy="328610"/>
          </a:xfrm>
          <a:solidFill>
            <a:schemeClr val="accent2"/>
          </a:solidFill>
        </p:grpSpPr>
        <p:sp>
          <p:nvSpPr>
            <p:cNvPr id="26" name="Content Placeholder 8"/>
            <p:cNvSpPr txBox="1">
              <a:spLocks/>
            </p:cNvSpPr>
            <p:nvPr/>
          </p:nvSpPr>
          <p:spPr bwMode="gray">
            <a:xfrm>
              <a:off x="708660" y="1404940"/>
              <a:ext cx="4257039" cy="328610"/>
            </a:xfrm>
            <a:prstGeom prst="rect">
              <a:avLst/>
            </a:prstGeom>
            <a:grpFill/>
            <a:ln w="9525">
              <a:noFill/>
              <a:miter lim="800000"/>
              <a:headEnd/>
              <a:tailEnd/>
            </a:ln>
            <a:effectLst/>
          </p:spPr>
          <p:txBody>
            <a:bodyPr vert="horz" wrap="square" lIns="81629" tIns="81629" rIns="81629" bIns="81629" numCol="1" anchor="ctr" anchorCtr="0" compatLnSpc="1">
              <a:prstTxWarp prst="textNoShape">
                <a:avLst/>
              </a:prstTxWarp>
              <a:noAutofit/>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1">
                <a:spcBef>
                  <a:spcPts val="0"/>
                </a:spcBef>
                <a:spcAft>
                  <a:spcPts val="0"/>
                </a:spcAft>
                <a:defRPr/>
              </a:pPr>
              <a:endParaRPr lang="en-US" sz="1100" dirty="0">
                <a:solidFill>
                  <a:srgbClr val="000000"/>
                </a:solidFill>
              </a:endParaRPr>
            </a:p>
          </p:txBody>
        </p:sp>
        <p:sp>
          <p:nvSpPr>
            <p:cNvPr id="27" name="Content Placeholder 8"/>
            <p:cNvSpPr txBox="1">
              <a:spLocks/>
            </p:cNvSpPr>
            <p:nvPr/>
          </p:nvSpPr>
          <p:spPr bwMode="gray">
            <a:xfrm>
              <a:off x="774701" y="1404940"/>
              <a:ext cx="4124958" cy="328610"/>
            </a:xfrm>
            <a:prstGeom prst="rect">
              <a:avLst/>
            </a:prstGeom>
            <a:grpFill/>
            <a:ln w="9525">
              <a:noFill/>
              <a:miter lim="800000"/>
              <a:headEnd/>
              <a:tailEnd/>
            </a:ln>
            <a:effectLst/>
          </p:spPr>
          <p:txBody>
            <a:bodyPr vert="horz" wrap="square" lIns="81629" tIns="81629" rIns="81629" bIns="81629" numCol="1" anchor="ctr" anchorCtr="0" compatLnSpc="1">
              <a:prstTxWarp prst="textNoShape">
                <a:avLst/>
              </a:prstTxWarp>
              <a:noAutofit/>
            </a:bodyPr>
            <a:lstStyle>
              <a:lvl1pPr algn="l" defTabSz="995012" rtl="0" eaLnBrk="1" fontAlgn="base" hangingPunct="1">
                <a:spcBef>
                  <a:spcPct val="0"/>
                </a:spcBef>
                <a:spcAft>
                  <a:spcPct val="40000"/>
                </a:spcAft>
                <a:buClr>
                  <a:srgbClr val="FFD200"/>
                </a:buClr>
                <a:buSzPct val="75000"/>
                <a:buFont typeface="Arial Unicode MS" pitchFamily="34" charset="-128"/>
                <a:tabLst>
                  <a:tab pos="1613918" algn="l"/>
                  <a:tab pos="3227837" algn="l"/>
                  <a:tab pos="4664017" algn="r"/>
                </a:tabLst>
                <a:defRPr sz="1000">
                  <a:solidFill>
                    <a:schemeClr val="tx1"/>
                  </a:solidFill>
                  <a:latin typeface="+mn-lt"/>
                  <a:ea typeface="+mn-ea"/>
                  <a:cs typeface="+mn-cs"/>
                </a:defRPr>
              </a:lvl1pPr>
              <a:lvl2pPr marL="1588" algn="l" defTabSz="995012" rtl="0" eaLnBrk="1" fontAlgn="base" hangingPunct="1">
                <a:spcBef>
                  <a:spcPct val="20000"/>
                </a:spcBef>
                <a:spcAft>
                  <a:spcPct val="40000"/>
                </a:spcAft>
                <a:buClr>
                  <a:srgbClr val="FFD200"/>
                </a:buClr>
                <a:buSzPct val="75000"/>
                <a:buFont typeface="Arial Unicode MS" pitchFamily="34" charset="-128"/>
                <a:tabLst>
                  <a:tab pos="1613918" algn="l"/>
                  <a:tab pos="3227837" algn="l"/>
                  <a:tab pos="4664017" algn="r"/>
                </a:tabLst>
                <a:defRPr sz="1400" b="1">
                  <a:solidFill>
                    <a:schemeClr val="tx2"/>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10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800">
                  <a:solidFill>
                    <a:schemeClr val="tx1"/>
                  </a:solidFill>
                  <a:latin typeface="+mn-lt"/>
                  <a:cs typeface="+mn-cs"/>
                </a:defRPr>
              </a:lvl9pPr>
            </a:lstStyle>
            <a:p>
              <a:pPr lvl="1">
                <a:spcBef>
                  <a:spcPts val="0"/>
                </a:spcBef>
                <a:spcAft>
                  <a:spcPts val="0"/>
                </a:spcAft>
                <a:defRPr/>
              </a:pPr>
              <a:r>
                <a:rPr lang="en-US" sz="1100" dirty="0">
                  <a:solidFill>
                    <a:schemeClr val="bg1"/>
                  </a:solidFill>
                </a:rPr>
                <a:t>Strategy Framework </a:t>
              </a:r>
            </a:p>
          </p:txBody>
        </p:sp>
      </p:grpSp>
    </p:spTree>
    <p:extLst>
      <p:ext uri="{BB962C8B-B14F-4D97-AF65-F5344CB8AC3E}">
        <p14:creationId xmlns:p14="http://schemas.microsoft.com/office/powerpoint/2010/main" val="1317673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extLst>
              <p:ext uri="{D42A27DB-BD31-4B8C-83A1-F6EECF244321}">
                <p14:modId xmlns:p14="http://schemas.microsoft.com/office/powerpoint/2010/main" val="1141406255"/>
              </p:ext>
            </p:extLst>
          </p:nvPr>
        </p:nvGraphicFramePr>
        <p:xfrm>
          <a:off x="1525191" y="859780"/>
          <a:ext cx="1190" cy="1190"/>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25191" y="859780"/>
                        <a:ext cx="1190" cy="1190"/>
                      </a:xfrm>
                      <a:prstGeom prst="rect">
                        <a:avLst/>
                      </a:prstGeom>
                    </p:spPr>
                  </p:pic>
                </p:oleObj>
              </mc:Fallback>
            </mc:AlternateContent>
          </a:graphicData>
        </a:graphic>
      </p:graphicFrame>
      <p:sp>
        <p:nvSpPr>
          <p:cNvPr id="8" name="Rectangle 7"/>
          <p:cNvSpPr/>
          <p:nvPr/>
        </p:nvSpPr>
        <p:spPr>
          <a:xfrm>
            <a:off x="983432" y="908720"/>
            <a:ext cx="5764673" cy="5178689"/>
          </a:xfrm>
          <a:prstGeom prst="rect">
            <a:avLst/>
          </a:prstGeom>
          <a:solidFill>
            <a:srgbClr val="646464">
              <a:alpha val="5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5" name="Oval 4"/>
          <p:cNvSpPr/>
          <p:nvPr/>
        </p:nvSpPr>
        <p:spPr>
          <a:xfrm>
            <a:off x="624412" y="1288603"/>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26" name="Oval 25"/>
          <p:cNvSpPr/>
          <p:nvPr/>
        </p:nvSpPr>
        <p:spPr>
          <a:xfrm>
            <a:off x="624412" y="2208392"/>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6" name="Oval 5"/>
          <p:cNvSpPr/>
          <p:nvPr/>
        </p:nvSpPr>
        <p:spPr>
          <a:xfrm>
            <a:off x="624412" y="3128181"/>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17" name="Oval 16"/>
          <p:cNvSpPr/>
          <p:nvPr/>
        </p:nvSpPr>
        <p:spPr>
          <a:xfrm>
            <a:off x="624412" y="4047970"/>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7" name="Oval 6"/>
          <p:cNvSpPr/>
          <p:nvPr/>
        </p:nvSpPr>
        <p:spPr>
          <a:xfrm>
            <a:off x="624412" y="4967759"/>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grpSp>
        <p:nvGrpSpPr>
          <p:cNvPr id="4" name="Group 3"/>
          <p:cNvGrpSpPr/>
          <p:nvPr/>
        </p:nvGrpSpPr>
        <p:grpSpPr>
          <a:xfrm>
            <a:off x="2363215" y="1368001"/>
            <a:ext cx="107944" cy="566705"/>
            <a:chOff x="6348787" y="589394"/>
            <a:chExt cx="144000" cy="756000"/>
          </a:xfrm>
          <a:solidFill>
            <a:srgbClr val="1859A9"/>
          </a:solidFill>
        </p:grpSpPr>
        <p:cxnSp>
          <p:nvCxnSpPr>
            <p:cNvPr id="18" name="Straight Connector 17"/>
            <p:cNvCxnSpPr/>
            <p:nvPr/>
          </p:nvCxnSpPr>
          <p:spPr>
            <a:xfrm>
              <a:off x="6420787" y="589394"/>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348787" y="895394"/>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2" name="Group 11"/>
          <p:cNvGrpSpPr/>
          <p:nvPr/>
        </p:nvGrpSpPr>
        <p:grpSpPr>
          <a:xfrm>
            <a:off x="2363215" y="2287790"/>
            <a:ext cx="107944" cy="566705"/>
            <a:chOff x="6348787" y="1804920"/>
            <a:chExt cx="144000" cy="756000"/>
          </a:xfrm>
          <a:solidFill>
            <a:srgbClr val="1859A9"/>
          </a:solidFill>
        </p:grpSpPr>
        <p:cxnSp>
          <p:nvCxnSpPr>
            <p:cNvPr id="49" name="Straight Connector 48"/>
            <p:cNvCxnSpPr/>
            <p:nvPr/>
          </p:nvCxnSpPr>
          <p:spPr>
            <a:xfrm>
              <a:off x="6420787" y="180492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6348787" y="211092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3" name="Group 12"/>
          <p:cNvGrpSpPr/>
          <p:nvPr/>
        </p:nvGrpSpPr>
        <p:grpSpPr>
          <a:xfrm>
            <a:off x="2363215" y="3207579"/>
            <a:ext cx="107944" cy="566705"/>
            <a:chOff x="6348787" y="2943916"/>
            <a:chExt cx="144000" cy="756000"/>
          </a:xfrm>
          <a:solidFill>
            <a:srgbClr val="1859A9"/>
          </a:solidFill>
        </p:grpSpPr>
        <p:cxnSp>
          <p:nvCxnSpPr>
            <p:cNvPr id="52" name="Straight Connector 51"/>
            <p:cNvCxnSpPr/>
            <p:nvPr/>
          </p:nvCxnSpPr>
          <p:spPr>
            <a:xfrm>
              <a:off x="6420787" y="2943916"/>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6348787" y="3249916"/>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4" name="Group 13"/>
          <p:cNvGrpSpPr/>
          <p:nvPr/>
        </p:nvGrpSpPr>
        <p:grpSpPr>
          <a:xfrm>
            <a:off x="2363215" y="4127368"/>
            <a:ext cx="107944" cy="566705"/>
            <a:chOff x="6348787" y="4243830"/>
            <a:chExt cx="144000" cy="756000"/>
          </a:xfrm>
          <a:solidFill>
            <a:srgbClr val="1859A9"/>
          </a:solidFill>
        </p:grpSpPr>
        <p:cxnSp>
          <p:nvCxnSpPr>
            <p:cNvPr id="55" name="Straight Connector 54"/>
            <p:cNvCxnSpPr/>
            <p:nvPr/>
          </p:nvCxnSpPr>
          <p:spPr>
            <a:xfrm>
              <a:off x="6420787" y="424383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6348787" y="454983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5" name="Group 14"/>
          <p:cNvGrpSpPr/>
          <p:nvPr/>
        </p:nvGrpSpPr>
        <p:grpSpPr>
          <a:xfrm>
            <a:off x="2363215" y="5047157"/>
            <a:ext cx="107944" cy="566705"/>
            <a:chOff x="6348787" y="5496138"/>
            <a:chExt cx="144000" cy="756000"/>
          </a:xfrm>
          <a:solidFill>
            <a:srgbClr val="1859A9"/>
          </a:solidFill>
        </p:grpSpPr>
        <p:cxnSp>
          <p:nvCxnSpPr>
            <p:cNvPr id="58" name="Straight Connector 57"/>
            <p:cNvCxnSpPr/>
            <p:nvPr/>
          </p:nvCxnSpPr>
          <p:spPr>
            <a:xfrm>
              <a:off x="6420787" y="5496138"/>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6348787" y="5802138"/>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aphicFrame>
        <p:nvGraphicFramePr>
          <p:cNvPr id="44" name="AgendaTable"/>
          <p:cNvGraphicFramePr>
            <a:graphicFrameLocks noGrp="1"/>
          </p:cNvGraphicFramePr>
          <p:nvPr>
            <p:extLst>
              <p:ext uri="{D42A27DB-BD31-4B8C-83A1-F6EECF244321}">
                <p14:modId xmlns:p14="http://schemas.microsoft.com/office/powerpoint/2010/main" val="4060195179"/>
              </p:ext>
            </p:extLst>
          </p:nvPr>
        </p:nvGraphicFramePr>
        <p:xfrm>
          <a:off x="1564665" y="1199166"/>
          <a:ext cx="4524401" cy="4606965"/>
        </p:xfrm>
        <a:graphic>
          <a:graphicData uri="http://schemas.openxmlformats.org/drawingml/2006/table">
            <a:tbl>
              <a:tblPr bandRow="1">
                <a:tableStyleId>{5C22544A-7EE6-4342-B048-85BDC9FD1C3A}</a:tableStyleId>
              </a:tblPr>
              <a:tblGrid>
                <a:gridCol w="767425">
                  <a:extLst>
                    <a:ext uri="{9D8B030D-6E8A-4147-A177-3AD203B41FA5}">
                      <a16:colId xmlns:a16="http://schemas.microsoft.com/office/drawing/2014/main" val="20000"/>
                    </a:ext>
                  </a:extLst>
                </a:gridCol>
                <a:gridCol w="3756976">
                  <a:extLst>
                    <a:ext uri="{9D8B030D-6E8A-4147-A177-3AD203B41FA5}">
                      <a16:colId xmlns:a16="http://schemas.microsoft.com/office/drawing/2014/main" val="20001"/>
                    </a:ext>
                  </a:extLst>
                </a:gridCol>
              </a:tblGrid>
              <a:tr h="921393">
                <a:tc>
                  <a:txBody>
                    <a:bodyPr/>
                    <a:lstStyle/>
                    <a:p>
                      <a:pPr algn="ctr"/>
                      <a:r>
                        <a:rPr lang="en-US" sz="2700" b="1" kern="1200" dirty="0">
                          <a:solidFill>
                            <a:srgbClr val="FFFFFF"/>
                          </a:solidFill>
                          <a:latin typeface="+mn-lt"/>
                          <a:ea typeface="+mn-ea"/>
                          <a:cs typeface="+mn-cs"/>
                        </a:rPr>
                        <a:t>01</a:t>
                      </a:r>
                    </a:p>
                  </a:txBody>
                  <a:tcPr marL="68580" marR="68580" marT="34290" marB="3429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Executive</a:t>
                      </a:r>
                      <a:r>
                        <a:rPr lang="en-US" sz="1300" b="1" kern="1200" baseline="0" dirty="0">
                          <a:solidFill>
                            <a:srgbClr val="FFFFFF"/>
                          </a:solidFill>
                          <a:latin typeface="+mn-lt"/>
                          <a:ea typeface="+mn-ea"/>
                          <a:cs typeface="+mn-cs"/>
                        </a:rPr>
                        <a:t> Summary</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21393">
                <a:tc>
                  <a:txBody>
                    <a:bodyPr/>
                    <a:lstStyle/>
                    <a:p>
                      <a:pPr algn="ctr"/>
                      <a:r>
                        <a:rPr lang="en-US" sz="2700" b="1" kern="1200" dirty="0">
                          <a:solidFill>
                            <a:srgbClr val="FFFFFF"/>
                          </a:solidFill>
                          <a:latin typeface="+mn-lt"/>
                          <a:ea typeface="+mn-ea"/>
                          <a:cs typeface="+mn-cs"/>
                        </a:rPr>
                        <a:t>02</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Ou</a:t>
                      </a:r>
                      <a:r>
                        <a:rPr lang="en-US" sz="1300" b="1" kern="1200" baseline="0" dirty="0">
                          <a:solidFill>
                            <a:srgbClr val="FFFFFF"/>
                          </a:solidFill>
                          <a:latin typeface="+mn-lt"/>
                          <a:ea typeface="+mn-ea"/>
                          <a:cs typeface="+mn-cs"/>
                        </a:rPr>
                        <a:t>r Approach &amp; Scope</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21393">
                <a:tc>
                  <a:txBody>
                    <a:bodyPr/>
                    <a:lstStyle/>
                    <a:p>
                      <a:pPr algn="ctr"/>
                      <a:r>
                        <a:rPr lang="en-US" sz="2700" b="1" kern="1200" dirty="0">
                          <a:solidFill>
                            <a:srgbClr val="FFFFFF"/>
                          </a:solidFill>
                          <a:latin typeface="+mn-lt"/>
                          <a:ea typeface="+mn-ea"/>
                          <a:cs typeface="+mn-cs"/>
                        </a:rPr>
                        <a:t>03</a:t>
                      </a:r>
                    </a:p>
                  </a:txBody>
                  <a:tcPr marL="68580" marR="68580" marT="34290" marB="34290" anchor="ctr">
                    <a:lnL w="12700" cap="flat" cmpd="sng" algn="ctr">
                      <a:solidFill>
                        <a:schemeClr val="accent2"/>
                      </a:solidFill>
                      <a:prstDash val="solid"/>
                      <a:round/>
                      <a:headEnd type="none" w="med" len="med"/>
                      <a:tailEnd type="none" w="med" len="med"/>
                    </a:lnL>
                    <a:lnR w="12700" cmpd="sng">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Vision &amp; Mission</a:t>
                      </a:r>
                    </a:p>
                  </a:txBody>
                  <a:tcPr marL="68580" marR="68580" marT="34290" marB="34290" anchor="ctr">
                    <a:lnL w="12700" cmpd="sng">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21393">
                <a:tc>
                  <a:txBody>
                    <a:bodyPr/>
                    <a:lstStyle/>
                    <a:p>
                      <a:pPr algn="ctr"/>
                      <a:r>
                        <a:rPr lang="en-US" sz="2700" b="1" kern="1200">
                          <a:solidFill>
                            <a:srgbClr val="FFFFFF"/>
                          </a:solidFill>
                          <a:latin typeface="+mn-lt"/>
                          <a:ea typeface="+mn-ea"/>
                          <a:cs typeface="+mn-cs"/>
                        </a:rPr>
                        <a:t>04</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Takeaway from Surveys &amp; Interviews</a:t>
                      </a: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21393">
                <a:tc>
                  <a:txBody>
                    <a:bodyPr/>
                    <a:lstStyle/>
                    <a:p>
                      <a:pPr marL="0" algn="ctr" defTabSz="914400" rtl="0" eaLnBrk="1" latinLnBrk="0" hangingPunct="1">
                        <a:lnSpc>
                          <a:spcPct val="85000"/>
                        </a:lnSpc>
                        <a:spcAft>
                          <a:spcPts val="600"/>
                        </a:spcAft>
                        <a:buClr>
                          <a:schemeClr val="accent2"/>
                        </a:buClr>
                        <a:buSzPct val="70000"/>
                      </a:pPr>
                      <a:r>
                        <a:rPr lang="en-US" sz="2700" b="1" kern="1200">
                          <a:solidFill>
                            <a:srgbClr val="FFFFFF"/>
                          </a:solidFill>
                          <a:latin typeface="+mn-lt"/>
                          <a:ea typeface="+mn-ea"/>
                          <a:cs typeface="+mn-cs"/>
                        </a:rPr>
                        <a:t>05</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Key Initiatives</a:t>
                      </a:r>
                      <a:r>
                        <a:rPr lang="en-US" sz="1300" b="1" kern="1200" baseline="0" dirty="0">
                          <a:solidFill>
                            <a:srgbClr val="FFFFFF"/>
                          </a:solidFill>
                          <a:latin typeface="+mn-lt"/>
                          <a:ea typeface="+mn-ea"/>
                          <a:cs typeface="+mn-cs"/>
                        </a:rPr>
                        <a:t> &amp; </a:t>
                      </a:r>
                      <a:r>
                        <a:rPr lang="en-US" sz="1300" b="1" kern="1200" dirty="0">
                          <a:solidFill>
                            <a:srgbClr val="FFFFFF"/>
                          </a:solidFill>
                          <a:latin typeface="+mn-lt"/>
                          <a:ea typeface="+mn-ea"/>
                          <a:cs typeface="+mn-cs"/>
                        </a:rPr>
                        <a:t>Roadmap</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 name="SlideType:Agenda" hidden="1"/>
          <p:cNvSpPr/>
          <p:nvPr/>
        </p:nvSpPr>
        <p:spPr>
          <a:xfrm>
            <a:off x="1524000" y="857250"/>
            <a:ext cx="0" cy="0"/>
          </a:xfrm>
          <a:prstGeom prst="rect">
            <a:avLst/>
          </a:prstGeom>
          <a:pattFill prst="pct5">
            <a:fgClr>
              <a:srgbClr val="FFFFFF">
                <a:alpha val="0"/>
              </a:srgbClr>
            </a:fgClr>
            <a:bgClr>
              <a:srgbClr val="FFFFFF">
                <a:alpha val="0"/>
              </a:srgbClr>
            </a:bgClr>
          </a:pattFill>
          <a:ln w="9525" cap="flat" cmpd="sng" algn="ctr">
            <a:solidFill>
              <a:srgbClr val="FFFFFF">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900" dirty="0">
              <a:solidFill>
                <a:srgbClr val="646464"/>
              </a:solidFill>
            </a:endParaRPr>
          </a:p>
        </p:txBody>
      </p:sp>
    </p:spTree>
    <p:extLst>
      <p:ext uri="{BB962C8B-B14F-4D97-AF65-F5344CB8AC3E}">
        <p14:creationId xmlns:p14="http://schemas.microsoft.com/office/powerpoint/2010/main" val="3456570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dirty="0"/>
              <a:t>IT-Division Vision &amp; strategy</a:t>
            </a:r>
          </a:p>
        </p:txBody>
      </p:sp>
      <p:grpSp>
        <p:nvGrpSpPr>
          <p:cNvPr id="2" name="Group 1"/>
          <p:cNvGrpSpPr/>
          <p:nvPr/>
        </p:nvGrpSpPr>
        <p:grpSpPr>
          <a:xfrm>
            <a:off x="588250" y="1744848"/>
            <a:ext cx="10927648" cy="4334137"/>
            <a:chOff x="588250" y="1744848"/>
            <a:chExt cx="10927648" cy="4334137"/>
          </a:xfrm>
        </p:grpSpPr>
        <p:grpSp>
          <p:nvGrpSpPr>
            <p:cNvPr id="17" name="Group 16"/>
            <p:cNvGrpSpPr/>
            <p:nvPr/>
          </p:nvGrpSpPr>
          <p:grpSpPr>
            <a:xfrm>
              <a:off x="803527" y="1744848"/>
              <a:ext cx="10712371" cy="1324408"/>
              <a:chOff x="622582" y="1618132"/>
              <a:chExt cx="8229601" cy="1165711"/>
            </a:xfrm>
          </p:grpSpPr>
          <p:grpSp>
            <p:nvGrpSpPr>
              <p:cNvPr id="19" name="Group 18"/>
              <p:cNvGrpSpPr/>
              <p:nvPr/>
            </p:nvGrpSpPr>
            <p:grpSpPr>
              <a:xfrm>
                <a:off x="2601652" y="2501268"/>
                <a:ext cx="3943349" cy="282575"/>
                <a:chOff x="2601652" y="2381522"/>
                <a:chExt cx="3943349" cy="282575"/>
              </a:xfrm>
              <a:solidFill>
                <a:schemeClr val="bg1"/>
              </a:solidFill>
            </p:grpSpPr>
            <p:sp>
              <p:nvSpPr>
                <p:cNvPr id="22" name="Freeform 13"/>
                <p:cNvSpPr>
                  <a:spLocks/>
                </p:cNvSpPr>
                <p:nvPr/>
              </p:nvSpPr>
              <p:spPr bwMode="auto">
                <a:xfrm>
                  <a:off x="4112953" y="2381522"/>
                  <a:ext cx="917575" cy="282575"/>
                </a:xfrm>
                <a:custGeom>
                  <a:avLst/>
                  <a:gdLst/>
                  <a:ahLst/>
                  <a:cxnLst>
                    <a:cxn ang="0">
                      <a:pos x="51" y="208"/>
                    </a:cxn>
                    <a:cxn ang="0">
                      <a:pos x="467" y="208"/>
                    </a:cxn>
                    <a:cxn ang="0">
                      <a:pos x="346" y="40"/>
                    </a:cxn>
                    <a:cxn ang="0">
                      <a:pos x="511" y="40"/>
                    </a:cxn>
                    <a:cxn ang="0">
                      <a:pos x="268" y="0"/>
                    </a:cxn>
                    <a:cxn ang="0">
                      <a:pos x="0" y="40"/>
                    </a:cxn>
                    <a:cxn ang="0">
                      <a:pos x="164" y="40"/>
                    </a:cxn>
                    <a:cxn ang="0">
                      <a:pos x="51" y="208"/>
                    </a:cxn>
                  </a:cxnLst>
                  <a:rect l="0" t="0" r="r" b="b"/>
                  <a:pathLst>
                    <a:path w="512" h="209">
                      <a:moveTo>
                        <a:pt x="51" y="208"/>
                      </a:moveTo>
                      <a:lnTo>
                        <a:pt x="467" y="208"/>
                      </a:lnTo>
                      <a:lnTo>
                        <a:pt x="346" y="40"/>
                      </a:lnTo>
                      <a:lnTo>
                        <a:pt x="511" y="40"/>
                      </a:lnTo>
                      <a:lnTo>
                        <a:pt x="268" y="0"/>
                      </a:lnTo>
                      <a:lnTo>
                        <a:pt x="0" y="40"/>
                      </a:lnTo>
                      <a:lnTo>
                        <a:pt x="164" y="40"/>
                      </a:lnTo>
                      <a:lnTo>
                        <a:pt x="51" y="208"/>
                      </a:lnTo>
                    </a:path>
                  </a:pathLst>
                </a:custGeom>
                <a:grpFill/>
                <a:ln w="6350" cap="rnd">
                  <a:solidFill>
                    <a:srgbClr val="0070C0"/>
                  </a:solidFill>
                  <a:round/>
                  <a:headEnd/>
                  <a:tailEnd/>
                </a:ln>
                <a:effectLst/>
              </p:spPr>
              <p:txBody>
                <a:bodyPr lIns="45720" rIns="45720" anchor="ctr" anchorCtr="1"/>
                <a:lstStyle/>
                <a:p>
                  <a:pPr algn="ctr" eaLnBrk="0" hangingPunct="0">
                    <a:defRPr/>
                  </a:pPr>
                  <a:endParaRPr lang="en-US" sz="1200" i="1" dirty="0">
                    <a:solidFill>
                      <a:srgbClr val="000000"/>
                    </a:solidFill>
                    <a:latin typeface="Arial" charset="0"/>
                    <a:cs typeface="Arial"/>
                  </a:endParaRPr>
                </a:p>
              </p:txBody>
            </p:sp>
            <p:sp>
              <p:nvSpPr>
                <p:cNvPr id="23" name="Freeform 14"/>
                <p:cNvSpPr>
                  <a:spLocks/>
                </p:cNvSpPr>
                <p:nvPr/>
              </p:nvSpPr>
              <p:spPr bwMode="auto">
                <a:xfrm>
                  <a:off x="2601652" y="2387870"/>
                  <a:ext cx="1501775" cy="269875"/>
                </a:xfrm>
                <a:custGeom>
                  <a:avLst/>
                  <a:gdLst/>
                  <a:ahLst/>
                  <a:cxnLst>
                    <a:cxn ang="0">
                      <a:pos x="311" y="200"/>
                    </a:cxn>
                    <a:cxn ang="0">
                      <a:pos x="0" y="168"/>
                    </a:cxn>
                    <a:cxn ang="0">
                      <a:pos x="398" y="40"/>
                    </a:cxn>
                    <a:cxn ang="0">
                      <a:pos x="207" y="40"/>
                    </a:cxn>
                    <a:cxn ang="0">
                      <a:pos x="623" y="0"/>
                    </a:cxn>
                    <a:cxn ang="0">
                      <a:pos x="839" y="40"/>
                    </a:cxn>
                    <a:cxn ang="0">
                      <a:pos x="649" y="40"/>
                    </a:cxn>
                    <a:cxn ang="0">
                      <a:pos x="311" y="200"/>
                    </a:cxn>
                  </a:cxnLst>
                  <a:rect l="0" t="0" r="r" b="b"/>
                  <a:pathLst>
                    <a:path w="840" h="201">
                      <a:moveTo>
                        <a:pt x="311" y="200"/>
                      </a:moveTo>
                      <a:lnTo>
                        <a:pt x="0" y="168"/>
                      </a:lnTo>
                      <a:lnTo>
                        <a:pt x="398" y="40"/>
                      </a:lnTo>
                      <a:lnTo>
                        <a:pt x="207" y="40"/>
                      </a:lnTo>
                      <a:lnTo>
                        <a:pt x="623" y="0"/>
                      </a:lnTo>
                      <a:lnTo>
                        <a:pt x="839" y="40"/>
                      </a:lnTo>
                      <a:lnTo>
                        <a:pt x="649" y="40"/>
                      </a:lnTo>
                      <a:lnTo>
                        <a:pt x="311" y="200"/>
                      </a:lnTo>
                    </a:path>
                  </a:pathLst>
                </a:custGeom>
                <a:grpFill/>
                <a:ln w="6350" cap="rnd">
                  <a:solidFill>
                    <a:srgbClr val="0070C0"/>
                  </a:solidFill>
                  <a:round/>
                  <a:headEnd/>
                  <a:tailEnd/>
                </a:ln>
                <a:effectLst/>
              </p:spPr>
              <p:txBody>
                <a:bodyPr lIns="45720" rIns="45720" anchor="ctr" anchorCtr="1"/>
                <a:lstStyle/>
                <a:p>
                  <a:pPr algn="ctr" eaLnBrk="0" hangingPunct="0">
                    <a:defRPr/>
                  </a:pPr>
                  <a:endParaRPr lang="en-US" sz="1200" i="1" dirty="0">
                    <a:solidFill>
                      <a:srgbClr val="000000"/>
                    </a:solidFill>
                    <a:latin typeface="Arial" charset="0"/>
                    <a:cs typeface="Arial"/>
                  </a:endParaRPr>
                </a:p>
              </p:txBody>
            </p:sp>
            <p:sp>
              <p:nvSpPr>
                <p:cNvPr id="24" name="Freeform 15"/>
                <p:cNvSpPr>
                  <a:spLocks/>
                </p:cNvSpPr>
                <p:nvPr/>
              </p:nvSpPr>
              <p:spPr bwMode="auto">
                <a:xfrm>
                  <a:off x="5040051" y="2387870"/>
                  <a:ext cx="1504950" cy="269875"/>
                </a:xfrm>
                <a:custGeom>
                  <a:avLst/>
                  <a:gdLst/>
                  <a:ahLst/>
                  <a:cxnLst>
                    <a:cxn ang="0">
                      <a:pos x="527" y="200"/>
                    </a:cxn>
                    <a:cxn ang="0">
                      <a:pos x="839" y="168"/>
                    </a:cxn>
                    <a:cxn ang="0">
                      <a:pos x="440" y="40"/>
                    </a:cxn>
                    <a:cxn ang="0">
                      <a:pos x="622" y="40"/>
                    </a:cxn>
                    <a:cxn ang="0">
                      <a:pos x="215" y="0"/>
                    </a:cxn>
                    <a:cxn ang="0">
                      <a:pos x="0" y="40"/>
                    </a:cxn>
                    <a:cxn ang="0">
                      <a:pos x="189" y="40"/>
                    </a:cxn>
                    <a:cxn ang="0">
                      <a:pos x="527" y="200"/>
                    </a:cxn>
                  </a:cxnLst>
                  <a:rect l="0" t="0" r="r" b="b"/>
                  <a:pathLst>
                    <a:path w="840" h="201">
                      <a:moveTo>
                        <a:pt x="527" y="200"/>
                      </a:moveTo>
                      <a:lnTo>
                        <a:pt x="839" y="168"/>
                      </a:lnTo>
                      <a:lnTo>
                        <a:pt x="440" y="40"/>
                      </a:lnTo>
                      <a:lnTo>
                        <a:pt x="622" y="40"/>
                      </a:lnTo>
                      <a:lnTo>
                        <a:pt x="215" y="0"/>
                      </a:lnTo>
                      <a:lnTo>
                        <a:pt x="0" y="40"/>
                      </a:lnTo>
                      <a:lnTo>
                        <a:pt x="189" y="40"/>
                      </a:lnTo>
                      <a:lnTo>
                        <a:pt x="527" y="200"/>
                      </a:lnTo>
                    </a:path>
                  </a:pathLst>
                </a:custGeom>
                <a:grpFill/>
                <a:ln w="6350" cap="rnd">
                  <a:solidFill>
                    <a:srgbClr val="0070C0"/>
                  </a:solidFill>
                  <a:round/>
                  <a:headEnd/>
                  <a:tailEnd/>
                </a:ln>
                <a:effectLst/>
              </p:spPr>
              <p:txBody>
                <a:bodyPr lIns="45720" rIns="45720" anchor="ctr" anchorCtr="1"/>
                <a:lstStyle/>
                <a:p>
                  <a:pPr algn="ctr" eaLnBrk="0" hangingPunct="0">
                    <a:defRPr/>
                  </a:pPr>
                  <a:endParaRPr lang="en-US" sz="1200" i="1" dirty="0">
                    <a:solidFill>
                      <a:srgbClr val="000000"/>
                    </a:solidFill>
                    <a:latin typeface="Arial" charset="0"/>
                    <a:cs typeface="Arial"/>
                  </a:endParaRPr>
                </a:p>
              </p:txBody>
            </p:sp>
          </p:grpSp>
          <p:sp>
            <p:nvSpPr>
              <p:cNvPr id="20" name="Rectangle 22"/>
              <p:cNvSpPr>
                <a:spLocks noChangeArrowheads="1"/>
              </p:cNvSpPr>
              <p:nvPr/>
            </p:nvSpPr>
            <p:spPr bwMode="auto">
              <a:xfrm>
                <a:off x="622582" y="1618132"/>
                <a:ext cx="8229601" cy="514704"/>
              </a:xfrm>
              <a:prstGeom prst="rect">
                <a:avLst/>
              </a:prstGeom>
              <a:noFill/>
              <a:ln w="12700">
                <a:noFill/>
                <a:miter lim="800000"/>
                <a:headEnd/>
                <a:tailEnd/>
              </a:ln>
            </p:spPr>
            <p:txBody>
              <a:bodyPr wrap="square">
                <a:spAutoFit/>
              </a:bodyPr>
              <a:lstStyle/>
              <a:p>
                <a:pPr marL="225425" lvl="0" indent="-225425" algn="ctr">
                  <a:spcBef>
                    <a:spcPts val="600"/>
                  </a:spcBef>
                </a:pPr>
                <a:r>
                  <a:rPr lang="en-US" sz="3200" b="1" i="1" kern="0" dirty="0"/>
                  <a:t>Innovate. Iterate. Integrate.</a:t>
                </a:r>
              </a:p>
            </p:txBody>
          </p:sp>
        </p:grpSp>
        <p:sp>
          <p:nvSpPr>
            <p:cNvPr id="31" name="Rectangle 2"/>
            <p:cNvSpPr>
              <a:spLocks noChangeArrowheads="1"/>
            </p:cNvSpPr>
            <p:nvPr>
              <p:custDataLst>
                <p:tags r:id="rId1"/>
              </p:custDataLst>
            </p:nvPr>
          </p:nvSpPr>
          <p:spPr bwMode="auto">
            <a:xfrm>
              <a:off x="588250" y="4058602"/>
              <a:ext cx="10723302" cy="286781"/>
            </a:xfrm>
            <a:custGeom>
              <a:avLst/>
              <a:gdLst>
                <a:gd name="connsiteX0" fmla="*/ 0 w 9345764"/>
                <a:gd name="connsiteY0" fmla="*/ 0 h 563879"/>
                <a:gd name="connsiteX1" fmla="*/ 9345764 w 9345764"/>
                <a:gd name="connsiteY1" fmla="*/ 0 h 563879"/>
                <a:gd name="connsiteX2" fmla="*/ 9345764 w 9345764"/>
                <a:gd name="connsiteY2" fmla="*/ 563879 h 563879"/>
                <a:gd name="connsiteX3" fmla="*/ 0 w 9345764"/>
                <a:gd name="connsiteY3" fmla="*/ 563879 h 563879"/>
                <a:gd name="connsiteX4" fmla="*/ 0 w 9345764"/>
                <a:gd name="connsiteY4" fmla="*/ 0 h 563879"/>
                <a:gd name="connsiteX0" fmla="*/ 655320 w 9345764"/>
                <a:gd name="connsiteY0" fmla="*/ 76200 h 563879"/>
                <a:gd name="connsiteX1" fmla="*/ 9345764 w 9345764"/>
                <a:gd name="connsiteY1" fmla="*/ 0 h 563879"/>
                <a:gd name="connsiteX2" fmla="*/ 9345764 w 9345764"/>
                <a:gd name="connsiteY2" fmla="*/ 563879 h 563879"/>
                <a:gd name="connsiteX3" fmla="*/ 0 w 9345764"/>
                <a:gd name="connsiteY3" fmla="*/ 563879 h 563879"/>
                <a:gd name="connsiteX4" fmla="*/ 655320 w 9345764"/>
                <a:gd name="connsiteY4" fmla="*/ 76200 h 5638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655320 w 9345764"/>
                <a:gd name="connsiteY4"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28434 w 9345764"/>
                <a:gd name="connsiteY4" fmla="*/ 35052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144614 w 9345764"/>
                <a:gd name="connsiteY4" fmla="*/ 38100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05574 w 9345764"/>
                <a:gd name="connsiteY4" fmla="*/ 348615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05574 w 9345764"/>
                <a:gd name="connsiteY4" fmla="*/ 348615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18909 w 9345764"/>
                <a:gd name="connsiteY4" fmla="*/ 33909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17004 w 9345764"/>
                <a:gd name="connsiteY4" fmla="*/ 327660 h 525779"/>
                <a:gd name="connsiteX5" fmla="*/ 655320 w 9345764"/>
                <a:gd name="connsiteY5" fmla="*/ 38100 h 525779"/>
                <a:gd name="connsiteX0" fmla="*/ 655320 w 9345764"/>
                <a:gd name="connsiteY0" fmla="*/ 38100 h 525779"/>
                <a:gd name="connsiteX1" fmla="*/ 8713304 w 9345764"/>
                <a:gd name="connsiteY1" fmla="*/ 0 h 525779"/>
                <a:gd name="connsiteX2" fmla="*/ 9345764 w 9345764"/>
                <a:gd name="connsiteY2" fmla="*/ 525779 h 525779"/>
                <a:gd name="connsiteX3" fmla="*/ 0 w 9345764"/>
                <a:gd name="connsiteY3" fmla="*/ 525779 h 525779"/>
                <a:gd name="connsiteX4" fmla="*/ 217004 w 9345764"/>
                <a:gd name="connsiteY4" fmla="*/ 327660 h 525779"/>
                <a:gd name="connsiteX5" fmla="*/ 655320 w 9345764"/>
                <a:gd name="connsiteY5" fmla="*/ 38100 h 525779"/>
                <a:gd name="connsiteX0" fmla="*/ 655320 w 9345764"/>
                <a:gd name="connsiteY0" fmla="*/ 38100 h 525779"/>
                <a:gd name="connsiteX1" fmla="*/ 8713304 w 9345764"/>
                <a:gd name="connsiteY1" fmla="*/ 0 h 525779"/>
                <a:gd name="connsiteX2" fmla="*/ 9115259 w 9345764"/>
                <a:gd name="connsiteY2" fmla="*/ 333375 h 525779"/>
                <a:gd name="connsiteX3" fmla="*/ 9345764 w 9345764"/>
                <a:gd name="connsiteY3" fmla="*/ 525779 h 525779"/>
                <a:gd name="connsiteX4" fmla="*/ 0 w 9345764"/>
                <a:gd name="connsiteY4" fmla="*/ 525779 h 525779"/>
                <a:gd name="connsiteX5" fmla="*/ 217004 w 9345764"/>
                <a:gd name="connsiteY5" fmla="*/ 327660 h 525779"/>
                <a:gd name="connsiteX6" fmla="*/ 655320 w 9345764"/>
                <a:gd name="connsiteY6" fmla="*/ 38100 h 525779"/>
                <a:gd name="connsiteX0" fmla="*/ 655320 w 9345764"/>
                <a:gd name="connsiteY0" fmla="*/ 38100 h 525779"/>
                <a:gd name="connsiteX1" fmla="*/ 8713304 w 9345764"/>
                <a:gd name="connsiteY1" fmla="*/ 0 h 525779"/>
                <a:gd name="connsiteX2" fmla="*/ 9115259 w 9345764"/>
                <a:gd name="connsiteY2" fmla="*/ 333375 h 525779"/>
                <a:gd name="connsiteX3" fmla="*/ 9345764 w 9345764"/>
                <a:gd name="connsiteY3" fmla="*/ 525779 h 525779"/>
                <a:gd name="connsiteX4" fmla="*/ 0 w 9345764"/>
                <a:gd name="connsiteY4" fmla="*/ 525779 h 525779"/>
                <a:gd name="connsiteX5" fmla="*/ 217004 w 9345764"/>
                <a:gd name="connsiteY5" fmla="*/ 327660 h 525779"/>
                <a:gd name="connsiteX6" fmla="*/ 655320 w 9345764"/>
                <a:gd name="connsiteY6" fmla="*/ 38100 h 525779"/>
                <a:gd name="connsiteX0" fmla="*/ 655320 w 9345764"/>
                <a:gd name="connsiteY0" fmla="*/ 38100 h 525779"/>
                <a:gd name="connsiteX1" fmla="*/ 8713304 w 9345764"/>
                <a:gd name="connsiteY1" fmla="*/ 0 h 525779"/>
                <a:gd name="connsiteX2" fmla="*/ 9115259 w 9345764"/>
                <a:gd name="connsiteY2" fmla="*/ 333375 h 525779"/>
                <a:gd name="connsiteX3" fmla="*/ 9345764 w 9345764"/>
                <a:gd name="connsiteY3" fmla="*/ 525779 h 525779"/>
                <a:gd name="connsiteX4" fmla="*/ 0 w 9345764"/>
                <a:gd name="connsiteY4" fmla="*/ 525779 h 525779"/>
                <a:gd name="connsiteX5" fmla="*/ 217004 w 9345764"/>
                <a:gd name="connsiteY5" fmla="*/ 327660 h 525779"/>
                <a:gd name="connsiteX6" fmla="*/ 655320 w 9345764"/>
                <a:gd name="connsiteY6" fmla="*/ 38100 h 525779"/>
                <a:gd name="connsiteX0" fmla="*/ 655320 w 9353384"/>
                <a:gd name="connsiteY0" fmla="*/ 38100 h 525779"/>
                <a:gd name="connsiteX1" fmla="*/ 8713304 w 9353384"/>
                <a:gd name="connsiteY1" fmla="*/ 0 h 525779"/>
                <a:gd name="connsiteX2" fmla="*/ 9115259 w 9353384"/>
                <a:gd name="connsiteY2" fmla="*/ 333375 h 525779"/>
                <a:gd name="connsiteX3" fmla="*/ 9353384 w 9353384"/>
                <a:gd name="connsiteY3" fmla="*/ 525779 h 525779"/>
                <a:gd name="connsiteX4" fmla="*/ 0 w 9353384"/>
                <a:gd name="connsiteY4" fmla="*/ 525779 h 525779"/>
                <a:gd name="connsiteX5" fmla="*/ 217004 w 9353384"/>
                <a:gd name="connsiteY5" fmla="*/ 327660 h 525779"/>
                <a:gd name="connsiteX6" fmla="*/ 655320 w 9353384"/>
                <a:gd name="connsiteY6" fmla="*/ 38100 h 525779"/>
                <a:gd name="connsiteX0" fmla="*/ 655320 w 9353384"/>
                <a:gd name="connsiteY0" fmla="*/ 38100 h 525779"/>
                <a:gd name="connsiteX1" fmla="*/ 8713304 w 9353384"/>
                <a:gd name="connsiteY1" fmla="*/ 0 h 525779"/>
                <a:gd name="connsiteX2" fmla="*/ 9141929 w 9353384"/>
                <a:gd name="connsiteY2" fmla="*/ 339090 h 525779"/>
                <a:gd name="connsiteX3" fmla="*/ 9353384 w 9353384"/>
                <a:gd name="connsiteY3" fmla="*/ 525779 h 525779"/>
                <a:gd name="connsiteX4" fmla="*/ 0 w 9353384"/>
                <a:gd name="connsiteY4" fmla="*/ 525779 h 525779"/>
                <a:gd name="connsiteX5" fmla="*/ 217004 w 9353384"/>
                <a:gd name="connsiteY5" fmla="*/ 327660 h 525779"/>
                <a:gd name="connsiteX6" fmla="*/ 655320 w 9353384"/>
                <a:gd name="connsiteY6" fmla="*/ 38100 h 525779"/>
                <a:gd name="connsiteX0" fmla="*/ 655320 w 9353384"/>
                <a:gd name="connsiteY0" fmla="*/ 38100 h 525779"/>
                <a:gd name="connsiteX1" fmla="*/ 8713304 w 9353384"/>
                <a:gd name="connsiteY1" fmla="*/ 0 h 525779"/>
                <a:gd name="connsiteX2" fmla="*/ 9141929 w 9353384"/>
                <a:gd name="connsiteY2" fmla="*/ 339090 h 525779"/>
                <a:gd name="connsiteX3" fmla="*/ 9353384 w 9353384"/>
                <a:gd name="connsiteY3" fmla="*/ 525779 h 525779"/>
                <a:gd name="connsiteX4" fmla="*/ 0 w 9353384"/>
                <a:gd name="connsiteY4" fmla="*/ 525779 h 525779"/>
                <a:gd name="connsiteX5" fmla="*/ 217004 w 9353384"/>
                <a:gd name="connsiteY5" fmla="*/ 327660 h 525779"/>
                <a:gd name="connsiteX6" fmla="*/ 655320 w 9353384"/>
                <a:gd name="connsiteY6" fmla="*/ 38100 h 525779"/>
                <a:gd name="connsiteX0" fmla="*/ 634936 w 9353384"/>
                <a:gd name="connsiteY0" fmla="*/ 23928 h 525779"/>
                <a:gd name="connsiteX1" fmla="*/ 8713304 w 9353384"/>
                <a:gd name="connsiteY1" fmla="*/ 0 h 525779"/>
                <a:gd name="connsiteX2" fmla="*/ 9141929 w 9353384"/>
                <a:gd name="connsiteY2" fmla="*/ 339090 h 525779"/>
                <a:gd name="connsiteX3" fmla="*/ 9353384 w 9353384"/>
                <a:gd name="connsiteY3" fmla="*/ 525779 h 525779"/>
                <a:gd name="connsiteX4" fmla="*/ 0 w 9353384"/>
                <a:gd name="connsiteY4" fmla="*/ 525779 h 525779"/>
                <a:gd name="connsiteX5" fmla="*/ 217004 w 9353384"/>
                <a:gd name="connsiteY5" fmla="*/ 327660 h 525779"/>
                <a:gd name="connsiteX6" fmla="*/ 634936 w 9353384"/>
                <a:gd name="connsiteY6" fmla="*/ 23928 h 525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53384" h="525779">
                  <a:moveTo>
                    <a:pt x="634936" y="23928"/>
                  </a:moveTo>
                  <a:lnTo>
                    <a:pt x="8713304" y="0"/>
                  </a:lnTo>
                  <a:lnTo>
                    <a:pt x="9141929" y="339090"/>
                  </a:lnTo>
                  <a:cubicBezTo>
                    <a:pt x="9293059" y="344170"/>
                    <a:pt x="9337509" y="433069"/>
                    <a:pt x="9353384" y="525779"/>
                  </a:cubicBezTo>
                  <a:lnTo>
                    <a:pt x="0" y="525779"/>
                  </a:lnTo>
                  <a:cubicBezTo>
                    <a:pt x="13280" y="451484"/>
                    <a:pt x="77994" y="327660"/>
                    <a:pt x="217004" y="327660"/>
                  </a:cubicBezTo>
                  <a:lnTo>
                    <a:pt x="634936" y="23928"/>
                  </a:lnTo>
                  <a:close/>
                </a:path>
              </a:pathLst>
            </a:custGeom>
            <a:solidFill>
              <a:schemeClr val="accent6">
                <a:lumMod val="40000"/>
                <a:lumOff val="60000"/>
              </a:schemeClr>
            </a:solidFill>
            <a:ln>
              <a:noFill/>
            </a:ln>
            <a:effectLst/>
          </p:spPr>
          <p:txBody>
            <a:bodyPr anchor="t"/>
            <a:lstStyle/>
            <a:p>
              <a:pPr marL="0" marR="0" lvl="0" indent="0" algn="ctr" defTabSz="914400" eaLnBrk="0" fontAlgn="base" latinLnBrk="0" hangingPunct="0">
                <a:lnSpc>
                  <a:spcPct val="100000"/>
                </a:lnSpc>
                <a:spcBef>
                  <a:spcPct val="0"/>
                </a:spcBef>
                <a:spcAft>
                  <a:spcPct val="0"/>
                </a:spcAft>
                <a:buClr>
                  <a:srgbClr val="000000"/>
                </a:buClr>
                <a:buSzTx/>
                <a:buFont typeface="Wingdings" pitchFamily="2" charset="2"/>
                <a:buNone/>
                <a:tabLst/>
                <a:defRPr/>
              </a:pPr>
              <a:endParaRPr kumimoji="0" lang="en-US" sz="1200" b="1" i="0" u="none" strike="noStrike" kern="0" cap="none" spc="0" normalizeH="0" baseline="0" noProof="0" dirty="0">
                <a:ln>
                  <a:noFill/>
                </a:ln>
                <a:solidFill>
                  <a:srgbClr val="FFFFFF"/>
                </a:solidFill>
                <a:effectLst/>
                <a:uLnTx/>
                <a:uFillTx/>
              </a:endParaRPr>
            </a:p>
          </p:txBody>
        </p:sp>
        <p:sp>
          <p:nvSpPr>
            <p:cNvPr id="32" name="Rounded Rectangle 31"/>
            <p:cNvSpPr/>
            <p:nvPr>
              <p:custDataLst>
                <p:tags r:id="rId2"/>
              </p:custDataLst>
            </p:nvPr>
          </p:nvSpPr>
          <p:spPr bwMode="auto">
            <a:xfrm>
              <a:off x="613540" y="3586360"/>
              <a:ext cx="10698012" cy="2492625"/>
            </a:xfrm>
            <a:prstGeom prst="roundRect">
              <a:avLst>
                <a:gd name="adj" fmla="val 7134"/>
              </a:avLst>
            </a:prstGeom>
            <a:solidFill>
              <a:schemeClr val="accent2"/>
            </a:solidFill>
            <a:ln w="9525" cap="flat" cmpd="sng" algn="ctr">
              <a:solidFill>
                <a:srgbClr val="939393"/>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en-US" sz="1600" b="1" i="0" u="none" strike="noStrike" kern="0" cap="none" spc="0" normalizeH="0" baseline="0" noProof="0" dirty="0">
                  <a:ln>
                    <a:noFill/>
                  </a:ln>
                  <a:solidFill>
                    <a:schemeClr val="bg1"/>
                  </a:solidFill>
                  <a:effectLst/>
                  <a:uLnTx/>
                  <a:uFillTx/>
                </a:rPr>
                <a:t>Mission</a:t>
              </a:r>
            </a:p>
          </p:txBody>
        </p:sp>
        <p:sp>
          <p:nvSpPr>
            <p:cNvPr id="33" name="Round Diagonal Corner Rectangle 32"/>
            <p:cNvSpPr/>
            <p:nvPr>
              <p:custDataLst>
                <p:tags r:id="rId3"/>
              </p:custDataLst>
            </p:nvPr>
          </p:nvSpPr>
          <p:spPr>
            <a:xfrm>
              <a:off x="1165234" y="3860198"/>
              <a:ext cx="9402576" cy="1155893"/>
            </a:xfrm>
            <a:prstGeom prst="round2DiagRect">
              <a:avLst/>
            </a:prstGeom>
            <a:noFill/>
            <a:ln w="25400" cap="flat" cmpd="sng" algn="ctr">
              <a:noFill/>
              <a:prstDash val="solid"/>
            </a:ln>
            <a:effectLst/>
          </p:spPr>
          <p:txBody>
            <a:bodyPr wrap="square" lIns="0" tIns="0" rIns="0" bIns="0" anchor="ctr">
              <a:noAutofit/>
            </a:bodyPr>
            <a:lstStyle/>
            <a:p>
              <a:pPr lvl="0" algn="ctr">
                <a:lnSpc>
                  <a:spcPct val="120000"/>
                </a:lnSpc>
                <a:spcBef>
                  <a:spcPct val="55000"/>
                </a:spcBef>
                <a:buClr>
                  <a:srgbClr val="FFCC00"/>
                </a:buClr>
              </a:pPr>
              <a:r>
                <a:rPr lang="en-US" sz="1600" b="1" dirty="0">
                  <a:solidFill>
                    <a:schemeClr val="bg1"/>
                  </a:solidFill>
                  <a:latin typeface="Arial" charset="0"/>
                  <a:cs typeface="Arial" charset="0"/>
                </a:rPr>
                <a:t>Enable strategic thinking &amp; innovation and drive operational efficiency  to support Client Distribution’s vision to be leading world-class fuels business and convenience retailer:</a:t>
              </a:r>
            </a:p>
          </p:txBody>
        </p:sp>
        <p:sp>
          <p:nvSpPr>
            <p:cNvPr id="35" name="Round Diagonal Corner Rectangle 34"/>
            <p:cNvSpPr/>
            <p:nvPr>
              <p:custDataLst>
                <p:tags r:id="rId4"/>
              </p:custDataLst>
            </p:nvPr>
          </p:nvSpPr>
          <p:spPr>
            <a:xfrm>
              <a:off x="4018764" y="4831450"/>
              <a:ext cx="3695515" cy="1164328"/>
            </a:xfrm>
            <a:prstGeom prst="round2DiagRect">
              <a:avLst/>
            </a:prstGeom>
            <a:solidFill>
              <a:schemeClr val="bg1">
                <a:lumMod val="95000"/>
              </a:schemeClr>
            </a:solidFill>
            <a:ln w="25400" cap="flat" cmpd="sng" algn="ctr">
              <a:noFill/>
              <a:prstDash val="solid"/>
            </a:ln>
            <a:effectLst/>
          </p:spPr>
          <p:txBody>
            <a:bodyPr wrap="square" lIns="0" tIns="0" rIns="0" bIns="0" anchor="ctr">
              <a:noAutofit/>
            </a:bodyPr>
            <a:lstStyle/>
            <a:p>
              <a:pPr algn="ctr">
                <a:defRPr/>
              </a:pPr>
              <a:r>
                <a:rPr lang="en-US" sz="1600" i="1" kern="0" dirty="0">
                  <a:solidFill>
                    <a:schemeClr val="accent2"/>
                  </a:solidFill>
                  <a:cs typeface="Calibri" panose="020F0502020204030204" pitchFamily="34" charset="0"/>
                </a:rPr>
                <a:t>Balance IT demand and supply through </a:t>
              </a:r>
              <a:r>
                <a:rPr lang="en-US" sz="1600" b="1" i="1" kern="0" dirty="0">
                  <a:solidFill>
                    <a:schemeClr val="accent2"/>
                  </a:solidFill>
                  <a:cs typeface="Calibri" panose="020F0502020204030204" pitchFamily="34" charset="0"/>
                </a:rPr>
                <a:t>effective</a:t>
              </a:r>
              <a:r>
                <a:rPr lang="en-US" sz="1600" i="1" kern="0" dirty="0">
                  <a:solidFill>
                    <a:schemeClr val="accent2"/>
                  </a:solidFill>
                  <a:cs typeface="Calibri" panose="020F0502020204030204" pitchFamily="34" charset="0"/>
                </a:rPr>
                <a:t> </a:t>
              </a:r>
              <a:r>
                <a:rPr lang="en-US" sz="1600" b="1" i="1" kern="0" dirty="0">
                  <a:solidFill>
                    <a:schemeClr val="accent2"/>
                  </a:solidFill>
                  <a:cs typeface="Calibri" panose="020F0502020204030204" pitchFamily="34" charset="0"/>
                </a:rPr>
                <a:t>planning, delivery, operations </a:t>
              </a:r>
              <a:r>
                <a:rPr lang="en-US" sz="1600" i="1" kern="0" dirty="0">
                  <a:solidFill>
                    <a:schemeClr val="accent2"/>
                  </a:solidFill>
                  <a:cs typeface="Calibri" panose="020F0502020204030204" pitchFamily="34" charset="0"/>
                </a:rPr>
                <a:t>and governance</a:t>
              </a:r>
            </a:p>
          </p:txBody>
        </p:sp>
        <p:sp>
          <p:nvSpPr>
            <p:cNvPr id="36" name="Round Diagonal Corner Rectangle 35"/>
            <p:cNvSpPr/>
            <p:nvPr>
              <p:custDataLst>
                <p:tags r:id="rId5"/>
              </p:custDataLst>
            </p:nvPr>
          </p:nvSpPr>
          <p:spPr>
            <a:xfrm>
              <a:off x="731368" y="4812094"/>
              <a:ext cx="3149752" cy="1164328"/>
            </a:xfrm>
            <a:prstGeom prst="round2DiagRect">
              <a:avLst/>
            </a:prstGeom>
            <a:solidFill>
              <a:schemeClr val="bg1">
                <a:lumMod val="95000"/>
              </a:schemeClr>
            </a:solidFill>
            <a:ln w="25400" cap="flat" cmpd="sng" algn="ctr">
              <a:noFill/>
              <a:prstDash val="solid"/>
            </a:ln>
            <a:effectLst/>
          </p:spPr>
          <p:txBody>
            <a:bodyPr wrap="square" lIns="0" tIns="0" rIns="0" bIns="0" anchor="ctr">
              <a:noAutofit/>
            </a:bodyPr>
            <a:lstStyle/>
            <a:p>
              <a:pPr lvl="0" algn="ctr">
                <a:defRPr/>
              </a:pPr>
              <a:r>
                <a:rPr lang="en-US" sz="1600" i="1" kern="0" dirty="0">
                  <a:solidFill>
                    <a:srgbClr val="1859A9"/>
                  </a:solidFill>
                  <a:cs typeface="Calibri" panose="020F0502020204030204" pitchFamily="34" charset="0"/>
                </a:rPr>
                <a:t>Deliver and support secure, sustainable, </a:t>
              </a:r>
              <a:r>
                <a:rPr lang="en-US" sz="1600" b="1" i="1" kern="0" dirty="0">
                  <a:solidFill>
                    <a:srgbClr val="1859A9"/>
                  </a:solidFill>
                  <a:cs typeface="Calibri" panose="020F0502020204030204" pitchFamily="34" charset="0"/>
                </a:rPr>
                <a:t>future-ready</a:t>
              </a:r>
              <a:r>
                <a:rPr lang="en-US" sz="1600" i="1" kern="0" dirty="0">
                  <a:solidFill>
                    <a:srgbClr val="1859A9"/>
                  </a:solidFill>
                  <a:cs typeface="Calibri" panose="020F0502020204030204" pitchFamily="34" charset="0"/>
                </a:rPr>
                <a:t> and </a:t>
              </a:r>
              <a:r>
                <a:rPr lang="en-US" sz="1600" b="1" i="1" kern="0" dirty="0">
                  <a:solidFill>
                    <a:srgbClr val="1859A9"/>
                  </a:solidFill>
                  <a:cs typeface="Calibri" panose="020F0502020204030204" pitchFamily="34" charset="0"/>
                </a:rPr>
                <a:t>flexible technology </a:t>
              </a:r>
              <a:r>
                <a:rPr lang="en-US" sz="1600" i="1" kern="0" dirty="0">
                  <a:solidFill>
                    <a:srgbClr val="1859A9"/>
                  </a:solidFill>
                  <a:cs typeface="Calibri" panose="020F0502020204030204" pitchFamily="34" charset="0"/>
                </a:rPr>
                <a:t>solutions</a:t>
              </a:r>
            </a:p>
          </p:txBody>
        </p:sp>
        <p:sp>
          <p:nvSpPr>
            <p:cNvPr id="37" name="Round Diagonal Corner Rectangle 36"/>
            <p:cNvSpPr/>
            <p:nvPr>
              <p:custDataLst>
                <p:tags r:id="rId6"/>
              </p:custDataLst>
            </p:nvPr>
          </p:nvSpPr>
          <p:spPr>
            <a:xfrm>
              <a:off x="7851923" y="4830621"/>
              <a:ext cx="3354064" cy="1164328"/>
            </a:xfrm>
            <a:prstGeom prst="round2DiagRect">
              <a:avLst/>
            </a:prstGeom>
            <a:solidFill>
              <a:schemeClr val="bg1">
                <a:lumMod val="95000"/>
              </a:schemeClr>
            </a:solidFill>
            <a:ln w="25400" cap="flat" cmpd="sng" algn="ctr">
              <a:noFill/>
              <a:prstDash val="solid"/>
            </a:ln>
            <a:effectLst/>
          </p:spPr>
          <p:txBody>
            <a:bodyPr wrap="square" lIns="0" tIns="0" rIns="0" bIns="0" anchor="ctr">
              <a:noAutofit/>
            </a:bodyPr>
            <a:lstStyle/>
            <a:p>
              <a:pPr algn="ctr">
                <a:defRPr/>
              </a:pPr>
              <a:r>
                <a:rPr lang="en-US" sz="1600" i="1" kern="0" dirty="0">
                  <a:solidFill>
                    <a:schemeClr val="accent2"/>
                  </a:solidFill>
                  <a:cs typeface="Calibri" panose="020F0502020204030204" pitchFamily="34" charset="0"/>
                </a:rPr>
                <a:t>Elevate readiness of IT staff for future challenges through </a:t>
              </a:r>
              <a:r>
                <a:rPr lang="en-US" sz="1600" b="1" i="1" kern="0" dirty="0">
                  <a:solidFill>
                    <a:schemeClr val="accent2"/>
                  </a:solidFill>
                  <a:cs typeface="Calibri" panose="020F0502020204030204" pitchFamily="34" charset="0"/>
                </a:rPr>
                <a:t>talent development </a:t>
              </a:r>
              <a:r>
                <a:rPr lang="en-US" sz="1600" i="1" kern="0" dirty="0" err="1">
                  <a:solidFill>
                    <a:schemeClr val="accent2"/>
                  </a:solidFill>
                  <a:cs typeface="Calibri" panose="020F0502020204030204" pitchFamily="34" charset="0"/>
                </a:rPr>
                <a:t>progra</a:t>
              </a:r>
              <a:r>
                <a:rPr lang="en-US" sz="1600" i="1" kern="0" dirty="0">
                  <a:solidFill>
                    <a:schemeClr val="accent2"/>
                  </a:solidFill>
                  <a:cs typeface="Calibri" panose="020F0502020204030204" pitchFamily="34" charset="0"/>
                </a:rPr>
                <a:t>[NAME]</a:t>
              </a:r>
            </a:p>
          </p:txBody>
        </p:sp>
        <p:sp>
          <p:nvSpPr>
            <p:cNvPr id="27" name="Rectangle 26"/>
            <p:cNvSpPr/>
            <p:nvPr/>
          </p:nvSpPr>
          <p:spPr>
            <a:xfrm>
              <a:off x="613539" y="3402520"/>
              <a:ext cx="10698013" cy="568914"/>
            </a:xfrm>
            <a:prstGeom prst="rect">
              <a:avLst/>
            </a:prstGeom>
            <a:solidFill>
              <a:schemeClr val="bg1"/>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tx2"/>
                  </a:solidFill>
                </a:rPr>
                <a:t>Mission</a:t>
              </a:r>
            </a:p>
          </p:txBody>
        </p:sp>
      </p:grpSp>
    </p:spTree>
    <p:extLst>
      <p:ext uri="{BB962C8B-B14F-4D97-AF65-F5344CB8AC3E}">
        <p14:creationId xmlns:p14="http://schemas.microsoft.com/office/powerpoint/2010/main" val="2101186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What does this vision and mission mean to us?</a:t>
            </a:r>
            <a:endParaRPr lang="en-GB" sz="3200" dirty="0"/>
          </a:p>
        </p:txBody>
      </p:sp>
      <p:grpSp>
        <p:nvGrpSpPr>
          <p:cNvPr id="3" name="Group 2"/>
          <p:cNvGrpSpPr/>
          <p:nvPr/>
        </p:nvGrpSpPr>
        <p:grpSpPr>
          <a:xfrm>
            <a:off x="609198" y="1417988"/>
            <a:ext cx="10896037" cy="4971237"/>
            <a:chOff x="829117" y="1325390"/>
            <a:chExt cx="7748827" cy="4731027"/>
          </a:xfrm>
        </p:grpSpPr>
        <p:sp>
          <p:nvSpPr>
            <p:cNvPr id="39" name="Rectangle 38"/>
            <p:cNvSpPr/>
            <p:nvPr/>
          </p:nvSpPr>
          <p:spPr bwMode="auto">
            <a:xfrm>
              <a:off x="829117" y="3450056"/>
              <a:ext cx="406604" cy="2606361"/>
            </a:xfrm>
            <a:prstGeom prst="rect">
              <a:avLst/>
            </a:prstGeom>
            <a:solidFill>
              <a:schemeClr val="accent2"/>
            </a:solidFill>
            <a:ln w="9525" cap="flat" cmpd="sng" algn="ctr">
              <a:solidFill>
                <a:schemeClr val="accent2"/>
              </a:solidFill>
              <a:prstDash val="solid"/>
              <a:round/>
              <a:headEnd type="none" w="med" len="med"/>
              <a:tailEnd type="none" w="med" len="med"/>
            </a:ln>
            <a:effectLst/>
          </p:spPr>
          <p:txBody>
            <a:bodyPr rot="0" spcFirstLastPara="0" vertOverflow="overflow" horzOverflow="overflow" vert="vert270" wrap="square" lIns="36000" tIns="36000" rIns="36000" bIns="36000" numCol="1" spcCol="0" rtlCol="0" fromWordArt="0" anchor="ctr" anchorCtr="0" forceAA="0" compatLnSpc="1">
              <a:prstTxWarp prst="textNoShape">
                <a:avLst/>
              </a:prstTxWarp>
              <a:noAutofit/>
            </a:bodyPr>
            <a:lstStyle/>
            <a:p>
              <a:pPr algn="ctr" defTabSz="995363"/>
              <a:r>
                <a:rPr lang="en-US" sz="1600" b="1" dirty="0">
                  <a:solidFill>
                    <a:schemeClr val="bg1"/>
                  </a:solidFill>
                  <a:latin typeface="Calibri"/>
                </a:rPr>
                <a:t>Mission</a:t>
              </a:r>
              <a:endParaRPr lang="en-IN" sz="1600" b="1" dirty="0">
                <a:solidFill>
                  <a:schemeClr val="bg1"/>
                </a:solidFill>
                <a:latin typeface="Calibri"/>
              </a:endParaRPr>
            </a:p>
          </p:txBody>
        </p:sp>
        <p:sp>
          <p:nvSpPr>
            <p:cNvPr id="40" name="Rectangle 39"/>
            <p:cNvSpPr/>
            <p:nvPr/>
          </p:nvSpPr>
          <p:spPr bwMode="auto">
            <a:xfrm>
              <a:off x="829117" y="1655733"/>
              <a:ext cx="406604" cy="1716859"/>
            </a:xfrm>
            <a:prstGeom prst="rect">
              <a:avLst/>
            </a:prstGeom>
            <a:solidFill>
              <a:schemeClr val="accent2"/>
            </a:solidFill>
            <a:ln w="9525" cap="flat" cmpd="sng" algn="ctr">
              <a:solidFill>
                <a:schemeClr val="accent2"/>
              </a:solidFill>
              <a:prstDash val="solid"/>
              <a:round/>
              <a:headEnd type="none" w="med" len="med"/>
              <a:tailEnd type="none" w="med" len="med"/>
            </a:ln>
            <a:effectLst/>
          </p:spPr>
          <p:txBody>
            <a:bodyPr rot="0" spcFirstLastPara="0" vertOverflow="overflow" horzOverflow="overflow" vert="vert270" wrap="square" lIns="36000" tIns="36000" rIns="36000" bIns="36000" numCol="1" spcCol="0" rtlCol="0" fromWordArt="0" anchor="ctr" anchorCtr="0" forceAA="0" compatLnSpc="1">
              <a:prstTxWarp prst="textNoShape">
                <a:avLst/>
              </a:prstTxWarp>
              <a:noAutofit/>
            </a:bodyPr>
            <a:lstStyle/>
            <a:p>
              <a:pPr algn="ctr" defTabSz="995363"/>
              <a:r>
                <a:rPr lang="en-US" sz="1600" b="1" dirty="0">
                  <a:solidFill>
                    <a:schemeClr val="bg1"/>
                  </a:solidFill>
                  <a:latin typeface="Calibri"/>
                </a:rPr>
                <a:t>Vision</a:t>
              </a:r>
              <a:endParaRPr lang="en-IN" sz="1600" b="1" dirty="0">
                <a:solidFill>
                  <a:schemeClr val="bg1"/>
                </a:solidFill>
                <a:latin typeface="Calibri"/>
              </a:endParaRPr>
            </a:p>
          </p:txBody>
        </p:sp>
        <p:sp>
          <p:nvSpPr>
            <p:cNvPr id="41" name="Rectangle 40"/>
            <p:cNvSpPr/>
            <p:nvPr/>
          </p:nvSpPr>
          <p:spPr bwMode="auto">
            <a:xfrm>
              <a:off x="1517777" y="3450056"/>
              <a:ext cx="2439626" cy="2606361"/>
            </a:xfrm>
            <a:prstGeom prst="rect">
              <a:avLst/>
            </a:prstGeom>
            <a:solidFill>
              <a:srgbClr val="FFFFFF"/>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95363"/>
              <a:r>
                <a:rPr lang="en-US" sz="1600" dirty="0">
                  <a:solidFill>
                    <a:schemeClr val="accent2"/>
                  </a:solidFill>
                </a:rPr>
                <a:t>Enable strategic thinking &amp; innovation and drive operational efficiency  to support Client Distribution’s vision to be leading world-class fuels business and convenience retailer:</a:t>
              </a:r>
            </a:p>
          </p:txBody>
        </p:sp>
        <p:sp>
          <p:nvSpPr>
            <p:cNvPr id="42" name="Rectangle 41"/>
            <p:cNvSpPr/>
            <p:nvPr/>
          </p:nvSpPr>
          <p:spPr bwMode="auto">
            <a:xfrm>
              <a:off x="1517776" y="1655733"/>
              <a:ext cx="2439626" cy="1716859"/>
            </a:xfrm>
            <a:prstGeom prst="rect">
              <a:avLst/>
            </a:prstGeom>
            <a:solidFill>
              <a:srgbClr val="FFFFFF"/>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indent="-225425" algn="ctr" defTabSz="995363">
                <a:spcBef>
                  <a:spcPts val="600"/>
                </a:spcBef>
              </a:pPr>
              <a:r>
                <a:rPr lang="en-US" sz="1600" b="1" dirty="0">
                  <a:solidFill>
                    <a:schemeClr val="accent2"/>
                  </a:solidFill>
                </a:rPr>
                <a:t>Innovate. Iterate. Integrate</a:t>
              </a:r>
            </a:p>
          </p:txBody>
        </p:sp>
        <p:sp>
          <p:nvSpPr>
            <p:cNvPr id="43" name="Rectangle 42"/>
            <p:cNvSpPr/>
            <p:nvPr/>
          </p:nvSpPr>
          <p:spPr bwMode="auto">
            <a:xfrm>
              <a:off x="4239458" y="3450056"/>
              <a:ext cx="4338486" cy="2606361"/>
            </a:xfrm>
            <a:prstGeom prst="rect">
              <a:avLst/>
            </a:prstGeom>
            <a:solidFill>
              <a:srgbClr val="FFFFFF"/>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defTabSz="995363">
                <a:spcAft>
                  <a:spcPts val="600"/>
                </a:spcAft>
                <a:buFont typeface="EYInterstate" pitchFamily="2" charset="0"/>
                <a:buChar char="•"/>
              </a:pPr>
              <a:r>
                <a:rPr lang="en-US" sz="1400" dirty="0">
                  <a:solidFill>
                    <a:schemeClr val="accent2"/>
                  </a:solidFill>
                  <a:latin typeface="Calibri"/>
                </a:rPr>
                <a:t>We will promote growth, innovation, and long term profitability</a:t>
              </a:r>
            </a:p>
            <a:p>
              <a:pPr marL="171450" indent="-171450" defTabSz="995363">
                <a:spcAft>
                  <a:spcPts val="600"/>
                </a:spcAft>
                <a:buFont typeface="EYInterstate" pitchFamily="2" charset="0"/>
                <a:buChar char="•"/>
              </a:pPr>
              <a:endParaRPr lang="en-US" sz="200" dirty="0">
                <a:solidFill>
                  <a:schemeClr val="accent2"/>
                </a:solidFill>
                <a:latin typeface="Calibri"/>
              </a:endParaRPr>
            </a:p>
            <a:p>
              <a:pPr marL="171450" indent="-171450" defTabSz="995363">
                <a:spcAft>
                  <a:spcPts val="600"/>
                </a:spcAft>
                <a:buFont typeface="EYInterstate" pitchFamily="2" charset="0"/>
                <a:buChar char="•"/>
              </a:pPr>
              <a:r>
                <a:rPr lang="en-US" sz="1400" dirty="0">
                  <a:solidFill>
                    <a:schemeClr val="accent2"/>
                  </a:solidFill>
                  <a:latin typeface="Calibri"/>
                </a:rPr>
                <a:t>Our emphasis will always be on serving the real needs of our Customers divisions by providing innovative technology solutions</a:t>
              </a:r>
            </a:p>
            <a:p>
              <a:pPr marL="171450" indent="-171450" defTabSz="995363">
                <a:spcAft>
                  <a:spcPts val="600"/>
                </a:spcAft>
                <a:buFont typeface="EYInterstate" pitchFamily="2" charset="0"/>
                <a:buChar char="•"/>
              </a:pPr>
              <a:endParaRPr lang="en-IN" sz="200" dirty="0">
                <a:solidFill>
                  <a:schemeClr val="accent2"/>
                </a:solidFill>
                <a:latin typeface="Calibri"/>
              </a:endParaRPr>
            </a:p>
            <a:p>
              <a:pPr marL="171450" indent="-171450" defTabSz="995363">
                <a:spcAft>
                  <a:spcPts val="600"/>
                </a:spcAft>
                <a:buFont typeface="EYInterstate" pitchFamily="2" charset="0"/>
                <a:buChar char="•"/>
              </a:pPr>
              <a:r>
                <a:rPr lang="en-IN" sz="1400" dirty="0">
                  <a:solidFill>
                    <a:schemeClr val="accent2"/>
                  </a:solidFill>
                  <a:latin typeface="Calibri"/>
                </a:rPr>
                <a:t>Our customers will be our top priority. Our focus will be reflected in the choices we make with regards to our people, processes and technology orientation</a:t>
              </a:r>
            </a:p>
            <a:p>
              <a:pPr marL="171450" indent="-171450" defTabSz="995363">
                <a:spcAft>
                  <a:spcPts val="600"/>
                </a:spcAft>
                <a:buFont typeface="EYInterstate" pitchFamily="2" charset="0"/>
                <a:buChar char="•"/>
              </a:pPr>
              <a:endParaRPr lang="en-IN" sz="200" dirty="0">
                <a:solidFill>
                  <a:schemeClr val="accent2"/>
                </a:solidFill>
                <a:latin typeface="Calibri"/>
              </a:endParaRPr>
            </a:p>
            <a:p>
              <a:pPr marL="171450" indent="-171450" defTabSz="995363">
                <a:spcAft>
                  <a:spcPts val="600"/>
                </a:spcAft>
                <a:buFont typeface="EYInterstate" pitchFamily="2" charset="0"/>
                <a:buChar char="•"/>
              </a:pPr>
              <a:r>
                <a:rPr lang="en-IN" sz="1400" dirty="0">
                  <a:solidFill>
                    <a:schemeClr val="accent2"/>
                  </a:solidFill>
                  <a:latin typeface="Calibri"/>
                </a:rPr>
                <a:t>We will build the capacity and capabilities to serve the Client Distribution’s current and future demands</a:t>
              </a:r>
            </a:p>
          </p:txBody>
        </p:sp>
        <p:sp>
          <p:nvSpPr>
            <p:cNvPr id="44" name="Rectangle 43"/>
            <p:cNvSpPr/>
            <p:nvPr/>
          </p:nvSpPr>
          <p:spPr bwMode="auto">
            <a:xfrm>
              <a:off x="4239458" y="1655733"/>
              <a:ext cx="4338486" cy="1716859"/>
            </a:xfrm>
            <a:prstGeom prst="rect">
              <a:avLst/>
            </a:prstGeom>
            <a:solidFill>
              <a:srgbClr val="FFFFFF"/>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defTabSz="995363">
                <a:spcAft>
                  <a:spcPts val="600"/>
                </a:spcAft>
                <a:buFont typeface="EYInterstate" pitchFamily="2" charset="0"/>
                <a:buChar char="•"/>
              </a:pPr>
              <a:r>
                <a:rPr lang="en-US" sz="1400" dirty="0">
                  <a:solidFill>
                    <a:schemeClr val="accent2"/>
                  </a:solidFill>
                  <a:latin typeface="Calibri"/>
                </a:rPr>
                <a:t>We will innovate on each and every line of business</a:t>
              </a:r>
            </a:p>
            <a:p>
              <a:pPr marL="171450" indent="-171450" defTabSz="995363">
                <a:spcAft>
                  <a:spcPts val="600"/>
                </a:spcAft>
                <a:buFont typeface="EYInterstate" pitchFamily="2" charset="0"/>
                <a:buChar char="•"/>
              </a:pPr>
              <a:r>
                <a:rPr lang="en-US" sz="1400" dirty="0">
                  <a:solidFill>
                    <a:schemeClr val="accent2"/>
                  </a:solidFill>
                  <a:latin typeface="Calibri"/>
                </a:rPr>
                <a:t>We will not be afraid to fail and iterate to make customer our top priority</a:t>
              </a:r>
            </a:p>
            <a:p>
              <a:pPr marL="171450" indent="-171450" defTabSz="995363">
                <a:spcAft>
                  <a:spcPts val="600"/>
                </a:spcAft>
                <a:buFont typeface="EYInterstate" pitchFamily="2" charset="0"/>
                <a:buChar char="•"/>
              </a:pPr>
              <a:r>
                <a:rPr lang="en-US" sz="1400" dirty="0">
                  <a:solidFill>
                    <a:schemeClr val="accent2"/>
                  </a:solidFill>
                  <a:latin typeface="Calibri"/>
                </a:rPr>
                <a:t>We will break silos and work closely to integrate technology to be part of daily routine of business</a:t>
              </a:r>
            </a:p>
          </p:txBody>
        </p:sp>
        <p:sp>
          <p:nvSpPr>
            <p:cNvPr id="45" name="TextBox 44"/>
            <p:cNvSpPr txBox="1"/>
            <p:nvPr/>
          </p:nvSpPr>
          <p:spPr>
            <a:xfrm>
              <a:off x="4239458" y="1325390"/>
              <a:ext cx="4338486" cy="292905"/>
            </a:xfrm>
            <a:prstGeom prst="rect">
              <a:avLst/>
            </a:prstGeom>
            <a:noFill/>
          </p:spPr>
          <p:txBody>
            <a:bodyPr wrap="square" lIns="0" rtlCol="0">
              <a:spAutoFit/>
            </a:bodyPr>
            <a:lstStyle/>
            <a:p>
              <a:pPr algn="ctr" defTabSz="457200"/>
              <a:r>
                <a:rPr lang="en-US" sz="1400" b="1" dirty="0">
                  <a:solidFill>
                    <a:schemeClr val="accent2"/>
                  </a:solidFill>
                  <a:latin typeface="Calibri"/>
                </a:rPr>
                <a:t>Description</a:t>
              </a:r>
              <a:endParaRPr lang="en-IN" sz="1400" b="1" dirty="0">
                <a:solidFill>
                  <a:schemeClr val="accent2"/>
                </a:solidFill>
                <a:latin typeface="Calibri"/>
              </a:endParaRPr>
            </a:p>
          </p:txBody>
        </p:sp>
      </p:grpSp>
      <p:grpSp>
        <p:nvGrpSpPr>
          <p:cNvPr id="2" name="Group 1">
            <a:extLst>
              <a:ext uri="{FF2B5EF4-FFF2-40B4-BE49-F238E27FC236}">
                <a16:creationId xmlns:a16="http://schemas.microsoft.com/office/drawing/2014/main" id="{08F8358B-C199-49DA-A70F-BDDCAD0A899C}"/>
              </a:ext>
            </a:extLst>
          </p:cNvPr>
          <p:cNvGrpSpPr/>
          <p:nvPr/>
        </p:nvGrpSpPr>
        <p:grpSpPr>
          <a:xfrm>
            <a:off x="1698284" y="2982128"/>
            <a:ext cx="3189036" cy="313965"/>
            <a:chOff x="1180945" y="2982128"/>
            <a:chExt cx="5133009" cy="321044"/>
          </a:xfrm>
        </p:grpSpPr>
        <p:sp>
          <p:nvSpPr>
            <p:cNvPr id="13" name="Freeform 13">
              <a:extLst>
                <a:ext uri="{FF2B5EF4-FFF2-40B4-BE49-F238E27FC236}">
                  <a16:creationId xmlns:a16="http://schemas.microsoft.com/office/drawing/2014/main" id="{0CEBE1B8-620D-4F84-9FC4-797168DEE7DA}"/>
                </a:ext>
              </a:extLst>
            </p:cNvPr>
            <p:cNvSpPr>
              <a:spLocks/>
            </p:cNvSpPr>
            <p:nvPr/>
          </p:nvSpPr>
          <p:spPr bwMode="auto">
            <a:xfrm>
              <a:off x="3148187" y="2982128"/>
              <a:ext cx="1194396" cy="321044"/>
            </a:xfrm>
            <a:custGeom>
              <a:avLst/>
              <a:gdLst/>
              <a:ahLst/>
              <a:cxnLst>
                <a:cxn ang="0">
                  <a:pos x="51" y="208"/>
                </a:cxn>
                <a:cxn ang="0">
                  <a:pos x="467" y="208"/>
                </a:cxn>
                <a:cxn ang="0">
                  <a:pos x="346" y="40"/>
                </a:cxn>
                <a:cxn ang="0">
                  <a:pos x="511" y="40"/>
                </a:cxn>
                <a:cxn ang="0">
                  <a:pos x="268" y="0"/>
                </a:cxn>
                <a:cxn ang="0">
                  <a:pos x="0" y="40"/>
                </a:cxn>
                <a:cxn ang="0">
                  <a:pos x="164" y="40"/>
                </a:cxn>
                <a:cxn ang="0">
                  <a:pos x="51" y="208"/>
                </a:cxn>
              </a:cxnLst>
              <a:rect l="0" t="0" r="r" b="b"/>
              <a:pathLst>
                <a:path w="512" h="209">
                  <a:moveTo>
                    <a:pt x="51" y="208"/>
                  </a:moveTo>
                  <a:lnTo>
                    <a:pt x="467" y="208"/>
                  </a:lnTo>
                  <a:lnTo>
                    <a:pt x="346" y="40"/>
                  </a:lnTo>
                  <a:lnTo>
                    <a:pt x="511" y="40"/>
                  </a:lnTo>
                  <a:lnTo>
                    <a:pt x="268" y="0"/>
                  </a:lnTo>
                  <a:lnTo>
                    <a:pt x="0" y="40"/>
                  </a:lnTo>
                  <a:lnTo>
                    <a:pt x="164" y="40"/>
                  </a:lnTo>
                  <a:lnTo>
                    <a:pt x="51" y="208"/>
                  </a:lnTo>
                </a:path>
              </a:pathLst>
            </a:custGeom>
            <a:solidFill>
              <a:schemeClr val="bg1"/>
            </a:solidFill>
            <a:ln w="6350" cap="rnd">
              <a:solidFill>
                <a:srgbClr val="0070C0"/>
              </a:solidFill>
              <a:round/>
              <a:headEnd/>
              <a:tailEnd/>
            </a:ln>
            <a:effectLst/>
          </p:spPr>
          <p:txBody>
            <a:bodyPr lIns="45720" rIns="45720" anchor="ctr" anchorCtr="1"/>
            <a:lstStyle/>
            <a:p>
              <a:pPr algn="ctr" eaLnBrk="0" hangingPunct="0">
                <a:defRPr/>
              </a:pPr>
              <a:endParaRPr lang="en-US" sz="1200" i="1" dirty="0">
                <a:solidFill>
                  <a:srgbClr val="000000"/>
                </a:solidFill>
                <a:latin typeface="Arial" charset="0"/>
                <a:cs typeface="Arial"/>
              </a:endParaRPr>
            </a:p>
          </p:txBody>
        </p:sp>
        <p:sp>
          <p:nvSpPr>
            <p:cNvPr id="14" name="Freeform 14">
              <a:extLst>
                <a:ext uri="{FF2B5EF4-FFF2-40B4-BE49-F238E27FC236}">
                  <a16:creationId xmlns:a16="http://schemas.microsoft.com/office/drawing/2014/main" id="{B3CC5480-9AD4-467A-8BE6-CFD378E7A30F}"/>
                </a:ext>
              </a:extLst>
            </p:cNvPr>
            <p:cNvSpPr>
              <a:spLocks/>
            </p:cNvSpPr>
            <p:nvPr/>
          </p:nvSpPr>
          <p:spPr bwMode="auto">
            <a:xfrm>
              <a:off x="1180945" y="2989340"/>
              <a:ext cx="1954842" cy="306615"/>
            </a:xfrm>
            <a:custGeom>
              <a:avLst/>
              <a:gdLst/>
              <a:ahLst/>
              <a:cxnLst>
                <a:cxn ang="0">
                  <a:pos x="311" y="200"/>
                </a:cxn>
                <a:cxn ang="0">
                  <a:pos x="0" y="168"/>
                </a:cxn>
                <a:cxn ang="0">
                  <a:pos x="398" y="40"/>
                </a:cxn>
                <a:cxn ang="0">
                  <a:pos x="207" y="40"/>
                </a:cxn>
                <a:cxn ang="0">
                  <a:pos x="623" y="0"/>
                </a:cxn>
                <a:cxn ang="0">
                  <a:pos x="839" y="40"/>
                </a:cxn>
                <a:cxn ang="0">
                  <a:pos x="649" y="40"/>
                </a:cxn>
                <a:cxn ang="0">
                  <a:pos x="311" y="200"/>
                </a:cxn>
              </a:cxnLst>
              <a:rect l="0" t="0" r="r" b="b"/>
              <a:pathLst>
                <a:path w="840" h="201">
                  <a:moveTo>
                    <a:pt x="311" y="200"/>
                  </a:moveTo>
                  <a:lnTo>
                    <a:pt x="0" y="168"/>
                  </a:lnTo>
                  <a:lnTo>
                    <a:pt x="398" y="40"/>
                  </a:lnTo>
                  <a:lnTo>
                    <a:pt x="207" y="40"/>
                  </a:lnTo>
                  <a:lnTo>
                    <a:pt x="623" y="0"/>
                  </a:lnTo>
                  <a:lnTo>
                    <a:pt x="839" y="40"/>
                  </a:lnTo>
                  <a:lnTo>
                    <a:pt x="649" y="40"/>
                  </a:lnTo>
                  <a:lnTo>
                    <a:pt x="311" y="200"/>
                  </a:lnTo>
                </a:path>
              </a:pathLst>
            </a:custGeom>
            <a:solidFill>
              <a:schemeClr val="bg1"/>
            </a:solidFill>
            <a:ln w="6350" cap="rnd">
              <a:solidFill>
                <a:srgbClr val="0070C0"/>
              </a:solidFill>
              <a:round/>
              <a:headEnd/>
              <a:tailEnd/>
            </a:ln>
            <a:effectLst/>
          </p:spPr>
          <p:txBody>
            <a:bodyPr lIns="45720" rIns="45720" anchor="ctr" anchorCtr="1"/>
            <a:lstStyle/>
            <a:p>
              <a:pPr algn="ctr" eaLnBrk="0" hangingPunct="0">
                <a:defRPr/>
              </a:pPr>
              <a:endParaRPr lang="en-US" sz="1200" i="1" dirty="0">
                <a:solidFill>
                  <a:srgbClr val="000000"/>
                </a:solidFill>
                <a:latin typeface="Arial" charset="0"/>
                <a:cs typeface="Arial"/>
              </a:endParaRPr>
            </a:p>
          </p:txBody>
        </p:sp>
        <p:sp>
          <p:nvSpPr>
            <p:cNvPr id="15" name="Freeform 15">
              <a:extLst>
                <a:ext uri="{FF2B5EF4-FFF2-40B4-BE49-F238E27FC236}">
                  <a16:creationId xmlns:a16="http://schemas.microsoft.com/office/drawing/2014/main" id="{7CE75BE4-4953-4BC5-A095-ECBDF1C27EB3}"/>
                </a:ext>
              </a:extLst>
            </p:cNvPr>
            <p:cNvSpPr>
              <a:spLocks/>
            </p:cNvSpPr>
            <p:nvPr/>
          </p:nvSpPr>
          <p:spPr bwMode="auto">
            <a:xfrm>
              <a:off x="4354979" y="2989340"/>
              <a:ext cx="1958975" cy="306615"/>
            </a:xfrm>
            <a:custGeom>
              <a:avLst/>
              <a:gdLst/>
              <a:ahLst/>
              <a:cxnLst>
                <a:cxn ang="0">
                  <a:pos x="527" y="200"/>
                </a:cxn>
                <a:cxn ang="0">
                  <a:pos x="839" y="168"/>
                </a:cxn>
                <a:cxn ang="0">
                  <a:pos x="440" y="40"/>
                </a:cxn>
                <a:cxn ang="0">
                  <a:pos x="622" y="40"/>
                </a:cxn>
                <a:cxn ang="0">
                  <a:pos x="215" y="0"/>
                </a:cxn>
                <a:cxn ang="0">
                  <a:pos x="0" y="40"/>
                </a:cxn>
                <a:cxn ang="0">
                  <a:pos x="189" y="40"/>
                </a:cxn>
                <a:cxn ang="0">
                  <a:pos x="527" y="200"/>
                </a:cxn>
              </a:cxnLst>
              <a:rect l="0" t="0" r="r" b="b"/>
              <a:pathLst>
                <a:path w="840" h="201">
                  <a:moveTo>
                    <a:pt x="527" y="200"/>
                  </a:moveTo>
                  <a:lnTo>
                    <a:pt x="839" y="168"/>
                  </a:lnTo>
                  <a:lnTo>
                    <a:pt x="440" y="40"/>
                  </a:lnTo>
                  <a:lnTo>
                    <a:pt x="622" y="40"/>
                  </a:lnTo>
                  <a:lnTo>
                    <a:pt x="215" y="0"/>
                  </a:lnTo>
                  <a:lnTo>
                    <a:pt x="0" y="40"/>
                  </a:lnTo>
                  <a:lnTo>
                    <a:pt x="189" y="40"/>
                  </a:lnTo>
                  <a:lnTo>
                    <a:pt x="527" y="200"/>
                  </a:lnTo>
                </a:path>
              </a:pathLst>
            </a:custGeom>
            <a:solidFill>
              <a:schemeClr val="bg1"/>
            </a:solidFill>
            <a:ln w="6350" cap="rnd">
              <a:solidFill>
                <a:srgbClr val="0070C0"/>
              </a:solidFill>
              <a:round/>
              <a:headEnd/>
              <a:tailEnd/>
            </a:ln>
            <a:effectLst/>
          </p:spPr>
          <p:txBody>
            <a:bodyPr lIns="45720" rIns="45720" anchor="ctr" anchorCtr="1"/>
            <a:lstStyle/>
            <a:p>
              <a:pPr algn="ctr" eaLnBrk="0" hangingPunct="0">
                <a:defRPr/>
              </a:pPr>
              <a:endParaRPr lang="en-US" sz="1200" i="1" dirty="0">
                <a:solidFill>
                  <a:srgbClr val="000000"/>
                </a:solidFill>
                <a:latin typeface="Arial" charset="0"/>
                <a:cs typeface="Arial"/>
              </a:endParaRPr>
            </a:p>
          </p:txBody>
        </p:sp>
      </p:grpSp>
    </p:spTree>
    <p:extLst>
      <p:ext uri="{BB962C8B-B14F-4D97-AF65-F5344CB8AC3E}">
        <p14:creationId xmlns:p14="http://schemas.microsoft.com/office/powerpoint/2010/main" val="1527272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478949" y="346931"/>
            <a:ext cx="10246202"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Business and technology alignment</a:t>
            </a:r>
            <a:endParaRPr lang="en-GB" sz="3200" dirty="0"/>
          </a:p>
        </p:txBody>
      </p:sp>
      <p:grpSp>
        <p:nvGrpSpPr>
          <p:cNvPr id="54" name="Group 53"/>
          <p:cNvGrpSpPr/>
          <p:nvPr/>
        </p:nvGrpSpPr>
        <p:grpSpPr>
          <a:xfrm>
            <a:off x="652792" y="1990781"/>
            <a:ext cx="10817719" cy="1075885"/>
            <a:chOff x="729191" y="1929295"/>
            <a:chExt cx="7783286" cy="1204181"/>
          </a:xfrm>
        </p:grpSpPr>
        <p:sp>
          <p:nvSpPr>
            <p:cNvPr id="55" name="Rectangle 54"/>
            <p:cNvSpPr/>
            <p:nvPr/>
          </p:nvSpPr>
          <p:spPr bwMode="auto">
            <a:xfrm>
              <a:off x="729191" y="1929295"/>
              <a:ext cx="2854662" cy="1204181"/>
            </a:xfrm>
            <a:prstGeom prst="rect">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algn="ctr" defTabSz="995012"/>
              <a:r>
                <a:rPr lang="en-US" sz="1600" b="1" dirty="0">
                  <a:solidFill>
                    <a:srgbClr val="FFFFFF"/>
                  </a:solidFill>
                  <a:latin typeface="Calibri"/>
                </a:rPr>
                <a:t>Profitable growth</a:t>
              </a:r>
            </a:p>
          </p:txBody>
        </p:sp>
        <p:sp>
          <p:nvSpPr>
            <p:cNvPr id="56" name="Rectangle 55"/>
            <p:cNvSpPr/>
            <p:nvPr/>
          </p:nvSpPr>
          <p:spPr bwMode="auto">
            <a:xfrm>
              <a:off x="3750170" y="1929295"/>
              <a:ext cx="4762307" cy="1204181"/>
            </a:xfrm>
            <a:prstGeom prst="rect">
              <a:avLst/>
            </a:prstGeom>
            <a:solidFill>
              <a:srgbClr val="FFFFFF"/>
            </a:solidFill>
            <a:ln w="9525"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marL="171390" indent="-171390" defTabSz="995012">
                <a:spcAft>
                  <a:spcPts val="1200"/>
                </a:spcAft>
                <a:buFont typeface="EYInterstate" pitchFamily="2" charset="0"/>
                <a:buChar char="•"/>
              </a:pPr>
              <a:endParaRPr lang="en-US" sz="1200" dirty="0">
                <a:solidFill>
                  <a:schemeClr val="accent1"/>
                </a:solidFill>
                <a:latin typeface="Calibri"/>
              </a:endParaRPr>
            </a:p>
            <a:p>
              <a:pPr marL="171390" indent="-171390" defTabSz="995012">
                <a:spcAft>
                  <a:spcPts val="1200"/>
                </a:spcAft>
                <a:buFont typeface="EYInterstate" pitchFamily="2" charset="0"/>
                <a:buChar char="•"/>
              </a:pPr>
              <a:r>
                <a:rPr lang="en-US" sz="1200" dirty="0">
                  <a:solidFill>
                    <a:schemeClr val="accent1"/>
                  </a:solidFill>
                  <a:latin typeface="Calibri"/>
                </a:rPr>
                <a:t>IT function to evolve from foundational to proactive IT</a:t>
              </a:r>
            </a:p>
            <a:p>
              <a:pPr marL="171390" indent="-171390" defTabSz="995012">
                <a:spcAft>
                  <a:spcPts val="1200"/>
                </a:spcAft>
                <a:buFont typeface="EYInterstate" pitchFamily="2" charset="0"/>
                <a:buChar char="•"/>
              </a:pPr>
              <a:r>
                <a:rPr lang="en-US" sz="1200" dirty="0">
                  <a:solidFill>
                    <a:schemeClr val="accent1"/>
                  </a:solidFill>
                  <a:latin typeface="Calibri"/>
                </a:rPr>
                <a:t>Be able to adopt and adapt new business models and services </a:t>
              </a:r>
            </a:p>
            <a:p>
              <a:pPr marL="171390" indent="-171390" defTabSz="995012">
                <a:spcAft>
                  <a:spcPts val="1200"/>
                </a:spcAft>
                <a:buFont typeface="EYInterstate" pitchFamily="2" charset="0"/>
                <a:buChar char="•"/>
              </a:pPr>
              <a:r>
                <a:rPr lang="en-US" sz="1200" dirty="0">
                  <a:solidFill>
                    <a:schemeClr val="accent1"/>
                  </a:solidFill>
                  <a:latin typeface="Calibri"/>
                </a:rPr>
                <a:t>Close business alignment and customer centric perspective</a:t>
              </a:r>
            </a:p>
            <a:p>
              <a:pPr marL="171390" indent="-171390" defTabSz="995012">
                <a:spcAft>
                  <a:spcPts val="1200"/>
                </a:spcAft>
                <a:buFont typeface="EYInterstate" pitchFamily="2" charset="0"/>
                <a:buChar char="•"/>
              </a:pPr>
              <a:endParaRPr lang="en-US" sz="1200" dirty="0">
                <a:solidFill>
                  <a:schemeClr val="accent1"/>
                </a:solidFill>
                <a:latin typeface="Calibri"/>
              </a:endParaRPr>
            </a:p>
          </p:txBody>
        </p:sp>
      </p:grpSp>
      <p:sp>
        <p:nvSpPr>
          <p:cNvPr id="57" name="TextBox 56"/>
          <p:cNvSpPr txBox="1"/>
          <p:nvPr/>
        </p:nvSpPr>
        <p:spPr>
          <a:xfrm>
            <a:off x="4851543" y="1632812"/>
            <a:ext cx="6618968" cy="252454"/>
          </a:xfrm>
          <a:prstGeom prst="rect">
            <a:avLst/>
          </a:prstGeom>
          <a:noFill/>
        </p:spPr>
        <p:txBody>
          <a:bodyPr wrap="square" lIns="0" tIns="45704" rIns="91408" bIns="45704" rtlCol="0">
            <a:spAutoFit/>
          </a:bodyPr>
          <a:lstStyle/>
          <a:p>
            <a:pPr algn="ctr" defTabSz="457200"/>
            <a:r>
              <a:rPr lang="en-US" sz="1400" b="1" dirty="0">
                <a:solidFill>
                  <a:schemeClr val="accent1"/>
                </a:solidFill>
                <a:latin typeface="Calibri"/>
              </a:rPr>
              <a:t>What does it mean to ITD?</a:t>
            </a:r>
            <a:endParaRPr lang="en-IN" sz="1400" b="1" dirty="0">
              <a:solidFill>
                <a:schemeClr val="accent1"/>
              </a:solidFill>
              <a:latin typeface="Calibri"/>
            </a:endParaRPr>
          </a:p>
        </p:txBody>
      </p:sp>
      <p:grpSp>
        <p:nvGrpSpPr>
          <p:cNvPr id="58" name="Group 57"/>
          <p:cNvGrpSpPr/>
          <p:nvPr/>
        </p:nvGrpSpPr>
        <p:grpSpPr>
          <a:xfrm>
            <a:off x="652792" y="4371401"/>
            <a:ext cx="10817719" cy="944878"/>
            <a:chOff x="729190" y="3346887"/>
            <a:chExt cx="7783286" cy="1057552"/>
          </a:xfrm>
        </p:grpSpPr>
        <p:sp>
          <p:nvSpPr>
            <p:cNvPr id="59" name="Rectangle 58"/>
            <p:cNvSpPr/>
            <p:nvPr/>
          </p:nvSpPr>
          <p:spPr bwMode="auto">
            <a:xfrm>
              <a:off x="729190" y="3346887"/>
              <a:ext cx="2854662" cy="1057552"/>
            </a:xfrm>
            <a:prstGeom prst="rect">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algn="ctr" defTabSz="995012"/>
              <a:r>
                <a:rPr lang="en-US" sz="1600" b="1" dirty="0">
                  <a:solidFill>
                    <a:srgbClr val="FFFFFF"/>
                  </a:solidFill>
                  <a:latin typeface="Calibri"/>
                </a:rPr>
                <a:t>Performance culture</a:t>
              </a:r>
            </a:p>
          </p:txBody>
        </p:sp>
        <p:sp>
          <p:nvSpPr>
            <p:cNvPr id="60" name="Rectangle 59"/>
            <p:cNvSpPr/>
            <p:nvPr/>
          </p:nvSpPr>
          <p:spPr bwMode="auto">
            <a:xfrm>
              <a:off x="3750169" y="3346887"/>
              <a:ext cx="4762307" cy="1057552"/>
            </a:xfrm>
            <a:prstGeom prst="rect">
              <a:avLst/>
            </a:prstGeom>
            <a:solidFill>
              <a:srgbClr val="FFFFFF"/>
            </a:solidFill>
            <a:ln w="9525"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marL="171390" indent="-171390" defTabSz="995012">
                <a:spcAft>
                  <a:spcPts val="1200"/>
                </a:spcAft>
                <a:buFont typeface="EYInterstate" pitchFamily="2" charset="0"/>
                <a:buChar char="•"/>
              </a:pPr>
              <a:r>
                <a:rPr lang="en-US" sz="1200" dirty="0">
                  <a:solidFill>
                    <a:schemeClr val="accent1"/>
                  </a:solidFill>
                  <a:latin typeface="Calibri"/>
                </a:rPr>
                <a:t>Knowledgeable, skilled, sales-oriented organization</a:t>
              </a:r>
            </a:p>
            <a:p>
              <a:pPr marL="171390" indent="-171390" defTabSz="995012">
                <a:spcAft>
                  <a:spcPts val="1200"/>
                </a:spcAft>
                <a:buFont typeface="EYInterstate" pitchFamily="2" charset="0"/>
                <a:buChar char="•"/>
              </a:pPr>
              <a:r>
                <a:rPr lang="en-US" sz="1200" dirty="0">
                  <a:solidFill>
                    <a:schemeClr val="accent1"/>
                  </a:solidFill>
                  <a:latin typeface="Calibri"/>
                </a:rPr>
                <a:t>Teaming culture that rewards collaborative effort</a:t>
              </a:r>
            </a:p>
            <a:p>
              <a:pPr marL="171390" indent="-171390" defTabSz="995012">
                <a:spcAft>
                  <a:spcPts val="1200"/>
                </a:spcAft>
                <a:buFont typeface="EYInterstate" pitchFamily="2" charset="0"/>
                <a:buChar char="•"/>
              </a:pPr>
              <a:r>
                <a:rPr lang="en-US" sz="1200" dirty="0">
                  <a:solidFill>
                    <a:schemeClr val="accent1"/>
                  </a:solidFill>
                  <a:latin typeface="Calibri"/>
                </a:rPr>
                <a:t>Strong reward culture to incentivize high performers</a:t>
              </a:r>
            </a:p>
          </p:txBody>
        </p:sp>
      </p:grpSp>
      <p:grpSp>
        <p:nvGrpSpPr>
          <p:cNvPr id="61" name="Group 60"/>
          <p:cNvGrpSpPr/>
          <p:nvPr/>
        </p:nvGrpSpPr>
        <p:grpSpPr>
          <a:xfrm>
            <a:off x="652791" y="3181090"/>
            <a:ext cx="10817719" cy="1081174"/>
            <a:chOff x="729190" y="4715038"/>
            <a:chExt cx="7783286" cy="1210100"/>
          </a:xfrm>
        </p:grpSpPr>
        <p:sp>
          <p:nvSpPr>
            <p:cNvPr id="103" name="Rectangle 102"/>
            <p:cNvSpPr/>
            <p:nvPr/>
          </p:nvSpPr>
          <p:spPr bwMode="auto">
            <a:xfrm>
              <a:off x="729190" y="4715038"/>
              <a:ext cx="2854662" cy="1210100"/>
            </a:xfrm>
            <a:prstGeom prst="rect">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algn="ctr" defTabSz="995012"/>
              <a:r>
                <a:rPr lang="en-US" sz="1600" b="1" dirty="0">
                  <a:solidFill>
                    <a:srgbClr val="FFFFFF"/>
                  </a:solidFill>
                  <a:latin typeface="Calibri"/>
                </a:rPr>
                <a:t>World-class efficiency</a:t>
              </a:r>
            </a:p>
          </p:txBody>
        </p:sp>
        <p:sp>
          <p:nvSpPr>
            <p:cNvPr id="104" name="Rectangle 103"/>
            <p:cNvSpPr/>
            <p:nvPr/>
          </p:nvSpPr>
          <p:spPr bwMode="auto">
            <a:xfrm>
              <a:off x="3750169" y="4715038"/>
              <a:ext cx="4762307" cy="1210100"/>
            </a:xfrm>
            <a:prstGeom prst="rect">
              <a:avLst/>
            </a:prstGeom>
            <a:solidFill>
              <a:srgbClr val="FFFFFF"/>
            </a:solidFill>
            <a:ln w="9525"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marL="171390" indent="-171390" defTabSz="995012">
                <a:spcAft>
                  <a:spcPts val="1200"/>
                </a:spcAft>
                <a:buFont typeface="EYInterstate" pitchFamily="2" charset="0"/>
                <a:buChar char="•"/>
              </a:pPr>
              <a:endParaRPr lang="en-US" sz="1200" dirty="0">
                <a:solidFill>
                  <a:schemeClr val="accent1"/>
                </a:solidFill>
                <a:latin typeface="Calibri"/>
              </a:endParaRPr>
            </a:p>
            <a:p>
              <a:pPr marL="171390" indent="-171390" defTabSz="995012">
                <a:spcAft>
                  <a:spcPts val="1200"/>
                </a:spcAft>
                <a:buFont typeface="EYInterstate" pitchFamily="2" charset="0"/>
                <a:buChar char="•"/>
              </a:pPr>
              <a:r>
                <a:rPr lang="en-US" sz="1200" dirty="0">
                  <a:solidFill>
                    <a:schemeClr val="accent1"/>
                  </a:solidFill>
                  <a:latin typeface="Calibri"/>
                </a:rPr>
                <a:t>New enabling technologies that will increase productivity and accessibility, while protecting high value data assets in an increasingly mobile workforce</a:t>
              </a:r>
            </a:p>
            <a:p>
              <a:pPr marL="171390" indent="-171390" defTabSz="995012">
                <a:spcAft>
                  <a:spcPts val="1200"/>
                </a:spcAft>
                <a:buFont typeface="EYInterstate" pitchFamily="2" charset="0"/>
                <a:buChar char="•"/>
              </a:pPr>
              <a:r>
                <a:rPr lang="en-US" sz="1200" dirty="0">
                  <a:solidFill>
                    <a:schemeClr val="accent1"/>
                  </a:solidFill>
                  <a:latin typeface="Calibri"/>
                </a:rPr>
                <a:t>A Secure, Reliable and Innovative IT function to support business</a:t>
              </a:r>
            </a:p>
            <a:p>
              <a:pPr marL="171390" indent="-171390" defTabSz="995012">
                <a:spcAft>
                  <a:spcPts val="1200"/>
                </a:spcAft>
                <a:buFont typeface="EYInterstate" pitchFamily="2" charset="0"/>
                <a:buChar char="•"/>
              </a:pPr>
              <a:endParaRPr lang="en-US" sz="1200" dirty="0">
                <a:solidFill>
                  <a:schemeClr val="accent1"/>
                </a:solidFill>
                <a:latin typeface="Calibri"/>
              </a:endParaRPr>
            </a:p>
          </p:txBody>
        </p:sp>
      </p:grpSp>
      <p:sp>
        <p:nvSpPr>
          <p:cNvPr id="105" name="TextBox 104"/>
          <p:cNvSpPr txBox="1"/>
          <p:nvPr/>
        </p:nvSpPr>
        <p:spPr>
          <a:xfrm>
            <a:off x="517048" y="1632840"/>
            <a:ext cx="4103341" cy="238253"/>
          </a:xfrm>
          <a:prstGeom prst="rect">
            <a:avLst/>
          </a:prstGeom>
          <a:noFill/>
        </p:spPr>
        <p:txBody>
          <a:bodyPr wrap="square" lIns="0" tIns="45704" rIns="91408" bIns="45704" rtlCol="0">
            <a:spAutoFit/>
          </a:bodyPr>
          <a:lstStyle/>
          <a:p>
            <a:pPr algn="ctr" defTabSz="457200"/>
            <a:r>
              <a:rPr lang="en-US" sz="1400" b="1" dirty="0">
                <a:solidFill>
                  <a:schemeClr val="accent1"/>
                </a:solidFill>
                <a:latin typeface="Calibri"/>
              </a:rPr>
              <a:t>Business Strategic Objectives</a:t>
            </a:r>
            <a:endParaRPr lang="en-IN" sz="1400" b="1" dirty="0">
              <a:solidFill>
                <a:schemeClr val="accent1"/>
              </a:solidFill>
              <a:latin typeface="Calibri"/>
            </a:endParaRPr>
          </a:p>
        </p:txBody>
      </p:sp>
      <p:grpSp>
        <p:nvGrpSpPr>
          <p:cNvPr id="19" name="Group 18">
            <a:extLst>
              <a:ext uri="{FF2B5EF4-FFF2-40B4-BE49-F238E27FC236}">
                <a16:creationId xmlns:a16="http://schemas.microsoft.com/office/drawing/2014/main" id="{0F739F25-8C0B-4098-A440-BA0398973EE1}"/>
              </a:ext>
            </a:extLst>
          </p:cNvPr>
          <p:cNvGrpSpPr/>
          <p:nvPr/>
        </p:nvGrpSpPr>
        <p:grpSpPr>
          <a:xfrm>
            <a:off x="656336" y="5427562"/>
            <a:ext cx="10817719" cy="944878"/>
            <a:chOff x="729190" y="3346887"/>
            <a:chExt cx="7783286" cy="1057552"/>
          </a:xfrm>
        </p:grpSpPr>
        <p:sp>
          <p:nvSpPr>
            <p:cNvPr id="20" name="Rectangle 19">
              <a:extLst>
                <a:ext uri="{FF2B5EF4-FFF2-40B4-BE49-F238E27FC236}">
                  <a16:creationId xmlns:a16="http://schemas.microsoft.com/office/drawing/2014/main" id="{7BCDA9B3-F296-4539-96E0-EFF6E9337950}"/>
                </a:ext>
              </a:extLst>
            </p:cNvPr>
            <p:cNvSpPr/>
            <p:nvPr/>
          </p:nvSpPr>
          <p:spPr bwMode="auto">
            <a:xfrm>
              <a:off x="729190" y="3346887"/>
              <a:ext cx="2854662" cy="1057552"/>
            </a:xfrm>
            <a:prstGeom prst="rect">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algn="ctr" defTabSz="995012"/>
              <a:r>
                <a:rPr lang="en-US" sz="1600" b="1" dirty="0">
                  <a:solidFill>
                    <a:srgbClr val="FFFFFF"/>
                  </a:solidFill>
                  <a:latin typeface="Calibri"/>
                </a:rPr>
                <a:t>Digital </a:t>
              </a:r>
            </a:p>
          </p:txBody>
        </p:sp>
        <p:sp>
          <p:nvSpPr>
            <p:cNvPr id="21" name="Rectangle 20">
              <a:extLst>
                <a:ext uri="{FF2B5EF4-FFF2-40B4-BE49-F238E27FC236}">
                  <a16:creationId xmlns:a16="http://schemas.microsoft.com/office/drawing/2014/main" id="{B5F0BCAD-92C8-4EF7-820D-01912F5947BB}"/>
                </a:ext>
              </a:extLst>
            </p:cNvPr>
            <p:cNvSpPr/>
            <p:nvPr/>
          </p:nvSpPr>
          <p:spPr bwMode="auto">
            <a:xfrm>
              <a:off x="3750169" y="3346887"/>
              <a:ext cx="4762307" cy="1057552"/>
            </a:xfrm>
            <a:prstGeom prst="rect">
              <a:avLst/>
            </a:prstGeom>
            <a:solidFill>
              <a:srgbClr val="FFFFFF"/>
            </a:solidFill>
            <a:ln w="9525"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marL="171390" indent="-171390" defTabSz="995012">
                <a:spcAft>
                  <a:spcPts val="1200"/>
                </a:spcAft>
                <a:buFont typeface="EYInterstate" pitchFamily="2" charset="0"/>
                <a:buChar char="•"/>
              </a:pPr>
              <a:r>
                <a:rPr lang="en-US" sz="1200" dirty="0">
                  <a:solidFill>
                    <a:schemeClr val="accent1"/>
                  </a:solidFill>
                  <a:latin typeface="Calibri"/>
                </a:rPr>
                <a:t>Launch Loyalty and personalization</a:t>
              </a:r>
            </a:p>
            <a:p>
              <a:pPr marL="171390" indent="-171390" defTabSz="995012">
                <a:spcAft>
                  <a:spcPts val="1200"/>
                </a:spcAft>
                <a:buFont typeface="EYInterstate" pitchFamily="2" charset="0"/>
                <a:buChar char="•"/>
              </a:pPr>
              <a:r>
                <a:rPr lang="en-US" sz="1200" dirty="0">
                  <a:solidFill>
                    <a:schemeClr val="accent1"/>
                  </a:solidFill>
                  <a:latin typeface="Calibri"/>
                </a:rPr>
                <a:t>Implement Agile rollout of Mobile App &amp; Payments</a:t>
              </a:r>
            </a:p>
            <a:p>
              <a:pPr marL="171390" indent="-171390" defTabSz="995012">
                <a:spcAft>
                  <a:spcPts val="1200"/>
                </a:spcAft>
                <a:buFont typeface="EYInterstate" pitchFamily="2" charset="0"/>
                <a:buChar char="•"/>
              </a:pPr>
              <a:r>
                <a:rPr lang="en-US" sz="1200" dirty="0">
                  <a:solidFill>
                    <a:schemeClr val="accent1"/>
                  </a:solidFill>
                  <a:latin typeface="Calibri"/>
                </a:rPr>
                <a:t>Launch data-driven quick wins and use-case driven data governance </a:t>
              </a:r>
            </a:p>
          </p:txBody>
        </p:sp>
      </p:grpSp>
    </p:spTree>
    <p:extLst>
      <p:ext uri="{BB962C8B-B14F-4D97-AF65-F5344CB8AC3E}">
        <p14:creationId xmlns:p14="http://schemas.microsoft.com/office/powerpoint/2010/main" val="3369962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We will deliver our strategic Objectives through an effective value chain</a:t>
            </a:r>
            <a:endParaRPr lang="en-GB" sz="3200" dirty="0"/>
          </a:p>
        </p:txBody>
      </p:sp>
      <p:cxnSp>
        <p:nvCxnSpPr>
          <p:cNvPr id="41" name="Straight Connector 40"/>
          <p:cNvCxnSpPr/>
          <p:nvPr/>
        </p:nvCxnSpPr>
        <p:spPr>
          <a:xfrm flipV="1">
            <a:off x="1308562" y="1850045"/>
            <a:ext cx="8805256" cy="20368"/>
          </a:xfrm>
          <a:prstGeom prst="line">
            <a:avLst/>
          </a:prstGeom>
          <a:ln>
            <a:solidFill>
              <a:schemeClr val="accent4"/>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4485052" y="1401644"/>
            <a:ext cx="2108788" cy="311831"/>
          </a:xfrm>
          <a:prstGeom prst="rect">
            <a:avLst/>
          </a:prstGeom>
          <a:noFill/>
        </p:spPr>
        <p:txBody>
          <a:bodyPr wrap="square" lIns="0" tIns="0" rIns="0" bIns="0" rtlCol="0" anchor="b">
            <a:noAutofit/>
          </a:bodyPr>
          <a:lstStyle/>
          <a:p>
            <a:pPr algn="ctr">
              <a:spcBef>
                <a:spcPts val="800"/>
              </a:spcBef>
            </a:pPr>
            <a:r>
              <a:rPr lang="en-US" sz="1200" b="1" i="1" dirty="0">
                <a:solidFill>
                  <a:schemeClr val="accent4"/>
                </a:solidFill>
              </a:rPr>
              <a:t>IT Function Value Chain</a:t>
            </a:r>
          </a:p>
        </p:txBody>
      </p:sp>
      <p:grpSp>
        <p:nvGrpSpPr>
          <p:cNvPr id="2" name="Group 1">
            <a:extLst>
              <a:ext uri="{FF2B5EF4-FFF2-40B4-BE49-F238E27FC236}">
                <a16:creationId xmlns:a16="http://schemas.microsoft.com/office/drawing/2014/main" id="{153748A4-74F4-4B97-8955-98723A5DC968}"/>
              </a:ext>
            </a:extLst>
          </p:cNvPr>
          <p:cNvGrpSpPr/>
          <p:nvPr/>
        </p:nvGrpSpPr>
        <p:grpSpPr>
          <a:xfrm>
            <a:off x="1154713" y="2013900"/>
            <a:ext cx="8705405" cy="604589"/>
            <a:chOff x="1154713" y="2013900"/>
            <a:chExt cx="8705405" cy="879330"/>
          </a:xfrm>
        </p:grpSpPr>
        <p:grpSp>
          <p:nvGrpSpPr>
            <p:cNvPr id="45" name="Group 44"/>
            <p:cNvGrpSpPr/>
            <p:nvPr/>
          </p:nvGrpSpPr>
          <p:grpSpPr>
            <a:xfrm>
              <a:off x="3337459" y="2013900"/>
              <a:ext cx="6522659" cy="879330"/>
              <a:chOff x="1526678" y="1819657"/>
              <a:chExt cx="4450854" cy="702766"/>
            </a:xfrm>
            <a:solidFill>
              <a:schemeClr val="accent2"/>
            </a:solidFill>
          </p:grpSpPr>
          <p:sp>
            <p:nvSpPr>
              <p:cNvPr id="46" name="Freeform 45"/>
              <p:cNvSpPr/>
              <p:nvPr/>
            </p:nvSpPr>
            <p:spPr>
              <a:xfrm>
                <a:off x="1526678"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bg1"/>
              </a:solidFill>
              <a:ln w="38100" cap="flat" cmpd="sng" algn="ctr">
                <a:solidFill>
                  <a:schemeClr val="tx2"/>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chemeClr val="accent2"/>
                    </a:solidFill>
                    <a:effectLst/>
                    <a:uLnTx/>
                    <a:uFillTx/>
                    <a:latin typeface="Calibri"/>
                    <a:ea typeface="+mn-ea"/>
                    <a:cs typeface="+mn-cs"/>
                  </a:rPr>
                  <a:t>Build</a:t>
                </a:r>
              </a:p>
            </p:txBody>
          </p:sp>
          <p:sp>
            <p:nvSpPr>
              <p:cNvPr id="47" name="Freeform 46"/>
              <p:cNvSpPr/>
              <p:nvPr/>
            </p:nvSpPr>
            <p:spPr>
              <a:xfrm>
                <a:off x="2815083" y="2025802"/>
                <a:ext cx="248310" cy="29047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a:ea typeface="+mn-ea"/>
                  <a:cs typeface="+mn-cs"/>
                </a:endParaRPr>
              </a:p>
            </p:txBody>
          </p:sp>
          <p:sp>
            <p:nvSpPr>
              <p:cNvPr id="48" name="Freeform 47"/>
              <p:cNvSpPr/>
              <p:nvPr/>
            </p:nvSpPr>
            <p:spPr>
              <a:xfrm>
                <a:off x="3166467"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bg1"/>
              </a:solidFill>
              <a:ln w="38100" cap="flat" cmpd="sng" algn="ctr">
                <a:solidFill>
                  <a:schemeClr val="tx2"/>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chemeClr val="accent2"/>
                    </a:solidFill>
                    <a:effectLst/>
                    <a:uLnTx/>
                    <a:uFillTx/>
                    <a:latin typeface="Calibri"/>
                    <a:ea typeface="+mn-ea"/>
                    <a:cs typeface="+mn-cs"/>
                  </a:rPr>
                  <a:t>Deliver</a:t>
                </a:r>
              </a:p>
            </p:txBody>
          </p:sp>
          <p:sp>
            <p:nvSpPr>
              <p:cNvPr id="49" name="Freeform 48"/>
              <p:cNvSpPr/>
              <p:nvPr/>
            </p:nvSpPr>
            <p:spPr>
              <a:xfrm>
                <a:off x="4454872" y="2025802"/>
                <a:ext cx="248310" cy="29047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a:ea typeface="+mn-ea"/>
                  <a:cs typeface="+mn-cs"/>
                </a:endParaRPr>
              </a:p>
            </p:txBody>
          </p:sp>
          <p:sp>
            <p:nvSpPr>
              <p:cNvPr id="50" name="Freeform 49"/>
              <p:cNvSpPr/>
              <p:nvPr/>
            </p:nvSpPr>
            <p:spPr>
              <a:xfrm>
                <a:off x="4806255"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bg1"/>
              </a:solidFill>
              <a:ln w="38100" cap="flat" cmpd="sng" algn="ctr">
                <a:solidFill>
                  <a:schemeClr val="tx2"/>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lang="en-US" sz="2000" kern="0" dirty="0">
                    <a:solidFill>
                      <a:schemeClr val="accent2"/>
                    </a:solidFill>
                    <a:latin typeface="Calibri"/>
                  </a:rPr>
                  <a:t>Run</a:t>
                </a:r>
                <a:endParaRPr kumimoji="0" lang="en-US" sz="2000" b="0" i="0" u="none" strike="noStrike" kern="0" cap="none" spc="0" normalizeH="0" baseline="0" noProof="0" dirty="0">
                  <a:ln>
                    <a:noFill/>
                  </a:ln>
                  <a:solidFill>
                    <a:schemeClr val="accent2"/>
                  </a:solidFill>
                  <a:effectLst/>
                  <a:uLnTx/>
                  <a:uFillTx/>
                  <a:latin typeface="Calibri"/>
                </a:endParaRPr>
              </a:p>
            </p:txBody>
          </p:sp>
        </p:grpSp>
        <p:sp>
          <p:nvSpPr>
            <p:cNvPr id="51" name="Freeform 50"/>
            <p:cNvSpPr/>
            <p:nvPr/>
          </p:nvSpPr>
          <p:spPr>
            <a:xfrm>
              <a:off x="1154713" y="2013900"/>
              <a:ext cx="1454299" cy="879330"/>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bg1"/>
            </a:solidFill>
            <a:ln w="38100" cap="flat" cmpd="sng" algn="ctr">
              <a:solidFill>
                <a:schemeClr val="tx2"/>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chemeClr val="accent2"/>
                  </a:solidFill>
                  <a:effectLst/>
                  <a:uLnTx/>
                  <a:uFillTx/>
                  <a:latin typeface="Calibri"/>
                  <a:ea typeface="+mn-ea"/>
                  <a:cs typeface="+mn-cs"/>
                </a:rPr>
                <a:t>Plan</a:t>
              </a:r>
            </a:p>
          </p:txBody>
        </p:sp>
        <p:sp>
          <p:nvSpPr>
            <p:cNvPr id="52" name="Freeform 51"/>
            <p:cNvSpPr/>
            <p:nvPr/>
          </p:nvSpPr>
          <p:spPr>
            <a:xfrm>
              <a:off x="2774343" y="2280798"/>
              <a:ext cx="308311" cy="36345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a:ln w="25400" cap="flat" cmpd="sng" algn="ctr">
              <a:solidFill>
                <a:sysClr val="window" lastClr="FFFFFF">
                  <a:hueOff val="0"/>
                  <a:satOff val="0"/>
                  <a:lumOff val="0"/>
                  <a:alphaOff val="0"/>
                </a:sysClr>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a:ea typeface="+mn-ea"/>
                <a:cs typeface="+mn-cs"/>
              </a:endParaRPr>
            </a:p>
          </p:txBody>
        </p:sp>
      </p:grpSp>
      <p:cxnSp>
        <p:nvCxnSpPr>
          <p:cNvPr id="97" name="Straight Connector 96"/>
          <p:cNvCxnSpPr/>
          <p:nvPr/>
        </p:nvCxnSpPr>
        <p:spPr>
          <a:xfrm flipV="1">
            <a:off x="979748" y="2116553"/>
            <a:ext cx="2745" cy="4114800"/>
          </a:xfrm>
          <a:prstGeom prst="line">
            <a:avLst/>
          </a:prstGeom>
          <a:ln>
            <a:solidFill>
              <a:schemeClr val="accent4"/>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rot="16200000">
            <a:off x="-295213" y="4192470"/>
            <a:ext cx="2108788" cy="311831"/>
          </a:xfrm>
          <a:prstGeom prst="rect">
            <a:avLst/>
          </a:prstGeom>
          <a:noFill/>
        </p:spPr>
        <p:txBody>
          <a:bodyPr wrap="square" lIns="0" tIns="0" rIns="0" bIns="0" rtlCol="0" anchor="b">
            <a:noAutofit/>
          </a:bodyPr>
          <a:lstStyle/>
          <a:p>
            <a:pPr algn="ctr">
              <a:spcBef>
                <a:spcPts val="800"/>
              </a:spcBef>
            </a:pPr>
            <a:r>
              <a:rPr lang="en-US" sz="1200" b="1" i="1" dirty="0">
                <a:solidFill>
                  <a:schemeClr val="accent4"/>
                </a:solidFill>
              </a:rPr>
              <a:t>Core Capabilities</a:t>
            </a:r>
          </a:p>
        </p:txBody>
      </p:sp>
      <p:grpSp>
        <p:nvGrpSpPr>
          <p:cNvPr id="3" name="Group 2">
            <a:extLst>
              <a:ext uri="{FF2B5EF4-FFF2-40B4-BE49-F238E27FC236}">
                <a16:creationId xmlns:a16="http://schemas.microsoft.com/office/drawing/2014/main" id="{DABF5665-4597-43C2-AF34-619174839701}"/>
              </a:ext>
            </a:extLst>
          </p:cNvPr>
          <p:cNvGrpSpPr/>
          <p:nvPr/>
        </p:nvGrpSpPr>
        <p:grpSpPr>
          <a:xfrm>
            <a:off x="1131355" y="3383842"/>
            <a:ext cx="8968524" cy="3048858"/>
            <a:chOff x="1131355" y="3001068"/>
            <a:chExt cx="8968524" cy="3227013"/>
          </a:xfrm>
        </p:grpSpPr>
        <p:sp>
          <p:nvSpPr>
            <p:cNvPr id="53" name="Pentagon 52"/>
            <p:cNvSpPr/>
            <p:nvPr/>
          </p:nvSpPr>
          <p:spPr>
            <a:xfrm>
              <a:off x="1154713" y="3013308"/>
              <a:ext cx="1927942" cy="342268"/>
            </a:xfrm>
            <a:prstGeom prst="homePlate">
              <a:avLst>
                <a:gd name="adj" fmla="val 84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Strategy to Portfolio</a:t>
              </a:r>
            </a:p>
          </p:txBody>
        </p:sp>
        <p:sp>
          <p:nvSpPr>
            <p:cNvPr id="57" name="Pentagon 56"/>
            <p:cNvSpPr/>
            <p:nvPr/>
          </p:nvSpPr>
          <p:spPr>
            <a:xfrm>
              <a:off x="3113269" y="3001068"/>
              <a:ext cx="2281546" cy="354507"/>
            </a:xfrm>
            <a:prstGeom prst="homePlate">
              <a:avLst>
                <a:gd name="adj" fmla="val 84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Requirement to Deploy</a:t>
              </a:r>
            </a:p>
          </p:txBody>
        </p:sp>
        <p:sp>
          <p:nvSpPr>
            <p:cNvPr id="58" name="Pentagon 57"/>
            <p:cNvSpPr/>
            <p:nvPr/>
          </p:nvSpPr>
          <p:spPr>
            <a:xfrm>
              <a:off x="5436137" y="3013308"/>
              <a:ext cx="2397593" cy="342267"/>
            </a:xfrm>
            <a:prstGeom prst="homePlate">
              <a:avLst>
                <a:gd name="adj" fmla="val 84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Operate</a:t>
              </a:r>
            </a:p>
          </p:txBody>
        </p:sp>
        <p:sp>
          <p:nvSpPr>
            <p:cNvPr id="63" name="Pentagon 62"/>
            <p:cNvSpPr/>
            <p:nvPr/>
          </p:nvSpPr>
          <p:spPr>
            <a:xfrm>
              <a:off x="7880141" y="3001068"/>
              <a:ext cx="2182746" cy="354507"/>
            </a:xfrm>
            <a:prstGeom prst="homePlate">
              <a:avLst>
                <a:gd name="adj" fmla="val 84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Request to Fulfill</a:t>
              </a:r>
            </a:p>
          </p:txBody>
        </p:sp>
        <p:sp>
          <p:nvSpPr>
            <p:cNvPr id="65" name="Pentagon 64"/>
            <p:cNvSpPr/>
            <p:nvPr/>
          </p:nvSpPr>
          <p:spPr>
            <a:xfrm>
              <a:off x="1171868" y="3376826"/>
              <a:ext cx="1927942" cy="362081"/>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lvl="0">
                <a:defRPr/>
              </a:pPr>
              <a:r>
                <a:rPr lang="en-US" sz="1000" kern="0" dirty="0">
                  <a:solidFill>
                    <a:srgbClr val="646464"/>
                  </a:solidFill>
                </a:rPr>
                <a:t>Manage IT strategic Planning</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68" name="Pentagon 67"/>
            <p:cNvSpPr/>
            <p:nvPr/>
          </p:nvSpPr>
          <p:spPr>
            <a:xfrm>
              <a:off x="1154712" y="3786082"/>
              <a:ext cx="1927942" cy="362081"/>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a:t>
              </a:r>
              <a:r>
                <a:rPr kumimoji="0" lang="en-US" sz="1000" b="0" i="0" u="none" strike="noStrike" kern="0" cap="none" spc="0" normalizeH="0" noProof="0" dirty="0">
                  <a:ln>
                    <a:noFill/>
                  </a:ln>
                  <a:solidFill>
                    <a:srgbClr val="646464"/>
                  </a:solidFill>
                  <a:effectLst/>
                  <a:uLnTx/>
                  <a:uFillTx/>
                  <a:latin typeface="Arial"/>
                  <a:ea typeface="+mn-ea"/>
                  <a:cs typeface="+mn-cs"/>
                </a:rPr>
                <a:t> </a:t>
              </a:r>
              <a:r>
                <a:rPr kumimoji="0" lang="en-US" sz="1000" b="0" i="0" u="none" strike="noStrike" kern="0" cap="none" spc="0" normalizeH="0" baseline="0" noProof="0" dirty="0">
                  <a:ln>
                    <a:noFill/>
                  </a:ln>
                  <a:solidFill>
                    <a:srgbClr val="646464"/>
                  </a:solidFill>
                  <a:effectLst/>
                  <a:uLnTx/>
                  <a:uFillTx/>
                  <a:latin typeface="Arial"/>
                  <a:ea typeface="+mn-ea"/>
                  <a:cs typeface="+mn-cs"/>
                </a:rPr>
                <a:t>IT Governance</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77" name="Pentagon 76"/>
            <p:cNvSpPr/>
            <p:nvPr/>
          </p:nvSpPr>
          <p:spPr>
            <a:xfrm>
              <a:off x="1154712" y="4195338"/>
              <a:ext cx="1927942" cy="362081"/>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IT Portfolio</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78" name="Pentagon 77"/>
            <p:cNvSpPr/>
            <p:nvPr/>
          </p:nvSpPr>
          <p:spPr>
            <a:xfrm>
              <a:off x="3113269" y="3380114"/>
              <a:ext cx="2281544" cy="526997"/>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Perform business requirements gathering</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82" name="Pentagon 81"/>
            <p:cNvSpPr/>
            <p:nvPr/>
          </p:nvSpPr>
          <p:spPr>
            <a:xfrm>
              <a:off x="3113269" y="3936708"/>
              <a:ext cx="2281544" cy="568926"/>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Perform architecture and solution design</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83" name="Pentagon 82"/>
            <p:cNvSpPr/>
            <p:nvPr/>
          </p:nvSpPr>
          <p:spPr>
            <a:xfrm>
              <a:off x="3113269" y="4547803"/>
              <a:ext cx="2281544" cy="500800"/>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Perform and monitor development and build</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84" name="Pentagon 83"/>
            <p:cNvSpPr/>
            <p:nvPr/>
          </p:nvSpPr>
          <p:spPr>
            <a:xfrm>
              <a:off x="3125999" y="5094597"/>
              <a:ext cx="2281544" cy="559448"/>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Perform testing and validate results</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85" name="Pentagon 84"/>
            <p:cNvSpPr/>
            <p:nvPr/>
          </p:nvSpPr>
          <p:spPr>
            <a:xfrm>
              <a:off x="1171867" y="4604594"/>
              <a:ext cx="1910786" cy="370490"/>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kern="0" dirty="0">
                  <a:solidFill>
                    <a:srgbClr val="646464"/>
                  </a:solidFill>
                  <a:latin typeface="Arial"/>
                </a:rPr>
                <a:t>Manage Resource Planning</a:t>
              </a:r>
              <a:endParaRPr kumimoji="0" lang="en-GB" sz="1000" b="0" i="0" u="none" strike="noStrike" kern="0" cap="none" spc="0" normalizeH="0" baseline="0" noProof="0" dirty="0">
                <a:ln>
                  <a:noFill/>
                </a:ln>
                <a:solidFill>
                  <a:srgbClr val="646464"/>
                </a:solidFill>
                <a:effectLst/>
                <a:uLnTx/>
                <a:uFillTx/>
                <a:latin typeface="Arial"/>
              </a:endParaRPr>
            </a:p>
          </p:txBody>
        </p:sp>
        <p:sp>
          <p:nvSpPr>
            <p:cNvPr id="86" name="Pentagon 85"/>
            <p:cNvSpPr/>
            <p:nvPr/>
          </p:nvSpPr>
          <p:spPr>
            <a:xfrm>
              <a:off x="7899230" y="3383326"/>
              <a:ext cx="2172893" cy="637793"/>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Request Fulfilment</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87" name="Pentagon 86"/>
            <p:cNvSpPr/>
            <p:nvPr/>
          </p:nvSpPr>
          <p:spPr>
            <a:xfrm>
              <a:off x="7899230" y="4089662"/>
              <a:ext cx="2172893" cy="623921"/>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IT </a:t>
              </a:r>
              <a:r>
                <a:rPr kumimoji="0" lang="en-US" sz="1000" b="0" i="0" u="none" strike="noStrike" kern="0" cap="none" spc="0" normalizeH="0" baseline="0" noProof="0" dirty="0" err="1">
                  <a:ln>
                    <a:noFill/>
                  </a:ln>
                  <a:solidFill>
                    <a:srgbClr val="646464"/>
                  </a:solidFill>
                  <a:effectLst/>
                  <a:uLnTx/>
                  <a:uFillTx/>
                  <a:latin typeface="Arial"/>
                  <a:ea typeface="+mn-ea"/>
                  <a:cs typeface="+mn-cs"/>
                </a:rPr>
                <a:t>proble</a:t>
              </a:r>
              <a:r>
                <a:rPr lang="en-US" sz="1000" kern="0" dirty="0" err="1">
                  <a:solidFill>
                    <a:srgbClr val="646464"/>
                  </a:solidFill>
                  <a:latin typeface="Arial"/>
                </a:rPr>
                <a:t>ms</a:t>
              </a:r>
              <a:r>
                <a:rPr kumimoji="0" lang="en-US" sz="1000" b="0" i="0" u="none" strike="noStrike" kern="0" cap="none" spc="0" normalizeH="0" baseline="0" noProof="0" dirty="0">
                  <a:ln>
                    <a:noFill/>
                  </a:ln>
                  <a:solidFill>
                    <a:srgbClr val="646464"/>
                  </a:solidFill>
                  <a:effectLst/>
                  <a:uLnTx/>
                  <a:uFillTx/>
                  <a:latin typeface="Arial"/>
                  <a:ea typeface="+mn-ea"/>
                  <a:cs typeface="+mn-cs"/>
                </a:rPr>
                <a:t> &amp; Incidents</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88" name="Pentagon 87"/>
            <p:cNvSpPr/>
            <p:nvPr/>
          </p:nvSpPr>
          <p:spPr>
            <a:xfrm>
              <a:off x="7899230" y="4782126"/>
              <a:ext cx="2172893" cy="686530"/>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Service Catalogue</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91" name="Pentagon 90"/>
            <p:cNvSpPr/>
            <p:nvPr/>
          </p:nvSpPr>
          <p:spPr>
            <a:xfrm>
              <a:off x="5436136" y="3383280"/>
              <a:ext cx="2397593" cy="645557"/>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Applications</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92" name="Pentagon 91"/>
            <p:cNvSpPr/>
            <p:nvPr/>
          </p:nvSpPr>
          <p:spPr>
            <a:xfrm>
              <a:off x="5436136" y="4115467"/>
              <a:ext cx="2397593" cy="645557"/>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solutions Integration &amp; deployment</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93" name="Pentagon 92"/>
            <p:cNvSpPr/>
            <p:nvPr/>
          </p:nvSpPr>
          <p:spPr>
            <a:xfrm>
              <a:off x="5436136" y="4847654"/>
              <a:ext cx="2397593" cy="645557"/>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Network &amp; Communications</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94" name="Pentagon 93"/>
            <p:cNvSpPr/>
            <p:nvPr/>
          </p:nvSpPr>
          <p:spPr>
            <a:xfrm>
              <a:off x="3118576" y="5705451"/>
              <a:ext cx="2170416" cy="519948"/>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Communicate and train users</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95" name="Pentagon 94"/>
            <p:cNvSpPr/>
            <p:nvPr/>
          </p:nvSpPr>
          <p:spPr>
            <a:xfrm>
              <a:off x="5436136" y="5579842"/>
              <a:ext cx="2397593" cy="645557"/>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ea typeface="+mn-ea"/>
                  <a:cs typeface="+mn-cs"/>
                </a:rPr>
                <a:t>Manage Infra. &amp;</a:t>
              </a:r>
              <a:r>
                <a:rPr kumimoji="0" lang="en-US" sz="1000" b="0" i="0" u="none" strike="noStrike" kern="0" cap="none" spc="0" normalizeH="0" noProof="0" dirty="0">
                  <a:ln>
                    <a:noFill/>
                  </a:ln>
                  <a:solidFill>
                    <a:srgbClr val="646464"/>
                  </a:solidFill>
                  <a:effectLst/>
                  <a:uLnTx/>
                  <a:uFillTx/>
                  <a:latin typeface="Arial"/>
                  <a:ea typeface="+mn-ea"/>
                  <a:cs typeface="+mn-cs"/>
                </a:rPr>
                <a:t> Datacenter</a:t>
              </a:r>
              <a:endParaRPr kumimoji="0" lang="en-GB" sz="1000" b="0" i="0" u="none" strike="noStrike" kern="0" cap="none" spc="0" normalizeH="0" baseline="0" noProof="0" dirty="0">
                <a:ln>
                  <a:noFill/>
                </a:ln>
                <a:solidFill>
                  <a:srgbClr val="646464"/>
                </a:solidFill>
                <a:effectLst/>
                <a:uLnTx/>
                <a:uFillTx/>
                <a:latin typeface="Arial"/>
                <a:ea typeface="+mn-ea"/>
                <a:cs typeface="+mn-cs"/>
              </a:endParaRPr>
            </a:p>
          </p:txBody>
        </p:sp>
        <p:sp>
          <p:nvSpPr>
            <p:cNvPr id="96" name="Pentagon 95"/>
            <p:cNvSpPr/>
            <p:nvPr/>
          </p:nvSpPr>
          <p:spPr>
            <a:xfrm>
              <a:off x="7899230" y="5537200"/>
              <a:ext cx="2200649" cy="688199"/>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46464"/>
                  </a:solidFill>
                  <a:effectLst/>
                  <a:uLnTx/>
                  <a:uFillTx/>
                  <a:latin typeface="Arial"/>
                </a:rPr>
                <a:t>Manage IT Assets and </a:t>
              </a:r>
              <a:r>
                <a:rPr lang="en-US" sz="1000" kern="0" noProof="0" dirty="0" err="1">
                  <a:solidFill>
                    <a:srgbClr val="646464"/>
                  </a:solidFill>
                  <a:latin typeface="Arial"/>
                </a:rPr>
                <a:t>C</a:t>
              </a:r>
              <a:r>
                <a:rPr kumimoji="0" lang="en-US" sz="1000" b="0" i="0" u="none" strike="noStrike" kern="0" cap="none" spc="0" normalizeH="0" baseline="0" noProof="0" dirty="0" err="1">
                  <a:ln>
                    <a:noFill/>
                  </a:ln>
                  <a:solidFill>
                    <a:srgbClr val="646464"/>
                  </a:solidFill>
                  <a:effectLst/>
                  <a:uLnTx/>
                  <a:uFillTx/>
                  <a:latin typeface="Arial"/>
                </a:rPr>
                <a:t>onfig</a:t>
              </a:r>
              <a:r>
                <a:rPr kumimoji="0" lang="en-US" sz="1000" b="0" i="0" u="none" strike="noStrike" kern="0" cap="none" spc="0" normalizeH="0" baseline="0" noProof="0" dirty="0">
                  <a:ln>
                    <a:noFill/>
                  </a:ln>
                  <a:solidFill>
                    <a:srgbClr val="646464"/>
                  </a:solidFill>
                  <a:effectLst/>
                  <a:uLnTx/>
                  <a:uFillTx/>
                  <a:latin typeface="Arial"/>
                </a:rPr>
                <a:t>.</a:t>
              </a:r>
              <a:endParaRPr kumimoji="0" lang="en-GB" sz="1000" b="0" i="0" u="none" strike="noStrike" kern="0" cap="none" spc="0" normalizeH="0" baseline="0" noProof="0" dirty="0">
                <a:ln>
                  <a:noFill/>
                </a:ln>
                <a:solidFill>
                  <a:srgbClr val="646464"/>
                </a:solidFill>
                <a:effectLst/>
                <a:uLnTx/>
                <a:uFillTx/>
                <a:latin typeface="Arial"/>
              </a:endParaRPr>
            </a:p>
          </p:txBody>
        </p:sp>
        <p:sp>
          <p:nvSpPr>
            <p:cNvPr id="99" name="Pentagon 98"/>
            <p:cNvSpPr/>
            <p:nvPr/>
          </p:nvSpPr>
          <p:spPr>
            <a:xfrm>
              <a:off x="1154712" y="5022259"/>
              <a:ext cx="1910786" cy="370490"/>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a:defRPr/>
              </a:pPr>
              <a:r>
                <a:rPr lang="en-US" sz="1000" kern="0" dirty="0">
                  <a:solidFill>
                    <a:srgbClr val="646464"/>
                  </a:solidFill>
                </a:rPr>
                <a:t>Enterprise Architecture</a:t>
              </a:r>
              <a:endParaRPr lang="en-GB" sz="1000" kern="0" dirty="0">
                <a:solidFill>
                  <a:srgbClr val="646464"/>
                </a:solidFill>
              </a:endParaRPr>
            </a:p>
          </p:txBody>
        </p:sp>
        <p:sp>
          <p:nvSpPr>
            <p:cNvPr id="38" name="Pentagon 37"/>
            <p:cNvSpPr/>
            <p:nvPr/>
          </p:nvSpPr>
          <p:spPr>
            <a:xfrm>
              <a:off x="1141515" y="5439924"/>
              <a:ext cx="1910786" cy="370490"/>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a:defRPr/>
              </a:pPr>
              <a:r>
                <a:rPr lang="en-US" sz="1000" kern="0" dirty="0">
                  <a:solidFill>
                    <a:srgbClr val="646464"/>
                  </a:solidFill>
                </a:rPr>
                <a:t>Manage Finance</a:t>
              </a:r>
              <a:endParaRPr lang="en-GB" sz="1000" kern="0" dirty="0">
                <a:solidFill>
                  <a:srgbClr val="646464"/>
                </a:solidFill>
              </a:endParaRPr>
            </a:p>
          </p:txBody>
        </p:sp>
        <p:sp>
          <p:nvSpPr>
            <p:cNvPr id="39" name="Pentagon 38"/>
            <p:cNvSpPr/>
            <p:nvPr/>
          </p:nvSpPr>
          <p:spPr>
            <a:xfrm>
              <a:off x="1131355" y="5857591"/>
              <a:ext cx="1910786" cy="370490"/>
            </a:xfrm>
            <a:prstGeom prst="homePlate">
              <a:avLst/>
            </a:prstGeom>
            <a:solidFill>
              <a:schemeClr val="bg1">
                <a:lumMod val="95000"/>
              </a:schemeClr>
            </a:solidFill>
            <a:ln w="3175" cap="flat" cmpd="sng" algn="ctr">
              <a:noFill/>
              <a:prstDash val="solid"/>
            </a:ln>
            <a:effectLst/>
          </p:spPr>
          <p:txBody>
            <a:bodyPr lIns="127872" tIns="63940" rIns="127872" bIns="63940" rtlCol="0" anchor="ctr"/>
            <a:lstStyle/>
            <a:p>
              <a:pPr>
                <a:defRPr/>
              </a:pPr>
              <a:r>
                <a:rPr lang="en-US" sz="1000" kern="0" dirty="0">
                  <a:solidFill>
                    <a:srgbClr val="646464"/>
                  </a:solidFill>
                </a:rPr>
                <a:t>Manage Sourcing &amp; Vendors</a:t>
              </a:r>
              <a:endParaRPr lang="en-GB" sz="1000" kern="0" dirty="0">
                <a:solidFill>
                  <a:srgbClr val="646464"/>
                </a:solidFill>
              </a:endParaRPr>
            </a:p>
          </p:txBody>
        </p:sp>
      </p:grpSp>
      <p:pic>
        <p:nvPicPr>
          <p:cNvPr id="40" name="Picture 3"/>
          <p:cNvPicPr>
            <a:picLocks noChangeAspect="1" noChangeArrowheads="1"/>
          </p:cNvPicPr>
          <p:nvPr/>
        </p:nvPicPr>
        <p:blipFill>
          <a:blip r:embed="rId2" cstate="print">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643058" y="1614955"/>
            <a:ext cx="538102" cy="581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1" name="Group 60">
            <a:extLst>
              <a:ext uri="{FF2B5EF4-FFF2-40B4-BE49-F238E27FC236}">
                <a16:creationId xmlns:a16="http://schemas.microsoft.com/office/drawing/2014/main" id="{C981FE0E-6997-418C-9E32-A9984742D08B}"/>
              </a:ext>
            </a:extLst>
          </p:cNvPr>
          <p:cNvGrpSpPr/>
          <p:nvPr/>
        </p:nvGrpSpPr>
        <p:grpSpPr>
          <a:xfrm>
            <a:off x="1141516" y="2695157"/>
            <a:ext cx="8921372" cy="668516"/>
            <a:chOff x="1154713" y="2596346"/>
            <a:chExt cx="8705406" cy="678682"/>
          </a:xfrm>
          <a:solidFill>
            <a:srgbClr val="0070C0"/>
          </a:solidFill>
        </p:grpSpPr>
        <p:sp>
          <p:nvSpPr>
            <p:cNvPr id="62" name="Freeform 45">
              <a:extLst>
                <a:ext uri="{FF2B5EF4-FFF2-40B4-BE49-F238E27FC236}">
                  <a16:creationId xmlns:a16="http://schemas.microsoft.com/office/drawing/2014/main" id="{D4632D92-05FF-427F-9A38-88EC592B9CC8}"/>
                </a:ext>
              </a:extLst>
            </p:cNvPr>
            <p:cNvSpPr/>
            <p:nvPr/>
          </p:nvSpPr>
          <p:spPr>
            <a:xfrm>
              <a:off x="1154713" y="2602842"/>
              <a:ext cx="886738" cy="67218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chemeClr val="bg1"/>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Technology Strategy Dept.</a:t>
              </a:r>
            </a:p>
          </p:txBody>
        </p:sp>
        <p:sp>
          <p:nvSpPr>
            <p:cNvPr id="64" name="Freeform 45">
              <a:extLst>
                <a:ext uri="{FF2B5EF4-FFF2-40B4-BE49-F238E27FC236}">
                  <a16:creationId xmlns:a16="http://schemas.microsoft.com/office/drawing/2014/main" id="{97C3C216-56EB-4120-8110-E19714E8DE0C}"/>
                </a:ext>
              </a:extLst>
            </p:cNvPr>
            <p:cNvSpPr/>
            <p:nvPr/>
          </p:nvSpPr>
          <p:spPr>
            <a:xfrm>
              <a:off x="2139077" y="2601690"/>
              <a:ext cx="1041271" cy="67218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chemeClr val="bg1"/>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Technology Architecture Dept.</a:t>
              </a:r>
            </a:p>
          </p:txBody>
        </p:sp>
        <p:sp>
          <p:nvSpPr>
            <p:cNvPr id="66" name="Freeform 45">
              <a:extLst>
                <a:ext uri="{FF2B5EF4-FFF2-40B4-BE49-F238E27FC236}">
                  <a16:creationId xmlns:a16="http://schemas.microsoft.com/office/drawing/2014/main" id="{C47DF8CC-B1F3-4E18-BA4C-6B2BB3B722A6}"/>
                </a:ext>
              </a:extLst>
            </p:cNvPr>
            <p:cNvSpPr/>
            <p:nvPr/>
          </p:nvSpPr>
          <p:spPr>
            <a:xfrm>
              <a:off x="3277974" y="2597498"/>
              <a:ext cx="990209" cy="67218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chemeClr val="bg1"/>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Technology Solutions Dept.</a:t>
              </a:r>
            </a:p>
          </p:txBody>
        </p:sp>
        <p:sp>
          <p:nvSpPr>
            <p:cNvPr id="67" name="Freeform 45">
              <a:extLst>
                <a:ext uri="{FF2B5EF4-FFF2-40B4-BE49-F238E27FC236}">
                  <a16:creationId xmlns:a16="http://schemas.microsoft.com/office/drawing/2014/main" id="{E40D2974-8C32-42A9-9551-0ECFEFB44365}"/>
                </a:ext>
              </a:extLst>
            </p:cNvPr>
            <p:cNvSpPr/>
            <p:nvPr/>
          </p:nvSpPr>
          <p:spPr>
            <a:xfrm>
              <a:off x="4365809" y="2596346"/>
              <a:ext cx="1095626" cy="67218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chemeClr val="bg1"/>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Digital Solutions  Dept.</a:t>
              </a:r>
            </a:p>
          </p:txBody>
        </p:sp>
        <p:sp>
          <p:nvSpPr>
            <p:cNvPr id="69" name="Freeform 45">
              <a:extLst>
                <a:ext uri="{FF2B5EF4-FFF2-40B4-BE49-F238E27FC236}">
                  <a16:creationId xmlns:a16="http://schemas.microsoft.com/office/drawing/2014/main" id="{64744C72-699C-4275-AE67-B59BBB9E65EA}"/>
                </a:ext>
              </a:extLst>
            </p:cNvPr>
            <p:cNvSpPr/>
            <p:nvPr/>
          </p:nvSpPr>
          <p:spPr>
            <a:xfrm>
              <a:off x="5559061" y="2601689"/>
              <a:ext cx="2119928" cy="67218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chemeClr val="bg1"/>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Technology Operation </a:t>
              </a:r>
            </a:p>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Dept.</a:t>
              </a:r>
            </a:p>
          </p:txBody>
        </p:sp>
        <p:sp>
          <p:nvSpPr>
            <p:cNvPr id="70" name="Freeform 45">
              <a:extLst>
                <a:ext uri="{FF2B5EF4-FFF2-40B4-BE49-F238E27FC236}">
                  <a16:creationId xmlns:a16="http://schemas.microsoft.com/office/drawing/2014/main" id="{E0AF772C-4B40-49EE-AA74-6FEB69851025}"/>
                </a:ext>
              </a:extLst>
            </p:cNvPr>
            <p:cNvSpPr/>
            <p:nvPr/>
          </p:nvSpPr>
          <p:spPr>
            <a:xfrm>
              <a:off x="7776616" y="2596346"/>
              <a:ext cx="2083503" cy="67218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chemeClr val="bg1"/>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Technology Services  </a:t>
              </a:r>
            </a:p>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rPr>
                <a:t>Dept.</a:t>
              </a:r>
            </a:p>
          </p:txBody>
        </p:sp>
      </p:grpSp>
    </p:spTree>
    <p:extLst>
      <p:ext uri="{BB962C8B-B14F-4D97-AF65-F5344CB8AC3E}">
        <p14:creationId xmlns:p14="http://schemas.microsoft.com/office/powerpoint/2010/main" val="2146134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045863"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the key enablers will help us maximize our Value Chain</a:t>
            </a:r>
            <a:endParaRPr lang="en-GB" sz="3200" dirty="0"/>
          </a:p>
        </p:txBody>
      </p:sp>
      <p:sp>
        <p:nvSpPr>
          <p:cNvPr id="21" name="Rectangle 20"/>
          <p:cNvSpPr/>
          <p:nvPr/>
        </p:nvSpPr>
        <p:spPr bwMode="auto">
          <a:xfrm>
            <a:off x="891128" y="3321194"/>
            <a:ext cx="2310519" cy="1476486"/>
          </a:xfrm>
          <a:prstGeom prst="rect">
            <a:avLst/>
          </a:prstGeom>
          <a:solidFill>
            <a:schemeClr val="tx2"/>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algn="ctr" defTabSz="995012"/>
            <a:r>
              <a:rPr lang="en-US" sz="1600" b="1" dirty="0">
                <a:solidFill>
                  <a:srgbClr val="FFFFFF"/>
                </a:solidFill>
                <a:latin typeface="Calibri"/>
              </a:rPr>
              <a:t>Results oriented processes</a:t>
            </a:r>
          </a:p>
        </p:txBody>
      </p:sp>
      <p:sp>
        <p:nvSpPr>
          <p:cNvPr id="22" name="Rectangle 21"/>
          <p:cNvSpPr/>
          <p:nvPr/>
        </p:nvSpPr>
        <p:spPr bwMode="auto">
          <a:xfrm>
            <a:off x="891128" y="1729389"/>
            <a:ext cx="2310519" cy="1476486"/>
          </a:xfrm>
          <a:prstGeom prst="rect">
            <a:avLst/>
          </a:prstGeom>
          <a:solidFill>
            <a:schemeClr val="tx2"/>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algn="ctr" defTabSz="995012"/>
            <a:r>
              <a:rPr lang="en-US" sz="1600" b="1" dirty="0">
                <a:solidFill>
                  <a:srgbClr val="FFFFFF"/>
                </a:solidFill>
                <a:latin typeface="Calibri"/>
              </a:rPr>
              <a:t>World class talent</a:t>
            </a:r>
          </a:p>
        </p:txBody>
      </p:sp>
      <p:sp>
        <p:nvSpPr>
          <p:cNvPr id="23" name="Rectangle 22"/>
          <p:cNvSpPr/>
          <p:nvPr/>
        </p:nvSpPr>
        <p:spPr bwMode="auto">
          <a:xfrm>
            <a:off x="3363826" y="1729389"/>
            <a:ext cx="8066174" cy="1476486"/>
          </a:xfrm>
          <a:prstGeom prst="rect">
            <a:avLst/>
          </a:prstGeom>
          <a:solidFill>
            <a:srgbClr val="FFFFFF"/>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marL="171390" indent="-171390" defTabSz="995012">
              <a:spcAft>
                <a:spcPts val="1200"/>
              </a:spcAft>
              <a:buFont typeface="EYInterstate" pitchFamily="2" charset="0"/>
              <a:buChar char="•"/>
            </a:pPr>
            <a:r>
              <a:rPr lang="en-US" sz="1200" dirty="0">
                <a:solidFill>
                  <a:schemeClr val="accent2"/>
                </a:solidFill>
                <a:latin typeface="Calibri"/>
              </a:rPr>
              <a:t>We will take the lead in enhancing our people’s capabilities and careers through development &amp; training</a:t>
            </a:r>
          </a:p>
          <a:p>
            <a:pPr marL="171390" indent="-171390" defTabSz="995012">
              <a:spcAft>
                <a:spcPts val="1200"/>
              </a:spcAft>
              <a:buFont typeface="EYInterstate" pitchFamily="2" charset="0"/>
              <a:buChar char="•"/>
            </a:pPr>
            <a:r>
              <a:rPr lang="en-US" sz="1200" dirty="0">
                <a:solidFill>
                  <a:schemeClr val="accent2"/>
                </a:solidFill>
                <a:latin typeface="Calibri"/>
              </a:rPr>
              <a:t>We will provide the working environment for our people to empower them to become the highest performing tea[NAME]</a:t>
            </a:r>
          </a:p>
          <a:p>
            <a:pPr marL="171390" indent="-171390" defTabSz="995012">
              <a:spcAft>
                <a:spcPts val="1200"/>
              </a:spcAft>
              <a:buFont typeface="EYInterstate" pitchFamily="2" charset="0"/>
              <a:buChar char="•"/>
            </a:pPr>
            <a:r>
              <a:rPr lang="en-US" sz="1200" dirty="0">
                <a:solidFill>
                  <a:schemeClr val="accent2"/>
                </a:solidFill>
                <a:latin typeface="Calibri"/>
              </a:rPr>
              <a:t>Employ impactful Diversity and Inclusive (D&amp;I) programs that expand the talent pool </a:t>
            </a:r>
          </a:p>
        </p:txBody>
      </p:sp>
      <p:sp>
        <p:nvSpPr>
          <p:cNvPr id="24" name="Rectangle 23"/>
          <p:cNvSpPr/>
          <p:nvPr/>
        </p:nvSpPr>
        <p:spPr bwMode="auto">
          <a:xfrm>
            <a:off x="891128" y="4913000"/>
            <a:ext cx="2310519" cy="1476486"/>
          </a:xfrm>
          <a:prstGeom prst="rect">
            <a:avLst/>
          </a:prstGeom>
          <a:solidFill>
            <a:schemeClr val="tx2"/>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algn="ctr" defTabSz="995012"/>
            <a:r>
              <a:rPr lang="en-US" sz="1600" b="1" dirty="0">
                <a:solidFill>
                  <a:srgbClr val="FFFFFF"/>
                </a:solidFill>
                <a:latin typeface="Calibri"/>
              </a:rPr>
              <a:t>100% commitment to HSSE</a:t>
            </a:r>
          </a:p>
        </p:txBody>
      </p:sp>
      <p:sp>
        <p:nvSpPr>
          <p:cNvPr id="25" name="Rectangle 24"/>
          <p:cNvSpPr/>
          <p:nvPr/>
        </p:nvSpPr>
        <p:spPr bwMode="auto">
          <a:xfrm>
            <a:off x="3363826" y="3322040"/>
            <a:ext cx="8066174" cy="1476486"/>
          </a:xfrm>
          <a:prstGeom prst="rect">
            <a:avLst/>
          </a:prstGeom>
          <a:solidFill>
            <a:srgbClr val="FFFFFF"/>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marL="171390" indent="-171390" defTabSz="995012">
              <a:spcAft>
                <a:spcPts val="1200"/>
              </a:spcAft>
              <a:buFont typeface="EYInterstate" pitchFamily="2" charset="0"/>
              <a:buChar char="•"/>
            </a:pPr>
            <a:r>
              <a:rPr lang="en-US" sz="1200" dirty="0">
                <a:solidFill>
                  <a:schemeClr val="accent2"/>
                </a:solidFill>
                <a:latin typeface="Calibri"/>
              </a:rPr>
              <a:t>We are committed and passionate about delivering excellent service and support to Client Distribution business divisions</a:t>
            </a:r>
          </a:p>
          <a:p>
            <a:pPr marL="171390" indent="-171390" defTabSz="995012">
              <a:spcAft>
                <a:spcPts val="1200"/>
              </a:spcAft>
              <a:buFont typeface="EYInterstate" pitchFamily="2" charset="0"/>
              <a:buChar char="•"/>
            </a:pPr>
            <a:r>
              <a:rPr lang="en-US" sz="1200" dirty="0">
                <a:solidFill>
                  <a:schemeClr val="accent2"/>
                </a:solidFill>
                <a:latin typeface="Calibri"/>
              </a:rPr>
              <a:t>Collectively, we will show relentless focus in achieving [COMPANY] business objectives </a:t>
            </a:r>
          </a:p>
          <a:p>
            <a:pPr marL="171390" indent="-171390" defTabSz="995012">
              <a:spcAft>
                <a:spcPts val="1200"/>
              </a:spcAft>
              <a:buFont typeface="EYInterstate" pitchFamily="2" charset="0"/>
              <a:buChar char="•"/>
            </a:pPr>
            <a:r>
              <a:rPr lang="en-US" sz="1200" dirty="0">
                <a:solidFill>
                  <a:schemeClr val="accent2"/>
                </a:solidFill>
                <a:latin typeface="Calibri"/>
              </a:rPr>
              <a:t>We will remain accountable to our customers, our people, business divisions and the larger community</a:t>
            </a:r>
          </a:p>
          <a:p>
            <a:pPr marL="171390" indent="-171390" defTabSz="995012">
              <a:spcAft>
                <a:spcPts val="1200"/>
              </a:spcAft>
              <a:buFont typeface="EYInterstate" pitchFamily="2" charset="0"/>
              <a:buChar char="•"/>
            </a:pPr>
            <a:r>
              <a:rPr lang="en-US" sz="1200" dirty="0">
                <a:solidFill>
                  <a:schemeClr val="accent2"/>
                </a:solidFill>
                <a:latin typeface="Calibri"/>
              </a:rPr>
              <a:t>We will deliver new enabling technologies that will increase productivity and accessibility, while protecting high value data assets in an increasingly mobile workforce</a:t>
            </a:r>
          </a:p>
        </p:txBody>
      </p:sp>
      <p:sp>
        <p:nvSpPr>
          <p:cNvPr id="26" name="Rectangle 25"/>
          <p:cNvSpPr/>
          <p:nvPr/>
        </p:nvSpPr>
        <p:spPr bwMode="auto">
          <a:xfrm>
            <a:off x="3333285" y="4935889"/>
            <a:ext cx="8066174" cy="1476486"/>
          </a:xfrm>
          <a:prstGeom prst="rect">
            <a:avLst/>
          </a:prstGeom>
          <a:solidFill>
            <a:srgbClr val="FFFFFF"/>
          </a:solidFill>
          <a:ln w="9525" cap="flat" cmpd="sng" algn="ctr">
            <a:solidFill>
              <a:srgbClr val="0070C0"/>
            </a:solidFill>
            <a:prstDash val="solid"/>
            <a:round/>
            <a:headEnd type="none" w="med" len="med"/>
            <a:tailEnd type="none" w="med" len="med"/>
          </a:ln>
          <a:effectLst/>
        </p:spPr>
        <p:txBody>
          <a:bodyPr rot="0" spcFirstLastPara="0" vertOverflow="overflow" horzOverflow="overflow" vert="horz" wrap="square" lIns="71975" tIns="71975" rIns="71975" bIns="71975" numCol="1" spcCol="0" rtlCol="0" fromWordArt="0" anchor="ctr" anchorCtr="0" forceAA="0" compatLnSpc="1">
            <a:prstTxWarp prst="textNoShape">
              <a:avLst/>
            </a:prstTxWarp>
            <a:noAutofit/>
          </a:bodyPr>
          <a:lstStyle/>
          <a:p>
            <a:pPr marL="171390" indent="-171390" defTabSz="995012">
              <a:spcAft>
                <a:spcPts val="1200"/>
              </a:spcAft>
              <a:buFont typeface="EYInterstate" pitchFamily="2" charset="0"/>
              <a:buChar char="•"/>
            </a:pPr>
            <a:r>
              <a:rPr lang="en-US" sz="1200" dirty="0">
                <a:solidFill>
                  <a:schemeClr val="accent2"/>
                </a:solidFill>
                <a:latin typeface="Calibri"/>
              </a:rPr>
              <a:t>As individuals and tea[NAME], we will be committed to pursue the goal of no harm to people and no damage to the environment </a:t>
            </a:r>
          </a:p>
          <a:p>
            <a:pPr marL="171390" indent="-171390" defTabSz="995012">
              <a:spcAft>
                <a:spcPts val="1200"/>
              </a:spcAft>
              <a:buFont typeface="EYInterstate" pitchFamily="2" charset="0"/>
              <a:buChar char="•"/>
            </a:pPr>
            <a:r>
              <a:rPr lang="en-US" sz="1200" dirty="0">
                <a:solidFill>
                  <a:schemeClr val="accent2"/>
                </a:solidFill>
                <a:latin typeface="Calibri"/>
              </a:rPr>
              <a:t>We will take responsibility to support health, safety, security, and environmental initiatives</a:t>
            </a:r>
          </a:p>
        </p:txBody>
      </p:sp>
      <p:sp>
        <p:nvSpPr>
          <p:cNvPr id="27" name="TextBox 26"/>
          <p:cNvSpPr txBox="1"/>
          <p:nvPr/>
        </p:nvSpPr>
        <p:spPr>
          <a:xfrm>
            <a:off x="3363823" y="1414307"/>
            <a:ext cx="7990740" cy="307744"/>
          </a:xfrm>
          <a:prstGeom prst="rect">
            <a:avLst/>
          </a:prstGeom>
          <a:noFill/>
          <a:ln>
            <a:noFill/>
          </a:ln>
        </p:spPr>
        <p:txBody>
          <a:bodyPr wrap="square" lIns="0" tIns="45704" rIns="91408" bIns="45704" rtlCol="0">
            <a:spAutoFit/>
          </a:bodyPr>
          <a:lstStyle/>
          <a:p>
            <a:pPr algn="ctr" defTabSz="457200"/>
            <a:r>
              <a:rPr lang="en-US" sz="1400" b="1" dirty="0">
                <a:solidFill>
                  <a:schemeClr val="accent2"/>
                </a:solidFill>
                <a:latin typeface="Calibri"/>
              </a:rPr>
              <a:t>Description</a:t>
            </a:r>
            <a:endParaRPr lang="en-IN" sz="1400" b="1" dirty="0">
              <a:solidFill>
                <a:schemeClr val="accent2"/>
              </a:solidFill>
              <a:latin typeface="Calibri"/>
            </a:endParaRPr>
          </a:p>
        </p:txBody>
      </p:sp>
      <p:sp>
        <p:nvSpPr>
          <p:cNvPr id="28" name="Rectangle 27"/>
          <p:cNvSpPr/>
          <p:nvPr/>
        </p:nvSpPr>
        <p:spPr bwMode="auto">
          <a:xfrm>
            <a:off x="302871" y="1729389"/>
            <a:ext cx="428650" cy="4660097"/>
          </a:xfrm>
          <a:prstGeom prst="rect">
            <a:avLst/>
          </a:prstGeom>
          <a:noFill/>
          <a:ln w="9525" cap="flat" cmpd="sng" algn="ctr">
            <a:solidFill>
              <a:srgbClr val="0070C0"/>
            </a:solidFill>
            <a:prstDash val="solid"/>
            <a:round/>
            <a:headEnd type="none" w="med" len="med"/>
            <a:tailEnd type="none" w="med" len="med"/>
          </a:ln>
          <a:effectLst/>
        </p:spPr>
        <p:txBody>
          <a:bodyPr rot="0" spcFirstLastPara="0" vertOverflow="overflow" horzOverflow="overflow" vert="vert270" wrap="square" lIns="35988" tIns="35988" rIns="35988" bIns="35988" numCol="1" spcCol="0" rtlCol="0" fromWordArt="0" anchor="ctr" anchorCtr="0" forceAA="0" compatLnSpc="1">
            <a:prstTxWarp prst="textNoShape">
              <a:avLst/>
            </a:prstTxWarp>
            <a:noAutofit/>
          </a:bodyPr>
          <a:lstStyle/>
          <a:p>
            <a:pPr algn="ctr" defTabSz="995012"/>
            <a:r>
              <a:rPr lang="en-US" dirty="0">
                <a:solidFill>
                  <a:schemeClr val="accent1"/>
                </a:solidFill>
                <a:latin typeface="Calibri"/>
              </a:rPr>
              <a:t>Business Key enablers</a:t>
            </a:r>
            <a:endParaRPr lang="en-IN" dirty="0">
              <a:solidFill>
                <a:schemeClr val="accent1"/>
              </a:solidFill>
              <a:latin typeface="Calibri"/>
            </a:endParaRPr>
          </a:p>
        </p:txBody>
      </p:sp>
    </p:spTree>
    <p:extLst>
      <p:ext uri="{BB962C8B-B14F-4D97-AF65-F5344CB8AC3E}">
        <p14:creationId xmlns:p14="http://schemas.microsoft.com/office/powerpoint/2010/main" val="1364998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56422"/>
            <a:ext cx="10283032"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Key IT Metrics and KPI to measure the efficiency of Our Value Chain</a:t>
            </a:r>
            <a:r>
              <a:rPr lang="en-GB" sz="3200" dirty="0"/>
              <a:t> &amp; </a:t>
            </a:r>
            <a:r>
              <a:rPr lang="en-US" sz="3200" dirty="0"/>
              <a:t>report on our performance</a:t>
            </a:r>
            <a:endParaRPr lang="en-GB" sz="3200" dirty="0"/>
          </a:p>
        </p:txBody>
      </p:sp>
      <p:sp>
        <p:nvSpPr>
          <p:cNvPr id="49" name="Content Placeholder 3"/>
          <p:cNvSpPr txBox="1">
            <a:spLocks/>
          </p:cNvSpPr>
          <p:nvPr/>
        </p:nvSpPr>
        <p:spPr>
          <a:xfrm>
            <a:off x="517048" y="1640473"/>
            <a:ext cx="10674306" cy="422514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200" kern="1200" dirty="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lang="en-US" sz="1200" kern="1200" dirty="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lang="en-US" sz="1200" kern="1200" dirty="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lang="en-US" sz="1200" kern="1200" dirty="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lang="en-US"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Current IT KPIs don’t support an evolved measurement of IT and reporting. The list below represents a target set of metrics / goal for an evolved ITD:</a:t>
            </a:r>
          </a:p>
        </p:txBody>
      </p:sp>
      <p:grpSp>
        <p:nvGrpSpPr>
          <p:cNvPr id="75" name="Group 74">
            <a:extLst>
              <a:ext uri="{FF2B5EF4-FFF2-40B4-BE49-F238E27FC236}">
                <a16:creationId xmlns:a16="http://schemas.microsoft.com/office/drawing/2014/main" id="{7FD5E7A1-D6ED-4D62-9E42-073375574F97}"/>
              </a:ext>
            </a:extLst>
          </p:cNvPr>
          <p:cNvGrpSpPr/>
          <p:nvPr/>
        </p:nvGrpSpPr>
        <p:grpSpPr>
          <a:xfrm>
            <a:off x="598300" y="1990267"/>
            <a:ext cx="10302930" cy="4489852"/>
            <a:chOff x="896012" y="1299151"/>
            <a:chExt cx="10302930" cy="4489852"/>
          </a:xfrm>
        </p:grpSpPr>
        <p:sp>
          <p:nvSpPr>
            <p:cNvPr id="76" name="Rectangle 75">
              <a:extLst>
                <a:ext uri="{FF2B5EF4-FFF2-40B4-BE49-F238E27FC236}">
                  <a16:creationId xmlns:a16="http://schemas.microsoft.com/office/drawing/2014/main" id="{2E496656-8D28-432F-9172-BAE31A912FEC}"/>
                </a:ext>
              </a:extLst>
            </p:cNvPr>
            <p:cNvSpPr/>
            <p:nvPr/>
          </p:nvSpPr>
          <p:spPr bwMode="auto">
            <a:xfrm>
              <a:off x="903550" y="1608471"/>
              <a:ext cx="1560768" cy="1422003"/>
            </a:xfrm>
            <a:prstGeom prst="rect">
              <a:avLst/>
            </a:prstGeom>
            <a:solidFill>
              <a:srgbClr val="1E3B6B"/>
            </a:solidFill>
            <a:ln w="952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dirty="0">
                  <a:ln>
                    <a:noFill/>
                  </a:ln>
                  <a:solidFill>
                    <a:prstClr val="white"/>
                  </a:solidFill>
                  <a:effectLst/>
                  <a:uLnTx/>
                  <a:uFillTx/>
                  <a:cs typeface="Calibri" panose="020F0502020204030204" pitchFamily="34" charset="0"/>
                </a:rPr>
                <a:t>Enable The Business Transformation</a:t>
              </a:r>
            </a:p>
          </p:txBody>
        </p:sp>
        <p:sp>
          <p:nvSpPr>
            <p:cNvPr id="77" name="TextBox 76">
              <a:extLst>
                <a:ext uri="{FF2B5EF4-FFF2-40B4-BE49-F238E27FC236}">
                  <a16:creationId xmlns:a16="http://schemas.microsoft.com/office/drawing/2014/main" id="{45C85B20-ADC9-4F30-9F3B-B81B34105F54}"/>
                </a:ext>
              </a:extLst>
            </p:cNvPr>
            <p:cNvSpPr txBox="1"/>
            <p:nvPr/>
          </p:nvSpPr>
          <p:spPr>
            <a:xfrm>
              <a:off x="5248817" y="1299152"/>
              <a:ext cx="5950125" cy="307777"/>
            </a:xfrm>
            <a:prstGeom prst="rect">
              <a:avLst/>
            </a:prstGeom>
            <a:noFill/>
          </p:spPr>
          <p:txBody>
            <a:bodyPr wrap="square" l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1E3B6B"/>
                  </a:solidFill>
                  <a:effectLst/>
                  <a:uLnTx/>
                  <a:uFillTx/>
                </a:rPr>
                <a:t>Description of targets (in 2019)</a:t>
              </a:r>
              <a:endParaRPr kumimoji="0" lang="en-IN" sz="1400" b="1" i="0" u="none" strike="noStrike" kern="0" cap="none" spc="0" normalizeH="0" baseline="0" noProof="0" dirty="0">
                <a:ln>
                  <a:noFill/>
                </a:ln>
                <a:solidFill>
                  <a:srgbClr val="1E3B6B"/>
                </a:solidFill>
                <a:effectLst/>
                <a:uLnTx/>
                <a:uFillTx/>
              </a:endParaRPr>
            </a:p>
          </p:txBody>
        </p:sp>
        <p:sp>
          <p:nvSpPr>
            <p:cNvPr id="78" name="TextBox 77">
              <a:extLst>
                <a:ext uri="{FF2B5EF4-FFF2-40B4-BE49-F238E27FC236}">
                  <a16:creationId xmlns:a16="http://schemas.microsoft.com/office/drawing/2014/main" id="{03A9A581-A329-41FB-B6DF-D1F251BC9EA7}"/>
                </a:ext>
              </a:extLst>
            </p:cNvPr>
            <p:cNvSpPr txBox="1"/>
            <p:nvPr/>
          </p:nvSpPr>
          <p:spPr>
            <a:xfrm>
              <a:off x="2817873" y="1299151"/>
              <a:ext cx="2202527" cy="307777"/>
            </a:xfrm>
            <a:prstGeom prst="rect">
              <a:avLst/>
            </a:prstGeom>
            <a:noFill/>
          </p:spPr>
          <p:txBody>
            <a:bodyPr wrap="square" l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1E3B6B"/>
                  </a:solidFill>
                  <a:effectLst/>
                  <a:uLnTx/>
                  <a:uFillTx/>
                </a:rPr>
                <a:t>Success Measures</a:t>
              </a:r>
              <a:endParaRPr kumimoji="0" lang="en-IN" sz="1400" b="1" i="0" u="none" strike="noStrike" kern="0" cap="none" spc="0" normalizeH="0" baseline="0" noProof="0" dirty="0">
                <a:ln>
                  <a:noFill/>
                </a:ln>
                <a:solidFill>
                  <a:srgbClr val="1E3B6B"/>
                </a:solidFill>
                <a:effectLst/>
                <a:uLnTx/>
                <a:uFillTx/>
              </a:endParaRPr>
            </a:p>
          </p:txBody>
        </p:sp>
        <p:sp>
          <p:nvSpPr>
            <p:cNvPr id="79" name="Rectangle 78">
              <a:extLst>
                <a:ext uri="{FF2B5EF4-FFF2-40B4-BE49-F238E27FC236}">
                  <a16:creationId xmlns:a16="http://schemas.microsoft.com/office/drawing/2014/main" id="{0D3FCF96-57E2-4C97-9FAF-F0AEB1D1A175}"/>
                </a:ext>
              </a:extLst>
            </p:cNvPr>
            <p:cNvSpPr/>
            <p:nvPr/>
          </p:nvSpPr>
          <p:spPr bwMode="auto">
            <a:xfrm>
              <a:off x="2751124" y="1608471"/>
              <a:ext cx="2269271"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Project progress</a:t>
              </a:r>
              <a:endParaRPr kumimoji="0" lang="en-IN" sz="1200" b="0" i="0" u="none" strike="noStrike" kern="0" cap="none" spc="0" normalizeH="0" baseline="0" noProof="0" dirty="0">
                <a:ln>
                  <a:noFill/>
                </a:ln>
                <a:solidFill>
                  <a:srgbClr val="1E3B6B"/>
                </a:solidFill>
                <a:effectLst/>
                <a:uLnTx/>
                <a:uFillTx/>
              </a:endParaRPr>
            </a:p>
          </p:txBody>
        </p:sp>
        <p:sp>
          <p:nvSpPr>
            <p:cNvPr id="80" name="Rectangle 79">
              <a:extLst>
                <a:ext uri="{FF2B5EF4-FFF2-40B4-BE49-F238E27FC236}">
                  <a16:creationId xmlns:a16="http://schemas.microsoft.com/office/drawing/2014/main" id="{2CD8E158-8439-4811-8B43-C86FB27A7D5F}"/>
                </a:ext>
              </a:extLst>
            </p:cNvPr>
            <p:cNvSpPr/>
            <p:nvPr/>
          </p:nvSpPr>
          <p:spPr bwMode="auto">
            <a:xfrm>
              <a:off x="2751125" y="1984214"/>
              <a:ext cx="2269271"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User Satisfaction</a:t>
              </a:r>
              <a:endParaRPr kumimoji="0" lang="en-IN" sz="1200" b="0" i="0" u="none" strike="noStrike" kern="0" cap="none" spc="0" normalizeH="0" baseline="0" noProof="0" dirty="0">
                <a:ln>
                  <a:noFill/>
                </a:ln>
                <a:solidFill>
                  <a:srgbClr val="1E3B6B"/>
                </a:solidFill>
                <a:effectLst/>
                <a:uLnTx/>
                <a:uFillTx/>
              </a:endParaRPr>
            </a:p>
          </p:txBody>
        </p:sp>
        <p:sp>
          <p:nvSpPr>
            <p:cNvPr id="81" name="Rectangle 80">
              <a:extLst>
                <a:ext uri="{FF2B5EF4-FFF2-40B4-BE49-F238E27FC236}">
                  <a16:creationId xmlns:a16="http://schemas.microsoft.com/office/drawing/2014/main" id="{BB3C0E47-08EF-4AD6-8381-FA8096E7D400}"/>
                </a:ext>
              </a:extLst>
            </p:cNvPr>
            <p:cNvSpPr/>
            <p:nvPr/>
          </p:nvSpPr>
          <p:spPr bwMode="auto">
            <a:xfrm>
              <a:off x="5183217" y="1608471"/>
              <a:ext cx="5980348"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All Projects completed as per scope, Time &amp; Cost</a:t>
              </a:r>
            </a:p>
          </p:txBody>
        </p:sp>
        <p:sp>
          <p:nvSpPr>
            <p:cNvPr id="82" name="Rectangle 81">
              <a:extLst>
                <a:ext uri="{FF2B5EF4-FFF2-40B4-BE49-F238E27FC236}">
                  <a16:creationId xmlns:a16="http://schemas.microsoft.com/office/drawing/2014/main" id="{A0EF861D-72AA-452F-9827-EDAFC99AA17D}"/>
                </a:ext>
              </a:extLst>
            </p:cNvPr>
            <p:cNvSpPr/>
            <p:nvPr/>
          </p:nvSpPr>
          <p:spPr bwMode="auto">
            <a:xfrm>
              <a:off x="5183217" y="1984214"/>
              <a:ext cx="5980348"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Achieve [</a:t>
              </a:r>
              <a:r>
                <a:rPr lang="en-US" sz="1200" kern="0" dirty="0">
                  <a:solidFill>
                    <a:srgbClr val="1E3B6B"/>
                  </a:solidFill>
                </a:rPr>
                <a:t>XX</a:t>
              </a:r>
              <a:r>
                <a:rPr kumimoji="0" lang="en-US" sz="1200" b="0" i="0" u="none" strike="noStrike" kern="0" cap="none" spc="0" normalizeH="0" baseline="0" noProof="0" dirty="0">
                  <a:ln>
                    <a:noFill/>
                  </a:ln>
                  <a:solidFill>
                    <a:srgbClr val="1E3B6B"/>
                  </a:solidFill>
                  <a:effectLst/>
                  <a:uLnTx/>
                  <a:uFillTx/>
                </a:rPr>
                <a:t>]% of business users satisfaction with ease of use of technology solutions</a:t>
              </a:r>
              <a:endParaRPr kumimoji="0" lang="en-IN" sz="1200" b="0" i="0" u="none" strike="noStrike" kern="0" cap="none" spc="0" normalizeH="0" baseline="0" noProof="0" dirty="0">
                <a:ln>
                  <a:noFill/>
                </a:ln>
                <a:solidFill>
                  <a:srgbClr val="1E3B6B"/>
                </a:solidFill>
                <a:effectLst/>
                <a:uLnTx/>
                <a:uFillTx/>
              </a:endParaRPr>
            </a:p>
          </p:txBody>
        </p:sp>
        <p:sp>
          <p:nvSpPr>
            <p:cNvPr id="83" name="Rectangle 82">
              <a:extLst>
                <a:ext uri="{FF2B5EF4-FFF2-40B4-BE49-F238E27FC236}">
                  <a16:creationId xmlns:a16="http://schemas.microsoft.com/office/drawing/2014/main" id="{785536C2-3A2A-4FE0-B5ED-CB4F82958573}"/>
                </a:ext>
              </a:extLst>
            </p:cNvPr>
            <p:cNvSpPr/>
            <p:nvPr/>
          </p:nvSpPr>
          <p:spPr bwMode="auto">
            <a:xfrm>
              <a:off x="903550" y="5087705"/>
              <a:ext cx="1560768" cy="701298"/>
            </a:xfrm>
            <a:prstGeom prst="rect">
              <a:avLst/>
            </a:prstGeom>
            <a:solidFill>
              <a:srgbClr val="1E3B6B">
                <a:lumMod val="60000"/>
                <a:lumOff val="40000"/>
              </a:srgbClr>
            </a:solidFill>
            <a:ln w="952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dirty="0">
                  <a:ln>
                    <a:noFill/>
                  </a:ln>
                  <a:solidFill>
                    <a:prstClr val="white"/>
                  </a:solidFill>
                  <a:effectLst/>
                  <a:uLnTx/>
                  <a:uFillTx/>
                  <a:cs typeface="Calibri" panose="020F0502020204030204" pitchFamily="34" charset="0"/>
                </a:rPr>
                <a:t>Leverage Client Group Initiatives</a:t>
              </a:r>
            </a:p>
          </p:txBody>
        </p:sp>
        <p:sp>
          <p:nvSpPr>
            <p:cNvPr id="84" name="Rectangle 83">
              <a:extLst>
                <a:ext uri="{FF2B5EF4-FFF2-40B4-BE49-F238E27FC236}">
                  <a16:creationId xmlns:a16="http://schemas.microsoft.com/office/drawing/2014/main" id="{9D99AD03-EF67-4C5A-8856-653A321B360A}"/>
                </a:ext>
              </a:extLst>
            </p:cNvPr>
            <p:cNvSpPr/>
            <p:nvPr/>
          </p:nvSpPr>
          <p:spPr bwMode="auto">
            <a:xfrm>
              <a:off x="2758665" y="5081078"/>
              <a:ext cx="2269271"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Project Progress</a:t>
              </a:r>
            </a:p>
          </p:txBody>
        </p:sp>
        <p:sp>
          <p:nvSpPr>
            <p:cNvPr id="85" name="Rectangle 84">
              <a:extLst>
                <a:ext uri="{FF2B5EF4-FFF2-40B4-BE49-F238E27FC236}">
                  <a16:creationId xmlns:a16="http://schemas.microsoft.com/office/drawing/2014/main" id="{99C630E8-83CF-432D-8C43-9BC35DC3A4A0}"/>
                </a:ext>
              </a:extLst>
            </p:cNvPr>
            <p:cNvSpPr/>
            <p:nvPr/>
          </p:nvSpPr>
          <p:spPr bwMode="auto">
            <a:xfrm>
              <a:off x="2758665" y="5483489"/>
              <a:ext cx="2269271" cy="305514"/>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Successful Delivery</a:t>
              </a:r>
            </a:p>
          </p:txBody>
        </p:sp>
        <p:sp>
          <p:nvSpPr>
            <p:cNvPr id="86" name="Rectangle 85">
              <a:extLst>
                <a:ext uri="{FF2B5EF4-FFF2-40B4-BE49-F238E27FC236}">
                  <a16:creationId xmlns:a16="http://schemas.microsoft.com/office/drawing/2014/main" id="{3D85A8A6-9C4D-4217-8195-2FA66A761CD0}"/>
                </a:ext>
              </a:extLst>
            </p:cNvPr>
            <p:cNvSpPr/>
            <p:nvPr/>
          </p:nvSpPr>
          <p:spPr bwMode="auto">
            <a:xfrm>
              <a:off x="5183218" y="5081078"/>
              <a:ext cx="5980348"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All Projects are progressing with no significant issues as per Plan </a:t>
              </a:r>
              <a:endParaRPr kumimoji="0" lang="en-IN" sz="1200" b="0" i="0" u="none" strike="noStrike" kern="0" cap="none" spc="0" normalizeH="0" baseline="0" noProof="0" dirty="0">
                <a:ln>
                  <a:noFill/>
                </a:ln>
                <a:solidFill>
                  <a:srgbClr val="1E3B6B"/>
                </a:solidFill>
                <a:effectLst/>
                <a:uLnTx/>
                <a:uFillTx/>
              </a:endParaRPr>
            </a:p>
          </p:txBody>
        </p:sp>
        <p:sp>
          <p:nvSpPr>
            <p:cNvPr id="87" name="Rectangle 86">
              <a:extLst>
                <a:ext uri="{FF2B5EF4-FFF2-40B4-BE49-F238E27FC236}">
                  <a16:creationId xmlns:a16="http://schemas.microsoft.com/office/drawing/2014/main" id="{890FC893-8B3A-4644-94C5-84407122D730}"/>
                </a:ext>
              </a:extLst>
            </p:cNvPr>
            <p:cNvSpPr/>
            <p:nvPr/>
          </p:nvSpPr>
          <p:spPr bwMode="auto">
            <a:xfrm>
              <a:off x="5183218" y="5483489"/>
              <a:ext cx="5980348" cy="305514"/>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GITI Projects delivered as per scope, Time &amp; Cost</a:t>
              </a:r>
              <a:endParaRPr kumimoji="0" lang="en-IN" sz="1200" b="0" i="0" u="none" strike="noStrike" kern="0" cap="none" spc="0" normalizeH="0" baseline="0" noProof="0" dirty="0">
                <a:ln>
                  <a:noFill/>
                </a:ln>
                <a:solidFill>
                  <a:srgbClr val="1E3B6B"/>
                </a:solidFill>
                <a:effectLst/>
                <a:uLnTx/>
                <a:uFillTx/>
              </a:endParaRPr>
            </a:p>
          </p:txBody>
        </p:sp>
        <p:grpSp>
          <p:nvGrpSpPr>
            <p:cNvPr id="88" name="Group 87">
              <a:extLst>
                <a:ext uri="{FF2B5EF4-FFF2-40B4-BE49-F238E27FC236}">
                  <a16:creationId xmlns:a16="http://schemas.microsoft.com/office/drawing/2014/main" id="{C788B913-585C-433F-9F35-B8A1416A8D54}"/>
                </a:ext>
              </a:extLst>
            </p:cNvPr>
            <p:cNvGrpSpPr/>
            <p:nvPr/>
          </p:nvGrpSpPr>
          <p:grpSpPr>
            <a:xfrm>
              <a:off x="2751129" y="4109482"/>
              <a:ext cx="8412436" cy="294785"/>
              <a:chOff x="2840541" y="4372667"/>
              <a:chExt cx="5821776" cy="252010"/>
            </a:xfrm>
          </p:grpSpPr>
          <p:sp>
            <p:nvSpPr>
              <p:cNvPr id="103" name="Rectangle 102">
                <a:extLst>
                  <a:ext uri="{FF2B5EF4-FFF2-40B4-BE49-F238E27FC236}">
                    <a16:creationId xmlns:a16="http://schemas.microsoft.com/office/drawing/2014/main" id="{36BBA6FB-7667-4436-9B31-6904E591520D}"/>
                  </a:ext>
                </a:extLst>
              </p:cNvPr>
              <p:cNvSpPr/>
              <p:nvPr/>
            </p:nvSpPr>
            <p:spPr bwMode="auto">
              <a:xfrm>
                <a:off x="2840541" y="4372667"/>
                <a:ext cx="1570435" cy="252000"/>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Employee Supervision</a:t>
                </a:r>
                <a:endParaRPr kumimoji="0" lang="en-IN" sz="1200" b="0" i="0" u="none" strike="noStrike" kern="0" cap="none" spc="0" normalizeH="0" baseline="0" noProof="0" dirty="0">
                  <a:ln>
                    <a:noFill/>
                  </a:ln>
                  <a:solidFill>
                    <a:srgbClr val="1E3B6B"/>
                  </a:solidFill>
                  <a:effectLst/>
                  <a:uLnTx/>
                  <a:uFillTx/>
                </a:endParaRPr>
              </a:p>
            </p:txBody>
          </p:sp>
          <p:sp>
            <p:nvSpPr>
              <p:cNvPr id="104" name="Rectangle 103">
                <a:extLst>
                  <a:ext uri="{FF2B5EF4-FFF2-40B4-BE49-F238E27FC236}">
                    <a16:creationId xmlns:a16="http://schemas.microsoft.com/office/drawing/2014/main" id="{0410C79C-7737-4ED1-A64F-C73D06252C57}"/>
                  </a:ext>
                </a:extLst>
              </p:cNvPr>
              <p:cNvSpPr/>
              <p:nvPr/>
            </p:nvSpPr>
            <p:spPr bwMode="auto">
              <a:xfrm>
                <a:off x="4523653" y="4372677"/>
                <a:ext cx="4138664" cy="252000"/>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Achieve [</a:t>
                </a:r>
                <a:r>
                  <a:rPr lang="en-US" sz="1200" kern="0" dirty="0">
                    <a:solidFill>
                      <a:srgbClr val="1E3B6B"/>
                    </a:solidFill>
                  </a:rPr>
                  <a:t>XX</a:t>
                </a:r>
                <a:r>
                  <a:rPr kumimoji="0" lang="en-US" sz="1200" b="0" i="0" u="none" strike="noStrike" kern="0" cap="none" spc="0" normalizeH="0" baseline="0" noProof="0" dirty="0">
                    <a:ln>
                      <a:noFill/>
                    </a:ln>
                    <a:solidFill>
                      <a:srgbClr val="1E3B6B"/>
                    </a:solidFill>
                    <a:effectLst/>
                    <a:uLnTx/>
                    <a:uFillTx/>
                  </a:rPr>
                  <a:t>]% in the Supervision score in the Client Group Engagement Survey  </a:t>
                </a:r>
              </a:p>
            </p:txBody>
          </p:sp>
        </p:grpSp>
        <p:grpSp>
          <p:nvGrpSpPr>
            <p:cNvPr id="90" name="Group 89">
              <a:extLst>
                <a:ext uri="{FF2B5EF4-FFF2-40B4-BE49-F238E27FC236}">
                  <a16:creationId xmlns:a16="http://schemas.microsoft.com/office/drawing/2014/main" id="{70D7B465-C481-427F-9B4B-BDCC2F7C8AA2}"/>
                </a:ext>
              </a:extLst>
            </p:cNvPr>
            <p:cNvGrpSpPr/>
            <p:nvPr/>
          </p:nvGrpSpPr>
          <p:grpSpPr>
            <a:xfrm>
              <a:off x="2751129" y="4477241"/>
              <a:ext cx="8412437" cy="294773"/>
              <a:chOff x="2840541" y="4700009"/>
              <a:chExt cx="5821777" cy="252000"/>
            </a:xfrm>
          </p:grpSpPr>
          <p:sp>
            <p:nvSpPr>
              <p:cNvPr id="101" name="Rectangle 100">
                <a:extLst>
                  <a:ext uri="{FF2B5EF4-FFF2-40B4-BE49-F238E27FC236}">
                    <a16:creationId xmlns:a16="http://schemas.microsoft.com/office/drawing/2014/main" id="{4C5927BF-DD09-47AC-B72F-0888FDFE941E}"/>
                  </a:ext>
                </a:extLst>
              </p:cNvPr>
              <p:cNvSpPr/>
              <p:nvPr/>
            </p:nvSpPr>
            <p:spPr bwMode="auto">
              <a:xfrm>
                <a:off x="2840541" y="4700009"/>
                <a:ext cx="1570435" cy="252000"/>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IT Function Maturity </a:t>
                </a:r>
              </a:p>
            </p:txBody>
          </p:sp>
          <p:sp>
            <p:nvSpPr>
              <p:cNvPr id="102" name="Rectangle 101">
                <a:extLst>
                  <a:ext uri="{FF2B5EF4-FFF2-40B4-BE49-F238E27FC236}">
                    <a16:creationId xmlns:a16="http://schemas.microsoft.com/office/drawing/2014/main" id="{526A39E8-DEC8-4B20-B5A2-F5CBC593FF65}"/>
                  </a:ext>
                </a:extLst>
              </p:cNvPr>
              <p:cNvSpPr/>
              <p:nvPr/>
            </p:nvSpPr>
            <p:spPr bwMode="auto">
              <a:xfrm>
                <a:off x="4523654" y="4700009"/>
                <a:ext cx="4138664" cy="252000"/>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Achieve level [2.5] of the IT function maturity level (from Foundational to Dynamic)</a:t>
                </a:r>
                <a:endParaRPr kumimoji="0" lang="en-IN" sz="1200" b="0" i="0" u="none" strike="noStrike" kern="0" cap="none" spc="0" normalizeH="0" baseline="0" noProof="0" dirty="0">
                  <a:ln>
                    <a:noFill/>
                  </a:ln>
                  <a:solidFill>
                    <a:srgbClr val="1E3B6B"/>
                  </a:solidFill>
                  <a:effectLst/>
                  <a:uLnTx/>
                  <a:uFillTx/>
                </a:endParaRPr>
              </a:p>
            </p:txBody>
          </p:sp>
        </p:grpSp>
        <p:grpSp>
          <p:nvGrpSpPr>
            <p:cNvPr id="91" name="Group 90">
              <a:extLst>
                <a:ext uri="{FF2B5EF4-FFF2-40B4-BE49-F238E27FC236}">
                  <a16:creationId xmlns:a16="http://schemas.microsoft.com/office/drawing/2014/main" id="{C99FA6D9-246A-410A-BF58-085DF8D5BF87}"/>
                </a:ext>
              </a:extLst>
            </p:cNvPr>
            <p:cNvGrpSpPr/>
            <p:nvPr/>
          </p:nvGrpSpPr>
          <p:grpSpPr>
            <a:xfrm>
              <a:off x="2751129" y="3643436"/>
              <a:ext cx="8412436" cy="416505"/>
              <a:chOff x="2840541" y="3987169"/>
              <a:chExt cx="5821776" cy="356066"/>
            </a:xfrm>
          </p:grpSpPr>
          <p:sp>
            <p:nvSpPr>
              <p:cNvPr id="99" name="Rectangle 98">
                <a:extLst>
                  <a:ext uri="{FF2B5EF4-FFF2-40B4-BE49-F238E27FC236}">
                    <a16:creationId xmlns:a16="http://schemas.microsoft.com/office/drawing/2014/main" id="{24BC4EF7-4AA4-4A27-9573-EC3E36C76B3F}"/>
                  </a:ext>
                </a:extLst>
              </p:cNvPr>
              <p:cNvSpPr/>
              <p:nvPr/>
            </p:nvSpPr>
            <p:spPr bwMode="auto">
              <a:xfrm>
                <a:off x="2840541" y="3987169"/>
                <a:ext cx="1570435" cy="35606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Skills development </a:t>
                </a:r>
              </a:p>
            </p:txBody>
          </p:sp>
          <p:sp>
            <p:nvSpPr>
              <p:cNvPr id="100" name="Rectangle 99">
                <a:extLst>
                  <a:ext uri="{FF2B5EF4-FFF2-40B4-BE49-F238E27FC236}">
                    <a16:creationId xmlns:a16="http://schemas.microsoft.com/office/drawing/2014/main" id="{3C0C7648-16E0-4171-AF18-D0B60BA5E099}"/>
                  </a:ext>
                </a:extLst>
              </p:cNvPr>
              <p:cNvSpPr/>
              <p:nvPr/>
            </p:nvSpPr>
            <p:spPr bwMode="auto">
              <a:xfrm>
                <a:off x="4523653" y="3987180"/>
                <a:ext cx="4138664" cy="356055"/>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Recruit </a:t>
                </a:r>
                <a:r>
                  <a:rPr kumimoji="0" lang="en-US" sz="1200" b="0" i="0" u="none" strike="noStrike" kern="0" cap="none" spc="0" normalizeH="0" baseline="0" noProof="0" dirty="0">
                    <a:ln>
                      <a:noFill/>
                    </a:ln>
                    <a:solidFill>
                      <a:srgbClr val="1E3B6B"/>
                    </a:solidFill>
                    <a:effectLst/>
                    <a:uLnTx/>
                    <a:uFillTx/>
                  </a:rPr>
                  <a:t>[</a:t>
                </a:r>
                <a:r>
                  <a:rPr lang="en-US" sz="1200" kern="0" dirty="0">
                    <a:solidFill>
                      <a:srgbClr val="1E3B6B"/>
                    </a:solidFill>
                  </a:rPr>
                  <a:t>XX</a:t>
                </a:r>
                <a:r>
                  <a:rPr kumimoji="0" lang="en-US" sz="1200" b="0" i="0" u="none" strike="noStrike" kern="0" cap="none" spc="0" normalizeH="0" baseline="0" noProof="0" dirty="0">
                    <a:ln>
                      <a:noFill/>
                    </a:ln>
                    <a:solidFill>
                      <a:srgbClr val="1E3B6B"/>
                    </a:solidFill>
                    <a:effectLst/>
                    <a:uLnTx/>
                    <a:uFillTx/>
                  </a:rPr>
                  <a:t>]</a:t>
                </a:r>
                <a:r>
                  <a:rPr kumimoji="0" lang="en-IN" sz="1200" b="0" i="0" u="none" strike="noStrike" kern="0" cap="none" spc="0" normalizeH="0" baseline="0" noProof="0" dirty="0">
                    <a:ln>
                      <a:noFill/>
                    </a:ln>
                    <a:solidFill>
                      <a:srgbClr val="1E3B6B"/>
                    </a:solidFill>
                    <a:effectLst/>
                    <a:uLnTx/>
                    <a:uFillTx/>
                  </a:rPr>
                  <a:t>% of the critical positions in Digital, EA</a:t>
                </a:r>
              </a:p>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Provide [3] trainings to each ITD employee (in average)  </a:t>
                </a:r>
              </a:p>
            </p:txBody>
          </p:sp>
        </p:grpSp>
        <p:sp>
          <p:nvSpPr>
            <p:cNvPr id="92" name="Rectangle 91">
              <a:extLst>
                <a:ext uri="{FF2B5EF4-FFF2-40B4-BE49-F238E27FC236}">
                  <a16:creationId xmlns:a16="http://schemas.microsoft.com/office/drawing/2014/main" id="{B34F5656-B40D-44DA-8B9F-9C09F0107BC0}"/>
                </a:ext>
              </a:extLst>
            </p:cNvPr>
            <p:cNvSpPr/>
            <p:nvPr/>
          </p:nvSpPr>
          <p:spPr bwMode="auto">
            <a:xfrm>
              <a:off x="2751123" y="2359957"/>
              <a:ext cx="2269271"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Effort reduction</a:t>
              </a:r>
            </a:p>
          </p:txBody>
        </p:sp>
        <p:sp>
          <p:nvSpPr>
            <p:cNvPr id="93" name="Rectangle 92">
              <a:extLst>
                <a:ext uri="{FF2B5EF4-FFF2-40B4-BE49-F238E27FC236}">
                  <a16:creationId xmlns:a16="http://schemas.microsoft.com/office/drawing/2014/main" id="{5B67532C-6F08-4EFA-81A7-09D284BAD0F4}"/>
                </a:ext>
              </a:extLst>
            </p:cNvPr>
            <p:cNvSpPr/>
            <p:nvPr/>
          </p:nvSpPr>
          <p:spPr bwMode="auto">
            <a:xfrm>
              <a:off x="5183215" y="2359957"/>
              <a:ext cx="5980348"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Increase process automation to reduce time for manual effort by </a:t>
              </a:r>
              <a:r>
                <a:rPr kumimoji="0" lang="en-US" sz="1200" b="0" i="0" u="none" strike="noStrike" kern="0" cap="none" spc="0" normalizeH="0" baseline="0" noProof="0" dirty="0">
                  <a:ln>
                    <a:noFill/>
                  </a:ln>
                  <a:solidFill>
                    <a:srgbClr val="1E3B6B"/>
                  </a:solidFill>
                  <a:effectLst/>
                  <a:uLnTx/>
                  <a:uFillTx/>
                </a:rPr>
                <a:t>[</a:t>
              </a:r>
              <a:r>
                <a:rPr lang="en-US" sz="1200" kern="0" dirty="0">
                  <a:solidFill>
                    <a:srgbClr val="1E3B6B"/>
                  </a:solidFill>
                </a:rPr>
                <a:t>XX</a:t>
              </a:r>
              <a:r>
                <a:rPr kumimoji="0" lang="en-US" sz="1200" b="0" i="0" u="none" strike="noStrike" kern="0" cap="none" spc="0" normalizeH="0" baseline="0" noProof="0" dirty="0">
                  <a:ln>
                    <a:noFill/>
                  </a:ln>
                  <a:solidFill>
                    <a:srgbClr val="1E3B6B"/>
                  </a:solidFill>
                  <a:effectLst/>
                  <a:uLnTx/>
                  <a:uFillTx/>
                </a:rPr>
                <a:t>]% in average </a:t>
              </a:r>
              <a:endParaRPr kumimoji="0" lang="en-IN" sz="1200" b="0" i="0" u="none" strike="noStrike" kern="0" cap="none" spc="0" normalizeH="0" baseline="0" noProof="0" dirty="0">
                <a:ln>
                  <a:noFill/>
                </a:ln>
                <a:solidFill>
                  <a:srgbClr val="1E3B6B"/>
                </a:solidFill>
                <a:effectLst/>
                <a:uLnTx/>
                <a:uFillTx/>
              </a:endParaRPr>
            </a:p>
          </p:txBody>
        </p:sp>
        <p:sp>
          <p:nvSpPr>
            <p:cNvPr id="94" name="Rectangle 93">
              <a:extLst>
                <a:ext uri="{FF2B5EF4-FFF2-40B4-BE49-F238E27FC236}">
                  <a16:creationId xmlns:a16="http://schemas.microsoft.com/office/drawing/2014/main" id="{889D8C84-74DC-4108-AA2E-1AD30C341B18}"/>
                </a:ext>
              </a:extLst>
            </p:cNvPr>
            <p:cNvSpPr/>
            <p:nvPr/>
          </p:nvSpPr>
          <p:spPr bwMode="auto">
            <a:xfrm>
              <a:off x="2751120" y="2735701"/>
              <a:ext cx="2269271"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Robust Analytics</a:t>
              </a:r>
              <a:endParaRPr kumimoji="0" lang="en-IN" sz="1200" b="0" i="0" u="none" strike="noStrike" kern="0" cap="none" spc="0" normalizeH="0" baseline="0" noProof="0" dirty="0">
                <a:ln>
                  <a:noFill/>
                </a:ln>
                <a:solidFill>
                  <a:srgbClr val="FF0000"/>
                </a:solidFill>
                <a:effectLst/>
                <a:uLnTx/>
                <a:uFillTx/>
              </a:endParaRPr>
            </a:p>
          </p:txBody>
        </p:sp>
        <p:sp>
          <p:nvSpPr>
            <p:cNvPr id="95" name="Rectangle 94">
              <a:extLst>
                <a:ext uri="{FF2B5EF4-FFF2-40B4-BE49-F238E27FC236}">
                  <a16:creationId xmlns:a16="http://schemas.microsoft.com/office/drawing/2014/main" id="{09A380E6-E628-4F6D-B59E-C275D3273B8E}"/>
                </a:ext>
              </a:extLst>
            </p:cNvPr>
            <p:cNvSpPr/>
            <p:nvPr/>
          </p:nvSpPr>
          <p:spPr bwMode="auto">
            <a:xfrm>
              <a:off x="5183211" y="2735701"/>
              <a:ext cx="5980348"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Achieve min of [</a:t>
              </a:r>
              <a:r>
                <a:rPr lang="en-US" sz="1200" kern="0" dirty="0">
                  <a:solidFill>
                    <a:srgbClr val="1E3B6B"/>
                  </a:solidFill>
                </a:rPr>
                <a:t>XX</a:t>
              </a:r>
              <a:r>
                <a:rPr kumimoji="0" lang="en-US" sz="1200" b="0" i="0" u="none" strike="noStrike" kern="0" cap="none" spc="0" normalizeH="0" baseline="0" noProof="0" dirty="0">
                  <a:ln>
                    <a:noFill/>
                  </a:ln>
                  <a:solidFill>
                    <a:srgbClr val="1E3B6B"/>
                  </a:solidFill>
                  <a:effectLst/>
                  <a:uLnTx/>
                  <a:uFillTx/>
                </a:rPr>
                <a:t>]% of target adoption of BI Dashboard </a:t>
              </a:r>
              <a:endParaRPr kumimoji="0" lang="en-IN" sz="1200" b="0" i="0" u="none" strike="noStrike" kern="0" cap="none" spc="0" normalizeH="0" baseline="0" noProof="0" dirty="0">
                <a:ln>
                  <a:noFill/>
                </a:ln>
                <a:solidFill>
                  <a:srgbClr val="1E3B6B"/>
                </a:solidFill>
                <a:effectLst/>
                <a:uLnTx/>
                <a:uFillTx/>
              </a:endParaRPr>
            </a:p>
          </p:txBody>
        </p:sp>
        <p:sp>
          <p:nvSpPr>
            <p:cNvPr id="96" name="Rectangle 95">
              <a:extLst>
                <a:ext uri="{FF2B5EF4-FFF2-40B4-BE49-F238E27FC236}">
                  <a16:creationId xmlns:a16="http://schemas.microsoft.com/office/drawing/2014/main" id="{E89533D0-5A3E-4F4C-A754-C32742CD50B3}"/>
                </a:ext>
              </a:extLst>
            </p:cNvPr>
            <p:cNvSpPr/>
            <p:nvPr/>
          </p:nvSpPr>
          <p:spPr bwMode="auto">
            <a:xfrm>
              <a:off x="896012" y="3280616"/>
              <a:ext cx="1560768" cy="1491398"/>
            </a:xfrm>
            <a:prstGeom prst="rect">
              <a:avLst/>
            </a:prstGeom>
            <a:solidFill>
              <a:srgbClr val="1859A9"/>
            </a:solidFill>
            <a:ln w="952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dirty="0">
                  <a:ln>
                    <a:noFill/>
                  </a:ln>
                  <a:solidFill>
                    <a:prstClr val="white"/>
                  </a:solidFill>
                  <a:effectLst/>
                  <a:uLnTx/>
                  <a:uFillTx/>
                  <a:cs typeface="Calibri" panose="020F0502020204030204" pitchFamily="34" charset="0"/>
                </a:rPr>
                <a:t>Fix the Basics</a:t>
              </a:r>
            </a:p>
          </p:txBody>
        </p:sp>
        <p:sp>
          <p:nvSpPr>
            <p:cNvPr id="97" name="Rectangle 96">
              <a:extLst>
                <a:ext uri="{FF2B5EF4-FFF2-40B4-BE49-F238E27FC236}">
                  <a16:creationId xmlns:a16="http://schemas.microsoft.com/office/drawing/2014/main" id="{CCA2D14F-D465-413F-A378-39D0846D5520}"/>
                </a:ext>
              </a:extLst>
            </p:cNvPr>
            <p:cNvSpPr/>
            <p:nvPr/>
          </p:nvSpPr>
          <p:spPr bwMode="auto">
            <a:xfrm>
              <a:off x="2751119" y="3308452"/>
              <a:ext cx="2269271"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E3B6B"/>
                  </a:solidFill>
                  <a:effectLst/>
                  <a:uLnTx/>
                  <a:uFillTx/>
                </a:rPr>
                <a:t>Successful Delivery</a:t>
              </a:r>
            </a:p>
          </p:txBody>
        </p:sp>
        <p:sp>
          <p:nvSpPr>
            <p:cNvPr id="98" name="Rectangle 97">
              <a:extLst>
                <a:ext uri="{FF2B5EF4-FFF2-40B4-BE49-F238E27FC236}">
                  <a16:creationId xmlns:a16="http://schemas.microsoft.com/office/drawing/2014/main" id="{B6F0A257-ACED-460A-BDD0-099843BC6404}"/>
                </a:ext>
              </a:extLst>
            </p:cNvPr>
            <p:cNvSpPr/>
            <p:nvPr/>
          </p:nvSpPr>
          <p:spPr bwMode="auto">
            <a:xfrm>
              <a:off x="5168127" y="3308461"/>
              <a:ext cx="5980348" cy="294773"/>
            </a:xfrm>
            <a:prstGeom prst="rect">
              <a:avLst/>
            </a:prstGeom>
            <a:solidFill>
              <a:srgbClr val="FFFFFF"/>
            </a:solidFill>
            <a:ln w="3175" cap="flat" cmpd="sng" algn="ctr">
              <a:solidFill>
                <a:srgbClr val="0773D7"/>
              </a:solidFill>
              <a:prstDash val="solid"/>
              <a:round/>
              <a:headEnd type="none" w="med" len="med"/>
              <a:tailEnd type="none" w="med" len="me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defTabSz="995363"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E3B6B"/>
                  </a:solidFill>
                  <a:effectLst/>
                  <a:uLnTx/>
                  <a:uFillTx/>
                </a:rPr>
                <a:t>All Projects are progressing with no significant issues as per Plan </a:t>
              </a:r>
              <a:endParaRPr kumimoji="0" lang="en-IN" sz="1200" b="0" i="0" u="none" strike="noStrike" kern="0" cap="none" spc="0" normalizeH="0" baseline="0" noProof="0" dirty="0">
                <a:ln>
                  <a:noFill/>
                </a:ln>
                <a:solidFill>
                  <a:srgbClr val="1E3B6B"/>
                </a:solidFill>
                <a:effectLst/>
                <a:uLnTx/>
                <a:uFillTx/>
              </a:endParaRPr>
            </a:p>
          </p:txBody>
        </p:sp>
      </p:grpSp>
    </p:spTree>
    <p:extLst>
      <p:ext uri="{BB962C8B-B14F-4D97-AF65-F5344CB8AC3E}">
        <p14:creationId xmlns:p14="http://schemas.microsoft.com/office/powerpoint/2010/main" val="1998655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extLst>
              <p:ext uri="{D42A27DB-BD31-4B8C-83A1-F6EECF244321}">
                <p14:modId xmlns:p14="http://schemas.microsoft.com/office/powerpoint/2010/main" val="448479109"/>
              </p:ext>
            </p:extLst>
          </p:nvPr>
        </p:nvGraphicFramePr>
        <p:xfrm>
          <a:off x="1525191" y="859780"/>
          <a:ext cx="1190" cy="1190"/>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25191" y="859780"/>
                        <a:ext cx="1190" cy="1190"/>
                      </a:xfrm>
                      <a:prstGeom prst="rect">
                        <a:avLst/>
                      </a:prstGeom>
                    </p:spPr>
                  </p:pic>
                </p:oleObj>
              </mc:Fallback>
            </mc:AlternateContent>
          </a:graphicData>
        </a:graphic>
      </p:graphicFrame>
      <p:sp>
        <p:nvSpPr>
          <p:cNvPr id="8" name="Rectangle 7"/>
          <p:cNvSpPr/>
          <p:nvPr/>
        </p:nvSpPr>
        <p:spPr>
          <a:xfrm>
            <a:off x="983432" y="908720"/>
            <a:ext cx="5764673" cy="5178689"/>
          </a:xfrm>
          <a:prstGeom prst="rect">
            <a:avLst/>
          </a:prstGeom>
          <a:solidFill>
            <a:srgbClr val="646464">
              <a:alpha val="5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5" name="Oval 4"/>
          <p:cNvSpPr/>
          <p:nvPr/>
        </p:nvSpPr>
        <p:spPr>
          <a:xfrm>
            <a:off x="624412" y="1288603"/>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26" name="Oval 25"/>
          <p:cNvSpPr/>
          <p:nvPr/>
        </p:nvSpPr>
        <p:spPr>
          <a:xfrm>
            <a:off x="624412" y="2208392"/>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6" name="Oval 5"/>
          <p:cNvSpPr/>
          <p:nvPr/>
        </p:nvSpPr>
        <p:spPr>
          <a:xfrm>
            <a:off x="624412" y="3128181"/>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17" name="Oval 16"/>
          <p:cNvSpPr/>
          <p:nvPr/>
        </p:nvSpPr>
        <p:spPr>
          <a:xfrm>
            <a:off x="624412" y="4047970"/>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7" name="Oval 6"/>
          <p:cNvSpPr/>
          <p:nvPr/>
        </p:nvSpPr>
        <p:spPr>
          <a:xfrm>
            <a:off x="624412" y="4967759"/>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grpSp>
        <p:nvGrpSpPr>
          <p:cNvPr id="4" name="Group 3"/>
          <p:cNvGrpSpPr/>
          <p:nvPr/>
        </p:nvGrpSpPr>
        <p:grpSpPr>
          <a:xfrm>
            <a:off x="2363215" y="1368001"/>
            <a:ext cx="107944" cy="566705"/>
            <a:chOff x="6348787" y="589394"/>
            <a:chExt cx="144000" cy="756000"/>
          </a:xfrm>
          <a:solidFill>
            <a:srgbClr val="1859A9"/>
          </a:solidFill>
        </p:grpSpPr>
        <p:cxnSp>
          <p:nvCxnSpPr>
            <p:cNvPr id="18" name="Straight Connector 17"/>
            <p:cNvCxnSpPr/>
            <p:nvPr/>
          </p:nvCxnSpPr>
          <p:spPr>
            <a:xfrm>
              <a:off x="6420787" y="589394"/>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348787" y="895394"/>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2" name="Group 11"/>
          <p:cNvGrpSpPr/>
          <p:nvPr/>
        </p:nvGrpSpPr>
        <p:grpSpPr>
          <a:xfrm>
            <a:off x="2363215" y="2287790"/>
            <a:ext cx="107944" cy="566705"/>
            <a:chOff x="6348787" y="1804920"/>
            <a:chExt cx="144000" cy="756000"/>
          </a:xfrm>
          <a:solidFill>
            <a:srgbClr val="1859A9"/>
          </a:solidFill>
        </p:grpSpPr>
        <p:cxnSp>
          <p:nvCxnSpPr>
            <p:cNvPr id="49" name="Straight Connector 48"/>
            <p:cNvCxnSpPr/>
            <p:nvPr/>
          </p:nvCxnSpPr>
          <p:spPr>
            <a:xfrm>
              <a:off x="6420787" y="180492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6348787" y="211092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3" name="Group 12"/>
          <p:cNvGrpSpPr/>
          <p:nvPr/>
        </p:nvGrpSpPr>
        <p:grpSpPr>
          <a:xfrm>
            <a:off x="2363215" y="3207579"/>
            <a:ext cx="107944" cy="566705"/>
            <a:chOff x="6348787" y="2943916"/>
            <a:chExt cx="144000" cy="756000"/>
          </a:xfrm>
          <a:solidFill>
            <a:srgbClr val="1859A9"/>
          </a:solidFill>
        </p:grpSpPr>
        <p:cxnSp>
          <p:nvCxnSpPr>
            <p:cNvPr id="52" name="Straight Connector 51"/>
            <p:cNvCxnSpPr/>
            <p:nvPr/>
          </p:nvCxnSpPr>
          <p:spPr>
            <a:xfrm>
              <a:off x="6420787" y="2943916"/>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6348787" y="3249916"/>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4" name="Group 13"/>
          <p:cNvGrpSpPr/>
          <p:nvPr/>
        </p:nvGrpSpPr>
        <p:grpSpPr>
          <a:xfrm>
            <a:off x="2363215" y="4127368"/>
            <a:ext cx="107944" cy="566705"/>
            <a:chOff x="6348787" y="4243830"/>
            <a:chExt cx="144000" cy="756000"/>
          </a:xfrm>
          <a:solidFill>
            <a:srgbClr val="1859A9"/>
          </a:solidFill>
        </p:grpSpPr>
        <p:cxnSp>
          <p:nvCxnSpPr>
            <p:cNvPr id="55" name="Straight Connector 54"/>
            <p:cNvCxnSpPr/>
            <p:nvPr/>
          </p:nvCxnSpPr>
          <p:spPr>
            <a:xfrm>
              <a:off x="6420787" y="424383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6348787" y="454983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5" name="Group 14"/>
          <p:cNvGrpSpPr/>
          <p:nvPr/>
        </p:nvGrpSpPr>
        <p:grpSpPr>
          <a:xfrm>
            <a:off x="2363215" y="5047157"/>
            <a:ext cx="107944" cy="566705"/>
            <a:chOff x="6348787" y="5496138"/>
            <a:chExt cx="144000" cy="756000"/>
          </a:xfrm>
          <a:solidFill>
            <a:srgbClr val="1859A9"/>
          </a:solidFill>
        </p:grpSpPr>
        <p:cxnSp>
          <p:nvCxnSpPr>
            <p:cNvPr id="58" name="Straight Connector 57"/>
            <p:cNvCxnSpPr/>
            <p:nvPr/>
          </p:nvCxnSpPr>
          <p:spPr>
            <a:xfrm>
              <a:off x="6420787" y="5496138"/>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6348787" y="5802138"/>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aphicFrame>
        <p:nvGraphicFramePr>
          <p:cNvPr id="44" name="AgendaTable"/>
          <p:cNvGraphicFramePr>
            <a:graphicFrameLocks noGrp="1"/>
          </p:cNvGraphicFramePr>
          <p:nvPr>
            <p:extLst>
              <p:ext uri="{D42A27DB-BD31-4B8C-83A1-F6EECF244321}">
                <p14:modId xmlns:p14="http://schemas.microsoft.com/office/powerpoint/2010/main" val="2385567659"/>
              </p:ext>
            </p:extLst>
          </p:nvPr>
        </p:nvGraphicFramePr>
        <p:xfrm>
          <a:off x="1564665" y="1199166"/>
          <a:ext cx="4524401" cy="4606965"/>
        </p:xfrm>
        <a:graphic>
          <a:graphicData uri="http://schemas.openxmlformats.org/drawingml/2006/table">
            <a:tbl>
              <a:tblPr bandRow="1">
                <a:tableStyleId>{5C22544A-7EE6-4342-B048-85BDC9FD1C3A}</a:tableStyleId>
              </a:tblPr>
              <a:tblGrid>
                <a:gridCol w="767425">
                  <a:extLst>
                    <a:ext uri="{9D8B030D-6E8A-4147-A177-3AD203B41FA5}">
                      <a16:colId xmlns:a16="http://schemas.microsoft.com/office/drawing/2014/main" val="20000"/>
                    </a:ext>
                  </a:extLst>
                </a:gridCol>
                <a:gridCol w="3756976">
                  <a:extLst>
                    <a:ext uri="{9D8B030D-6E8A-4147-A177-3AD203B41FA5}">
                      <a16:colId xmlns:a16="http://schemas.microsoft.com/office/drawing/2014/main" val="20001"/>
                    </a:ext>
                  </a:extLst>
                </a:gridCol>
              </a:tblGrid>
              <a:tr h="921393">
                <a:tc>
                  <a:txBody>
                    <a:bodyPr/>
                    <a:lstStyle/>
                    <a:p>
                      <a:pPr algn="ctr"/>
                      <a:r>
                        <a:rPr lang="en-US" sz="2700" b="1" kern="1200" dirty="0">
                          <a:solidFill>
                            <a:srgbClr val="FFFFFF"/>
                          </a:solidFill>
                          <a:latin typeface="+mn-lt"/>
                          <a:ea typeface="+mn-ea"/>
                          <a:cs typeface="+mn-cs"/>
                        </a:rPr>
                        <a:t>01</a:t>
                      </a:r>
                    </a:p>
                  </a:txBody>
                  <a:tcPr marL="68580" marR="68580" marT="34290" marB="3429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Executive</a:t>
                      </a:r>
                      <a:r>
                        <a:rPr lang="en-US" sz="1300" b="1" kern="1200" baseline="0" dirty="0">
                          <a:solidFill>
                            <a:srgbClr val="FFFFFF"/>
                          </a:solidFill>
                          <a:latin typeface="+mn-lt"/>
                          <a:ea typeface="+mn-ea"/>
                          <a:cs typeface="+mn-cs"/>
                        </a:rPr>
                        <a:t> Summary</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21393">
                <a:tc>
                  <a:txBody>
                    <a:bodyPr/>
                    <a:lstStyle/>
                    <a:p>
                      <a:pPr algn="ctr"/>
                      <a:r>
                        <a:rPr lang="en-US" sz="2700" b="1" kern="1200" dirty="0">
                          <a:solidFill>
                            <a:srgbClr val="FFFFFF"/>
                          </a:solidFill>
                          <a:latin typeface="+mn-lt"/>
                          <a:ea typeface="+mn-ea"/>
                          <a:cs typeface="+mn-cs"/>
                        </a:rPr>
                        <a:t>02</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a:t>
                      </a:r>
                      <a:r>
                        <a:rPr lang="en-US" sz="1300" b="1" kern="1200" baseline="0" dirty="0">
                          <a:solidFill>
                            <a:srgbClr val="FFFFFF"/>
                          </a:solidFill>
                          <a:latin typeface="+mn-lt"/>
                          <a:ea typeface="+mn-ea"/>
                          <a:cs typeface="+mn-cs"/>
                        </a:rPr>
                        <a:t>r Approach &amp; Scope</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21393">
                <a:tc>
                  <a:txBody>
                    <a:bodyPr/>
                    <a:lstStyle/>
                    <a:p>
                      <a:pPr algn="ctr"/>
                      <a:r>
                        <a:rPr lang="en-US" sz="2700" b="1" kern="1200" dirty="0">
                          <a:solidFill>
                            <a:srgbClr val="FFFFFF"/>
                          </a:solidFill>
                          <a:latin typeface="+mn-lt"/>
                          <a:ea typeface="+mn-ea"/>
                          <a:cs typeface="+mn-cs"/>
                        </a:rPr>
                        <a:t>03</a:t>
                      </a:r>
                    </a:p>
                  </a:txBody>
                  <a:tcPr marL="68580" marR="68580" marT="34290" marB="3429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Vision &amp; Mission</a:t>
                      </a: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21393">
                <a:tc>
                  <a:txBody>
                    <a:bodyPr/>
                    <a:lstStyle/>
                    <a:p>
                      <a:pPr algn="ctr"/>
                      <a:r>
                        <a:rPr lang="en-US" sz="2700" b="1" kern="1200" dirty="0">
                          <a:solidFill>
                            <a:srgbClr val="FFFFFF"/>
                          </a:solidFill>
                          <a:latin typeface="+mn-lt"/>
                          <a:ea typeface="+mn-ea"/>
                          <a:cs typeface="+mn-cs"/>
                        </a:rPr>
                        <a:t>04</a:t>
                      </a:r>
                    </a:p>
                  </a:txBody>
                  <a:tcPr marL="68580" marR="68580" marT="34290" marB="34290" anchor="ctr">
                    <a:lnL w="12700" cap="flat" cmpd="sng" algn="ctr">
                      <a:solidFill>
                        <a:schemeClr val="accent2"/>
                      </a:solidFill>
                      <a:prstDash val="solid"/>
                      <a:round/>
                      <a:headEnd type="none" w="med" len="med"/>
                      <a:tailEnd type="none" w="med" len="med"/>
                    </a:lnL>
                    <a:lnR w="12700" cmpd="sng">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Takeaway from Surveys &amp; Interviews</a:t>
                      </a:r>
                    </a:p>
                    <a:p>
                      <a:pPr marL="456971" lvl="1" algn="l" defTabSz="914400" rtl="0" eaLnBrk="1" latinLnBrk="0" hangingPunct="1">
                        <a:lnSpc>
                          <a:spcPct val="85000"/>
                        </a:lnSpc>
                        <a:spcAft>
                          <a:spcPts val="600"/>
                        </a:spcAft>
                        <a:buClr>
                          <a:schemeClr val="accent2"/>
                        </a:buClr>
                        <a:buSzPct val="70000"/>
                      </a:pP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21393">
                <a:tc>
                  <a:txBody>
                    <a:bodyPr/>
                    <a:lstStyle/>
                    <a:p>
                      <a:pPr marL="0" algn="ctr" defTabSz="914400" rtl="0" eaLnBrk="1" latinLnBrk="0" hangingPunct="1">
                        <a:lnSpc>
                          <a:spcPct val="85000"/>
                        </a:lnSpc>
                        <a:spcAft>
                          <a:spcPts val="600"/>
                        </a:spcAft>
                        <a:buClr>
                          <a:schemeClr val="accent2"/>
                        </a:buClr>
                        <a:buSzPct val="70000"/>
                      </a:pPr>
                      <a:r>
                        <a:rPr lang="en-US" sz="2700" b="1" kern="1200">
                          <a:solidFill>
                            <a:srgbClr val="FFFFFF"/>
                          </a:solidFill>
                          <a:latin typeface="+mn-lt"/>
                          <a:ea typeface="+mn-ea"/>
                          <a:cs typeface="+mn-cs"/>
                        </a:rPr>
                        <a:t>05</a:t>
                      </a:r>
                      <a:endParaRPr lang="en-US" sz="2700" b="1" kern="1200" dirty="0">
                        <a:solidFill>
                          <a:srgbClr val="FFFFFF"/>
                        </a:solidFill>
                        <a:latin typeface="+mn-lt"/>
                        <a:ea typeface="+mn-ea"/>
                        <a:cs typeface="+mn-cs"/>
                      </a:endParaRP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Key Initiatives</a:t>
                      </a:r>
                      <a:r>
                        <a:rPr lang="en-US" sz="1300" b="1" kern="1200" baseline="0" dirty="0">
                          <a:solidFill>
                            <a:srgbClr val="FFFFFF"/>
                          </a:solidFill>
                          <a:latin typeface="+mn-lt"/>
                          <a:ea typeface="+mn-ea"/>
                          <a:cs typeface="+mn-cs"/>
                        </a:rPr>
                        <a:t> &amp; </a:t>
                      </a:r>
                      <a:r>
                        <a:rPr lang="en-US" sz="1300" b="1" kern="1200" dirty="0">
                          <a:solidFill>
                            <a:srgbClr val="FFFFFF"/>
                          </a:solidFill>
                          <a:latin typeface="+mn-lt"/>
                          <a:ea typeface="+mn-ea"/>
                          <a:cs typeface="+mn-cs"/>
                        </a:rPr>
                        <a:t>Roadmap</a:t>
                      </a:r>
                    </a:p>
                  </a:txBody>
                  <a:tcPr marL="68580" marR="68580" marT="34290" marB="34290" anchor="ctr">
                    <a:lnL w="12700" cmpd="sng">
                      <a:noFill/>
                    </a:lnL>
                    <a:lnR w="12700" cmpd="sng">
                      <a:noFill/>
                    </a:lnR>
                    <a:lnT w="12700" cap="flat" cmpd="sng" algn="ctr">
                      <a:solidFill>
                        <a:schemeClr val="accent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 name="SlideType:Agenda" hidden="1"/>
          <p:cNvSpPr/>
          <p:nvPr/>
        </p:nvSpPr>
        <p:spPr>
          <a:xfrm>
            <a:off x="1524000" y="857250"/>
            <a:ext cx="0" cy="0"/>
          </a:xfrm>
          <a:prstGeom prst="rect">
            <a:avLst/>
          </a:prstGeom>
          <a:pattFill prst="pct5">
            <a:fgClr>
              <a:srgbClr val="FFFFFF">
                <a:alpha val="0"/>
              </a:srgbClr>
            </a:fgClr>
            <a:bgClr>
              <a:srgbClr val="FFFFFF">
                <a:alpha val="0"/>
              </a:srgbClr>
            </a:bgClr>
          </a:pattFill>
          <a:ln w="9525" cap="flat" cmpd="sng" algn="ctr">
            <a:solidFill>
              <a:srgbClr val="FFFFFF">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900" dirty="0">
              <a:solidFill>
                <a:srgbClr val="646464"/>
              </a:solidFill>
            </a:endParaRPr>
          </a:p>
        </p:txBody>
      </p:sp>
    </p:spTree>
    <p:extLst>
      <p:ext uri="{BB962C8B-B14F-4D97-AF65-F5344CB8AC3E}">
        <p14:creationId xmlns:p14="http://schemas.microsoft.com/office/powerpoint/2010/main" val="3993954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9827" y="2259439"/>
            <a:ext cx="5588524" cy="3442590"/>
          </a:xfrm>
          <a:prstGeom prst="rect">
            <a:avLst/>
          </a:prstGeom>
        </p:spPr>
      </p:pic>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Our takeaway from the survey</a:t>
            </a:r>
            <a:endParaRPr lang="en-GB" sz="3200" dirty="0"/>
          </a:p>
        </p:txBody>
      </p:sp>
      <p:sp>
        <p:nvSpPr>
          <p:cNvPr id="4" name="Rectangle 3"/>
          <p:cNvSpPr/>
          <p:nvPr/>
        </p:nvSpPr>
        <p:spPr>
          <a:xfrm>
            <a:off x="517047" y="1053727"/>
            <a:ext cx="10081144"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Aft>
                <a:spcPts val="600"/>
              </a:spcAft>
            </a:pPr>
            <a:r>
              <a:rPr lang="en-US" b="1" dirty="0">
                <a:solidFill>
                  <a:schemeClr val="accent5">
                    <a:lumMod val="50000"/>
                  </a:schemeClr>
                </a:solidFill>
              </a:rPr>
              <a:t>Satisfaction Survey </a:t>
            </a:r>
            <a:r>
              <a:rPr lang="en-US" sz="1200" b="1" dirty="0"/>
              <a:t>– </a:t>
            </a:r>
            <a:r>
              <a:rPr lang="en-US" sz="1200" dirty="0">
                <a:solidFill>
                  <a:prstClr val="black"/>
                </a:solidFill>
              </a:rPr>
              <a:t>We conducted a survey among [COMPANY] office Employees. This captures the responses of nearly XX% of the staff: business executives and managers, representing most of [COMPANY] office population :  </a:t>
            </a:r>
            <a:endParaRPr lang="en-GB" sz="1200" b="1" dirty="0">
              <a:solidFill>
                <a:prstClr val="black"/>
              </a:solidFill>
            </a:endParaRPr>
          </a:p>
        </p:txBody>
      </p:sp>
      <p:grpSp>
        <p:nvGrpSpPr>
          <p:cNvPr id="82" name="Group 81"/>
          <p:cNvGrpSpPr/>
          <p:nvPr/>
        </p:nvGrpSpPr>
        <p:grpSpPr>
          <a:xfrm>
            <a:off x="3618749" y="5455835"/>
            <a:ext cx="1110291" cy="1070829"/>
            <a:chOff x="4153558" y="4959226"/>
            <a:chExt cx="1517441" cy="1641546"/>
          </a:xfrm>
        </p:grpSpPr>
        <p:sp>
          <p:nvSpPr>
            <p:cNvPr id="79" name="Freeform 78"/>
            <p:cNvSpPr>
              <a:spLocks noChangeAspect="1" noEditPoints="1"/>
            </p:cNvSpPr>
            <p:nvPr/>
          </p:nvSpPr>
          <p:spPr bwMode="auto">
            <a:xfrm>
              <a:off x="4201886" y="4959226"/>
              <a:ext cx="1469113" cy="1224214"/>
            </a:xfrm>
            <a:custGeom>
              <a:avLst/>
              <a:gdLst>
                <a:gd name="T0" fmla="*/ 2147483647 w 883"/>
                <a:gd name="T1" fmla="*/ 2147483647 h 732"/>
                <a:gd name="T2" fmla="*/ 2147483647 w 883"/>
                <a:gd name="T3" fmla="*/ 2147483647 h 732"/>
                <a:gd name="T4" fmla="*/ 2147483647 w 883"/>
                <a:gd name="T5" fmla="*/ 2147483647 h 732"/>
                <a:gd name="T6" fmla="*/ 2147483647 w 883"/>
                <a:gd name="T7" fmla="*/ 2147483647 h 732"/>
                <a:gd name="T8" fmla="*/ 2147483647 w 883"/>
                <a:gd name="T9" fmla="*/ 2147483647 h 732"/>
                <a:gd name="T10" fmla="*/ 2147483647 w 883"/>
                <a:gd name="T11" fmla="*/ 2147483647 h 732"/>
                <a:gd name="T12" fmla="*/ 2147483647 w 883"/>
                <a:gd name="T13" fmla="*/ 2147483647 h 732"/>
                <a:gd name="T14" fmla="*/ 2147483647 w 883"/>
                <a:gd name="T15" fmla="*/ 2147483647 h 732"/>
                <a:gd name="T16" fmla="*/ 2147483647 w 883"/>
                <a:gd name="T17" fmla="*/ 2147483647 h 732"/>
                <a:gd name="T18" fmla="*/ 2147483647 w 883"/>
                <a:gd name="T19" fmla="*/ 2147483647 h 732"/>
                <a:gd name="T20" fmla="*/ 2147483647 w 883"/>
                <a:gd name="T21" fmla="*/ 2147483647 h 732"/>
                <a:gd name="T22" fmla="*/ 2147483647 w 883"/>
                <a:gd name="T23" fmla="*/ 2147483647 h 732"/>
                <a:gd name="T24" fmla="*/ 2147483647 w 883"/>
                <a:gd name="T25" fmla="*/ 2147483647 h 732"/>
                <a:gd name="T26" fmla="*/ 2147483647 w 883"/>
                <a:gd name="T27" fmla="*/ 2147483647 h 732"/>
                <a:gd name="T28" fmla="*/ 2147483647 w 883"/>
                <a:gd name="T29" fmla="*/ 2147483647 h 732"/>
                <a:gd name="T30" fmla="*/ 2147483647 w 883"/>
                <a:gd name="T31" fmla="*/ 2147483647 h 732"/>
                <a:gd name="T32" fmla="*/ 2147483647 w 883"/>
                <a:gd name="T33" fmla="*/ 2147483647 h 732"/>
                <a:gd name="T34" fmla="*/ 2147483647 w 883"/>
                <a:gd name="T35" fmla="*/ 2147483647 h 732"/>
                <a:gd name="T36" fmla="*/ 2147483647 w 883"/>
                <a:gd name="T37" fmla="*/ 2147483647 h 732"/>
                <a:gd name="T38" fmla="*/ 2147483647 w 883"/>
                <a:gd name="T39" fmla="*/ 2147483647 h 732"/>
                <a:gd name="T40" fmla="*/ 2147483647 w 883"/>
                <a:gd name="T41" fmla="*/ 2147483647 h 732"/>
                <a:gd name="T42" fmla="*/ 2147483647 w 883"/>
                <a:gd name="T43" fmla="*/ 2147483647 h 732"/>
                <a:gd name="T44" fmla="*/ 2147483647 w 883"/>
                <a:gd name="T45" fmla="*/ 2147483647 h 732"/>
                <a:gd name="T46" fmla="*/ 2147483647 w 883"/>
                <a:gd name="T47" fmla="*/ 2147483647 h 732"/>
                <a:gd name="T48" fmla="*/ 2147483647 w 883"/>
                <a:gd name="T49" fmla="*/ 2147483647 h 732"/>
                <a:gd name="T50" fmla="*/ 2147483647 w 883"/>
                <a:gd name="T51" fmla="*/ 2147483647 h 732"/>
                <a:gd name="T52" fmla="*/ 2147483647 w 883"/>
                <a:gd name="T53" fmla="*/ 2147483647 h 732"/>
                <a:gd name="T54" fmla="*/ 2147483647 w 883"/>
                <a:gd name="T55" fmla="*/ 2147483647 h 732"/>
                <a:gd name="T56" fmla="*/ 2147483647 w 883"/>
                <a:gd name="T57" fmla="*/ 2147483647 h 732"/>
                <a:gd name="T58" fmla="*/ 2147483647 w 883"/>
                <a:gd name="T59" fmla="*/ 2147483647 h 732"/>
                <a:gd name="T60" fmla="*/ 2147483647 w 883"/>
                <a:gd name="T61" fmla="*/ 2147483647 h 732"/>
                <a:gd name="T62" fmla="*/ 2147483647 w 883"/>
                <a:gd name="T63" fmla="*/ 2147483647 h 732"/>
                <a:gd name="T64" fmla="*/ 2147483647 w 883"/>
                <a:gd name="T65" fmla="*/ 2147483647 h 732"/>
                <a:gd name="T66" fmla="*/ 2147483647 w 883"/>
                <a:gd name="T67" fmla="*/ 2147483647 h 732"/>
                <a:gd name="T68" fmla="*/ 2147483647 w 883"/>
                <a:gd name="T69" fmla="*/ 2147483647 h 732"/>
                <a:gd name="T70" fmla="*/ 2147483647 w 883"/>
                <a:gd name="T71" fmla="*/ 2147483647 h 732"/>
                <a:gd name="T72" fmla="*/ 2147483647 w 883"/>
                <a:gd name="T73" fmla="*/ 2147483647 h 732"/>
                <a:gd name="T74" fmla="*/ 2147483647 w 883"/>
                <a:gd name="T75" fmla="*/ 2147483647 h 732"/>
                <a:gd name="T76" fmla="*/ 2147483647 w 883"/>
                <a:gd name="T77" fmla="*/ 2147483647 h 732"/>
                <a:gd name="T78" fmla="*/ 2147483647 w 883"/>
                <a:gd name="T79" fmla="*/ 0 h 732"/>
                <a:gd name="T80" fmla="*/ 2147483647 w 883"/>
                <a:gd name="T81" fmla="*/ 2147483647 h 732"/>
                <a:gd name="T82" fmla="*/ 2147483647 w 883"/>
                <a:gd name="T83" fmla="*/ 2147483647 h 732"/>
                <a:gd name="T84" fmla="*/ 2147483647 w 883"/>
                <a:gd name="T85" fmla="*/ 2147483647 h 732"/>
                <a:gd name="T86" fmla="*/ 2147483647 w 883"/>
                <a:gd name="T87" fmla="*/ 2147483647 h 732"/>
                <a:gd name="T88" fmla="*/ 2147483647 w 883"/>
                <a:gd name="T89" fmla="*/ 2147483647 h 732"/>
                <a:gd name="T90" fmla="*/ 2147483647 w 883"/>
                <a:gd name="T91" fmla="*/ 2147483647 h 732"/>
                <a:gd name="T92" fmla="*/ 2147483647 w 883"/>
                <a:gd name="T93" fmla="*/ 2147483647 h 732"/>
                <a:gd name="T94" fmla="*/ 2147483647 w 883"/>
                <a:gd name="T95" fmla="*/ 2147483647 h 732"/>
                <a:gd name="T96" fmla="*/ 2147483647 w 883"/>
                <a:gd name="T97" fmla="*/ 2147483647 h 732"/>
                <a:gd name="T98" fmla="*/ 2147483647 w 883"/>
                <a:gd name="T99" fmla="*/ 2147483647 h 732"/>
                <a:gd name="T100" fmla="*/ 2147483647 w 883"/>
                <a:gd name="T101" fmla="*/ 2147483647 h 732"/>
                <a:gd name="T102" fmla="*/ 2147483647 w 883"/>
                <a:gd name="T103" fmla="*/ 2147483647 h 732"/>
                <a:gd name="T104" fmla="*/ 2147483647 w 883"/>
                <a:gd name="T105" fmla="*/ 2147483647 h 732"/>
                <a:gd name="T106" fmla="*/ 2147483647 w 883"/>
                <a:gd name="T107" fmla="*/ 2147483647 h 732"/>
                <a:gd name="T108" fmla="*/ 2147483647 w 883"/>
                <a:gd name="T109" fmla="*/ 2147483647 h 73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83" h="732">
                  <a:moveTo>
                    <a:pt x="639" y="566"/>
                  </a:moveTo>
                  <a:lnTo>
                    <a:pt x="716" y="566"/>
                  </a:lnTo>
                  <a:lnTo>
                    <a:pt x="716" y="608"/>
                  </a:lnTo>
                  <a:lnTo>
                    <a:pt x="716" y="610"/>
                  </a:lnTo>
                  <a:lnTo>
                    <a:pt x="714" y="612"/>
                  </a:lnTo>
                  <a:lnTo>
                    <a:pt x="712" y="612"/>
                  </a:lnTo>
                  <a:lnTo>
                    <a:pt x="643" y="612"/>
                  </a:lnTo>
                  <a:lnTo>
                    <a:pt x="641" y="612"/>
                  </a:lnTo>
                  <a:lnTo>
                    <a:pt x="640" y="610"/>
                  </a:lnTo>
                  <a:lnTo>
                    <a:pt x="639" y="608"/>
                  </a:lnTo>
                  <a:lnTo>
                    <a:pt x="639" y="566"/>
                  </a:lnTo>
                  <a:close/>
                  <a:moveTo>
                    <a:pt x="482" y="566"/>
                  </a:moveTo>
                  <a:lnTo>
                    <a:pt x="620" y="566"/>
                  </a:lnTo>
                  <a:lnTo>
                    <a:pt x="620" y="627"/>
                  </a:lnTo>
                  <a:lnTo>
                    <a:pt x="621" y="630"/>
                  </a:lnTo>
                  <a:lnTo>
                    <a:pt x="622" y="632"/>
                  </a:lnTo>
                  <a:lnTo>
                    <a:pt x="625" y="633"/>
                  </a:lnTo>
                  <a:lnTo>
                    <a:pt x="730" y="633"/>
                  </a:lnTo>
                  <a:lnTo>
                    <a:pt x="733" y="632"/>
                  </a:lnTo>
                  <a:lnTo>
                    <a:pt x="735" y="630"/>
                  </a:lnTo>
                  <a:lnTo>
                    <a:pt x="736" y="627"/>
                  </a:lnTo>
                  <a:lnTo>
                    <a:pt x="736" y="566"/>
                  </a:lnTo>
                  <a:lnTo>
                    <a:pt x="875" y="566"/>
                  </a:lnTo>
                  <a:lnTo>
                    <a:pt x="875" y="715"/>
                  </a:lnTo>
                  <a:lnTo>
                    <a:pt x="872" y="724"/>
                  </a:lnTo>
                  <a:lnTo>
                    <a:pt x="866" y="730"/>
                  </a:lnTo>
                  <a:lnTo>
                    <a:pt x="857" y="732"/>
                  </a:lnTo>
                  <a:lnTo>
                    <a:pt x="500" y="732"/>
                  </a:lnTo>
                  <a:lnTo>
                    <a:pt x="491" y="730"/>
                  </a:lnTo>
                  <a:lnTo>
                    <a:pt x="484" y="724"/>
                  </a:lnTo>
                  <a:lnTo>
                    <a:pt x="482" y="715"/>
                  </a:lnTo>
                  <a:lnTo>
                    <a:pt x="482" y="566"/>
                  </a:lnTo>
                  <a:close/>
                  <a:moveTo>
                    <a:pt x="492" y="443"/>
                  </a:moveTo>
                  <a:lnTo>
                    <a:pt x="865" y="443"/>
                  </a:lnTo>
                  <a:lnTo>
                    <a:pt x="874" y="445"/>
                  </a:lnTo>
                  <a:lnTo>
                    <a:pt x="880" y="452"/>
                  </a:lnTo>
                  <a:lnTo>
                    <a:pt x="883" y="461"/>
                  </a:lnTo>
                  <a:lnTo>
                    <a:pt x="883" y="549"/>
                  </a:lnTo>
                  <a:lnTo>
                    <a:pt x="474" y="549"/>
                  </a:lnTo>
                  <a:lnTo>
                    <a:pt x="474" y="461"/>
                  </a:lnTo>
                  <a:lnTo>
                    <a:pt x="476" y="452"/>
                  </a:lnTo>
                  <a:lnTo>
                    <a:pt x="483" y="445"/>
                  </a:lnTo>
                  <a:lnTo>
                    <a:pt x="492" y="443"/>
                  </a:lnTo>
                  <a:close/>
                  <a:moveTo>
                    <a:pt x="625" y="375"/>
                  </a:moveTo>
                  <a:lnTo>
                    <a:pt x="731" y="375"/>
                  </a:lnTo>
                  <a:lnTo>
                    <a:pt x="742" y="378"/>
                  </a:lnTo>
                  <a:lnTo>
                    <a:pt x="750" y="385"/>
                  </a:lnTo>
                  <a:lnTo>
                    <a:pt x="753" y="396"/>
                  </a:lnTo>
                  <a:lnTo>
                    <a:pt x="753" y="430"/>
                  </a:lnTo>
                  <a:lnTo>
                    <a:pt x="723" y="430"/>
                  </a:lnTo>
                  <a:lnTo>
                    <a:pt x="723" y="404"/>
                  </a:lnTo>
                  <a:lnTo>
                    <a:pt x="633" y="404"/>
                  </a:lnTo>
                  <a:lnTo>
                    <a:pt x="633" y="430"/>
                  </a:lnTo>
                  <a:lnTo>
                    <a:pt x="603" y="430"/>
                  </a:lnTo>
                  <a:lnTo>
                    <a:pt x="603" y="396"/>
                  </a:lnTo>
                  <a:lnTo>
                    <a:pt x="606" y="385"/>
                  </a:lnTo>
                  <a:lnTo>
                    <a:pt x="614" y="378"/>
                  </a:lnTo>
                  <a:lnTo>
                    <a:pt x="625" y="375"/>
                  </a:lnTo>
                  <a:close/>
                  <a:moveTo>
                    <a:pt x="243" y="343"/>
                  </a:moveTo>
                  <a:lnTo>
                    <a:pt x="257" y="380"/>
                  </a:lnTo>
                  <a:lnTo>
                    <a:pt x="270" y="416"/>
                  </a:lnTo>
                  <a:lnTo>
                    <a:pt x="286" y="451"/>
                  </a:lnTo>
                  <a:lnTo>
                    <a:pt x="304" y="485"/>
                  </a:lnTo>
                  <a:lnTo>
                    <a:pt x="326" y="520"/>
                  </a:lnTo>
                  <a:lnTo>
                    <a:pt x="336" y="412"/>
                  </a:lnTo>
                  <a:lnTo>
                    <a:pt x="334" y="411"/>
                  </a:lnTo>
                  <a:lnTo>
                    <a:pt x="332" y="409"/>
                  </a:lnTo>
                  <a:lnTo>
                    <a:pt x="332" y="406"/>
                  </a:lnTo>
                  <a:lnTo>
                    <a:pt x="328" y="369"/>
                  </a:lnTo>
                  <a:lnTo>
                    <a:pt x="329" y="367"/>
                  </a:lnTo>
                  <a:lnTo>
                    <a:pt x="330" y="365"/>
                  </a:lnTo>
                  <a:lnTo>
                    <a:pt x="332" y="363"/>
                  </a:lnTo>
                  <a:lnTo>
                    <a:pt x="335" y="363"/>
                  </a:lnTo>
                  <a:lnTo>
                    <a:pt x="357" y="364"/>
                  </a:lnTo>
                  <a:lnTo>
                    <a:pt x="381" y="363"/>
                  </a:lnTo>
                  <a:lnTo>
                    <a:pt x="384" y="363"/>
                  </a:lnTo>
                  <a:lnTo>
                    <a:pt x="386" y="365"/>
                  </a:lnTo>
                  <a:lnTo>
                    <a:pt x="387" y="367"/>
                  </a:lnTo>
                  <a:lnTo>
                    <a:pt x="388" y="369"/>
                  </a:lnTo>
                  <a:lnTo>
                    <a:pt x="384" y="406"/>
                  </a:lnTo>
                  <a:lnTo>
                    <a:pt x="384" y="409"/>
                  </a:lnTo>
                  <a:lnTo>
                    <a:pt x="382" y="411"/>
                  </a:lnTo>
                  <a:lnTo>
                    <a:pt x="380" y="412"/>
                  </a:lnTo>
                  <a:lnTo>
                    <a:pt x="389" y="520"/>
                  </a:lnTo>
                  <a:lnTo>
                    <a:pt x="412" y="485"/>
                  </a:lnTo>
                  <a:lnTo>
                    <a:pt x="430" y="451"/>
                  </a:lnTo>
                  <a:lnTo>
                    <a:pt x="445" y="416"/>
                  </a:lnTo>
                  <a:lnTo>
                    <a:pt x="458" y="380"/>
                  </a:lnTo>
                  <a:lnTo>
                    <a:pt x="473" y="343"/>
                  </a:lnTo>
                  <a:lnTo>
                    <a:pt x="490" y="355"/>
                  </a:lnTo>
                  <a:lnTo>
                    <a:pt x="508" y="364"/>
                  </a:lnTo>
                  <a:lnTo>
                    <a:pt x="535" y="373"/>
                  </a:lnTo>
                  <a:lnTo>
                    <a:pt x="562" y="379"/>
                  </a:lnTo>
                  <a:lnTo>
                    <a:pt x="588" y="385"/>
                  </a:lnTo>
                  <a:lnTo>
                    <a:pt x="586" y="390"/>
                  </a:lnTo>
                  <a:lnTo>
                    <a:pt x="586" y="396"/>
                  </a:lnTo>
                  <a:lnTo>
                    <a:pt x="586" y="424"/>
                  </a:lnTo>
                  <a:lnTo>
                    <a:pt x="492" y="424"/>
                  </a:lnTo>
                  <a:lnTo>
                    <a:pt x="478" y="427"/>
                  </a:lnTo>
                  <a:lnTo>
                    <a:pt x="466" y="436"/>
                  </a:lnTo>
                  <a:lnTo>
                    <a:pt x="458" y="447"/>
                  </a:lnTo>
                  <a:lnTo>
                    <a:pt x="455" y="461"/>
                  </a:lnTo>
                  <a:lnTo>
                    <a:pt x="455" y="689"/>
                  </a:lnTo>
                  <a:lnTo>
                    <a:pt x="0" y="689"/>
                  </a:lnTo>
                  <a:lnTo>
                    <a:pt x="12" y="523"/>
                  </a:lnTo>
                  <a:lnTo>
                    <a:pt x="15" y="501"/>
                  </a:lnTo>
                  <a:lnTo>
                    <a:pt x="22" y="478"/>
                  </a:lnTo>
                  <a:lnTo>
                    <a:pt x="32" y="457"/>
                  </a:lnTo>
                  <a:lnTo>
                    <a:pt x="44" y="437"/>
                  </a:lnTo>
                  <a:lnTo>
                    <a:pt x="59" y="418"/>
                  </a:lnTo>
                  <a:lnTo>
                    <a:pt x="78" y="403"/>
                  </a:lnTo>
                  <a:lnTo>
                    <a:pt x="97" y="394"/>
                  </a:lnTo>
                  <a:lnTo>
                    <a:pt x="118" y="387"/>
                  </a:lnTo>
                  <a:lnTo>
                    <a:pt x="139" y="382"/>
                  </a:lnTo>
                  <a:lnTo>
                    <a:pt x="161" y="378"/>
                  </a:lnTo>
                  <a:lnTo>
                    <a:pt x="184" y="372"/>
                  </a:lnTo>
                  <a:lnTo>
                    <a:pt x="208" y="364"/>
                  </a:lnTo>
                  <a:lnTo>
                    <a:pt x="226" y="355"/>
                  </a:lnTo>
                  <a:lnTo>
                    <a:pt x="243" y="343"/>
                  </a:lnTo>
                  <a:close/>
                  <a:moveTo>
                    <a:pt x="357" y="0"/>
                  </a:moveTo>
                  <a:lnTo>
                    <a:pt x="384" y="3"/>
                  </a:lnTo>
                  <a:lnTo>
                    <a:pt x="407" y="9"/>
                  </a:lnTo>
                  <a:lnTo>
                    <a:pt x="427" y="19"/>
                  </a:lnTo>
                  <a:lnTo>
                    <a:pt x="443" y="33"/>
                  </a:lnTo>
                  <a:lnTo>
                    <a:pt x="456" y="50"/>
                  </a:lnTo>
                  <a:lnTo>
                    <a:pt x="466" y="71"/>
                  </a:lnTo>
                  <a:lnTo>
                    <a:pt x="474" y="93"/>
                  </a:lnTo>
                  <a:lnTo>
                    <a:pt x="477" y="118"/>
                  </a:lnTo>
                  <a:lnTo>
                    <a:pt x="477" y="144"/>
                  </a:lnTo>
                  <a:lnTo>
                    <a:pt x="480" y="148"/>
                  </a:lnTo>
                  <a:lnTo>
                    <a:pt x="482" y="159"/>
                  </a:lnTo>
                  <a:lnTo>
                    <a:pt x="482" y="172"/>
                  </a:lnTo>
                  <a:lnTo>
                    <a:pt x="480" y="188"/>
                  </a:lnTo>
                  <a:lnTo>
                    <a:pt x="476" y="206"/>
                  </a:lnTo>
                  <a:lnTo>
                    <a:pt x="470" y="224"/>
                  </a:lnTo>
                  <a:lnTo>
                    <a:pt x="461" y="241"/>
                  </a:lnTo>
                  <a:lnTo>
                    <a:pt x="454" y="262"/>
                  </a:lnTo>
                  <a:lnTo>
                    <a:pt x="443" y="283"/>
                  </a:lnTo>
                  <a:lnTo>
                    <a:pt x="429" y="301"/>
                  </a:lnTo>
                  <a:lnTo>
                    <a:pt x="413" y="318"/>
                  </a:lnTo>
                  <a:lnTo>
                    <a:pt x="395" y="330"/>
                  </a:lnTo>
                  <a:lnTo>
                    <a:pt x="377" y="339"/>
                  </a:lnTo>
                  <a:lnTo>
                    <a:pt x="357" y="343"/>
                  </a:lnTo>
                  <a:lnTo>
                    <a:pt x="339" y="339"/>
                  </a:lnTo>
                  <a:lnTo>
                    <a:pt x="321" y="330"/>
                  </a:lnTo>
                  <a:lnTo>
                    <a:pt x="303" y="318"/>
                  </a:lnTo>
                  <a:lnTo>
                    <a:pt x="287" y="301"/>
                  </a:lnTo>
                  <a:lnTo>
                    <a:pt x="272" y="283"/>
                  </a:lnTo>
                  <a:lnTo>
                    <a:pt x="261" y="262"/>
                  </a:lnTo>
                  <a:lnTo>
                    <a:pt x="254" y="241"/>
                  </a:lnTo>
                  <a:lnTo>
                    <a:pt x="245" y="224"/>
                  </a:lnTo>
                  <a:lnTo>
                    <a:pt x="240" y="206"/>
                  </a:lnTo>
                  <a:lnTo>
                    <a:pt x="236" y="188"/>
                  </a:lnTo>
                  <a:lnTo>
                    <a:pt x="234" y="172"/>
                  </a:lnTo>
                  <a:lnTo>
                    <a:pt x="234" y="159"/>
                  </a:lnTo>
                  <a:lnTo>
                    <a:pt x="236" y="148"/>
                  </a:lnTo>
                  <a:lnTo>
                    <a:pt x="239" y="144"/>
                  </a:lnTo>
                  <a:lnTo>
                    <a:pt x="239" y="118"/>
                  </a:lnTo>
                  <a:lnTo>
                    <a:pt x="242" y="93"/>
                  </a:lnTo>
                  <a:lnTo>
                    <a:pt x="249" y="71"/>
                  </a:lnTo>
                  <a:lnTo>
                    <a:pt x="259" y="50"/>
                  </a:lnTo>
                  <a:lnTo>
                    <a:pt x="272" y="33"/>
                  </a:lnTo>
                  <a:lnTo>
                    <a:pt x="289" y="19"/>
                  </a:lnTo>
                  <a:lnTo>
                    <a:pt x="309" y="9"/>
                  </a:lnTo>
                  <a:lnTo>
                    <a:pt x="332" y="3"/>
                  </a:lnTo>
                  <a:lnTo>
                    <a:pt x="357" y="0"/>
                  </a:lnTo>
                  <a:close/>
                </a:path>
              </a:pathLst>
            </a:custGeom>
            <a:solidFill>
              <a:schemeClr val="accent1"/>
            </a:solidFill>
            <a:ln>
              <a:noFill/>
            </a:ln>
          </p:spPr>
          <p:txBody>
            <a:bodyPr vert="horz" wrap="square" lIns="91440" tIns="45720" rIns="91440" bIns="45720" anchor="t"/>
            <a:lstStyle/>
            <a:p>
              <a:pPr marL="0" marR="0" lvl="0" indent="0" defTabSz="456933" eaLnBrk="0" fontAlgn="base" latinLnBrk="0" hangingPunct="0">
                <a:lnSpc>
                  <a:spcPct val="100000"/>
                </a:lnSpc>
                <a:spcBef>
                  <a:spcPct val="0"/>
                </a:spcBef>
                <a:spcAft>
                  <a:spcPct val="0"/>
                </a:spcAft>
                <a:buClrTx/>
                <a:buSzTx/>
                <a:buFontTx/>
                <a:buNone/>
                <a:tabLst/>
                <a:defRPr/>
              </a:pPr>
              <a:endParaRPr kumimoji="0" lang="nb-NO" sz="1400" b="0" i="0" u="none" strike="noStrike" kern="0" cap="none" spc="0" normalizeH="0" baseline="0" noProof="0">
                <a:ln>
                  <a:noFill/>
                </a:ln>
                <a:solidFill>
                  <a:srgbClr val="6D6E71">
                    <a:lumMod val="75000"/>
                  </a:srgbClr>
                </a:solidFill>
                <a:effectLst/>
                <a:uLnTx/>
                <a:uFillTx/>
              </a:endParaRPr>
            </a:p>
          </p:txBody>
        </p:sp>
        <p:sp>
          <p:nvSpPr>
            <p:cNvPr id="80" name="Rectangle 10"/>
            <p:cNvSpPr>
              <a:spLocks noChangeArrowheads="1"/>
            </p:cNvSpPr>
            <p:nvPr/>
          </p:nvSpPr>
          <p:spPr bwMode="auto">
            <a:xfrm>
              <a:off x="4153558" y="6269703"/>
              <a:ext cx="1517440" cy="331069"/>
            </a:xfrm>
            <a:prstGeom prst="rect">
              <a:avLst/>
            </a:prstGeom>
            <a:solidFill>
              <a:srgbClr val="6D6E71">
                <a:lumMod val="75000"/>
              </a:srgbClr>
            </a:solidFill>
            <a:ln w="25400" cap="flat" cmpd="sng" algn="ctr">
              <a:solidFill>
                <a:srgbClr val="FFFFFF"/>
              </a:solidFill>
              <a:prstDash val="solid"/>
              <a:headEnd/>
              <a:tailEnd/>
            </a:ln>
            <a:effectLst/>
          </p:spPr>
          <p:txBody>
            <a:bodyPr lIns="0" rIns="0" anchor="ctr"/>
            <a:lstStyle/>
            <a:p>
              <a:pPr marL="0" marR="0" lvl="0" indent="0" algn="ctr" defTabSz="1563688" eaLnBrk="0" fontAlgn="base" latinLnBrk="0" hangingPunct="0">
                <a:lnSpc>
                  <a:spcPct val="100000"/>
                </a:lnSpc>
                <a:spcBef>
                  <a:spcPct val="20000"/>
                </a:spcBef>
                <a:spcAft>
                  <a:spcPct val="0"/>
                </a:spcAft>
                <a:buClr>
                  <a:srgbClr val="FFD200"/>
                </a:buClr>
                <a:buSzPct val="75000"/>
                <a:buFontTx/>
                <a:buNone/>
                <a:tabLst/>
                <a:defRPr/>
              </a:pPr>
              <a:r>
                <a:rPr kumimoji="0" lang="en-US" sz="1000" b="1" i="0" u="none" strike="noStrike" kern="0" cap="none" spc="0" normalizeH="0" baseline="0" noProof="0" dirty="0">
                  <a:ln>
                    <a:noFill/>
                  </a:ln>
                  <a:solidFill>
                    <a:srgbClr val="FFFFFF"/>
                  </a:solidFill>
                  <a:effectLst/>
                  <a:uLnTx/>
                  <a:uFillTx/>
                  <a:latin typeface="Calibri"/>
                  <a:ea typeface="+mn-ea"/>
                  <a:cs typeface="Tahoma" pitchFamily="34" charset="0"/>
                </a:rPr>
                <a:t>Business Divisions</a:t>
              </a:r>
            </a:p>
          </p:txBody>
        </p:sp>
      </p:grpSp>
      <p:sp>
        <p:nvSpPr>
          <p:cNvPr id="85" name="Rectangle 84"/>
          <p:cNvSpPr/>
          <p:nvPr/>
        </p:nvSpPr>
        <p:spPr>
          <a:xfrm>
            <a:off x="11739779" y="1659049"/>
            <a:ext cx="202140" cy="49526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90" name="Rectangle 89"/>
          <p:cNvSpPr/>
          <p:nvPr/>
        </p:nvSpPr>
        <p:spPr>
          <a:xfrm>
            <a:off x="4173895" y="1970218"/>
            <a:ext cx="3352362"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400" b="1" dirty="0"/>
              <a:t>Business Opinion</a:t>
            </a:r>
            <a:endParaRPr lang="en-GB" sz="1400" b="1" dirty="0">
              <a:solidFill>
                <a:prstClr val="black"/>
              </a:solidFill>
            </a:endParaRPr>
          </a:p>
        </p:txBody>
      </p:sp>
      <p:sp>
        <p:nvSpPr>
          <p:cNvPr id="16" name="Rectangle 15"/>
          <p:cNvSpPr/>
          <p:nvPr/>
        </p:nvSpPr>
        <p:spPr>
          <a:xfrm>
            <a:off x="8856435" y="2513603"/>
            <a:ext cx="2952354" cy="277896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14000"/>
              </a:lnSpc>
              <a:spcAft>
                <a:spcPts val="600"/>
              </a:spcAft>
              <a:buClr>
                <a:schemeClr val="tx2"/>
              </a:buClr>
              <a:buFont typeface="Wingdings" panose="05000000000000000000" pitchFamily="2" charset="2"/>
              <a:buChar char="Ø"/>
            </a:pPr>
            <a:endParaRPr lang="en-US" sz="1400" b="1" kern="0" dirty="0">
              <a:solidFill>
                <a:schemeClr val="accent4"/>
              </a:solidFill>
            </a:endParaRPr>
          </a:p>
          <a:p>
            <a:pPr marL="285750" indent="-285750">
              <a:lnSpc>
                <a:spcPct val="114000"/>
              </a:lnSpc>
              <a:spcAft>
                <a:spcPts val="600"/>
              </a:spcAft>
              <a:buClr>
                <a:schemeClr val="tx2"/>
              </a:buClr>
              <a:buFont typeface="Arial" panose="020B0604020202020204" pitchFamily="34" charset="0"/>
              <a:buChar char="•"/>
            </a:pPr>
            <a:r>
              <a:rPr lang="en-US" sz="1400" b="1" kern="0" dirty="0">
                <a:solidFill>
                  <a:schemeClr val="accent4"/>
                </a:solidFill>
              </a:rPr>
              <a:t>System </a:t>
            </a:r>
            <a:r>
              <a:rPr lang="en-US" sz="1400" kern="0" dirty="0">
                <a:solidFill>
                  <a:schemeClr val="accent4"/>
                </a:solidFill>
              </a:rPr>
              <a:t>knowledge transfer and trainings are not provided in a standardized way</a:t>
            </a:r>
          </a:p>
          <a:p>
            <a:pPr marL="285750" indent="-285750">
              <a:lnSpc>
                <a:spcPct val="114000"/>
              </a:lnSpc>
              <a:spcAft>
                <a:spcPts val="600"/>
              </a:spcAft>
              <a:buClr>
                <a:schemeClr val="tx2"/>
              </a:buClr>
              <a:buFont typeface="Arial" panose="020B0604020202020204" pitchFamily="34" charset="0"/>
              <a:buChar char="•"/>
            </a:pPr>
            <a:endParaRPr lang="en-US" sz="1400" kern="0" dirty="0">
              <a:solidFill>
                <a:schemeClr val="accent4"/>
              </a:solidFill>
            </a:endParaRPr>
          </a:p>
          <a:p>
            <a:pPr marL="285750" indent="-285750">
              <a:lnSpc>
                <a:spcPct val="114000"/>
              </a:lnSpc>
              <a:spcAft>
                <a:spcPts val="600"/>
              </a:spcAft>
              <a:buClr>
                <a:schemeClr val="tx2"/>
              </a:buClr>
              <a:buFont typeface="Arial" panose="020B0604020202020204" pitchFamily="34" charset="0"/>
              <a:buChar char="•"/>
            </a:pPr>
            <a:r>
              <a:rPr lang="en-US" sz="1400" kern="0" dirty="0">
                <a:solidFill>
                  <a:schemeClr val="accent4"/>
                </a:solidFill>
              </a:rPr>
              <a:t>Resolution of </a:t>
            </a:r>
            <a:r>
              <a:rPr lang="en-US" sz="1400" b="1" kern="0" dirty="0">
                <a:solidFill>
                  <a:schemeClr val="accent4"/>
                </a:solidFill>
              </a:rPr>
              <a:t>issues </a:t>
            </a:r>
            <a:r>
              <a:rPr lang="en-US" sz="1400" kern="0" dirty="0">
                <a:solidFill>
                  <a:schemeClr val="accent4"/>
                </a:solidFill>
              </a:rPr>
              <a:t>take longer </a:t>
            </a:r>
            <a:r>
              <a:rPr lang="en-US" sz="1400" b="1" kern="0" dirty="0">
                <a:solidFill>
                  <a:schemeClr val="accent4"/>
                </a:solidFill>
              </a:rPr>
              <a:t>time </a:t>
            </a:r>
            <a:r>
              <a:rPr lang="en-US" sz="1400" kern="0" dirty="0">
                <a:solidFill>
                  <a:schemeClr val="accent4"/>
                </a:solidFill>
              </a:rPr>
              <a:t>and lack on clarity when escalations are required to expedite resolution of incidents</a:t>
            </a:r>
          </a:p>
        </p:txBody>
      </p:sp>
      <p:grpSp>
        <p:nvGrpSpPr>
          <p:cNvPr id="15" name="Group 14"/>
          <p:cNvGrpSpPr>
            <a:grpSpLocks/>
          </p:cNvGrpSpPr>
          <p:nvPr/>
        </p:nvGrpSpPr>
        <p:grpSpPr bwMode="auto">
          <a:xfrm flipH="1">
            <a:off x="8136092" y="3108659"/>
            <a:ext cx="595641" cy="1857375"/>
            <a:chOff x="2119" y="2172"/>
            <a:chExt cx="378" cy="1170"/>
          </a:xfrm>
          <a:solidFill>
            <a:schemeClr val="accent1">
              <a:lumMod val="60000"/>
              <a:lumOff val="40000"/>
            </a:schemeClr>
          </a:solidFill>
        </p:grpSpPr>
        <p:sp>
          <p:nvSpPr>
            <p:cNvPr id="17" name="AutoShape 17"/>
            <p:cNvSpPr>
              <a:spLocks noChangeArrowheads="1"/>
            </p:cNvSpPr>
            <p:nvPr/>
          </p:nvSpPr>
          <p:spPr bwMode="auto">
            <a:xfrm rot="18900000">
              <a:off x="2164" y="2172"/>
              <a:ext cx="333" cy="240"/>
            </a:xfrm>
            <a:prstGeom prst="upArrow">
              <a:avLst>
                <a:gd name="adj1" fmla="val 50130"/>
                <a:gd name="adj2" fmla="val 52509"/>
              </a:avLst>
            </a:prstGeom>
            <a:grpFill/>
            <a:ln w="9525" algn="ctr">
              <a:solidFill>
                <a:srgbClr val="B2B2B2"/>
              </a:solidFill>
              <a:miter lim="800000"/>
              <a:headEnd/>
              <a:tailEnd/>
            </a:ln>
          </p:spPr>
          <p:txBody>
            <a:bodyPr lIns="0" tIns="0" rIns="0" bIns="0" anchor="ctr">
              <a:spAutoFit/>
            </a:bodyPr>
            <a:lstStyle/>
            <a:p>
              <a:pPr marL="0" marR="0" lvl="0" indent="0" algn="ctr" defTabSz="914400" eaLnBrk="1" fontAlgn="base" latinLnBrk="0" hangingPunct="1">
                <a:lnSpc>
                  <a:spcPct val="102000"/>
                </a:lnSpc>
                <a:spcBef>
                  <a:spcPct val="0"/>
                </a:spcBef>
                <a:spcAft>
                  <a:spcPct val="3700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8" name="AutoShape 18"/>
            <p:cNvSpPr>
              <a:spLocks noChangeArrowheads="1"/>
            </p:cNvSpPr>
            <p:nvPr/>
          </p:nvSpPr>
          <p:spPr bwMode="auto">
            <a:xfrm rot="16200000">
              <a:off x="2072" y="2620"/>
              <a:ext cx="333" cy="240"/>
            </a:xfrm>
            <a:prstGeom prst="upArrow">
              <a:avLst>
                <a:gd name="adj1" fmla="val 50130"/>
                <a:gd name="adj2" fmla="val 52509"/>
              </a:avLst>
            </a:prstGeom>
            <a:grpFill/>
            <a:ln w="9525" algn="ctr">
              <a:solidFill>
                <a:srgbClr val="B2B2B2"/>
              </a:solidFill>
              <a:miter lim="800000"/>
              <a:headEnd/>
              <a:tailEnd/>
            </a:ln>
          </p:spPr>
          <p:txBody>
            <a:bodyPr lIns="0" tIns="0" rIns="0" bIns="0" anchor="ctr">
              <a:spAutoFit/>
            </a:bodyPr>
            <a:lstStyle/>
            <a:p>
              <a:pPr marL="0" marR="0" lvl="0" indent="0" algn="ctr" defTabSz="914400" eaLnBrk="1" fontAlgn="base" latinLnBrk="0" hangingPunct="1">
                <a:lnSpc>
                  <a:spcPct val="102000"/>
                </a:lnSpc>
                <a:spcBef>
                  <a:spcPct val="0"/>
                </a:spcBef>
                <a:spcAft>
                  <a:spcPct val="3700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9" name="AutoShape 19"/>
            <p:cNvSpPr>
              <a:spLocks noChangeArrowheads="1"/>
            </p:cNvSpPr>
            <p:nvPr/>
          </p:nvSpPr>
          <p:spPr bwMode="auto">
            <a:xfrm rot="13500000">
              <a:off x="2208" y="3056"/>
              <a:ext cx="333" cy="240"/>
            </a:xfrm>
            <a:prstGeom prst="upArrow">
              <a:avLst>
                <a:gd name="adj1" fmla="val 50130"/>
                <a:gd name="adj2" fmla="val 52509"/>
              </a:avLst>
            </a:prstGeom>
            <a:grpFill/>
            <a:ln w="9525" algn="ctr">
              <a:solidFill>
                <a:srgbClr val="B2B2B2"/>
              </a:solidFill>
              <a:miter lim="800000"/>
              <a:headEnd/>
              <a:tailEnd/>
            </a:ln>
          </p:spPr>
          <p:txBody>
            <a:bodyPr lIns="0" tIns="0" rIns="0" bIns="0" anchor="ctr">
              <a:spAutoFit/>
            </a:bodyPr>
            <a:lstStyle/>
            <a:p>
              <a:pPr marL="0" marR="0" lvl="0" indent="0" algn="ctr" defTabSz="914400" eaLnBrk="1" fontAlgn="base" latinLnBrk="0" hangingPunct="1">
                <a:lnSpc>
                  <a:spcPct val="102000"/>
                </a:lnSpc>
                <a:spcBef>
                  <a:spcPct val="0"/>
                </a:spcBef>
                <a:spcAft>
                  <a:spcPct val="3700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grpSp>
        <p:nvGrpSpPr>
          <p:cNvPr id="2" name="Group 1"/>
          <p:cNvGrpSpPr/>
          <p:nvPr/>
        </p:nvGrpSpPr>
        <p:grpSpPr>
          <a:xfrm>
            <a:off x="3449994" y="3051681"/>
            <a:ext cx="596367" cy="1858105"/>
            <a:chOff x="3157765" y="2687157"/>
            <a:chExt cx="596367" cy="1858105"/>
          </a:xfrm>
        </p:grpSpPr>
        <p:sp>
          <p:nvSpPr>
            <p:cNvPr id="20" name="AutoShape 14"/>
            <p:cNvSpPr>
              <a:spLocks noChangeArrowheads="1"/>
            </p:cNvSpPr>
            <p:nvPr/>
          </p:nvSpPr>
          <p:spPr bwMode="auto">
            <a:xfrm rot="18900000">
              <a:off x="3229400" y="2687157"/>
              <a:ext cx="524732" cy="380874"/>
            </a:xfrm>
            <a:prstGeom prst="upArrow">
              <a:avLst>
                <a:gd name="adj1" fmla="val 50130"/>
                <a:gd name="adj2" fmla="val 52509"/>
              </a:avLst>
            </a:prstGeom>
            <a:solidFill>
              <a:schemeClr val="accent1">
                <a:lumMod val="60000"/>
                <a:lumOff val="40000"/>
              </a:schemeClr>
            </a:solidFill>
            <a:ln w="9525" algn="ctr">
              <a:solidFill>
                <a:srgbClr val="B2B2B2"/>
              </a:solidFill>
              <a:miter lim="800000"/>
              <a:headEnd/>
              <a:tailEnd/>
            </a:ln>
          </p:spPr>
          <p:txBody>
            <a:bodyPr lIns="0" tIns="0" rIns="0" bIns="0" anchor="ctr">
              <a:spAutoFit/>
            </a:bodyPr>
            <a:lstStyle/>
            <a:p>
              <a:pPr marL="0" marR="0" lvl="0" indent="0" algn="ctr" defTabSz="914400" eaLnBrk="1" fontAlgn="base" latinLnBrk="0" hangingPunct="1">
                <a:lnSpc>
                  <a:spcPct val="102000"/>
                </a:lnSpc>
                <a:spcBef>
                  <a:spcPct val="0"/>
                </a:spcBef>
                <a:spcAft>
                  <a:spcPct val="3700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 name="AutoShape 15"/>
            <p:cNvSpPr>
              <a:spLocks noChangeArrowheads="1"/>
            </p:cNvSpPr>
            <p:nvPr/>
          </p:nvSpPr>
          <p:spPr bwMode="auto">
            <a:xfrm rot="16200000">
              <a:off x="3082476" y="3399764"/>
              <a:ext cx="528637" cy="378060"/>
            </a:xfrm>
            <a:prstGeom prst="upArrow">
              <a:avLst>
                <a:gd name="adj1" fmla="val 50130"/>
                <a:gd name="adj2" fmla="val 52509"/>
              </a:avLst>
            </a:prstGeom>
            <a:solidFill>
              <a:schemeClr val="accent1">
                <a:lumMod val="60000"/>
                <a:lumOff val="40000"/>
              </a:schemeClr>
            </a:solidFill>
            <a:ln w="9525" algn="ctr">
              <a:solidFill>
                <a:srgbClr val="B2B2B2"/>
              </a:solidFill>
              <a:miter lim="800000"/>
              <a:headEnd/>
              <a:tailEnd/>
            </a:ln>
          </p:spPr>
          <p:txBody>
            <a:bodyPr lIns="0" tIns="0" rIns="0" bIns="0" anchor="ctr">
              <a:spAutoFit/>
            </a:bodyPr>
            <a:lstStyle/>
            <a:p>
              <a:pPr marL="0" marR="0" lvl="0" indent="0" algn="ctr" defTabSz="914400" eaLnBrk="1" fontAlgn="base" latinLnBrk="0" hangingPunct="1">
                <a:lnSpc>
                  <a:spcPct val="102000"/>
                </a:lnSpc>
                <a:spcBef>
                  <a:spcPct val="0"/>
                </a:spcBef>
                <a:spcAft>
                  <a:spcPct val="3700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2" name="AutoShape 16"/>
            <p:cNvSpPr>
              <a:spLocks noChangeArrowheads="1"/>
            </p:cNvSpPr>
            <p:nvPr/>
          </p:nvSpPr>
          <p:spPr bwMode="auto">
            <a:xfrm rot="13500000">
              <a:off x="3296781" y="4091914"/>
              <a:ext cx="528637" cy="378060"/>
            </a:xfrm>
            <a:prstGeom prst="upArrow">
              <a:avLst>
                <a:gd name="adj1" fmla="val 50130"/>
                <a:gd name="adj2" fmla="val 52509"/>
              </a:avLst>
            </a:prstGeom>
            <a:solidFill>
              <a:schemeClr val="accent1">
                <a:lumMod val="60000"/>
                <a:lumOff val="40000"/>
              </a:schemeClr>
            </a:solidFill>
            <a:ln w="9525" algn="ctr">
              <a:solidFill>
                <a:srgbClr val="B2B2B2"/>
              </a:solidFill>
              <a:miter lim="800000"/>
              <a:headEnd/>
              <a:tailEnd/>
            </a:ln>
          </p:spPr>
          <p:txBody>
            <a:bodyPr lIns="0" tIns="0" rIns="0" bIns="0" anchor="ctr">
              <a:spAutoFit/>
            </a:bodyPr>
            <a:lstStyle/>
            <a:p>
              <a:pPr marL="0" marR="0" lvl="0" indent="0" algn="ctr" defTabSz="914400" eaLnBrk="1" fontAlgn="base" latinLnBrk="0" hangingPunct="1">
                <a:lnSpc>
                  <a:spcPct val="102000"/>
                </a:lnSpc>
                <a:spcBef>
                  <a:spcPct val="0"/>
                </a:spcBef>
                <a:spcAft>
                  <a:spcPct val="3700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3" name="Rectangle 2"/>
          <p:cNvSpPr/>
          <p:nvPr/>
        </p:nvSpPr>
        <p:spPr>
          <a:xfrm>
            <a:off x="378706" y="2557414"/>
            <a:ext cx="2878408" cy="3033331"/>
          </a:xfrm>
          <a:prstGeom prst="rect">
            <a:avLst/>
          </a:prstGeom>
        </p:spPr>
        <p:txBody>
          <a:bodyPr wrap="square">
            <a:spAutoFit/>
          </a:bodyPr>
          <a:lstStyle/>
          <a:p>
            <a:pPr marL="171450" indent="-171450" algn="just">
              <a:spcAft>
                <a:spcPts val="600"/>
              </a:spcAft>
              <a:buClr>
                <a:schemeClr val="tx2"/>
              </a:buClr>
              <a:buFont typeface="Arial" panose="020B0604020202020204" pitchFamily="34" charset="0"/>
              <a:buChar char="•"/>
            </a:pPr>
            <a:r>
              <a:rPr lang="en-US" sz="1200" dirty="0">
                <a:solidFill>
                  <a:schemeClr val="accent4"/>
                </a:solidFill>
              </a:rPr>
              <a:t>A Reliable and Innovative IT function is </a:t>
            </a:r>
            <a:r>
              <a:rPr lang="en-US" sz="1200" b="1" dirty="0">
                <a:solidFill>
                  <a:schemeClr val="accent4"/>
                </a:solidFill>
              </a:rPr>
              <a:t>needed</a:t>
            </a:r>
            <a:r>
              <a:rPr lang="en-US" sz="1200" dirty="0">
                <a:solidFill>
                  <a:schemeClr val="accent4"/>
                </a:solidFill>
              </a:rPr>
              <a:t> to support business transformation </a:t>
            </a:r>
            <a:r>
              <a:rPr lang="en-US" sz="1200" b="1" dirty="0">
                <a:solidFill>
                  <a:schemeClr val="accent4"/>
                </a:solidFill>
              </a:rPr>
              <a:t>process</a:t>
            </a:r>
          </a:p>
          <a:p>
            <a:pPr marL="171450" indent="-171450" algn="just">
              <a:spcAft>
                <a:spcPts val="600"/>
              </a:spcAft>
              <a:buClr>
                <a:schemeClr val="tx2"/>
              </a:buClr>
              <a:buFont typeface="Arial" panose="020B0604020202020204" pitchFamily="34" charset="0"/>
              <a:buChar char="•"/>
            </a:pPr>
            <a:endParaRPr lang="en-US" sz="1200" dirty="0">
              <a:solidFill>
                <a:schemeClr val="accent4"/>
              </a:solidFill>
            </a:endParaRPr>
          </a:p>
          <a:p>
            <a:pPr marL="171450" indent="-171450">
              <a:lnSpc>
                <a:spcPct val="114000"/>
              </a:lnSpc>
              <a:spcAft>
                <a:spcPts val="600"/>
              </a:spcAft>
              <a:buClr>
                <a:schemeClr val="tx2"/>
              </a:buClr>
              <a:buFont typeface="Arial" panose="020B0604020202020204" pitchFamily="34" charset="0"/>
              <a:buChar char="•"/>
            </a:pPr>
            <a:r>
              <a:rPr lang="en-US" sz="1200" dirty="0">
                <a:solidFill>
                  <a:schemeClr val="accent4"/>
                </a:solidFill>
              </a:rPr>
              <a:t>IT </a:t>
            </a:r>
            <a:r>
              <a:rPr lang="en-US" sz="1200" b="1" dirty="0">
                <a:solidFill>
                  <a:schemeClr val="accent4"/>
                </a:solidFill>
              </a:rPr>
              <a:t>needs</a:t>
            </a:r>
            <a:r>
              <a:rPr lang="en-US" sz="1200" dirty="0">
                <a:solidFill>
                  <a:schemeClr val="accent4"/>
                </a:solidFill>
              </a:rPr>
              <a:t> to constantly pursue improvement opportunities to enhance the </a:t>
            </a:r>
            <a:r>
              <a:rPr lang="en-US" sz="1200" b="1" dirty="0" err="1">
                <a:solidFill>
                  <a:schemeClr val="accent4"/>
                </a:solidFill>
              </a:rPr>
              <a:t>syste</a:t>
            </a:r>
            <a:r>
              <a:rPr lang="en-US" sz="1200" b="1" dirty="0">
                <a:solidFill>
                  <a:schemeClr val="accent4"/>
                </a:solidFill>
              </a:rPr>
              <a:t>[NAME]</a:t>
            </a:r>
            <a:r>
              <a:rPr lang="en-US" sz="1200" dirty="0">
                <a:solidFill>
                  <a:schemeClr val="accent4"/>
                </a:solidFill>
              </a:rPr>
              <a:t> and </a:t>
            </a:r>
            <a:r>
              <a:rPr lang="en-US" sz="1200" b="1" dirty="0">
                <a:solidFill>
                  <a:schemeClr val="accent4"/>
                </a:solidFill>
              </a:rPr>
              <a:t>application</a:t>
            </a:r>
            <a:r>
              <a:rPr lang="en-US" sz="1200" dirty="0">
                <a:solidFill>
                  <a:schemeClr val="accent4"/>
                </a:solidFill>
              </a:rPr>
              <a:t> landscape</a:t>
            </a:r>
          </a:p>
          <a:p>
            <a:pPr marL="171450" indent="-171450">
              <a:lnSpc>
                <a:spcPct val="114000"/>
              </a:lnSpc>
              <a:spcAft>
                <a:spcPts val="600"/>
              </a:spcAft>
              <a:buClr>
                <a:schemeClr val="tx2"/>
              </a:buClr>
              <a:buFont typeface="Arial" panose="020B0604020202020204" pitchFamily="34" charset="0"/>
              <a:buChar char="•"/>
            </a:pPr>
            <a:endParaRPr lang="en-US" sz="1200" kern="0" dirty="0">
              <a:solidFill>
                <a:schemeClr val="accent4"/>
              </a:solidFill>
            </a:endParaRPr>
          </a:p>
          <a:p>
            <a:pPr marL="171450" indent="-171450">
              <a:lnSpc>
                <a:spcPct val="114000"/>
              </a:lnSpc>
              <a:spcAft>
                <a:spcPts val="600"/>
              </a:spcAft>
              <a:buClr>
                <a:schemeClr val="tx2"/>
              </a:buClr>
              <a:buFont typeface="Arial" panose="020B0604020202020204" pitchFamily="34" charset="0"/>
              <a:buChar char="•"/>
            </a:pPr>
            <a:r>
              <a:rPr lang="en-US" sz="1200" kern="0" dirty="0">
                <a:solidFill>
                  <a:schemeClr val="accent4"/>
                </a:solidFill>
              </a:rPr>
              <a:t>The number of the </a:t>
            </a:r>
            <a:r>
              <a:rPr lang="en-US" sz="1200" b="1" kern="0" dirty="0">
                <a:solidFill>
                  <a:schemeClr val="accent4"/>
                </a:solidFill>
              </a:rPr>
              <a:t>IT staff </a:t>
            </a:r>
            <a:r>
              <a:rPr lang="en-US" sz="1200" kern="0" dirty="0">
                <a:solidFill>
                  <a:schemeClr val="accent4"/>
                </a:solidFill>
              </a:rPr>
              <a:t>is less than what should be; The </a:t>
            </a:r>
            <a:r>
              <a:rPr lang="en-US" sz="1200" b="1" kern="0" dirty="0">
                <a:solidFill>
                  <a:schemeClr val="accent4"/>
                </a:solidFill>
              </a:rPr>
              <a:t>support </a:t>
            </a:r>
            <a:r>
              <a:rPr lang="en-US" sz="1200" kern="0" dirty="0">
                <a:solidFill>
                  <a:schemeClr val="accent4"/>
                </a:solidFill>
              </a:rPr>
              <a:t>function is not adequately </a:t>
            </a:r>
            <a:r>
              <a:rPr lang="en-US" sz="1200" b="1" kern="0" dirty="0">
                <a:solidFill>
                  <a:schemeClr val="accent4"/>
                </a:solidFill>
              </a:rPr>
              <a:t>staff</a:t>
            </a:r>
            <a:r>
              <a:rPr lang="en-US" sz="1200" kern="0" dirty="0">
                <a:solidFill>
                  <a:schemeClr val="accent4"/>
                </a:solidFill>
              </a:rPr>
              <a:t>ed to manage </a:t>
            </a:r>
          </a:p>
        </p:txBody>
      </p:sp>
    </p:spTree>
    <p:extLst>
      <p:ext uri="{BB962C8B-B14F-4D97-AF65-F5344CB8AC3E}">
        <p14:creationId xmlns:p14="http://schemas.microsoft.com/office/powerpoint/2010/main" val="2555541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619559" y="380392"/>
            <a:ext cx="10784377" cy="926698"/>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Our takeaway from business interviews</a:t>
            </a:r>
            <a:endParaRPr lang="en-GB" sz="3200" dirty="0"/>
          </a:p>
        </p:txBody>
      </p:sp>
      <p:sp>
        <p:nvSpPr>
          <p:cNvPr id="64" name="Rectangle 63"/>
          <p:cNvSpPr/>
          <p:nvPr/>
        </p:nvSpPr>
        <p:spPr>
          <a:xfrm>
            <a:off x="641489" y="973196"/>
            <a:ext cx="10081144"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Aft>
                <a:spcPts val="600"/>
              </a:spcAft>
            </a:pPr>
            <a:r>
              <a:rPr lang="en-US" b="1" dirty="0">
                <a:solidFill>
                  <a:schemeClr val="accent5">
                    <a:lumMod val="50000"/>
                  </a:schemeClr>
                </a:solidFill>
              </a:rPr>
              <a:t>Voice of business - </a:t>
            </a:r>
            <a:r>
              <a:rPr lang="en-US" sz="1200" dirty="0">
                <a:solidFill>
                  <a:prstClr val="black"/>
                </a:solidFill>
              </a:rPr>
              <a:t>We interviewed key executives across Client Distribution’s business divisions to understand their key priorities, expectations, and current challenges in their engagement with the IT Division:</a:t>
            </a:r>
            <a:endParaRPr lang="en-GB" sz="1200" b="1" dirty="0">
              <a:solidFill>
                <a:prstClr val="black"/>
              </a:solidFill>
            </a:endParaRPr>
          </a:p>
        </p:txBody>
      </p:sp>
      <p:grpSp>
        <p:nvGrpSpPr>
          <p:cNvPr id="121" name="Group 120"/>
          <p:cNvGrpSpPr/>
          <p:nvPr/>
        </p:nvGrpSpPr>
        <p:grpSpPr>
          <a:xfrm>
            <a:off x="362608" y="1876244"/>
            <a:ext cx="10006243" cy="4468212"/>
            <a:chOff x="566035" y="2488658"/>
            <a:chExt cx="5747679" cy="2945900"/>
          </a:xfrm>
        </p:grpSpPr>
        <p:grpSp>
          <p:nvGrpSpPr>
            <p:cNvPr id="122" name="Group 121"/>
            <p:cNvGrpSpPr/>
            <p:nvPr/>
          </p:nvGrpSpPr>
          <p:grpSpPr>
            <a:xfrm>
              <a:off x="892375" y="2488658"/>
              <a:ext cx="5421337" cy="2730674"/>
              <a:chOff x="903515" y="1601358"/>
              <a:chExt cx="7239000" cy="4625271"/>
            </a:xfrm>
          </p:grpSpPr>
          <p:sp>
            <p:nvSpPr>
              <p:cNvPr id="132" name="Rectangle 131"/>
              <p:cNvSpPr/>
              <p:nvPr/>
            </p:nvSpPr>
            <p:spPr>
              <a:xfrm>
                <a:off x="903515" y="1601358"/>
                <a:ext cx="7239000" cy="4625271"/>
              </a:xfrm>
              <a:prstGeom prst="rect">
                <a:avLst/>
              </a:prstGeom>
              <a:solidFill>
                <a:schemeClr val="bg1">
                  <a:lumMod val="95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cxnSp>
            <p:nvCxnSpPr>
              <p:cNvPr id="133" name="Straight Connector 132"/>
              <p:cNvCxnSpPr>
                <a:stCxn id="132" idx="0"/>
                <a:endCxn id="132" idx="2"/>
              </p:cNvCxnSpPr>
              <p:nvPr/>
            </p:nvCxnSpPr>
            <p:spPr>
              <a:xfrm>
                <a:off x="4523015" y="1601358"/>
                <a:ext cx="0" cy="4625271"/>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a:stCxn id="132" idx="1"/>
                <a:endCxn id="132" idx="3"/>
              </p:cNvCxnSpPr>
              <p:nvPr/>
            </p:nvCxnSpPr>
            <p:spPr>
              <a:xfrm>
                <a:off x="903515" y="3913994"/>
                <a:ext cx="723900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23" name="Rectangle 55"/>
            <p:cNvSpPr>
              <a:spLocks noChangeArrowheads="1"/>
            </p:cNvSpPr>
            <p:nvPr/>
          </p:nvSpPr>
          <p:spPr bwMode="gray">
            <a:xfrm>
              <a:off x="892377" y="5308555"/>
              <a:ext cx="502195" cy="88544"/>
            </a:xfrm>
            <a:prstGeom prst="rect">
              <a:avLst/>
            </a:prstGeom>
            <a:noFill/>
            <a:ln w="9525">
              <a:noFill/>
              <a:miter lim="800000"/>
              <a:headEnd/>
              <a:tailEnd/>
            </a:ln>
            <a:effectLst/>
          </p:spPr>
          <p:txBody>
            <a:bodyPr lIns="0" tIns="0" rIns="0" bIns="0"/>
            <a:lstStyle/>
            <a:p>
              <a:pPr algn="ctr" defTabSz="895350">
                <a:spcBef>
                  <a:spcPct val="20000"/>
                </a:spcBef>
                <a:defRPr/>
              </a:pPr>
              <a:r>
                <a:rPr lang="en-US" sz="1000" i="1" kern="0" dirty="0"/>
                <a:t>Low</a:t>
              </a:r>
            </a:p>
          </p:txBody>
        </p:sp>
        <p:sp>
          <p:nvSpPr>
            <p:cNvPr id="124" name="Rectangle 57"/>
            <p:cNvSpPr>
              <a:spLocks noChangeArrowheads="1"/>
            </p:cNvSpPr>
            <p:nvPr/>
          </p:nvSpPr>
          <p:spPr bwMode="gray">
            <a:xfrm>
              <a:off x="5836798" y="5299804"/>
              <a:ext cx="476916" cy="106057"/>
            </a:xfrm>
            <a:prstGeom prst="rect">
              <a:avLst/>
            </a:prstGeom>
            <a:noFill/>
            <a:ln w="9525">
              <a:noFill/>
              <a:miter lim="800000"/>
              <a:headEnd/>
              <a:tailEnd/>
            </a:ln>
            <a:effectLst/>
          </p:spPr>
          <p:txBody>
            <a:bodyPr lIns="0" tIns="0" rIns="0" bIns="0"/>
            <a:lstStyle/>
            <a:p>
              <a:pPr algn="ctr" defTabSz="895350">
                <a:spcBef>
                  <a:spcPct val="20000"/>
                </a:spcBef>
                <a:defRPr/>
              </a:pPr>
              <a:r>
                <a:rPr lang="en-US" sz="1000" i="1" kern="0" dirty="0"/>
                <a:t>High</a:t>
              </a:r>
            </a:p>
          </p:txBody>
        </p:sp>
        <p:cxnSp>
          <p:nvCxnSpPr>
            <p:cNvPr id="125" name="Straight Arrow Connector 124"/>
            <p:cNvCxnSpPr/>
            <p:nvPr/>
          </p:nvCxnSpPr>
          <p:spPr>
            <a:xfrm>
              <a:off x="1394567" y="5352827"/>
              <a:ext cx="4454023" cy="0"/>
            </a:xfrm>
            <a:prstGeom prst="straightConnector1">
              <a:avLst/>
            </a:prstGeom>
            <a:noFill/>
            <a:ln w="9525" cap="flat" cmpd="sng" algn="ctr">
              <a:solidFill>
                <a:schemeClr val="bg1">
                  <a:lumMod val="50000"/>
                </a:schemeClr>
              </a:solidFill>
              <a:prstDash val="solid"/>
              <a:headEnd type="none" w="med" len="med"/>
              <a:tailEnd type="triangle" w="med" len="med"/>
            </a:ln>
            <a:effectLst/>
          </p:spPr>
        </p:cxnSp>
        <p:sp>
          <p:nvSpPr>
            <p:cNvPr id="126" name="Text Box 59"/>
            <p:cNvSpPr txBox="1">
              <a:spLocks noChangeArrowheads="1"/>
            </p:cNvSpPr>
            <p:nvPr/>
          </p:nvSpPr>
          <p:spPr bwMode="auto">
            <a:xfrm>
              <a:off x="2950151" y="5267151"/>
              <a:ext cx="1311725" cy="167407"/>
            </a:xfrm>
            <a:prstGeom prst="rect">
              <a:avLst/>
            </a:prstGeom>
            <a:solidFill>
              <a:schemeClr val="bg1">
                <a:lumMod val="95000"/>
              </a:schemeClr>
            </a:solidFill>
            <a:ln w="9525" algn="ctr">
              <a:noFill/>
              <a:miter lim="800000"/>
              <a:headEnd/>
              <a:tailEnd/>
            </a:ln>
            <a:effectLst/>
          </p:spPr>
          <p:txBody>
            <a:bodyPr wrap="square">
              <a:spAutoFit/>
            </a:bodyPr>
            <a:lstStyle/>
            <a:p>
              <a:pPr marL="0" marR="0" lvl="0" indent="0" algn="ctr" defTabSz="914260" eaLnBrk="1" fontAlgn="auto" latinLnBrk="0" hangingPunct="1">
                <a:lnSpc>
                  <a:spcPct val="100000"/>
                </a:lnSpc>
                <a:spcBef>
                  <a:spcPts val="0"/>
                </a:spcBef>
                <a:spcAft>
                  <a:spcPts val="0"/>
                </a:spcAft>
                <a:buClrTx/>
                <a:buSzTx/>
                <a:buFontTx/>
                <a:buNone/>
                <a:tabLst/>
                <a:defRPr/>
              </a:pPr>
              <a:r>
                <a:rPr lang="en-US" sz="1050" b="1" kern="0"/>
                <a:t>Technology </a:t>
              </a:r>
              <a:r>
                <a:rPr kumimoji="0" lang="en-US" sz="1050" b="1" i="0" u="none" strike="noStrike" kern="0" cap="none" spc="0" normalizeH="0" baseline="0" noProof="0">
                  <a:ln>
                    <a:noFill/>
                  </a:ln>
                  <a:effectLst/>
                  <a:uLnTx/>
                  <a:uFillTx/>
                </a:rPr>
                <a:t>Gap</a:t>
              </a:r>
              <a:endParaRPr kumimoji="0" lang="en-US" sz="1050" b="1" i="0" u="none" strike="noStrike" kern="0" cap="none" spc="0" normalizeH="0" baseline="0" noProof="0" dirty="0">
                <a:ln>
                  <a:noFill/>
                </a:ln>
                <a:effectLst/>
                <a:uLnTx/>
                <a:uFillTx/>
              </a:endParaRPr>
            </a:p>
          </p:txBody>
        </p:sp>
        <p:grpSp>
          <p:nvGrpSpPr>
            <p:cNvPr id="127" name="Group 126"/>
            <p:cNvGrpSpPr/>
            <p:nvPr/>
          </p:nvGrpSpPr>
          <p:grpSpPr>
            <a:xfrm>
              <a:off x="566035" y="2590801"/>
              <a:ext cx="257082" cy="2652894"/>
              <a:chOff x="3572646" y="1524001"/>
              <a:chExt cx="414236" cy="4142499"/>
            </a:xfrm>
          </p:grpSpPr>
          <p:sp>
            <p:nvSpPr>
              <p:cNvPr id="128" name="Rectangle 27"/>
              <p:cNvSpPr>
                <a:spLocks noChangeArrowheads="1"/>
              </p:cNvSpPr>
              <p:nvPr/>
            </p:nvSpPr>
            <p:spPr bwMode="auto">
              <a:xfrm>
                <a:off x="3587406" y="5413015"/>
                <a:ext cx="387530" cy="253485"/>
              </a:xfrm>
              <a:prstGeom prst="rect">
                <a:avLst/>
              </a:prstGeom>
              <a:noFill/>
              <a:ln w="9525">
                <a:noFill/>
                <a:miter lim="800000"/>
                <a:headEnd/>
                <a:tailEnd/>
              </a:ln>
              <a:effectLst/>
            </p:spPr>
            <p:txBody>
              <a:bodyPr wrap="none">
                <a:spAutoFit/>
              </a:bodyPr>
              <a:lstStyle/>
              <a:p>
                <a:pPr algn="r" defTabSz="914260">
                  <a:spcBef>
                    <a:spcPct val="50000"/>
                  </a:spcBef>
                  <a:defRPr/>
                </a:pPr>
                <a:r>
                  <a:rPr lang="en-US" sz="1000" i="1" kern="0" dirty="0"/>
                  <a:t>Low</a:t>
                </a:r>
              </a:p>
            </p:txBody>
          </p:sp>
          <p:sp>
            <p:nvSpPr>
              <p:cNvPr id="129" name="Rectangle 29"/>
              <p:cNvSpPr>
                <a:spLocks noChangeArrowheads="1"/>
              </p:cNvSpPr>
              <p:nvPr/>
            </p:nvSpPr>
            <p:spPr bwMode="auto">
              <a:xfrm>
                <a:off x="3572646" y="1524001"/>
                <a:ext cx="414236" cy="253485"/>
              </a:xfrm>
              <a:prstGeom prst="rect">
                <a:avLst/>
              </a:prstGeom>
              <a:noFill/>
              <a:ln w="9525">
                <a:noFill/>
                <a:miter lim="800000"/>
                <a:headEnd/>
                <a:tailEnd/>
              </a:ln>
              <a:effectLst/>
            </p:spPr>
            <p:txBody>
              <a:bodyPr wrap="none">
                <a:spAutoFit/>
              </a:bodyPr>
              <a:lstStyle/>
              <a:p>
                <a:pPr algn="r" defTabSz="914260">
                  <a:defRPr/>
                </a:pPr>
                <a:r>
                  <a:rPr lang="en-US" sz="1000" i="1" kern="0" dirty="0">
                    <a:solidFill>
                      <a:sysClr val="windowText" lastClr="000000"/>
                    </a:solidFill>
                  </a:rPr>
                  <a:t>High</a:t>
                </a:r>
              </a:p>
            </p:txBody>
          </p:sp>
          <p:cxnSp>
            <p:nvCxnSpPr>
              <p:cNvPr id="130" name="Straight Arrow Connector 129"/>
              <p:cNvCxnSpPr/>
              <p:nvPr/>
            </p:nvCxnSpPr>
            <p:spPr>
              <a:xfrm flipH="1" flipV="1">
                <a:off x="3732555" y="1866677"/>
                <a:ext cx="9913" cy="354633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1" name="Text Box 51"/>
              <p:cNvSpPr txBox="1">
                <a:spLocks noChangeArrowheads="1"/>
              </p:cNvSpPr>
              <p:nvPr/>
            </p:nvSpPr>
            <p:spPr bwMode="auto">
              <a:xfrm>
                <a:off x="3608594" y="2889747"/>
                <a:ext cx="235011" cy="2050864"/>
              </a:xfrm>
              <a:prstGeom prst="rect">
                <a:avLst/>
              </a:prstGeom>
              <a:solidFill>
                <a:schemeClr val="bg1">
                  <a:lumMod val="95000"/>
                </a:schemeClr>
              </a:solidFill>
              <a:ln w="9525" algn="ctr">
                <a:noFill/>
                <a:miter lim="800000"/>
                <a:headEnd/>
                <a:tailEnd/>
              </a:ln>
              <a:effectLst/>
            </p:spPr>
            <p:txBody>
              <a:bodyPr vert="vert270" wrap="square" lIns="45720" rIns="45720">
                <a:spAutoFit/>
              </a:bodyPr>
              <a:lstStyle/>
              <a:p>
                <a:pPr algn="ctr" defTabSz="914260">
                  <a:defRPr/>
                </a:pPr>
                <a:r>
                  <a:rPr lang="en-US" sz="1050" b="1" kern="0"/>
                  <a:t>Business priorities</a:t>
                </a:r>
                <a:endParaRPr lang="en-US" sz="1050" b="1" kern="0" dirty="0"/>
              </a:p>
            </p:txBody>
          </p:sp>
        </p:grpSp>
      </p:grpSp>
      <p:sp>
        <p:nvSpPr>
          <p:cNvPr id="135" name="Rounded Rectangle 134"/>
          <p:cNvSpPr/>
          <p:nvPr/>
        </p:nvSpPr>
        <p:spPr>
          <a:xfrm>
            <a:off x="4262980" y="3334734"/>
            <a:ext cx="1268937" cy="351018"/>
          </a:xfrm>
          <a:prstGeom prst="roundRect">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Month/quarter End Closing`</a:t>
            </a:r>
          </a:p>
        </p:txBody>
      </p:sp>
      <p:sp>
        <p:nvSpPr>
          <p:cNvPr id="136" name="Rounded Rectangle 135"/>
          <p:cNvSpPr/>
          <p:nvPr/>
        </p:nvSpPr>
        <p:spPr>
          <a:xfrm>
            <a:off x="7708603" y="2264360"/>
            <a:ext cx="940509" cy="474428"/>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Inventory Management</a:t>
            </a:r>
          </a:p>
        </p:txBody>
      </p:sp>
      <p:sp>
        <p:nvSpPr>
          <p:cNvPr id="137" name="Rounded Rectangle 136"/>
          <p:cNvSpPr/>
          <p:nvPr/>
        </p:nvSpPr>
        <p:spPr>
          <a:xfrm>
            <a:off x="8666871" y="2257814"/>
            <a:ext cx="768515" cy="474428"/>
          </a:xfrm>
          <a:prstGeom prst="roundRect">
            <a:avLst/>
          </a:prstGeom>
          <a:gradFill flip="none" rotWithShape="1">
            <a:gsLst>
              <a:gs pos="0">
                <a:schemeClr val="accent2"/>
              </a:gs>
              <a:gs pos="41000">
                <a:schemeClr val="accent2"/>
              </a:gs>
              <a:gs pos="100000">
                <a:schemeClr val="accent1"/>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Improve Customer Journey </a:t>
            </a:r>
            <a:endParaRPr lang="en-AU" sz="800" b="1" dirty="0">
              <a:solidFill>
                <a:srgbClr val="FFFFFF"/>
              </a:solidFill>
            </a:endParaRPr>
          </a:p>
        </p:txBody>
      </p:sp>
      <p:sp>
        <p:nvSpPr>
          <p:cNvPr id="138" name="Rounded Rectangle 137"/>
          <p:cNvSpPr/>
          <p:nvPr/>
        </p:nvSpPr>
        <p:spPr>
          <a:xfrm>
            <a:off x="7746463" y="2805938"/>
            <a:ext cx="1661288" cy="474428"/>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Manage Products &amp; Services</a:t>
            </a:r>
            <a:endParaRPr lang="en-AU" sz="900" b="1" dirty="0">
              <a:solidFill>
                <a:srgbClr val="FFFFFF"/>
              </a:solidFill>
            </a:endParaRPr>
          </a:p>
        </p:txBody>
      </p:sp>
      <p:sp>
        <p:nvSpPr>
          <p:cNvPr id="139" name="Rounded Rectangle 138"/>
          <p:cNvSpPr/>
          <p:nvPr/>
        </p:nvSpPr>
        <p:spPr>
          <a:xfrm>
            <a:off x="10898179" y="2392328"/>
            <a:ext cx="895201" cy="310265"/>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Retail</a:t>
            </a:r>
            <a:endParaRPr lang="en-AU" sz="900" b="1" dirty="0">
              <a:solidFill>
                <a:srgbClr val="FFFFFF"/>
              </a:solidFill>
            </a:endParaRPr>
          </a:p>
        </p:txBody>
      </p:sp>
      <p:sp>
        <p:nvSpPr>
          <p:cNvPr id="140" name="Rounded Rectangle 139"/>
          <p:cNvSpPr/>
          <p:nvPr/>
        </p:nvSpPr>
        <p:spPr>
          <a:xfrm>
            <a:off x="10898179" y="2758797"/>
            <a:ext cx="895201" cy="310265"/>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Commercial</a:t>
            </a:r>
            <a:endParaRPr lang="en-AU" sz="900" b="1" dirty="0">
              <a:solidFill>
                <a:srgbClr val="FFFFFF"/>
              </a:solidFill>
            </a:endParaRPr>
          </a:p>
        </p:txBody>
      </p:sp>
      <p:sp>
        <p:nvSpPr>
          <p:cNvPr id="141" name="Rounded Rectangle 140"/>
          <p:cNvSpPr/>
          <p:nvPr/>
        </p:nvSpPr>
        <p:spPr>
          <a:xfrm>
            <a:off x="10898179" y="3141831"/>
            <a:ext cx="895201" cy="310265"/>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Marketing</a:t>
            </a:r>
            <a:endParaRPr lang="en-AU" sz="900" b="1" dirty="0">
              <a:solidFill>
                <a:srgbClr val="FFFFFF"/>
              </a:solidFill>
            </a:endParaRPr>
          </a:p>
        </p:txBody>
      </p:sp>
      <p:sp>
        <p:nvSpPr>
          <p:cNvPr id="142" name="Rounded Rectangle 141"/>
          <p:cNvSpPr/>
          <p:nvPr/>
        </p:nvSpPr>
        <p:spPr>
          <a:xfrm>
            <a:off x="10898179" y="3837310"/>
            <a:ext cx="895201" cy="310265"/>
          </a:xfrm>
          <a:prstGeom prst="roundRect">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Finance</a:t>
            </a:r>
            <a:endParaRPr lang="en-AU" sz="900" b="1" dirty="0">
              <a:solidFill>
                <a:srgbClr val="FFFFFF"/>
              </a:solidFill>
            </a:endParaRPr>
          </a:p>
        </p:txBody>
      </p:sp>
      <p:sp>
        <p:nvSpPr>
          <p:cNvPr id="143" name="Rounded Rectangle 142"/>
          <p:cNvSpPr/>
          <p:nvPr/>
        </p:nvSpPr>
        <p:spPr>
          <a:xfrm>
            <a:off x="10898179" y="4187813"/>
            <a:ext cx="895201" cy="310265"/>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HCD</a:t>
            </a:r>
            <a:endParaRPr lang="en-AU" sz="900" b="1" dirty="0">
              <a:solidFill>
                <a:srgbClr val="FFFFFF"/>
              </a:solidFill>
            </a:endParaRPr>
          </a:p>
        </p:txBody>
      </p:sp>
      <p:sp>
        <p:nvSpPr>
          <p:cNvPr id="144" name="Rounded Rectangle 143"/>
          <p:cNvSpPr/>
          <p:nvPr/>
        </p:nvSpPr>
        <p:spPr>
          <a:xfrm>
            <a:off x="10898179" y="3489570"/>
            <a:ext cx="895201" cy="310265"/>
          </a:xfrm>
          <a:prstGeom prst="roundRect">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Operations</a:t>
            </a:r>
            <a:endParaRPr lang="en-AU" sz="900" b="1" dirty="0">
              <a:solidFill>
                <a:srgbClr val="FFFFFF"/>
              </a:solidFill>
            </a:endParaRPr>
          </a:p>
        </p:txBody>
      </p:sp>
      <p:sp>
        <p:nvSpPr>
          <p:cNvPr id="145" name="Rounded Rectangle 144"/>
          <p:cNvSpPr/>
          <p:nvPr/>
        </p:nvSpPr>
        <p:spPr>
          <a:xfrm>
            <a:off x="9476613" y="2233896"/>
            <a:ext cx="713686" cy="1046551"/>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Lube &amp; Car Wash</a:t>
            </a:r>
            <a:endParaRPr lang="en-AU" sz="900" b="1" dirty="0">
              <a:solidFill>
                <a:srgbClr val="FFFFFF"/>
              </a:solidFill>
            </a:endParaRPr>
          </a:p>
        </p:txBody>
      </p:sp>
      <p:sp>
        <p:nvSpPr>
          <p:cNvPr id="146" name="Rounded Rectangle 145"/>
          <p:cNvSpPr/>
          <p:nvPr/>
        </p:nvSpPr>
        <p:spPr>
          <a:xfrm>
            <a:off x="6589560" y="2774825"/>
            <a:ext cx="1085020" cy="505542"/>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Sales and orders Management</a:t>
            </a:r>
            <a:endParaRPr lang="en-AU" sz="900" b="1" dirty="0">
              <a:solidFill>
                <a:srgbClr val="FFFFFF"/>
              </a:solidFill>
            </a:endParaRPr>
          </a:p>
        </p:txBody>
      </p:sp>
      <p:sp>
        <p:nvSpPr>
          <p:cNvPr id="147" name="Rounded Rectangle 146"/>
          <p:cNvSpPr/>
          <p:nvPr/>
        </p:nvSpPr>
        <p:spPr>
          <a:xfrm>
            <a:off x="6777017" y="4158712"/>
            <a:ext cx="1509747" cy="309350"/>
          </a:xfrm>
          <a:prstGeom prst="roundRect">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Logistics  Management </a:t>
            </a:r>
          </a:p>
        </p:txBody>
      </p:sp>
      <p:sp>
        <p:nvSpPr>
          <p:cNvPr id="148" name="Rounded Rectangle 147"/>
          <p:cNvSpPr/>
          <p:nvPr/>
        </p:nvSpPr>
        <p:spPr>
          <a:xfrm>
            <a:off x="4166566" y="4322859"/>
            <a:ext cx="1602341" cy="352374"/>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Employee relations / Absenteeism </a:t>
            </a:r>
          </a:p>
        </p:txBody>
      </p:sp>
      <p:sp>
        <p:nvSpPr>
          <p:cNvPr id="149" name="Rounded Rectangle 148"/>
          <p:cNvSpPr/>
          <p:nvPr/>
        </p:nvSpPr>
        <p:spPr>
          <a:xfrm>
            <a:off x="4166566" y="4738046"/>
            <a:ext cx="1602341" cy="352374"/>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FFFFFF"/>
                </a:solidFill>
              </a:rPr>
              <a:t>HR Administration / Mobility</a:t>
            </a:r>
          </a:p>
        </p:txBody>
      </p:sp>
      <p:sp>
        <p:nvSpPr>
          <p:cNvPr id="150" name="Rounded Rectangle 149"/>
          <p:cNvSpPr/>
          <p:nvPr/>
        </p:nvSpPr>
        <p:spPr>
          <a:xfrm>
            <a:off x="4166566" y="5150498"/>
            <a:ext cx="1602341" cy="352374"/>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900" b="1" dirty="0">
                <a:solidFill>
                  <a:srgbClr val="FFFFFF"/>
                </a:solidFill>
              </a:rPr>
              <a:t>Compensation &amp; benefits </a:t>
            </a:r>
          </a:p>
        </p:txBody>
      </p:sp>
      <p:sp>
        <p:nvSpPr>
          <p:cNvPr id="151" name="Rounded Rectangle 150"/>
          <p:cNvSpPr/>
          <p:nvPr/>
        </p:nvSpPr>
        <p:spPr>
          <a:xfrm>
            <a:off x="6348117" y="4485400"/>
            <a:ext cx="1602341" cy="474428"/>
          </a:xfrm>
          <a:prstGeom prst="roundRect">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900" b="1" dirty="0">
                <a:solidFill>
                  <a:schemeClr val="tx1">
                    <a:lumMod val="75000"/>
                    <a:lumOff val="25000"/>
                  </a:schemeClr>
                </a:solidFill>
              </a:rPr>
              <a:t>Government Relationship Management </a:t>
            </a:r>
          </a:p>
        </p:txBody>
      </p:sp>
      <p:sp>
        <p:nvSpPr>
          <p:cNvPr id="152" name="Rounded Rectangle 151"/>
          <p:cNvSpPr/>
          <p:nvPr/>
        </p:nvSpPr>
        <p:spPr>
          <a:xfrm>
            <a:off x="10909540" y="4558548"/>
            <a:ext cx="895201" cy="310265"/>
          </a:xfrm>
          <a:prstGeom prst="roundRect">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lumMod val="75000"/>
                    <a:lumOff val="25000"/>
                  </a:schemeClr>
                </a:solidFill>
              </a:rPr>
              <a:t>GS</a:t>
            </a:r>
            <a:endParaRPr lang="en-AU" sz="900" b="1" dirty="0">
              <a:solidFill>
                <a:schemeClr val="tx1">
                  <a:lumMod val="75000"/>
                  <a:lumOff val="25000"/>
                </a:schemeClr>
              </a:solidFill>
            </a:endParaRPr>
          </a:p>
        </p:txBody>
      </p:sp>
      <p:sp>
        <p:nvSpPr>
          <p:cNvPr id="153" name="Rounded Rectangle 152"/>
          <p:cNvSpPr/>
          <p:nvPr/>
        </p:nvSpPr>
        <p:spPr>
          <a:xfrm>
            <a:off x="10898178" y="4943762"/>
            <a:ext cx="895201" cy="310265"/>
          </a:xfrm>
          <a:prstGeom prst="roundRect">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lumMod val="75000"/>
                    <a:lumOff val="25000"/>
                  </a:schemeClr>
                </a:solidFill>
              </a:rPr>
              <a:t>EPD</a:t>
            </a:r>
            <a:endParaRPr lang="en-AU" sz="900" b="1" dirty="0">
              <a:solidFill>
                <a:schemeClr val="tx1">
                  <a:lumMod val="75000"/>
                  <a:lumOff val="25000"/>
                </a:schemeClr>
              </a:solidFill>
            </a:endParaRPr>
          </a:p>
        </p:txBody>
      </p:sp>
      <p:sp>
        <p:nvSpPr>
          <p:cNvPr id="154" name="Rounded Rectangle 153"/>
          <p:cNvSpPr/>
          <p:nvPr/>
        </p:nvSpPr>
        <p:spPr>
          <a:xfrm>
            <a:off x="10909540" y="5317261"/>
            <a:ext cx="895201" cy="310265"/>
          </a:xfrm>
          <a:prstGeom prst="roundRect">
            <a:avLst/>
          </a:prstGeom>
          <a:solidFill>
            <a:schemeClr val="bg2"/>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60" b="1" dirty="0">
                <a:solidFill>
                  <a:schemeClr val="tx1">
                    <a:lumMod val="75000"/>
                    <a:lumOff val="25000"/>
                  </a:schemeClr>
                </a:solidFill>
              </a:rPr>
              <a:t>Procurement</a:t>
            </a:r>
            <a:endParaRPr lang="en-AU" sz="860" b="1" dirty="0">
              <a:solidFill>
                <a:schemeClr val="tx1">
                  <a:lumMod val="75000"/>
                  <a:lumOff val="25000"/>
                </a:schemeClr>
              </a:solidFill>
            </a:endParaRPr>
          </a:p>
        </p:txBody>
      </p:sp>
      <p:sp>
        <p:nvSpPr>
          <p:cNvPr id="155" name="Rounded Rectangle 154"/>
          <p:cNvSpPr/>
          <p:nvPr/>
        </p:nvSpPr>
        <p:spPr>
          <a:xfrm>
            <a:off x="10898178" y="5702475"/>
            <a:ext cx="895201" cy="310265"/>
          </a:xfrm>
          <a:prstGeom prst="roundRect">
            <a:avLst/>
          </a:prstGeom>
          <a:solidFill>
            <a:schemeClr val="bg1"/>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60" b="1" dirty="0">
                <a:solidFill>
                  <a:schemeClr val="tx1">
                    <a:lumMod val="75000"/>
                    <a:lumOff val="25000"/>
                  </a:schemeClr>
                </a:solidFill>
              </a:rPr>
              <a:t>Others</a:t>
            </a:r>
            <a:endParaRPr lang="en-AU" sz="860" b="1" dirty="0">
              <a:solidFill>
                <a:schemeClr val="tx1">
                  <a:lumMod val="75000"/>
                  <a:lumOff val="25000"/>
                </a:schemeClr>
              </a:solidFill>
            </a:endParaRPr>
          </a:p>
        </p:txBody>
      </p:sp>
      <p:sp>
        <p:nvSpPr>
          <p:cNvPr id="156" name="Rounded Rectangle 155"/>
          <p:cNvSpPr/>
          <p:nvPr/>
        </p:nvSpPr>
        <p:spPr>
          <a:xfrm>
            <a:off x="7423944" y="3431577"/>
            <a:ext cx="1509747" cy="342851"/>
          </a:xfrm>
          <a:prstGeom prst="roundRect">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Asset Management</a:t>
            </a:r>
          </a:p>
        </p:txBody>
      </p:sp>
      <p:sp>
        <p:nvSpPr>
          <p:cNvPr id="157" name="Rounded Rectangle 156"/>
          <p:cNvSpPr/>
          <p:nvPr/>
        </p:nvSpPr>
        <p:spPr>
          <a:xfrm>
            <a:off x="6777016" y="3783890"/>
            <a:ext cx="1509747" cy="354296"/>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Inventory  Management for LPG Cylinders </a:t>
            </a:r>
          </a:p>
        </p:txBody>
      </p:sp>
      <p:sp>
        <p:nvSpPr>
          <p:cNvPr id="158" name="Rounded Rectangle 157"/>
          <p:cNvSpPr/>
          <p:nvPr/>
        </p:nvSpPr>
        <p:spPr>
          <a:xfrm>
            <a:off x="7950458" y="5623644"/>
            <a:ext cx="1602341" cy="389096"/>
          </a:xfrm>
          <a:prstGeom prst="roundRect">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lumMod val="75000"/>
                    <a:lumOff val="25000"/>
                  </a:schemeClr>
                </a:solidFill>
              </a:rPr>
              <a:t>Corporate Travel Management</a:t>
            </a:r>
          </a:p>
        </p:txBody>
      </p:sp>
      <p:sp>
        <p:nvSpPr>
          <p:cNvPr id="159" name="Rounded Rectangle 158"/>
          <p:cNvSpPr/>
          <p:nvPr/>
        </p:nvSpPr>
        <p:spPr>
          <a:xfrm>
            <a:off x="8006843" y="4482892"/>
            <a:ext cx="1224548" cy="474428"/>
          </a:xfrm>
          <a:prstGeom prst="roundRect">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lumMod val="75000"/>
                    <a:lumOff val="25000"/>
                  </a:schemeClr>
                </a:solidFill>
              </a:rPr>
              <a:t>Facility Management </a:t>
            </a:r>
          </a:p>
        </p:txBody>
      </p:sp>
      <p:sp>
        <p:nvSpPr>
          <p:cNvPr id="160" name="Rounded Rectangle 159"/>
          <p:cNvSpPr/>
          <p:nvPr/>
        </p:nvSpPr>
        <p:spPr>
          <a:xfrm>
            <a:off x="6589560" y="2264360"/>
            <a:ext cx="1059644" cy="474428"/>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a:t>Supply Chain Management</a:t>
            </a:r>
          </a:p>
        </p:txBody>
      </p:sp>
      <p:sp>
        <p:nvSpPr>
          <p:cNvPr id="161" name="Rounded Rectangle 160"/>
          <p:cNvSpPr/>
          <p:nvPr/>
        </p:nvSpPr>
        <p:spPr>
          <a:xfrm>
            <a:off x="9144000" y="3309061"/>
            <a:ext cx="1046300" cy="637710"/>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Tenant Management in S/S</a:t>
            </a:r>
          </a:p>
        </p:txBody>
      </p:sp>
      <p:sp>
        <p:nvSpPr>
          <p:cNvPr id="162" name="Rounded Rectangle 161"/>
          <p:cNvSpPr/>
          <p:nvPr/>
        </p:nvSpPr>
        <p:spPr>
          <a:xfrm>
            <a:off x="5354665" y="2257814"/>
            <a:ext cx="1149271" cy="474428"/>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a:t>C-store Sales Management</a:t>
            </a:r>
          </a:p>
        </p:txBody>
      </p:sp>
      <p:sp>
        <p:nvSpPr>
          <p:cNvPr id="163" name="Rounded Rectangle 162"/>
          <p:cNvSpPr/>
          <p:nvPr/>
        </p:nvSpPr>
        <p:spPr>
          <a:xfrm>
            <a:off x="8431614" y="5026821"/>
            <a:ext cx="1152625" cy="448628"/>
          </a:xfrm>
          <a:prstGeom prst="roundRect">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lumMod val="75000"/>
                    <a:lumOff val="25000"/>
                  </a:schemeClr>
                </a:solidFill>
              </a:rPr>
              <a:t>Engineering projects planning</a:t>
            </a:r>
            <a:endParaRPr lang="en-AU" sz="900" b="1" dirty="0">
              <a:solidFill>
                <a:schemeClr val="tx1">
                  <a:lumMod val="75000"/>
                  <a:lumOff val="25000"/>
                </a:schemeClr>
              </a:solidFill>
            </a:endParaRPr>
          </a:p>
        </p:txBody>
      </p:sp>
      <p:sp>
        <p:nvSpPr>
          <p:cNvPr id="164" name="Rounded Rectangle 163"/>
          <p:cNvSpPr/>
          <p:nvPr/>
        </p:nvSpPr>
        <p:spPr>
          <a:xfrm>
            <a:off x="7476121" y="5055776"/>
            <a:ext cx="895201" cy="443903"/>
          </a:xfrm>
          <a:prstGeom prst="roundRect">
            <a:avLst/>
          </a:prstGeom>
          <a:solidFill>
            <a:schemeClr val="bg2"/>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60" b="1" dirty="0">
                <a:solidFill>
                  <a:schemeClr val="tx1">
                    <a:lumMod val="75000"/>
                    <a:lumOff val="25000"/>
                  </a:schemeClr>
                </a:solidFill>
              </a:rPr>
              <a:t>Sourcing &amp; Category Management</a:t>
            </a:r>
          </a:p>
        </p:txBody>
      </p:sp>
      <p:sp>
        <p:nvSpPr>
          <p:cNvPr id="165" name="Rounded Rectangle 164"/>
          <p:cNvSpPr/>
          <p:nvPr/>
        </p:nvSpPr>
        <p:spPr>
          <a:xfrm>
            <a:off x="6348117" y="5049259"/>
            <a:ext cx="1058025" cy="443903"/>
          </a:xfrm>
          <a:prstGeom prst="roundRect">
            <a:avLst/>
          </a:prstGeom>
          <a:solidFill>
            <a:schemeClr val="bg2"/>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60" b="1" dirty="0">
                <a:solidFill>
                  <a:schemeClr val="tx1">
                    <a:lumMod val="75000"/>
                    <a:lumOff val="25000"/>
                  </a:schemeClr>
                </a:solidFill>
              </a:rPr>
              <a:t>Contract Lifecycle management</a:t>
            </a:r>
          </a:p>
        </p:txBody>
      </p:sp>
      <p:sp>
        <p:nvSpPr>
          <p:cNvPr id="166" name="Rectangle 165"/>
          <p:cNvSpPr/>
          <p:nvPr/>
        </p:nvSpPr>
        <p:spPr>
          <a:xfrm>
            <a:off x="1227413" y="2419641"/>
            <a:ext cx="1826589" cy="3293209"/>
          </a:xfrm>
          <a:prstGeom prst="rect">
            <a:avLst/>
          </a:prstGeom>
        </p:spPr>
        <p:txBody>
          <a:bodyPr wrap="square">
            <a:spAutoFit/>
          </a:bodyPr>
          <a:lstStyle/>
          <a:p>
            <a:pPr>
              <a:defRPr/>
            </a:pPr>
            <a:r>
              <a:rPr lang="en-US" sz="1600" kern="0" dirty="0">
                <a:solidFill>
                  <a:schemeClr val="accent5"/>
                </a:solidFill>
              </a:rPr>
              <a:t>The prioritization / importance and technology gap for each of the highlighted business capabilities have been identified based on interviews with business &amp; management  stakeholders</a:t>
            </a:r>
          </a:p>
        </p:txBody>
      </p:sp>
      <p:sp>
        <p:nvSpPr>
          <p:cNvPr id="167" name="Rounded Rectangle 166"/>
          <p:cNvSpPr/>
          <p:nvPr/>
        </p:nvSpPr>
        <p:spPr>
          <a:xfrm>
            <a:off x="9162793" y="3975385"/>
            <a:ext cx="1061163" cy="434978"/>
          </a:xfrm>
          <a:prstGeom prst="round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60" b="1" dirty="0">
                <a:solidFill>
                  <a:schemeClr val="tx1">
                    <a:lumMod val="75000"/>
                    <a:lumOff val="25000"/>
                  </a:schemeClr>
                </a:solidFill>
              </a:rPr>
              <a:t>Enterprise Risk/Quality  Management</a:t>
            </a:r>
            <a:endParaRPr lang="en-AU" sz="860" b="1" dirty="0">
              <a:solidFill>
                <a:schemeClr val="tx1">
                  <a:lumMod val="75000"/>
                  <a:lumOff val="25000"/>
                </a:schemeClr>
              </a:solidFill>
            </a:endParaRPr>
          </a:p>
        </p:txBody>
      </p:sp>
      <p:sp>
        <p:nvSpPr>
          <p:cNvPr id="168" name="Rounded Rectangle 167"/>
          <p:cNvSpPr/>
          <p:nvPr/>
        </p:nvSpPr>
        <p:spPr>
          <a:xfrm>
            <a:off x="9567696" y="4438977"/>
            <a:ext cx="612305" cy="313929"/>
          </a:xfrm>
          <a:prstGeom prst="round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60" b="1" dirty="0">
                <a:solidFill>
                  <a:schemeClr val="tx1">
                    <a:lumMod val="75000"/>
                    <a:lumOff val="25000"/>
                  </a:schemeClr>
                </a:solidFill>
              </a:rPr>
              <a:t>HSSE Mgmt.</a:t>
            </a:r>
            <a:endParaRPr lang="en-AU" sz="860" b="1" dirty="0">
              <a:solidFill>
                <a:schemeClr val="tx1">
                  <a:lumMod val="75000"/>
                  <a:lumOff val="25000"/>
                </a:schemeClr>
              </a:solidFill>
            </a:endParaRPr>
          </a:p>
        </p:txBody>
      </p:sp>
      <p:sp>
        <p:nvSpPr>
          <p:cNvPr id="169" name="Rounded Rectangle 168"/>
          <p:cNvSpPr/>
          <p:nvPr/>
        </p:nvSpPr>
        <p:spPr>
          <a:xfrm>
            <a:off x="10909539" y="2006622"/>
            <a:ext cx="895201" cy="310265"/>
          </a:xfrm>
          <a:prstGeom prst="roundRect">
            <a:avLst/>
          </a:prstGeom>
          <a:solidFill>
            <a:srgbClr val="2914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Investors Relation (IR)</a:t>
            </a:r>
            <a:endParaRPr lang="en-AU" sz="900" b="1" dirty="0">
              <a:solidFill>
                <a:srgbClr val="FFFFFF"/>
              </a:solidFill>
            </a:endParaRPr>
          </a:p>
        </p:txBody>
      </p:sp>
      <p:sp>
        <p:nvSpPr>
          <p:cNvPr id="170" name="Rounded Rectangle 169"/>
          <p:cNvSpPr/>
          <p:nvPr/>
        </p:nvSpPr>
        <p:spPr>
          <a:xfrm>
            <a:off x="7034911" y="1933650"/>
            <a:ext cx="1285235" cy="289217"/>
          </a:xfrm>
          <a:prstGeom prst="roundRect">
            <a:avLst/>
          </a:prstGeom>
          <a:solidFill>
            <a:srgbClr val="2914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Inventory Gains &amp; Stock Evaluation</a:t>
            </a:r>
            <a:endParaRPr lang="en-AU" sz="900" b="1" dirty="0">
              <a:solidFill>
                <a:srgbClr val="FFFFFF"/>
              </a:solidFill>
            </a:endParaRPr>
          </a:p>
        </p:txBody>
      </p:sp>
      <p:sp>
        <p:nvSpPr>
          <p:cNvPr id="171" name="Rounded Rectangle 170"/>
          <p:cNvSpPr/>
          <p:nvPr/>
        </p:nvSpPr>
        <p:spPr>
          <a:xfrm>
            <a:off x="8372355" y="1933650"/>
            <a:ext cx="846123" cy="271551"/>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Loyalty </a:t>
            </a:r>
            <a:r>
              <a:rPr lang="en-US" sz="900" b="1" dirty="0" err="1"/>
              <a:t>Progra</a:t>
            </a:r>
            <a:r>
              <a:rPr lang="en-US" sz="900" b="1" dirty="0"/>
              <a:t>[NAME]</a:t>
            </a:r>
            <a:endParaRPr lang="en-AU" sz="900" b="1" dirty="0">
              <a:solidFill>
                <a:srgbClr val="FFFFFF"/>
              </a:solidFill>
            </a:endParaRPr>
          </a:p>
        </p:txBody>
      </p:sp>
      <p:sp>
        <p:nvSpPr>
          <p:cNvPr id="172" name="Rounded Rectangle 171"/>
          <p:cNvSpPr/>
          <p:nvPr/>
        </p:nvSpPr>
        <p:spPr>
          <a:xfrm>
            <a:off x="9244469" y="1912862"/>
            <a:ext cx="979487" cy="292339"/>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t>Perf. Measurement</a:t>
            </a:r>
            <a:endParaRPr lang="en-AU" sz="900" b="1" dirty="0">
              <a:solidFill>
                <a:srgbClr val="FFFFFF"/>
              </a:solidFill>
            </a:endParaRPr>
          </a:p>
        </p:txBody>
      </p:sp>
    </p:spTree>
    <p:extLst>
      <p:ext uri="{BB962C8B-B14F-4D97-AF65-F5344CB8AC3E}">
        <p14:creationId xmlns:p14="http://schemas.microsoft.com/office/powerpoint/2010/main" val="2891853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619559" y="380392"/>
            <a:ext cx="10784377" cy="926698"/>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Our takeaway from business interviews</a:t>
            </a:r>
            <a:endParaRPr lang="en-GB" sz="3200" dirty="0"/>
          </a:p>
        </p:txBody>
      </p:sp>
      <p:pic>
        <p:nvPicPr>
          <p:cNvPr id="3" name="Picture 2"/>
          <p:cNvPicPr>
            <a:picLocks noChangeAspect="1"/>
          </p:cNvPicPr>
          <p:nvPr/>
        </p:nvPicPr>
        <p:blipFill>
          <a:blip r:embed="rId3"/>
          <a:stretch>
            <a:fillRect/>
          </a:stretch>
        </p:blipFill>
        <p:spPr>
          <a:xfrm>
            <a:off x="356650" y="741086"/>
            <a:ext cx="908845" cy="695957"/>
          </a:xfrm>
          <a:prstGeom prst="rect">
            <a:avLst/>
          </a:prstGeom>
        </p:spPr>
      </p:pic>
      <p:sp>
        <p:nvSpPr>
          <p:cNvPr id="4" name="Rectangle 3"/>
          <p:cNvSpPr/>
          <p:nvPr/>
        </p:nvSpPr>
        <p:spPr>
          <a:xfrm>
            <a:off x="1293148" y="857383"/>
            <a:ext cx="6878806" cy="369332"/>
          </a:xfrm>
          <a:prstGeom prst="rect">
            <a:avLst/>
          </a:prstGeom>
        </p:spPr>
        <p:txBody>
          <a:bodyPr wrap="none">
            <a:spAutoFit/>
          </a:bodyPr>
          <a:lstStyle/>
          <a:p>
            <a:r>
              <a:rPr lang="en-US" b="1" dirty="0">
                <a:solidFill>
                  <a:schemeClr val="accent5">
                    <a:lumMod val="50000"/>
                  </a:schemeClr>
                </a:solidFill>
              </a:rPr>
              <a:t>Challenges &amp; drivers for top business capabilities &amp; priorities</a:t>
            </a:r>
          </a:p>
        </p:txBody>
      </p: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0800000">
            <a:off x="515937" y="579818"/>
            <a:ext cx="676128" cy="664873"/>
          </a:xfrm>
          <a:prstGeom prst="rect">
            <a:avLst/>
          </a:prstGeom>
          <a:ln>
            <a:noFill/>
          </a:ln>
        </p:spPr>
      </p:pic>
      <p:sp>
        <p:nvSpPr>
          <p:cNvPr id="252" name="Isosceles Triangle 251"/>
          <p:cNvSpPr/>
          <p:nvPr/>
        </p:nvSpPr>
        <p:spPr>
          <a:xfrm rot="20712983">
            <a:off x="219881" y="1218032"/>
            <a:ext cx="1592197" cy="3021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cxnSp>
        <p:nvCxnSpPr>
          <p:cNvPr id="79" name="Straight Connector 78"/>
          <p:cNvCxnSpPr/>
          <p:nvPr/>
        </p:nvCxnSpPr>
        <p:spPr>
          <a:xfrm>
            <a:off x="1225327" y="1225879"/>
            <a:ext cx="588786" cy="7642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H="1">
            <a:off x="254303" y="1273306"/>
            <a:ext cx="621029" cy="43484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1" name="Rounded Rectangle 80"/>
          <p:cNvSpPr/>
          <p:nvPr/>
        </p:nvSpPr>
        <p:spPr>
          <a:xfrm>
            <a:off x="644665" y="1392604"/>
            <a:ext cx="1947672" cy="312047"/>
          </a:xfrm>
          <a:prstGeom prst="roundRect">
            <a:avLst/>
          </a:prstGeom>
          <a:solidFill>
            <a:srgbClr val="2914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Inventory Gains &amp; Stock Evaluation (IR)</a:t>
            </a:r>
            <a:endParaRPr lang="en-AU" sz="800" b="1" dirty="0">
              <a:solidFill>
                <a:srgbClr val="FFFFFF"/>
              </a:solidFill>
            </a:endParaRPr>
          </a:p>
        </p:txBody>
      </p:sp>
      <p:sp>
        <p:nvSpPr>
          <p:cNvPr id="82" name="Rounded Rectangle 81"/>
          <p:cNvSpPr/>
          <p:nvPr/>
        </p:nvSpPr>
        <p:spPr>
          <a:xfrm>
            <a:off x="6183990" y="1406434"/>
            <a:ext cx="1947672" cy="343768"/>
          </a:xfrm>
          <a:prstGeom prst="roundRect">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Month/quarter End Closing`</a:t>
            </a:r>
          </a:p>
        </p:txBody>
      </p:sp>
      <p:sp>
        <p:nvSpPr>
          <p:cNvPr id="83" name="Rounded Rectangle 82"/>
          <p:cNvSpPr/>
          <p:nvPr/>
        </p:nvSpPr>
        <p:spPr>
          <a:xfrm>
            <a:off x="644665" y="2566476"/>
            <a:ext cx="1947672" cy="312047"/>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Inventory Management</a:t>
            </a:r>
          </a:p>
        </p:txBody>
      </p:sp>
      <p:sp>
        <p:nvSpPr>
          <p:cNvPr id="84" name="Rounded Rectangle 83"/>
          <p:cNvSpPr/>
          <p:nvPr/>
        </p:nvSpPr>
        <p:spPr>
          <a:xfrm>
            <a:off x="644665" y="2175185"/>
            <a:ext cx="1947672" cy="312047"/>
          </a:xfrm>
          <a:prstGeom prst="roundRect">
            <a:avLst/>
          </a:prstGeom>
          <a:gradFill flip="none" rotWithShape="1">
            <a:gsLst>
              <a:gs pos="8610">
                <a:schemeClr val="accent3"/>
              </a:gs>
              <a:gs pos="88200">
                <a:srgbClr val="1D4177"/>
              </a:gs>
              <a:gs pos="17220">
                <a:schemeClr val="accent3"/>
              </a:gs>
              <a:gs pos="0">
                <a:schemeClr val="accent3"/>
              </a:gs>
              <a:gs pos="41000">
                <a:schemeClr val="accent2"/>
              </a:gs>
              <a:gs pos="100000">
                <a:schemeClr val="accent1"/>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t>Improve Customer Journey </a:t>
            </a:r>
            <a:endParaRPr lang="en-AU" sz="700" b="1" dirty="0">
              <a:solidFill>
                <a:srgbClr val="FFFFFF"/>
              </a:solidFill>
            </a:endParaRPr>
          </a:p>
        </p:txBody>
      </p:sp>
      <p:sp>
        <p:nvSpPr>
          <p:cNvPr id="85" name="Rounded Rectangle 84"/>
          <p:cNvSpPr/>
          <p:nvPr/>
        </p:nvSpPr>
        <p:spPr>
          <a:xfrm>
            <a:off x="644665" y="2957767"/>
            <a:ext cx="1947672" cy="312047"/>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Manage Products &amp; Services</a:t>
            </a:r>
            <a:endParaRPr lang="en-AU" sz="800" b="1" dirty="0">
              <a:solidFill>
                <a:srgbClr val="FFFFFF"/>
              </a:solidFill>
            </a:endParaRPr>
          </a:p>
        </p:txBody>
      </p:sp>
      <p:sp>
        <p:nvSpPr>
          <p:cNvPr id="90" name="Rounded Rectangle 89"/>
          <p:cNvSpPr/>
          <p:nvPr/>
        </p:nvSpPr>
        <p:spPr>
          <a:xfrm>
            <a:off x="644665" y="1783895"/>
            <a:ext cx="1947672" cy="312047"/>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Lube &amp; Car Wash</a:t>
            </a:r>
            <a:endParaRPr lang="en-AU" sz="800" b="1" dirty="0">
              <a:solidFill>
                <a:srgbClr val="FFFFFF"/>
              </a:solidFill>
            </a:endParaRPr>
          </a:p>
        </p:txBody>
      </p:sp>
      <p:sp>
        <p:nvSpPr>
          <p:cNvPr id="91" name="Rounded Rectangle 90"/>
          <p:cNvSpPr/>
          <p:nvPr/>
        </p:nvSpPr>
        <p:spPr>
          <a:xfrm>
            <a:off x="644665" y="4522930"/>
            <a:ext cx="1947672" cy="312047"/>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Sales and orders Management</a:t>
            </a:r>
            <a:endParaRPr lang="en-AU" sz="800" b="1" dirty="0">
              <a:solidFill>
                <a:srgbClr val="FFFFFF"/>
              </a:solidFill>
            </a:endParaRPr>
          </a:p>
        </p:txBody>
      </p:sp>
      <p:sp>
        <p:nvSpPr>
          <p:cNvPr id="92" name="Rounded Rectangle 91"/>
          <p:cNvSpPr/>
          <p:nvPr/>
        </p:nvSpPr>
        <p:spPr>
          <a:xfrm>
            <a:off x="644665" y="5696804"/>
            <a:ext cx="1947672" cy="312047"/>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Performance Measurement</a:t>
            </a:r>
          </a:p>
        </p:txBody>
      </p:sp>
      <p:sp>
        <p:nvSpPr>
          <p:cNvPr id="93" name="Rounded Rectangle 92"/>
          <p:cNvSpPr/>
          <p:nvPr/>
        </p:nvSpPr>
        <p:spPr>
          <a:xfrm>
            <a:off x="6183990" y="4457630"/>
            <a:ext cx="1947672" cy="343768"/>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Employee Relations / Absenteeism </a:t>
            </a:r>
          </a:p>
        </p:txBody>
      </p:sp>
      <p:sp>
        <p:nvSpPr>
          <p:cNvPr id="94" name="Rounded Rectangle 93"/>
          <p:cNvSpPr/>
          <p:nvPr/>
        </p:nvSpPr>
        <p:spPr>
          <a:xfrm>
            <a:off x="6183990" y="4845618"/>
            <a:ext cx="1947672" cy="343768"/>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FFFF"/>
                </a:solidFill>
              </a:rPr>
              <a:t>HR Administration / Mobility</a:t>
            </a:r>
          </a:p>
        </p:txBody>
      </p:sp>
      <p:sp>
        <p:nvSpPr>
          <p:cNvPr id="95" name="Rounded Rectangle 94"/>
          <p:cNvSpPr/>
          <p:nvPr/>
        </p:nvSpPr>
        <p:spPr>
          <a:xfrm>
            <a:off x="6183990" y="5233606"/>
            <a:ext cx="1947672" cy="343768"/>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Compensation &amp; Benefits </a:t>
            </a:r>
          </a:p>
        </p:txBody>
      </p:sp>
      <p:sp>
        <p:nvSpPr>
          <p:cNvPr id="96" name="Rounded Rectangle 95"/>
          <p:cNvSpPr/>
          <p:nvPr/>
        </p:nvSpPr>
        <p:spPr>
          <a:xfrm>
            <a:off x="6183990" y="1784262"/>
            <a:ext cx="1947672" cy="343768"/>
          </a:xfrm>
          <a:prstGeom prst="roundRect">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chemeClr val="tx1">
                    <a:lumMod val="75000"/>
                    <a:lumOff val="25000"/>
                  </a:schemeClr>
                </a:solidFill>
              </a:rPr>
              <a:t>Government Relationship Management </a:t>
            </a:r>
          </a:p>
        </p:txBody>
      </p:sp>
      <p:sp>
        <p:nvSpPr>
          <p:cNvPr id="97" name="Rounded Rectangle 96"/>
          <p:cNvSpPr/>
          <p:nvPr/>
        </p:nvSpPr>
        <p:spPr>
          <a:xfrm>
            <a:off x="644665" y="5305511"/>
            <a:ext cx="1947672" cy="312047"/>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Loyalty </a:t>
            </a:r>
            <a:r>
              <a:rPr lang="en-US" sz="800" b="1" dirty="0" err="1"/>
              <a:t>Progra</a:t>
            </a:r>
            <a:r>
              <a:rPr lang="en-US" sz="800" b="1" dirty="0"/>
              <a:t>[NAME]</a:t>
            </a:r>
          </a:p>
        </p:txBody>
      </p:sp>
      <p:sp>
        <p:nvSpPr>
          <p:cNvPr id="98" name="Rounded Rectangle 97"/>
          <p:cNvSpPr/>
          <p:nvPr/>
        </p:nvSpPr>
        <p:spPr>
          <a:xfrm>
            <a:off x="644665" y="4914220"/>
            <a:ext cx="1947672" cy="312047"/>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Inventory  Management for LPG Cylinders </a:t>
            </a:r>
          </a:p>
        </p:txBody>
      </p:sp>
      <p:sp>
        <p:nvSpPr>
          <p:cNvPr id="99" name="Rounded Rectangle 98"/>
          <p:cNvSpPr/>
          <p:nvPr/>
        </p:nvSpPr>
        <p:spPr>
          <a:xfrm>
            <a:off x="6183990" y="3724202"/>
            <a:ext cx="1947672" cy="343768"/>
          </a:xfrm>
          <a:prstGeom prst="roundRect">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lumMod val="75000"/>
                    <a:lumOff val="25000"/>
                  </a:schemeClr>
                </a:solidFill>
              </a:rPr>
              <a:t>Corporate Travel Management</a:t>
            </a:r>
          </a:p>
        </p:txBody>
      </p:sp>
      <p:sp>
        <p:nvSpPr>
          <p:cNvPr id="100" name="Rounded Rectangle 99"/>
          <p:cNvSpPr/>
          <p:nvPr/>
        </p:nvSpPr>
        <p:spPr>
          <a:xfrm>
            <a:off x="6183990" y="2172250"/>
            <a:ext cx="1947672" cy="343768"/>
          </a:xfrm>
          <a:prstGeom prst="roundRect">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lumMod val="75000"/>
                    <a:lumOff val="25000"/>
                  </a:schemeClr>
                </a:solidFill>
              </a:rPr>
              <a:t>Facility Management </a:t>
            </a:r>
          </a:p>
        </p:txBody>
      </p:sp>
      <p:sp>
        <p:nvSpPr>
          <p:cNvPr id="101" name="Rounded Rectangle 100"/>
          <p:cNvSpPr/>
          <p:nvPr/>
        </p:nvSpPr>
        <p:spPr>
          <a:xfrm>
            <a:off x="644665" y="3740348"/>
            <a:ext cx="1947672" cy="312047"/>
          </a:xfrm>
          <a:prstGeom prst="roundRect">
            <a:avLst/>
          </a:prstGeom>
          <a:gradFill flip="none" rotWithShape="1">
            <a:gsLst>
              <a:gs pos="8610">
                <a:schemeClr val="accent3"/>
              </a:gs>
              <a:gs pos="88200">
                <a:srgbClr val="1D4177"/>
              </a:gs>
              <a:gs pos="17220">
                <a:schemeClr val="accent3"/>
              </a:gs>
              <a:gs pos="0">
                <a:schemeClr val="accent3"/>
              </a:gs>
              <a:gs pos="41000">
                <a:schemeClr val="accent2"/>
              </a:gs>
              <a:gs pos="100000">
                <a:schemeClr val="accent1"/>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t>Supply Chain Management</a:t>
            </a:r>
          </a:p>
        </p:txBody>
      </p:sp>
      <p:sp>
        <p:nvSpPr>
          <p:cNvPr id="102" name="Rounded Rectangle 101"/>
          <p:cNvSpPr/>
          <p:nvPr/>
        </p:nvSpPr>
        <p:spPr>
          <a:xfrm>
            <a:off x="644665" y="4131639"/>
            <a:ext cx="1947672" cy="312047"/>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Tenant Management in S/S</a:t>
            </a:r>
          </a:p>
        </p:txBody>
      </p:sp>
      <p:sp>
        <p:nvSpPr>
          <p:cNvPr id="103" name="Rounded Rectangle 102"/>
          <p:cNvSpPr/>
          <p:nvPr/>
        </p:nvSpPr>
        <p:spPr>
          <a:xfrm>
            <a:off x="644665" y="3349058"/>
            <a:ext cx="1947672" cy="312047"/>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C-store Sales Management</a:t>
            </a:r>
          </a:p>
        </p:txBody>
      </p:sp>
      <p:sp>
        <p:nvSpPr>
          <p:cNvPr id="104" name="Rounded Rectangle 103"/>
          <p:cNvSpPr/>
          <p:nvPr/>
        </p:nvSpPr>
        <p:spPr>
          <a:xfrm>
            <a:off x="6183990" y="2560238"/>
            <a:ext cx="1947672" cy="343768"/>
          </a:xfrm>
          <a:prstGeom prst="roundRect">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lumMod val="75000"/>
                    <a:lumOff val="25000"/>
                  </a:schemeClr>
                </a:solidFill>
              </a:rPr>
              <a:t>Engineering Projects Planning</a:t>
            </a:r>
            <a:endParaRPr lang="en-AU" sz="800" b="1" dirty="0">
              <a:solidFill>
                <a:schemeClr val="tx1">
                  <a:lumMod val="75000"/>
                  <a:lumOff val="25000"/>
                </a:schemeClr>
              </a:solidFill>
            </a:endParaRPr>
          </a:p>
        </p:txBody>
      </p:sp>
      <p:sp>
        <p:nvSpPr>
          <p:cNvPr id="105" name="Rounded Rectangle 104"/>
          <p:cNvSpPr/>
          <p:nvPr/>
        </p:nvSpPr>
        <p:spPr>
          <a:xfrm>
            <a:off x="6183990" y="3336214"/>
            <a:ext cx="1947672" cy="343768"/>
          </a:xfrm>
          <a:prstGeom prst="roundRect">
            <a:avLst/>
          </a:prstGeom>
          <a:solidFill>
            <a:schemeClr val="bg2"/>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lumMod val="75000"/>
                    <a:lumOff val="25000"/>
                  </a:schemeClr>
                </a:solidFill>
              </a:rPr>
              <a:t>Sourcing &amp; Category Management</a:t>
            </a:r>
          </a:p>
        </p:txBody>
      </p:sp>
      <p:sp>
        <p:nvSpPr>
          <p:cNvPr id="106" name="Rounded Rectangle 105"/>
          <p:cNvSpPr/>
          <p:nvPr/>
        </p:nvSpPr>
        <p:spPr>
          <a:xfrm>
            <a:off x="6183990" y="2948226"/>
            <a:ext cx="1947672" cy="343768"/>
          </a:xfrm>
          <a:prstGeom prst="roundRect">
            <a:avLst/>
          </a:prstGeom>
          <a:solidFill>
            <a:schemeClr val="bg2"/>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lumMod val="75000"/>
                    <a:lumOff val="25000"/>
                  </a:schemeClr>
                </a:solidFill>
              </a:rPr>
              <a:t>Contract Lifecycle Management</a:t>
            </a:r>
          </a:p>
        </p:txBody>
      </p:sp>
      <p:sp>
        <p:nvSpPr>
          <p:cNvPr id="107" name="Rounded Rectangle 106"/>
          <p:cNvSpPr/>
          <p:nvPr/>
        </p:nvSpPr>
        <p:spPr>
          <a:xfrm>
            <a:off x="6183990" y="5621594"/>
            <a:ext cx="1947672" cy="343768"/>
          </a:xfrm>
          <a:prstGeom prst="roundRect">
            <a:avLst/>
          </a:prstGeom>
          <a:solidFill>
            <a:schemeClr val="bg1"/>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lumMod val="75000"/>
                    <a:lumOff val="25000"/>
                  </a:schemeClr>
                </a:solidFill>
              </a:rPr>
              <a:t>Enterprise Risk/quality  Management</a:t>
            </a:r>
            <a:endParaRPr lang="en-AU" sz="800" b="1" dirty="0">
              <a:solidFill>
                <a:schemeClr val="tx1">
                  <a:lumMod val="75000"/>
                  <a:lumOff val="25000"/>
                </a:schemeClr>
              </a:solidFill>
            </a:endParaRPr>
          </a:p>
        </p:txBody>
      </p:sp>
      <p:sp>
        <p:nvSpPr>
          <p:cNvPr id="108" name="Rounded Rectangle 107"/>
          <p:cNvSpPr/>
          <p:nvPr/>
        </p:nvSpPr>
        <p:spPr>
          <a:xfrm>
            <a:off x="6183990" y="6009586"/>
            <a:ext cx="1947672" cy="343768"/>
          </a:xfrm>
          <a:prstGeom prst="roundRect">
            <a:avLst/>
          </a:prstGeom>
          <a:solidFill>
            <a:schemeClr val="bg1"/>
          </a:solid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lumMod val="75000"/>
                    <a:lumOff val="25000"/>
                  </a:schemeClr>
                </a:solidFill>
              </a:rPr>
              <a:t>HSSE Mgmt.</a:t>
            </a:r>
            <a:endParaRPr lang="en-AU" sz="800" b="1" dirty="0">
              <a:solidFill>
                <a:schemeClr val="tx1">
                  <a:lumMod val="75000"/>
                  <a:lumOff val="25000"/>
                </a:schemeClr>
              </a:solidFill>
            </a:endParaRPr>
          </a:p>
        </p:txBody>
      </p:sp>
      <p:sp>
        <p:nvSpPr>
          <p:cNvPr id="109" name="TextBox 108"/>
          <p:cNvSpPr txBox="1"/>
          <p:nvPr/>
        </p:nvSpPr>
        <p:spPr>
          <a:xfrm>
            <a:off x="2651759" y="1789736"/>
            <a:ext cx="3321685" cy="268927"/>
          </a:xfrm>
          <a:prstGeom prst="rect">
            <a:avLst/>
          </a:prstGeom>
          <a:noFill/>
        </p:spPr>
        <p:txBody>
          <a:bodyPr wrap="square" lIns="0" tIns="0" rIns="0" bIns="0" rtlCol="0">
            <a:noAutofit/>
          </a:bodyPr>
          <a:lstStyle/>
          <a:p>
            <a:pPr>
              <a:spcBef>
                <a:spcPts val="800"/>
              </a:spcBef>
            </a:pPr>
            <a:r>
              <a:rPr lang="en-US" sz="900" dirty="0">
                <a:solidFill>
                  <a:schemeClr val="accent4"/>
                </a:solidFill>
              </a:rPr>
              <a:t>Lube distribution and car wash services in service stations: Lack of control as all managed manually </a:t>
            </a:r>
          </a:p>
        </p:txBody>
      </p:sp>
      <p:sp>
        <p:nvSpPr>
          <p:cNvPr id="110" name="TextBox 109"/>
          <p:cNvSpPr txBox="1"/>
          <p:nvPr/>
        </p:nvSpPr>
        <p:spPr>
          <a:xfrm>
            <a:off x="2622816" y="2117563"/>
            <a:ext cx="3417271" cy="349969"/>
          </a:xfrm>
          <a:prstGeom prst="rect">
            <a:avLst/>
          </a:prstGeom>
          <a:noFill/>
        </p:spPr>
        <p:txBody>
          <a:bodyPr wrap="square" lIns="0" tIns="0" rIns="0" bIns="0" rtlCol="0">
            <a:noAutofit/>
          </a:bodyPr>
          <a:lstStyle/>
          <a:p>
            <a:r>
              <a:rPr lang="en-US" sz="900" dirty="0">
                <a:solidFill>
                  <a:schemeClr val="accent4"/>
                </a:solidFill>
              </a:rPr>
              <a:t>Commercial: Lack in Customers responsiveness</a:t>
            </a:r>
          </a:p>
          <a:p>
            <a:r>
              <a:rPr lang="en-US" sz="900" dirty="0">
                <a:solidFill>
                  <a:schemeClr val="accent4"/>
                </a:solidFill>
              </a:rPr>
              <a:t>Retail &amp; Marketing: Provide personalized products &amp; services to customers by leveraging data </a:t>
            </a:r>
          </a:p>
        </p:txBody>
      </p:sp>
      <p:sp>
        <p:nvSpPr>
          <p:cNvPr id="111" name="Rectangle 110"/>
          <p:cNvSpPr/>
          <p:nvPr/>
        </p:nvSpPr>
        <p:spPr>
          <a:xfrm>
            <a:off x="2592336" y="4508785"/>
            <a:ext cx="3548612" cy="369332"/>
          </a:xfrm>
          <a:prstGeom prst="rect">
            <a:avLst/>
          </a:prstGeom>
        </p:spPr>
        <p:txBody>
          <a:bodyPr wrap="square">
            <a:spAutoFit/>
          </a:bodyPr>
          <a:lstStyle/>
          <a:p>
            <a:r>
              <a:rPr lang="en-US" sz="900" dirty="0">
                <a:solidFill>
                  <a:schemeClr val="accent4"/>
                </a:solidFill>
              </a:rPr>
              <a:t>Lack in sales orders tracking/monitoring and controls as managed manually</a:t>
            </a:r>
          </a:p>
        </p:txBody>
      </p:sp>
      <p:sp>
        <p:nvSpPr>
          <p:cNvPr id="112" name="TextBox 111"/>
          <p:cNvSpPr txBox="1"/>
          <p:nvPr/>
        </p:nvSpPr>
        <p:spPr>
          <a:xfrm>
            <a:off x="2622816" y="2601102"/>
            <a:ext cx="3417271" cy="282895"/>
          </a:xfrm>
          <a:prstGeom prst="rect">
            <a:avLst/>
          </a:prstGeom>
          <a:noFill/>
        </p:spPr>
        <p:txBody>
          <a:bodyPr wrap="square" lIns="0" tIns="0" rIns="0" bIns="0" rtlCol="0">
            <a:noAutofit/>
          </a:bodyPr>
          <a:lstStyle/>
          <a:p>
            <a:r>
              <a:rPr lang="en-US" sz="900" dirty="0">
                <a:solidFill>
                  <a:schemeClr val="accent4"/>
                </a:solidFill>
              </a:rPr>
              <a:t>Retail &amp; Marketing: Data available real time and used to connect the entire value chain to reduce time and effort </a:t>
            </a:r>
          </a:p>
        </p:txBody>
      </p:sp>
      <p:sp>
        <p:nvSpPr>
          <p:cNvPr id="113" name="TextBox 112"/>
          <p:cNvSpPr txBox="1"/>
          <p:nvPr/>
        </p:nvSpPr>
        <p:spPr>
          <a:xfrm>
            <a:off x="2651759" y="2914416"/>
            <a:ext cx="3417271" cy="355967"/>
          </a:xfrm>
          <a:prstGeom prst="rect">
            <a:avLst/>
          </a:prstGeom>
          <a:noFill/>
        </p:spPr>
        <p:txBody>
          <a:bodyPr wrap="square" lIns="0" tIns="0" rIns="0" bIns="0" rtlCol="0">
            <a:noAutofit/>
          </a:bodyPr>
          <a:lstStyle/>
          <a:p>
            <a:r>
              <a:rPr lang="en-US" sz="900" dirty="0">
                <a:solidFill>
                  <a:schemeClr val="accent4"/>
                </a:solidFill>
              </a:rPr>
              <a:t>Upgrading &amp; developing new services &amp; products (i.e. providing ease-use apps. and eliminating any interaction between customer and station staff </a:t>
            </a:r>
          </a:p>
        </p:txBody>
      </p:sp>
      <p:sp>
        <p:nvSpPr>
          <p:cNvPr id="114" name="Rectangle 113"/>
          <p:cNvSpPr/>
          <p:nvPr/>
        </p:nvSpPr>
        <p:spPr>
          <a:xfrm>
            <a:off x="2540000" y="3341455"/>
            <a:ext cx="3505321" cy="369332"/>
          </a:xfrm>
          <a:prstGeom prst="rect">
            <a:avLst/>
          </a:prstGeom>
        </p:spPr>
        <p:txBody>
          <a:bodyPr wrap="square">
            <a:spAutoFit/>
          </a:bodyPr>
          <a:lstStyle/>
          <a:p>
            <a:r>
              <a:rPr lang="en-US" sz="900" dirty="0">
                <a:solidFill>
                  <a:schemeClr val="accent4"/>
                </a:solidFill>
              </a:rPr>
              <a:t>The current technology environment is outdated (i.e. separate systems and lack of connectivity)</a:t>
            </a:r>
          </a:p>
        </p:txBody>
      </p:sp>
      <p:sp>
        <p:nvSpPr>
          <p:cNvPr id="115" name="Rectangle 114"/>
          <p:cNvSpPr/>
          <p:nvPr/>
        </p:nvSpPr>
        <p:spPr>
          <a:xfrm>
            <a:off x="2540000" y="3719875"/>
            <a:ext cx="3604255" cy="369332"/>
          </a:xfrm>
          <a:prstGeom prst="rect">
            <a:avLst/>
          </a:prstGeom>
        </p:spPr>
        <p:txBody>
          <a:bodyPr wrap="square">
            <a:spAutoFit/>
          </a:bodyPr>
          <a:lstStyle/>
          <a:p>
            <a:r>
              <a:rPr lang="en-US" sz="900" dirty="0">
                <a:solidFill>
                  <a:schemeClr val="accent4"/>
                </a:solidFill>
              </a:rPr>
              <a:t>Need for automated and connected supply chain activities to increase control and communication between parties </a:t>
            </a:r>
          </a:p>
        </p:txBody>
      </p:sp>
      <p:cxnSp>
        <p:nvCxnSpPr>
          <p:cNvPr id="116" name="Straight Connector 115"/>
          <p:cNvCxnSpPr/>
          <p:nvPr/>
        </p:nvCxnSpPr>
        <p:spPr>
          <a:xfrm>
            <a:off x="2612657" y="2109918"/>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2651759" y="2528787"/>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2612657" y="2921586"/>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2612657" y="3327420"/>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2612657" y="3696360"/>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2612657" y="4102195"/>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2612657" y="4486174"/>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2612657" y="4867745"/>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2612657" y="5264356"/>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2612657" y="5670190"/>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2540000" y="4117258"/>
            <a:ext cx="3604255" cy="369332"/>
          </a:xfrm>
          <a:prstGeom prst="rect">
            <a:avLst/>
          </a:prstGeom>
        </p:spPr>
        <p:txBody>
          <a:bodyPr wrap="square">
            <a:spAutoFit/>
          </a:bodyPr>
          <a:lstStyle/>
          <a:p>
            <a:r>
              <a:rPr lang="en-US" sz="900" dirty="0">
                <a:solidFill>
                  <a:schemeClr val="accent4"/>
                </a:solidFill>
              </a:rPr>
              <a:t> Increase control  over space utilization, contracts expiration, complaints processing by bringing automation </a:t>
            </a:r>
          </a:p>
        </p:txBody>
      </p:sp>
      <p:sp>
        <p:nvSpPr>
          <p:cNvPr id="127" name="Rectangle 126"/>
          <p:cNvSpPr/>
          <p:nvPr/>
        </p:nvSpPr>
        <p:spPr>
          <a:xfrm>
            <a:off x="2612657" y="4876949"/>
            <a:ext cx="3548612" cy="369332"/>
          </a:xfrm>
          <a:prstGeom prst="rect">
            <a:avLst/>
          </a:prstGeom>
        </p:spPr>
        <p:txBody>
          <a:bodyPr wrap="square">
            <a:spAutoFit/>
          </a:bodyPr>
          <a:lstStyle/>
          <a:p>
            <a:r>
              <a:rPr lang="en-US" sz="900" dirty="0">
                <a:solidFill>
                  <a:schemeClr val="accent4"/>
                </a:solidFill>
              </a:rPr>
              <a:t>Commercial: systems &amp; Data to be available in real time and used to connect the entire value chain </a:t>
            </a:r>
          </a:p>
        </p:txBody>
      </p:sp>
      <p:sp>
        <p:nvSpPr>
          <p:cNvPr id="128" name="Rectangle 127"/>
          <p:cNvSpPr/>
          <p:nvPr/>
        </p:nvSpPr>
        <p:spPr>
          <a:xfrm>
            <a:off x="2592336" y="5320129"/>
            <a:ext cx="3548612" cy="230832"/>
          </a:xfrm>
          <a:prstGeom prst="rect">
            <a:avLst/>
          </a:prstGeom>
        </p:spPr>
        <p:txBody>
          <a:bodyPr wrap="square">
            <a:spAutoFit/>
          </a:bodyPr>
          <a:lstStyle/>
          <a:p>
            <a:r>
              <a:rPr lang="en-US" sz="900" dirty="0">
                <a:solidFill>
                  <a:schemeClr val="accent4"/>
                </a:solidFill>
              </a:rPr>
              <a:t>The need to create and develop Loyalty programs  </a:t>
            </a:r>
          </a:p>
        </p:txBody>
      </p:sp>
      <p:sp>
        <p:nvSpPr>
          <p:cNvPr id="129" name="Rectangle 128"/>
          <p:cNvSpPr/>
          <p:nvPr/>
        </p:nvSpPr>
        <p:spPr>
          <a:xfrm>
            <a:off x="2592336" y="5687889"/>
            <a:ext cx="3548612" cy="369332"/>
          </a:xfrm>
          <a:prstGeom prst="rect">
            <a:avLst/>
          </a:prstGeom>
        </p:spPr>
        <p:txBody>
          <a:bodyPr wrap="square">
            <a:spAutoFit/>
          </a:bodyPr>
          <a:lstStyle/>
          <a:p>
            <a:r>
              <a:rPr lang="en-US" sz="900" dirty="0">
                <a:solidFill>
                  <a:schemeClr val="accent4"/>
                </a:solidFill>
              </a:rPr>
              <a:t>Lack in performance measurement for all C-stores products &amp; services</a:t>
            </a:r>
          </a:p>
        </p:txBody>
      </p:sp>
      <p:sp>
        <p:nvSpPr>
          <p:cNvPr id="130" name="TextBox 129"/>
          <p:cNvSpPr txBox="1"/>
          <p:nvPr/>
        </p:nvSpPr>
        <p:spPr>
          <a:xfrm>
            <a:off x="8275564" y="1430019"/>
            <a:ext cx="3520196" cy="319591"/>
          </a:xfrm>
          <a:prstGeom prst="rect">
            <a:avLst/>
          </a:prstGeom>
          <a:noFill/>
        </p:spPr>
        <p:txBody>
          <a:bodyPr wrap="square" lIns="0" tIns="0" rIns="0" bIns="0" rtlCol="0">
            <a:noAutofit/>
          </a:bodyPr>
          <a:lstStyle/>
          <a:p>
            <a:pPr>
              <a:spcBef>
                <a:spcPts val="800"/>
              </a:spcBef>
            </a:pPr>
            <a:r>
              <a:rPr lang="en-US" sz="900" dirty="0">
                <a:solidFill>
                  <a:schemeClr val="accent4"/>
                </a:solidFill>
              </a:rPr>
              <a:t>Enhance IT capabilities to optimize the month-end closing (reduce and enhance systems, manual effort </a:t>
            </a:r>
            <a:r>
              <a:rPr lang="en-US" sz="900" dirty="0" err="1">
                <a:solidFill>
                  <a:schemeClr val="accent4"/>
                </a:solidFill>
              </a:rPr>
              <a:t>etc</a:t>
            </a:r>
            <a:r>
              <a:rPr lang="en-US" sz="900" dirty="0">
                <a:solidFill>
                  <a:schemeClr val="accent4"/>
                </a:solidFill>
              </a:rPr>
              <a:t>)</a:t>
            </a:r>
          </a:p>
        </p:txBody>
      </p:sp>
      <p:sp>
        <p:nvSpPr>
          <p:cNvPr id="131" name="TextBox 130"/>
          <p:cNvSpPr txBox="1"/>
          <p:nvPr/>
        </p:nvSpPr>
        <p:spPr>
          <a:xfrm>
            <a:off x="8246620" y="1823592"/>
            <a:ext cx="3549139" cy="380662"/>
          </a:xfrm>
          <a:prstGeom prst="rect">
            <a:avLst/>
          </a:prstGeom>
          <a:noFill/>
        </p:spPr>
        <p:txBody>
          <a:bodyPr wrap="square" lIns="0" tIns="0" rIns="0" bIns="0" rtlCol="0">
            <a:noAutofit/>
          </a:bodyPr>
          <a:lstStyle/>
          <a:p>
            <a:r>
              <a:rPr lang="en-US" sz="900" dirty="0">
                <a:solidFill>
                  <a:schemeClr val="accent4"/>
                </a:solidFill>
              </a:rPr>
              <a:t>Enhance the relationship and interaction with the Government for licensing and certificates renewal (i.e. easy tracking)</a:t>
            </a:r>
          </a:p>
        </p:txBody>
      </p:sp>
      <p:sp>
        <p:nvSpPr>
          <p:cNvPr id="132" name="Rectangle 131"/>
          <p:cNvSpPr/>
          <p:nvPr/>
        </p:nvSpPr>
        <p:spPr>
          <a:xfrm>
            <a:off x="8216140" y="4461815"/>
            <a:ext cx="3685548" cy="369332"/>
          </a:xfrm>
          <a:prstGeom prst="rect">
            <a:avLst/>
          </a:prstGeom>
        </p:spPr>
        <p:txBody>
          <a:bodyPr wrap="square">
            <a:spAutoFit/>
          </a:bodyPr>
          <a:lstStyle/>
          <a:p>
            <a:r>
              <a:rPr lang="en-US" sz="900" dirty="0">
                <a:solidFill>
                  <a:schemeClr val="accent4"/>
                </a:solidFill>
              </a:rPr>
              <a:t>Attendance managed manually and difficulty to reconcile attendance against payroll</a:t>
            </a:r>
          </a:p>
        </p:txBody>
      </p:sp>
      <p:sp>
        <p:nvSpPr>
          <p:cNvPr id="133" name="TextBox 132"/>
          <p:cNvSpPr txBox="1"/>
          <p:nvPr/>
        </p:nvSpPr>
        <p:spPr>
          <a:xfrm>
            <a:off x="8246620" y="2303789"/>
            <a:ext cx="3549139" cy="307705"/>
          </a:xfrm>
          <a:prstGeom prst="rect">
            <a:avLst/>
          </a:prstGeom>
          <a:noFill/>
        </p:spPr>
        <p:txBody>
          <a:bodyPr wrap="square" lIns="0" tIns="0" rIns="0" bIns="0" rtlCol="0">
            <a:noAutofit/>
          </a:bodyPr>
          <a:lstStyle/>
          <a:p>
            <a:r>
              <a:rPr lang="en-US" sz="900" dirty="0">
                <a:solidFill>
                  <a:schemeClr val="accent4"/>
                </a:solidFill>
              </a:rPr>
              <a:t>Ad-hoc management and tracking (via excel - no automation)</a:t>
            </a:r>
          </a:p>
        </p:txBody>
      </p:sp>
      <p:sp>
        <p:nvSpPr>
          <p:cNvPr id="134" name="TextBox 133"/>
          <p:cNvSpPr txBox="1"/>
          <p:nvPr/>
        </p:nvSpPr>
        <p:spPr>
          <a:xfrm>
            <a:off x="8275563" y="2564576"/>
            <a:ext cx="3549139" cy="387186"/>
          </a:xfrm>
          <a:prstGeom prst="rect">
            <a:avLst/>
          </a:prstGeom>
          <a:noFill/>
        </p:spPr>
        <p:txBody>
          <a:bodyPr wrap="square" lIns="0" tIns="0" rIns="0" bIns="0" rtlCol="0">
            <a:noAutofit/>
          </a:bodyPr>
          <a:lstStyle/>
          <a:p>
            <a:r>
              <a:rPr lang="en-US" sz="900" dirty="0">
                <a:solidFill>
                  <a:schemeClr val="accent4"/>
                </a:solidFill>
              </a:rPr>
              <a:t> Bring automation to engineering projects planning &amp; monitoring activities (Today all done manually)</a:t>
            </a:r>
          </a:p>
        </p:txBody>
      </p:sp>
      <p:sp>
        <p:nvSpPr>
          <p:cNvPr id="135" name="Rectangle 134"/>
          <p:cNvSpPr/>
          <p:nvPr/>
        </p:nvSpPr>
        <p:spPr>
          <a:xfrm>
            <a:off x="8163804" y="2930599"/>
            <a:ext cx="3775482" cy="230832"/>
          </a:xfrm>
          <a:prstGeom prst="rect">
            <a:avLst/>
          </a:prstGeom>
        </p:spPr>
        <p:txBody>
          <a:bodyPr wrap="square">
            <a:spAutoFit/>
          </a:bodyPr>
          <a:lstStyle/>
          <a:p>
            <a:r>
              <a:rPr lang="en-US" sz="900" dirty="0">
                <a:solidFill>
                  <a:schemeClr val="accent4"/>
                </a:solidFill>
              </a:rPr>
              <a:t>Absence of linkage between contracts and line items </a:t>
            </a:r>
          </a:p>
        </p:txBody>
      </p:sp>
      <p:sp>
        <p:nvSpPr>
          <p:cNvPr id="136" name="Rectangle 135"/>
          <p:cNvSpPr/>
          <p:nvPr/>
        </p:nvSpPr>
        <p:spPr>
          <a:xfrm>
            <a:off x="8163805" y="3327467"/>
            <a:ext cx="3743338" cy="369332"/>
          </a:xfrm>
          <a:prstGeom prst="rect">
            <a:avLst/>
          </a:prstGeom>
        </p:spPr>
        <p:txBody>
          <a:bodyPr wrap="square">
            <a:spAutoFit/>
          </a:bodyPr>
          <a:lstStyle/>
          <a:p>
            <a:r>
              <a:rPr lang="en-US" sz="900" dirty="0">
                <a:solidFill>
                  <a:schemeClr val="accent4"/>
                </a:solidFill>
              </a:rPr>
              <a:t>Lack in spend analysis and It’s taking months to get a contract completed/signed</a:t>
            </a:r>
          </a:p>
        </p:txBody>
      </p:sp>
      <p:cxnSp>
        <p:nvCxnSpPr>
          <p:cNvPr id="137" name="Straight Connector 136"/>
          <p:cNvCxnSpPr/>
          <p:nvPr/>
        </p:nvCxnSpPr>
        <p:spPr>
          <a:xfrm>
            <a:off x="8236461" y="1763627"/>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8236461" y="2151014"/>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8236461" y="2538401"/>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8236461" y="2925788"/>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8236461" y="3313175"/>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8236461" y="3709786"/>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8236461" y="4084541"/>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8236461" y="4801398"/>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8236461" y="5217387"/>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a:off x="8236461" y="5604774"/>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8163805" y="3724849"/>
            <a:ext cx="3743338" cy="230832"/>
          </a:xfrm>
          <a:prstGeom prst="rect">
            <a:avLst/>
          </a:prstGeom>
        </p:spPr>
        <p:txBody>
          <a:bodyPr wrap="square">
            <a:spAutoFit/>
          </a:bodyPr>
          <a:lstStyle/>
          <a:p>
            <a:r>
              <a:rPr lang="en-US" sz="900" kern="0" dirty="0">
                <a:solidFill>
                  <a:schemeClr val="accent4"/>
                </a:solidFill>
              </a:rPr>
              <a:t>Managed manually through emails/correspondence  </a:t>
            </a:r>
          </a:p>
        </p:txBody>
      </p:sp>
      <p:sp>
        <p:nvSpPr>
          <p:cNvPr id="148" name="Rectangle 147"/>
          <p:cNvSpPr/>
          <p:nvPr/>
        </p:nvSpPr>
        <p:spPr>
          <a:xfrm>
            <a:off x="8236461" y="4829980"/>
            <a:ext cx="3685548" cy="369332"/>
          </a:xfrm>
          <a:prstGeom prst="rect">
            <a:avLst/>
          </a:prstGeom>
        </p:spPr>
        <p:txBody>
          <a:bodyPr wrap="square">
            <a:spAutoFit/>
          </a:bodyPr>
          <a:lstStyle/>
          <a:p>
            <a:r>
              <a:rPr lang="en-US" sz="900" dirty="0">
                <a:solidFill>
                  <a:schemeClr val="accent4"/>
                </a:solidFill>
              </a:rPr>
              <a:t>Most of the administrative work is done manually. Changing a job/location is taking days / weeks to be effective.</a:t>
            </a:r>
          </a:p>
        </p:txBody>
      </p:sp>
      <p:sp>
        <p:nvSpPr>
          <p:cNvPr id="149" name="Rectangle 148"/>
          <p:cNvSpPr/>
          <p:nvPr/>
        </p:nvSpPr>
        <p:spPr>
          <a:xfrm>
            <a:off x="8216140" y="5245490"/>
            <a:ext cx="3685548" cy="369332"/>
          </a:xfrm>
          <a:prstGeom prst="rect">
            <a:avLst/>
          </a:prstGeom>
        </p:spPr>
        <p:txBody>
          <a:bodyPr wrap="square">
            <a:spAutoFit/>
          </a:bodyPr>
          <a:lstStyle/>
          <a:p>
            <a:r>
              <a:rPr lang="en-US" sz="900" dirty="0">
                <a:solidFill>
                  <a:schemeClr val="accent4"/>
                </a:solidFill>
              </a:rPr>
              <a:t>Managed Manually. Difficulty to reconcile this capability against other capabilities &amp; HR processes </a:t>
            </a:r>
          </a:p>
        </p:txBody>
      </p:sp>
      <p:sp>
        <p:nvSpPr>
          <p:cNvPr id="150" name="Rectangle 149"/>
          <p:cNvSpPr/>
          <p:nvPr/>
        </p:nvSpPr>
        <p:spPr>
          <a:xfrm>
            <a:off x="8216140" y="5621594"/>
            <a:ext cx="3685548" cy="369332"/>
          </a:xfrm>
          <a:prstGeom prst="rect">
            <a:avLst/>
          </a:prstGeom>
        </p:spPr>
        <p:txBody>
          <a:bodyPr wrap="square">
            <a:spAutoFit/>
          </a:bodyPr>
          <a:lstStyle/>
          <a:p>
            <a:r>
              <a:rPr lang="en-US" sz="900" dirty="0">
                <a:solidFill>
                  <a:schemeClr val="accent4"/>
                </a:solidFill>
              </a:rPr>
              <a:t>Better visibility and better management of policies and procedures across the organization</a:t>
            </a:r>
          </a:p>
        </p:txBody>
      </p:sp>
      <p:cxnSp>
        <p:nvCxnSpPr>
          <p:cNvPr id="151" name="Straight Connector 150"/>
          <p:cNvCxnSpPr/>
          <p:nvPr/>
        </p:nvCxnSpPr>
        <p:spPr>
          <a:xfrm>
            <a:off x="8216140" y="6000362"/>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2" name="Rectangle 151"/>
          <p:cNvSpPr/>
          <p:nvPr/>
        </p:nvSpPr>
        <p:spPr>
          <a:xfrm>
            <a:off x="8216140" y="6019232"/>
            <a:ext cx="3685548" cy="230832"/>
          </a:xfrm>
          <a:prstGeom prst="rect">
            <a:avLst/>
          </a:prstGeom>
        </p:spPr>
        <p:txBody>
          <a:bodyPr wrap="square">
            <a:spAutoFit/>
          </a:bodyPr>
          <a:lstStyle/>
          <a:p>
            <a:r>
              <a:rPr lang="en-US" sz="900" dirty="0">
                <a:solidFill>
                  <a:schemeClr val="accent4"/>
                </a:solidFill>
              </a:rPr>
              <a:t>Managed manually and require support from  technology capabilities </a:t>
            </a:r>
          </a:p>
        </p:txBody>
      </p:sp>
      <p:sp>
        <p:nvSpPr>
          <p:cNvPr id="153" name="TextBox 152"/>
          <p:cNvSpPr txBox="1"/>
          <p:nvPr/>
        </p:nvSpPr>
        <p:spPr>
          <a:xfrm>
            <a:off x="2643429" y="1461258"/>
            <a:ext cx="3321685" cy="229815"/>
          </a:xfrm>
          <a:prstGeom prst="rect">
            <a:avLst/>
          </a:prstGeom>
          <a:noFill/>
        </p:spPr>
        <p:txBody>
          <a:bodyPr wrap="square" lIns="0" tIns="0" rIns="0" bIns="0" rtlCol="0">
            <a:noAutofit/>
          </a:bodyPr>
          <a:lstStyle/>
          <a:p>
            <a:pPr>
              <a:spcBef>
                <a:spcPts val="800"/>
              </a:spcBef>
            </a:pPr>
            <a:r>
              <a:rPr lang="en-US" sz="900" dirty="0">
                <a:solidFill>
                  <a:schemeClr val="accent4"/>
                </a:solidFill>
              </a:rPr>
              <a:t>Difficulty to provide solid estimation of inventory Gains. </a:t>
            </a:r>
          </a:p>
        </p:txBody>
      </p:sp>
      <p:cxnSp>
        <p:nvCxnSpPr>
          <p:cNvPr id="154" name="Straight Connector 153"/>
          <p:cNvCxnSpPr/>
          <p:nvPr/>
        </p:nvCxnSpPr>
        <p:spPr>
          <a:xfrm>
            <a:off x="2604327" y="1722010"/>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5" name="Rounded Rectangle 154"/>
          <p:cNvSpPr/>
          <p:nvPr/>
        </p:nvSpPr>
        <p:spPr>
          <a:xfrm>
            <a:off x="644665" y="6070657"/>
            <a:ext cx="1947672" cy="312047"/>
          </a:xfrm>
          <a:prstGeom prst="roundRect">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Asset Management</a:t>
            </a:r>
          </a:p>
        </p:txBody>
      </p:sp>
      <p:cxnSp>
        <p:nvCxnSpPr>
          <p:cNvPr id="156" name="Straight Connector 155"/>
          <p:cNvCxnSpPr/>
          <p:nvPr/>
        </p:nvCxnSpPr>
        <p:spPr>
          <a:xfrm>
            <a:off x="2612657" y="6029502"/>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2592336" y="6085275"/>
            <a:ext cx="3548612" cy="230832"/>
          </a:xfrm>
          <a:prstGeom prst="rect">
            <a:avLst/>
          </a:prstGeom>
        </p:spPr>
        <p:txBody>
          <a:bodyPr wrap="square">
            <a:spAutoFit/>
          </a:bodyPr>
          <a:lstStyle/>
          <a:p>
            <a:r>
              <a:rPr lang="en-US" sz="900" dirty="0">
                <a:solidFill>
                  <a:schemeClr val="accent4"/>
                </a:solidFill>
              </a:rPr>
              <a:t>Improve the management of the assets by using the technology </a:t>
            </a:r>
          </a:p>
        </p:txBody>
      </p:sp>
      <p:sp>
        <p:nvSpPr>
          <p:cNvPr id="158" name="Rounded Rectangle 157"/>
          <p:cNvSpPr/>
          <p:nvPr/>
        </p:nvSpPr>
        <p:spPr>
          <a:xfrm>
            <a:off x="6183990" y="4093738"/>
            <a:ext cx="1947672" cy="343768"/>
          </a:xfrm>
          <a:prstGeom prst="roundRect">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Employee Performance</a:t>
            </a:r>
          </a:p>
        </p:txBody>
      </p:sp>
      <p:sp>
        <p:nvSpPr>
          <p:cNvPr id="159" name="Rectangle 158"/>
          <p:cNvSpPr/>
          <p:nvPr/>
        </p:nvSpPr>
        <p:spPr>
          <a:xfrm>
            <a:off x="8216140" y="4097923"/>
            <a:ext cx="3685548" cy="230832"/>
          </a:xfrm>
          <a:prstGeom prst="rect">
            <a:avLst/>
          </a:prstGeom>
        </p:spPr>
        <p:txBody>
          <a:bodyPr wrap="square">
            <a:spAutoFit/>
          </a:bodyPr>
          <a:lstStyle/>
          <a:p>
            <a:r>
              <a:rPr lang="en-US" sz="900" dirty="0">
                <a:solidFill>
                  <a:schemeClr val="accent4"/>
                </a:solidFill>
              </a:rPr>
              <a:t>Employee performance evaluation doesn’t exist as a function</a:t>
            </a:r>
          </a:p>
        </p:txBody>
      </p:sp>
      <p:cxnSp>
        <p:nvCxnSpPr>
          <p:cNvPr id="160" name="Straight Connector 159"/>
          <p:cNvCxnSpPr/>
          <p:nvPr/>
        </p:nvCxnSpPr>
        <p:spPr>
          <a:xfrm>
            <a:off x="8236461" y="3720649"/>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236461" y="4437506"/>
            <a:ext cx="348182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2" name="Rectangle 161"/>
          <p:cNvSpPr/>
          <p:nvPr/>
        </p:nvSpPr>
        <p:spPr>
          <a:xfrm>
            <a:off x="9131618" y="1212863"/>
            <a:ext cx="2262158" cy="261610"/>
          </a:xfrm>
          <a:prstGeom prst="rect">
            <a:avLst/>
          </a:prstGeom>
        </p:spPr>
        <p:txBody>
          <a:bodyPr wrap="square">
            <a:spAutoFit/>
          </a:bodyPr>
          <a:lstStyle/>
          <a:p>
            <a:r>
              <a:rPr lang="en-US" sz="1100" b="1" dirty="0">
                <a:solidFill>
                  <a:schemeClr val="tx1">
                    <a:lumMod val="85000"/>
                    <a:lumOff val="15000"/>
                  </a:schemeClr>
                </a:solidFill>
              </a:rPr>
              <a:t>Challenges &amp; drivers</a:t>
            </a:r>
          </a:p>
        </p:txBody>
      </p:sp>
      <p:sp>
        <p:nvSpPr>
          <p:cNvPr id="163" name="Rectangle 162"/>
          <p:cNvSpPr/>
          <p:nvPr/>
        </p:nvSpPr>
        <p:spPr>
          <a:xfrm>
            <a:off x="3363054" y="1212863"/>
            <a:ext cx="2262158" cy="261610"/>
          </a:xfrm>
          <a:prstGeom prst="rect">
            <a:avLst/>
          </a:prstGeom>
        </p:spPr>
        <p:txBody>
          <a:bodyPr wrap="square">
            <a:spAutoFit/>
          </a:bodyPr>
          <a:lstStyle/>
          <a:p>
            <a:r>
              <a:rPr lang="en-US" sz="1100" b="1" dirty="0">
                <a:solidFill>
                  <a:schemeClr val="tx1">
                    <a:lumMod val="85000"/>
                    <a:lumOff val="15000"/>
                  </a:schemeClr>
                </a:solidFill>
              </a:rPr>
              <a:t>Challenges &amp; drivers</a:t>
            </a:r>
          </a:p>
        </p:txBody>
      </p:sp>
      <p:sp>
        <p:nvSpPr>
          <p:cNvPr id="164" name="Rounded Rectangle 163"/>
          <p:cNvSpPr/>
          <p:nvPr/>
        </p:nvSpPr>
        <p:spPr>
          <a:xfrm>
            <a:off x="656655" y="6418656"/>
            <a:ext cx="1947672" cy="312047"/>
          </a:xfrm>
          <a:prstGeom prst="roundRect">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Logistics  Management </a:t>
            </a:r>
          </a:p>
        </p:txBody>
      </p:sp>
      <p:cxnSp>
        <p:nvCxnSpPr>
          <p:cNvPr id="188" name="Straight Connector 187"/>
          <p:cNvCxnSpPr/>
          <p:nvPr/>
        </p:nvCxnSpPr>
        <p:spPr>
          <a:xfrm>
            <a:off x="2624647" y="6392042"/>
            <a:ext cx="335245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2604326" y="6409741"/>
            <a:ext cx="3548612" cy="369332"/>
          </a:xfrm>
          <a:prstGeom prst="rect">
            <a:avLst/>
          </a:prstGeom>
        </p:spPr>
        <p:txBody>
          <a:bodyPr wrap="square">
            <a:spAutoFit/>
          </a:bodyPr>
          <a:lstStyle/>
          <a:p>
            <a:r>
              <a:rPr lang="en-US" sz="900" dirty="0">
                <a:solidFill>
                  <a:schemeClr val="accent4"/>
                </a:solidFill>
              </a:rPr>
              <a:t>Increase efficiency of using available resources &amp; technology assets </a:t>
            </a:r>
          </a:p>
        </p:txBody>
      </p:sp>
    </p:spTree>
    <p:extLst>
      <p:ext uri="{BB962C8B-B14F-4D97-AF65-F5344CB8AC3E}">
        <p14:creationId xmlns:p14="http://schemas.microsoft.com/office/powerpoint/2010/main" val="1845709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effectiveness review assessment</a:t>
            </a:r>
            <a:endParaRPr lang="en-GB" sz="3200" dirty="0"/>
          </a:p>
        </p:txBody>
      </p:sp>
      <p:graphicFrame>
        <p:nvGraphicFramePr>
          <p:cNvPr id="19" name="Table 18"/>
          <p:cNvGraphicFramePr>
            <a:graphicFrameLocks noGrp="1"/>
          </p:cNvGraphicFramePr>
          <p:nvPr>
            <p:extLst>
              <p:ext uri="{D42A27DB-BD31-4B8C-83A1-F6EECF244321}">
                <p14:modId xmlns:p14="http://schemas.microsoft.com/office/powerpoint/2010/main" val="47062009"/>
              </p:ext>
            </p:extLst>
          </p:nvPr>
        </p:nvGraphicFramePr>
        <p:xfrm>
          <a:off x="517048" y="2050143"/>
          <a:ext cx="10871199" cy="1844040"/>
        </p:xfrm>
        <a:graphic>
          <a:graphicData uri="http://schemas.openxmlformats.org/drawingml/2006/table">
            <a:tbl>
              <a:tblPr firstRow="1" bandRow="1"/>
              <a:tblGrid>
                <a:gridCol w="3623733">
                  <a:extLst>
                    <a:ext uri="{9D8B030D-6E8A-4147-A177-3AD203B41FA5}">
                      <a16:colId xmlns:a16="http://schemas.microsoft.com/office/drawing/2014/main" val="20000"/>
                    </a:ext>
                  </a:extLst>
                </a:gridCol>
                <a:gridCol w="3623733">
                  <a:extLst>
                    <a:ext uri="{9D8B030D-6E8A-4147-A177-3AD203B41FA5}">
                      <a16:colId xmlns:a16="http://schemas.microsoft.com/office/drawing/2014/main" val="20001"/>
                    </a:ext>
                  </a:extLst>
                </a:gridCol>
                <a:gridCol w="3623733">
                  <a:extLst>
                    <a:ext uri="{9D8B030D-6E8A-4147-A177-3AD203B41FA5}">
                      <a16:colId xmlns:a16="http://schemas.microsoft.com/office/drawing/2014/main" val="20002"/>
                    </a:ext>
                  </a:extLst>
                </a:gridCol>
              </a:tblGrid>
              <a:tr h="370840">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dirty="0">
                          <a:solidFill>
                            <a:schemeClr val="accent4"/>
                          </a:solidFill>
                        </a:rPr>
                        <a:t>Foundational</a:t>
                      </a:r>
                    </a:p>
                  </a:txBody>
                  <a:tcPr>
                    <a:lnL w="9525" cap="flat" cmpd="sng" algn="ctr">
                      <a:noFill/>
                      <a:prstDash val="solid"/>
                    </a:lnL>
                    <a:lnR>
                      <a:noFill/>
                    </a:lnR>
                    <a:lnT w="9525" cap="flat" cmpd="sng" algn="ctr">
                      <a:noFill/>
                      <a:prstDash val="soli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dirty="0">
                          <a:solidFill>
                            <a:schemeClr val="bg1"/>
                          </a:solidFill>
                        </a:rPr>
                        <a:t>Dynamic</a:t>
                      </a:r>
                    </a:p>
                  </a:txBody>
                  <a:tcPr>
                    <a:lnL>
                      <a:noFill/>
                    </a:lnL>
                    <a:lnR>
                      <a:noFill/>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dirty="0">
                          <a:solidFill>
                            <a:schemeClr val="bg1"/>
                          </a:solidFill>
                        </a:rPr>
                        <a:t>Proactive</a:t>
                      </a:r>
                    </a:p>
                  </a:txBody>
                  <a:tcPr>
                    <a:lnL>
                      <a:noFill/>
                    </a:lnL>
                    <a:lnR w="9525" cap="flat" cmpd="sng" algn="ctr">
                      <a:noFill/>
                      <a:prstDash val="solid"/>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Bolt</a:t>
                      </a:r>
                      <a:r>
                        <a:rPr lang="en-US" sz="1400" baseline="0" dirty="0"/>
                        <a:t>-on IT</a:t>
                      </a:r>
                      <a:endParaRPr lang="en-US" sz="1400" dirty="0"/>
                    </a:p>
                  </a:txBody>
                  <a:tcPr>
                    <a:lnL w="9525" cap="flat" cmpd="sng" algn="ctr">
                      <a:noFill/>
                      <a:prstDash val="solid"/>
                    </a:lnL>
                    <a:lnR>
                      <a:noFill/>
                    </a:lnR>
                    <a:lnT w="28575" cap="flat" cmpd="sng" algn="ctr">
                      <a:solidFill>
                        <a:srgbClr val="FFFFFF">
                          <a:lumMod val="95000"/>
                        </a:srgbClr>
                      </a:solidFill>
                      <a:prstDash val="solid"/>
                      <a:round/>
                      <a:headEnd type="none" w="med" len="med"/>
                      <a:tailEnd type="none" w="med" len="me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Built</a:t>
                      </a:r>
                      <a:r>
                        <a:rPr lang="en-US" sz="1400" baseline="0" dirty="0"/>
                        <a:t>-in IT</a:t>
                      </a:r>
                      <a:endParaRPr lang="en-US" sz="1400" dirty="0"/>
                    </a:p>
                  </a:txBody>
                  <a:tcPr>
                    <a:lnL>
                      <a:noFill/>
                    </a:lnL>
                    <a:lnR>
                      <a:noFill/>
                    </a:lnR>
                    <a:lnT w="28575" cap="flat" cmpd="sng" algn="ctr">
                      <a:solidFill>
                        <a:srgbClr val="FFFFFF"/>
                      </a:solidFill>
                      <a:prstDash val="solid"/>
                      <a:round/>
                      <a:headEnd type="none" w="med" len="med"/>
                      <a:tailEnd type="none" w="med" len="me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Built-beyond</a:t>
                      </a:r>
                      <a:r>
                        <a:rPr lang="en-US" sz="1400" baseline="0" dirty="0"/>
                        <a:t> IT</a:t>
                      </a:r>
                      <a:endParaRPr lang="en-US" sz="1400" dirty="0"/>
                    </a:p>
                  </a:txBody>
                  <a:tcPr>
                    <a:lnL>
                      <a:noFill/>
                    </a:lnL>
                    <a:lnR w="9525" cap="flat" cmpd="sng" algn="ctr">
                      <a:noFill/>
                      <a:prstDash val="solid"/>
                    </a:lnR>
                    <a:lnT w="28575" cap="flat" cmpd="sng" algn="ctr">
                      <a:solidFill>
                        <a:srgbClr val="FFFFFF"/>
                      </a:solidFill>
                      <a:prstDash val="solid"/>
                      <a:round/>
                      <a:headEnd type="none" w="med" len="med"/>
                      <a:tailEnd type="none" w="med" len="me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A</a:t>
                      </a:r>
                      <a:r>
                        <a:rPr lang="en-US" sz="1400" baseline="0" dirty="0"/>
                        <a:t> focus on current environment, managing cost and keeping the lights on</a:t>
                      </a:r>
                      <a:endParaRPr lang="en-US" sz="1400" dirty="0"/>
                    </a:p>
                  </a:txBody>
                  <a:tcPr>
                    <a:lnL w="9525" cap="flat" cmpd="sng" algn="ctr">
                      <a:noFill/>
                      <a:prstDash val="solid"/>
                    </a:lnL>
                    <a:lnR>
                      <a:noFill/>
                    </a:lnR>
                    <a:lnT w="28575" cap="flat" cmpd="sng" algn="ctr">
                      <a:solidFill>
                        <a:srgbClr val="FFFFFF">
                          <a:lumMod val="95000"/>
                        </a:srgbClr>
                      </a:solidFill>
                      <a:prstDash val="solid"/>
                      <a:round/>
                      <a:headEnd type="none" w="med" len="med"/>
                      <a:tailEnd type="none" w="med" len="me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A focus on the changing</a:t>
                      </a:r>
                      <a:r>
                        <a:rPr lang="en-US" sz="1400" baseline="0" dirty="0"/>
                        <a:t> environment, acting as information broker and generating ideas and solutions</a:t>
                      </a:r>
                      <a:endParaRPr lang="en-US" sz="1400" dirty="0"/>
                    </a:p>
                  </a:txBody>
                  <a:tcPr>
                    <a:lnL>
                      <a:noFill/>
                    </a:lnL>
                    <a:lnR>
                      <a:noFill/>
                    </a:lnR>
                    <a:lnT w="28575" cap="flat" cmpd="sng" algn="ctr">
                      <a:solidFill>
                        <a:srgbClr val="FFFFFF">
                          <a:lumMod val="95000"/>
                        </a:srgbClr>
                      </a:solidFill>
                      <a:prstDash val="solid"/>
                      <a:round/>
                      <a:headEnd type="none" w="med" len="med"/>
                      <a:tailEnd type="none" w="med" len="me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A focus on the future environment,</a:t>
                      </a:r>
                      <a:r>
                        <a:rPr lang="en-US" sz="1400" baseline="0" dirty="0"/>
                        <a:t> delivering transformation and bringing business model innovation</a:t>
                      </a:r>
                      <a:endParaRPr lang="en-US" sz="1400" dirty="0"/>
                    </a:p>
                  </a:txBody>
                  <a:tcPr>
                    <a:lnL>
                      <a:noFill/>
                    </a:lnL>
                    <a:lnR w="9525" cap="flat" cmpd="sng" algn="ctr">
                      <a:noFill/>
                      <a:prstDash val="solid"/>
                    </a:lnR>
                    <a:lnT w="28575" cap="flat" cmpd="sng" algn="ctr">
                      <a:solidFill>
                        <a:srgbClr val="FFFFFF">
                          <a:lumMod val="95000"/>
                        </a:srgbClr>
                      </a:solidFill>
                      <a:prstDash val="solid"/>
                      <a:round/>
                      <a:headEnd type="none" w="med" len="med"/>
                      <a:tailEnd type="none" w="med" len="me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A static</a:t>
                      </a:r>
                      <a:r>
                        <a:rPr lang="en-US" sz="1400" baseline="0" dirty="0"/>
                        <a:t> approach</a:t>
                      </a:r>
                      <a:endParaRPr lang="en-US" sz="1400" dirty="0"/>
                    </a:p>
                  </a:txBody>
                  <a:tcPr>
                    <a:lnL w="9525" cap="flat" cmpd="sng" algn="ctr">
                      <a:noFill/>
                      <a:prstDash val="solid"/>
                    </a:lnL>
                    <a:lnR>
                      <a:noFill/>
                    </a:lnR>
                    <a:lnT w="28575" cap="flat" cmpd="sng" algn="ctr">
                      <a:solidFill>
                        <a:srgbClr val="FFFFFF">
                          <a:lumMod val="95000"/>
                        </a:srgbClr>
                      </a:solidFill>
                      <a:prstDash val="solid"/>
                      <a:round/>
                      <a:headEnd type="none" w="med" len="med"/>
                      <a:tailEnd type="none" w="med" len="med"/>
                    </a:lnT>
                    <a:lnB w="28575" cap="flat" cmpd="sng" algn="ctr">
                      <a:solidFill>
                        <a:srgbClr val="646464"/>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A dynamic approach</a:t>
                      </a:r>
                    </a:p>
                  </a:txBody>
                  <a:tcPr>
                    <a:lnL>
                      <a:noFill/>
                    </a:lnL>
                    <a:lnR>
                      <a:noFill/>
                    </a:lnR>
                    <a:lnT w="28575" cap="flat" cmpd="sng" algn="ctr">
                      <a:solidFill>
                        <a:srgbClr val="FFFFFF">
                          <a:lumMod val="95000"/>
                        </a:srgbClr>
                      </a:solidFill>
                      <a:prstDash val="solid"/>
                      <a:round/>
                      <a:headEnd type="none" w="med" len="med"/>
                      <a:tailEnd type="none" w="med" len="med"/>
                    </a:lnT>
                    <a:lnB w="28575" cap="flat" cmpd="sng" algn="ctr">
                      <a:solidFill>
                        <a:srgbClr val="646464"/>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kern="1200">
                          <a:solidFill>
                            <a:schemeClr val="tx1"/>
                          </a:solidFill>
                          <a:latin typeface="EYInterstate"/>
                        </a:defRPr>
                      </a:lvl1pPr>
                      <a:lvl2pPr marL="457200" algn="l" defTabSz="914400" rtl="0" eaLnBrk="1" latinLnBrk="0" hangingPunct="1">
                        <a:defRPr sz="1800" kern="1200">
                          <a:solidFill>
                            <a:schemeClr val="tx1"/>
                          </a:solidFill>
                          <a:latin typeface="EYInterstate"/>
                        </a:defRPr>
                      </a:lvl2pPr>
                      <a:lvl3pPr marL="914400" algn="l" defTabSz="914400" rtl="0" eaLnBrk="1" latinLnBrk="0" hangingPunct="1">
                        <a:defRPr sz="1800" kern="1200">
                          <a:solidFill>
                            <a:schemeClr val="tx1"/>
                          </a:solidFill>
                          <a:latin typeface="EYInterstate"/>
                        </a:defRPr>
                      </a:lvl3pPr>
                      <a:lvl4pPr marL="1371600" algn="l" defTabSz="914400" rtl="0" eaLnBrk="1" latinLnBrk="0" hangingPunct="1">
                        <a:defRPr sz="1800" kern="1200">
                          <a:solidFill>
                            <a:schemeClr val="tx1"/>
                          </a:solidFill>
                          <a:latin typeface="EYInterstate"/>
                        </a:defRPr>
                      </a:lvl4pPr>
                      <a:lvl5pPr marL="1828800" algn="l" defTabSz="914400" rtl="0" eaLnBrk="1" latinLnBrk="0" hangingPunct="1">
                        <a:defRPr sz="1800" kern="1200">
                          <a:solidFill>
                            <a:schemeClr val="tx1"/>
                          </a:solidFill>
                          <a:latin typeface="EYInterstate"/>
                        </a:defRPr>
                      </a:lvl5pPr>
                      <a:lvl6pPr marL="2286000" algn="l" defTabSz="914400" rtl="0" eaLnBrk="1" latinLnBrk="0" hangingPunct="1">
                        <a:defRPr sz="1800" kern="1200">
                          <a:solidFill>
                            <a:schemeClr val="tx1"/>
                          </a:solidFill>
                          <a:latin typeface="EYInterstate"/>
                        </a:defRPr>
                      </a:lvl6pPr>
                      <a:lvl7pPr marL="2743200" algn="l" defTabSz="914400" rtl="0" eaLnBrk="1" latinLnBrk="0" hangingPunct="1">
                        <a:defRPr sz="1800" kern="1200">
                          <a:solidFill>
                            <a:schemeClr val="tx1"/>
                          </a:solidFill>
                          <a:latin typeface="EYInterstate"/>
                        </a:defRPr>
                      </a:lvl7pPr>
                      <a:lvl8pPr marL="3200400" algn="l" defTabSz="914400" rtl="0" eaLnBrk="1" latinLnBrk="0" hangingPunct="1">
                        <a:defRPr sz="1800" kern="1200">
                          <a:solidFill>
                            <a:schemeClr val="tx1"/>
                          </a:solidFill>
                          <a:latin typeface="EYInterstate"/>
                        </a:defRPr>
                      </a:lvl8pPr>
                      <a:lvl9pPr marL="3657600" algn="l" defTabSz="914400" rtl="0" eaLnBrk="1" latinLnBrk="0" hangingPunct="1">
                        <a:defRPr sz="1800" kern="1200">
                          <a:solidFill>
                            <a:schemeClr val="tx1"/>
                          </a:solidFill>
                          <a:latin typeface="EYInterstate"/>
                        </a:defRPr>
                      </a:lvl9pPr>
                    </a:lstStyle>
                    <a:p>
                      <a:r>
                        <a:rPr lang="en-US" sz="1400" dirty="0"/>
                        <a:t>A proactive approach</a:t>
                      </a:r>
                    </a:p>
                  </a:txBody>
                  <a:tcPr>
                    <a:lnL>
                      <a:noFill/>
                    </a:lnL>
                    <a:lnR w="9525" cap="flat" cmpd="sng" algn="ctr">
                      <a:noFill/>
                      <a:prstDash val="solid"/>
                    </a:lnR>
                    <a:lnT w="28575" cap="flat" cmpd="sng" algn="ctr">
                      <a:solidFill>
                        <a:srgbClr val="FFFFFF">
                          <a:lumMod val="95000"/>
                        </a:srgbClr>
                      </a:solidFill>
                      <a:prstDash val="solid"/>
                      <a:round/>
                      <a:headEnd type="none" w="med" len="med"/>
                      <a:tailEnd type="none" w="med" len="med"/>
                    </a:lnT>
                    <a:lnB w="28575" cap="flat" cmpd="sng" algn="ctr">
                      <a:solidFill>
                        <a:srgbClr val="646464"/>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3"/>
                  </a:ext>
                </a:extLst>
              </a:tr>
            </a:tbl>
          </a:graphicData>
        </a:graphic>
      </p:graphicFrame>
      <p:sp>
        <p:nvSpPr>
          <p:cNvPr id="20" name="Right Arrow 19"/>
          <p:cNvSpPr/>
          <p:nvPr/>
        </p:nvSpPr>
        <p:spPr>
          <a:xfrm>
            <a:off x="517048" y="4420139"/>
            <a:ext cx="10871199" cy="493257"/>
          </a:xfrm>
          <a:prstGeom prst="rightArrow">
            <a:avLst/>
          </a:prstGeom>
          <a:solidFill>
            <a:srgbClr val="646464"/>
          </a:solidFill>
          <a:ln w="25400" cap="flat" cmpd="sng" algn="ctr">
            <a:solidFill>
              <a:srgbClr val="F0F0F0"/>
            </a:solidFill>
            <a:prstDash val="solid"/>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EYInterstate"/>
                <a:ea typeface="+mn-ea"/>
                <a:cs typeface="+mn-cs"/>
              </a:rPr>
              <a:t>IT Maturity Spectrum</a:t>
            </a:r>
          </a:p>
        </p:txBody>
      </p:sp>
      <p:grpSp>
        <p:nvGrpSpPr>
          <p:cNvPr id="21" name="Group 20"/>
          <p:cNvGrpSpPr/>
          <p:nvPr/>
        </p:nvGrpSpPr>
        <p:grpSpPr>
          <a:xfrm>
            <a:off x="1299133" y="4236400"/>
            <a:ext cx="1317667" cy="808943"/>
            <a:chOff x="2431715" y="2792185"/>
            <a:chExt cx="974394" cy="808943"/>
          </a:xfrm>
        </p:grpSpPr>
        <p:sp>
          <p:nvSpPr>
            <p:cNvPr id="22" name="Isosceles Triangle 21"/>
            <p:cNvSpPr/>
            <p:nvPr/>
          </p:nvSpPr>
          <p:spPr>
            <a:xfrm>
              <a:off x="2756639" y="2792185"/>
              <a:ext cx="402771" cy="533400"/>
            </a:xfrm>
            <a:prstGeom prst="triangle">
              <a:avLst/>
            </a:prstGeom>
            <a:solidFill>
              <a:srgbClr val="0070C0"/>
            </a:solidFill>
            <a:ln w="9525" cap="flat" cmpd="sng" algn="ctr">
              <a:solidFill>
                <a:schemeClr val="accent2"/>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EYInterstate"/>
                <a:ea typeface="+mn-ea"/>
                <a:cs typeface="+mn-cs"/>
              </a:endParaRPr>
            </a:p>
          </p:txBody>
        </p:sp>
        <p:sp>
          <p:nvSpPr>
            <p:cNvPr id="23" name="TextBox 22"/>
            <p:cNvSpPr txBox="1"/>
            <p:nvPr/>
          </p:nvSpPr>
          <p:spPr>
            <a:xfrm>
              <a:off x="2431715" y="3407229"/>
              <a:ext cx="974394" cy="193899"/>
            </a:xfrm>
            <a:prstGeom prst="rect">
              <a:avLst/>
            </a:prstGeom>
            <a:noFill/>
          </p:spPr>
          <p:txBody>
            <a:bodyPr wrap="non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kumimoji="0" lang="en-US" sz="1200" b="1" i="0" u="none" strike="noStrike" kern="0" cap="none" spc="0" normalizeH="0" baseline="0" noProof="0" dirty="0">
                  <a:ln>
                    <a:noFill/>
                  </a:ln>
                  <a:solidFill>
                    <a:srgbClr val="646464"/>
                  </a:solidFill>
                  <a:effectLst/>
                  <a:uLnTx/>
                  <a:uFillTx/>
                  <a:latin typeface="EYInterstate"/>
                </a:rPr>
                <a:t>ITD Current State</a:t>
              </a:r>
            </a:p>
          </p:txBody>
        </p:sp>
      </p:grpSp>
      <p:sp>
        <p:nvSpPr>
          <p:cNvPr id="24" name="Rectangle 23"/>
          <p:cNvSpPr/>
          <p:nvPr/>
        </p:nvSpPr>
        <p:spPr>
          <a:xfrm>
            <a:off x="517049" y="1498516"/>
            <a:ext cx="10871199" cy="261610"/>
          </a:xfrm>
          <a:prstGeom prst="rect">
            <a:avLst/>
          </a:prstGeom>
        </p:spPr>
        <p:txBody>
          <a:bodyPr wrap="square">
            <a:spAutoFit/>
          </a:bodyPr>
          <a:lstStyle/>
          <a:p>
            <a:pPr algn="just"/>
            <a:r>
              <a:rPr lang="en-US" sz="1100" dirty="0">
                <a:solidFill>
                  <a:srgbClr val="646464"/>
                </a:solidFill>
                <a:latin typeface="EYInterstate"/>
              </a:rPr>
              <a:t>ITD is currently in position of </a:t>
            </a:r>
            <a:r>
              <a:rPr lang="en-US" sz="1100" b="1" dirty="0">
                <a:solidFill>
                  <a:srgbClr val="646464"/>
                </a:solidFill>
                <a:latin typeface="EYInterstate"/>
              </a:rPr>
              <a:t>“Foundational” </a:t>
            </a:r>
            <a:r>
              <a:rPr lang="en-US" sz="1100" dirty="0">
                <a:solidFill>
                  <a:srgbClr val="646464"/>
                </a:solidFill>
                <a:latin typeface="EYInterstate"/>
              </a:rPr>
              <a:t>i.e. IT is considered Bolt-on function of the organization.</a:t>
            </a:r>
          </a:p>
        </p:txBody>
      </p:sp>
      <p:sp>
        <p:nvSpPr>
          <p:cNvPr id="25" name="Snip Single Corner Rectangle 24"/>
          <p:cNvSpPr/>
          <p:nvPr/>
        </p:nvSpPr>
        <p:spPr>
          <a:xfrm>
            <a:off x="517050" y="5377664"/>
            <a:ext cx="10871198" cy="918939"/>
          </a:xfrm>
          <a:prstGeom prst="snip1Rect">
            <a:avLst/>
          </a:prstGeom>
          <a:solidFill>
            <a:srgbClr val="FFFFFF"/>
          </a:solidFill>
          <a:ln w="9525" cap="flat" cmpd="sng" algn="ctr">
            <a:solidFill>
              <a:srgbClr val="808080"/>
            </a:solidFill>
            <a:prstDash val="soli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65000"/>
                    <a:lumOff val="35000"/>
                  </a:srgbClr>
                </a:solidFill>
                <a:effectLst/>
                <a:uLnTx/>
                <a:uFillTx/>
                <a:latin typeface="EYInterstate"/>
                <a:ea typeface="+mn-ea"/>
                <a:cs typeface="+mn-cs"/>
              </a:rPr>
              <a:t>Take a dynamic approach</a:t>
            </a:r>
          </a:p>
          <a:p>
            <a:pPr marL="171450" marR="0" lvl="0" indent="-171450" defTabSz="914400" eaLnBrk="1" fontAlgn="auto" latinLnBrk="0" hangingPunct="1">
              <a:lnSpc>
                <a:spcPct val="100000"/>
              </a:lnSpc>
              <a:spcBef>
                <a:spcPts val="300"/>
              </a:spcBef>
              <a:spcAft>
                <a:spcPts val="300"/>
              </a:spcAft>
              <a:buClrTx/>
              <a:buSzPct val="75000"/>
              <a:buFont typeface="Arial" panose="020B0604020202020204" pitchFamily="34" charset="0"/>
              <a:buChar char="►"/>
              <a:tabLst/>
              <a:defRPr/>
            </a:pPr>
            <a:r>
              <a:rPr kumimoji="0" lang="en-US" sz="1100" b="0" i="0" u="none" strike="noStrike" kern="0" cap="none" spc="0" normalizeH="0" baseline="0" noProof="0" dirty="0">
                <a:ln>
                  <a:noFill/>
                </a:ln>
                <a:solidFill>
                  <a:srgbClr val="000000">
                    <a:lumMod val="65000"/>
                    <a:lumOff val="35000"/>
                  </a:srgbClr>
                </a:solidFill>
                <a:effectLst/>
                <a:uLnTx/>
                <a:uFillTx/>
                <a:latin typeface="EYInterstate"/>
                <a:ea typeface="+mn-ea"/>
                <a:cs typeface="+mn-cs"/>
              </a:rPr>
              <a:t>ITD must constantly change and adapt to a changing business environment and to the evolving customer needs</a:t>
            </a:r>
          </a:p>
          <a:p>
            <a:pPr marL="171450" marR="0" lvl="0" indent="-171450" defTabSz="914400" eaLnBrk="1" fontAlgn="auto" latinLnBrk="0" hangingPunct="1">
              <a:lnSpc>
                <a:spcPct val="100000"/>
              </a:lnSpc>
              <a:spcBef>
                <a:spcPts val="300"/>
              </a:spcBef>
              <a:spcAft>
                <a:spcPts val="300"/>
              </a:spcAft>
              <a:buClrTx/>
              <a:buSzPct val="75000"/>
              <a:buFont typeface="Arial" panose="020B0604020202020204" pitchFamily="34" charset="0"/>
              <a:buChar char="►"/>
              <a:tabLst/>
              <a:defRPr/>
            </a:pPr>
            <a:r>
              <a:rPr kumimoji="0" lang="en-US" sz="1100" b="0" i="0" u="none" strike="noStrike" kern="0" cap="none" spc="0" normalizeH="0" baseline="0" noProof="0" dirty="0">
                <a:ln>
                  <a:noFill/>
                </a:ln>
                <a:solidFill>
                  <a:srgbClr val="000000">
                    <a:lumMod val="65000"/>
                    <a:lumOff val="35000"/>
                  </a:srgbClr>
                </a:solidFill>
                <a:effectLst/>
                <a:uLnTx/>
                <a:uFillTx/>
                <a:latin typeface="EYInterstate"/>
                <a:ea typeface="+mn-ea"/>
                <a:cs typeface="+mn-cs"/>
              </a:rPr>
              <a:t>ITD operational model will need to change to align with the digital transformation road</a:t>
            </a:r>
          </a:p>
          <a:p>
            <a:pPr marL="171450" marR="0" lvl="0" indent="-171450" defTabSz="914400" eaLnBrk="1" fontAlgn="auto" latinLnBrk="0" hangingPunct="1">
              <a:lnSpc>
                <a:spcPct val="100000"/>
              </a:lnSpc>
              <a:spcBef>
                <a:spcPts val="300"/>
              </a:spcBef>
              <a:spcAft>
                <a:spcPts val="300"/>
              </a:spcAft>
              <a:buClrTx/>
              <a:buSzPct val="75000"/>
              <a:buFont typeface="Arial" panose="020B0604020202020204" pitchFamily="34" charset="0"/>
              <a:buChar char="►"/>
              <a:tabLst/>
              <a:defRPr/>
            </a:pPr>
            <a:endParaRPr kumimoji="0" lang="en-US" sz="1100" b="0" i="0" u="none" strike="noStrike" kern="0" cap="none" spc="0" normalizeH="0" baseline="0" noProof="0" dirty="0">
              <a:ln>
                <a:noFill/>
              </a:ln>
              <a:solidFill>
                <a:srgbClr val="000000">
                  <a:lumMod val="65000"/>
                  <a:lumOff val="35000"/>
                </a:srgbClr>
              </a:solidFill>
              <a:effectLst/>
              <a:uLnTx/>
              <a:uFillTx/>
              <a:latin typeface="EYInterstate"/>
              <a:ea typeface="+mn-ea"/>
              <a:cs typeface="+mn-cs"/>
            </a:endParaRPr>
          </a:p>
        </p:txBody>
      </p:sp>
      <p:grpSp>
        <p:nvGrpSpPr>
          <p:cNvPr id="26" name="Group 25"/>
          <p:cNvGrpSpPr/>
          <p:nvPr/>
        </p:nvGrpSpPr>
        <p:grpSpPr>
          <a:xfrm>
            <a:off x="3882614" y="4226240"/>
            <a:ext cx="1054776" cy="808943"/>
            <a:chOff x="2568028" y="2792185"/>
            <a:chExt cx="779991" cy="808943"/>
          </a:xfrm>
        </p:grpSpPr>
        <p:sp>
          <p:nvSpPr>
            <p:cNvPr id="27" name="Isosceles Triangle 26"/>
            <p:cNvSpPr/>
            <p:nvPr/>
          </p:nvSpPr>
          <p:spPr>
            <a:xfrm>
              <a:off x="2756639" y="2792185"/>
              <a:ext cx="402771" cy="533400"/>
            </a:xfrm>
            <a:prstGeom prst="triangle">
              <a:avLst/>
            </a:prstGeom>
            <a:solidFill>
              <a:srgbClr val="FFFFFF"/>
            </a:solidFill>
            <a:ln w="9525" cap="flat" cmpd="sng" algn="ctr">
              <a:solidFill>
                <a:srgbClr val="808080"/>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EYInterstate"/>
                <a:ea typeface="+mn-ea"/>
                <a:cs typeface="+mn-cs"/>
              </a:endParaRPr>
            </a:p>
          </p:txBody>
        </p:sp>
        <p:sp>
          <p:nvSpPr>
            <p:cNvPr id="28" name="TextBox 27"/>
            <p:cNvSpPr txBox="1"/>
            <p:nvPr/>
          </p:nvSpPr>
          <p:spPr>
            <a:xfrm>
              <a:off x="2568028" y="3407229"/>
              <a:ext cx="779991" cy="193899"/>
            </a:xfrm>
            <a:prstGeom prst="rect">
              <a:avLst/>
            </a:prstGeom>
            <a:noFill/>
          </p:spPr>
          <p:txBody>
            <a:bodyPr wrap="non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kumimoji="0" lang="en-US" sz="1200" b="1" i="0" u="none" strike="noStrike" kern="0" cap="none" spc="0" normalizeH="0" baseline="0" noProof="0" dirty="0">
                  <a:ln>
                    <a:noFill/>
                  </a:ln>
                  <a:solidFill>
                    <a:srgbClr val="646464"/>
                  </a:solidFill>
                  <a:effectLst/>
                  <a:uLnTx/>
                  <a:uFillTx/>
                  <a:latin typeface="EYInterstate"/>
                </a:rPr>
                <a:t>Comparable IT</a:t>
              </a:r>
            </a:p>
          </p:txBody>
        </p:sp>
      </p:grpSp>
      <p:grpSp>
        <p:nvGrpSpPr>
          <p:cNvPr id="13" name="Group 12"/>
          <p:cNvGrpSpPr/>
          <p:nvPr/>
        </p:nvGrpSpPr>
        <p:grpSpPr>
          <a:xfrm>
            <a:off x="7311878" y="4251525"/>
            <a:ext cx="1245533" cy="1042853"/>
            <a:chOff x="2458384" y="2792185"/>
            <a:chExt cx="921052" cy="1042853"/>
          </a:xfrm>
        </p:grpSpPr>
        <p:sp>
          <p:nvSpPr>
            <p:cNvPr id="14" name="Isosceles Triangle 13"/>
            <p:cNvSpPr/>
            <p:nvPr/>
          </p:nvSpPr>
          <p:spPr>
            <a:xfrm>
              <a:off x="2756639" y="2792185"/>
              <a:ext cx="402771" cy="533400"/>
            </a:xfrm>
            <a:prstGeom prst="triangle">
              <a:avLst/>
            </a:prstGeom>
            <a:solidFill>
              <a:srgbClr val="0070C0"/>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EYInterstate"/>
                <a:ea typeface="+mn-ea"/>
                <a:cs typeface="+mn-cs"/>
              </a:endParaRPr>
            </a:p>
          </p:txBody>
        </p:sp>
        <p:sp>
          <p:nvSpPr>
            <p:cNvPr id="15" name="TextBox 14"/>
            <p:cNvSpPr txBox="1"/>
            <p:nvPr/>
          </p:nvSpPr>
          <p:spPr>
            <a:xfrm>
              <a:off x="2458384" y="3407229"/>
              <a:ext cx="921052" cy="427809"/>
            </a:xfrm>
            <a:prstGeom prst="rect">
              <a:avLst/>
            </a:prstGeom>
            <a:noFill/>
          </p:spPr>
          <p:txBody>
            <a:bodyPr wrap="non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kumimoji="0" lang="en-US" sz="1200" b="1" i="0" u="none" strike="noStrike" kern="0" cap="none" spc="0" normalizeH="0" baseline="0" noProof="0" dirty="0">
                  <a:ln>
                    <a:noFill/>
                  </a:ln>
                  <a:solidFill>
                    <a:srgbClr val="646464"/>
                  </a:solidFill>
                  <a:effectLst/>
                  <a:uLnTx/>
                  <a:uFillTx/>
                  <a:latin typeface="EYInterstate"/>
                </a:rPr>
                <a:t>ITD Future State</a:t>
              </a:r>
            </a:p>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lang="en-US" sz="1200" b="1" kern="0" dirty="0">
                  <a:solidFill>
                    <a:srgbClr val="646464"/>
                  </a:solidFill>
                  <a:latin typeface="EYInterstate"/>
                </a:rPr>
                <a:t>(in X years)</a:t>
              </a:r>
              <a:endParaRPr kumimoji="0" lang="en-US" sz="1200" b="1" i="0" u="none" strike="noStrike" kern="0" cap="none" spc="0" normalizeH="0" baseline="0" noProof="0" dirty="0">
                <a:ln>
                  <a:noFill/>
                </a:ln>
                <a:solidFill>
                  <a:srgbClr val="646464"/>
                </a:solidFill>
                <a:effectLst/>
                <a:uLnTx/>
                <a:uFillTx/>
                <a:latin typeface="EYInterstate"/>
              </a:endParaRPr>
            </a:p>
          </p:txBody>
        </p:sp>
      </p:grpSp>
      <p:sp>
        <p:nvSpPr>
          <p:cNvPr id="16" name="Rectangle 15"/>
          <p:cNvSpPr/>
          <p:nvPr/>
        </p:nvSpPr>
        <p:spPr>
          <a:xfrm>
            <a:off x="534179" y="771842"/>
            <a:ext cx="2082621" cy="369332"/>
          </a:xfrm>
          <a:prstGeom prst="rect">
            <a:avLst/>
          </a:prstGeom>
        </p:spPr>
        <p:txBody>
          <a:bodyPr wrap="none">
            <a:spAutoFit/>
          </a:bodyPr>
          <a:lstStyle/>
          <a:p>
            <a:r>
              <a:rPr lang="en-US" b="1" dirty="0">
                <a:solidFill>
                  <a:schemeClr val="accent5">
                    <a:lumMod val="50000"/>
                  </a:schemeClr>
                </a:solidFill>
              </a:rPr>
              <a:t>ITD Current State</a:t>
            </a:r>
          </a:p>
        </p:txBody>
      </p:sp>
    </p:spTree>
    <p:extLst>
      <p:ext uri="{BB962C8B-B14F-4D97-AF65-F5344CB8AC3E}">
        <p14:creationId xmlns:p14="http://schemas.microsoft.com/office/powerpoint/2010/main" val="767261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effectiveness review assessment</a:t>
            </a:r>
          </a:p>
        </p:txBody>
      </p:sp>
      <p:graphicFrame>
        <p:nvGraphicFramePr>
          <p:cNvPr id="42" name="Chart 41"/>
          <p:cNvGraphicFramePr/>
          <p:nvPr>
            <p:extLst>
              <p:ext uri="{D42A27DB-BD31-4B8C-83A1-F6EECF244321}">
                <p14:modId xmlns:p14="http://schemas.microsoft.com/office/powerpoint/2010/main" val="93720272"/>
              </p:ext>
            </p:extLst>
          </p:nvPr>
        </p:nvGraphicFramePr>
        <p:xfrm>
          <a:off x="272499" y="1907175"/>
          <a:ext cx="5081112" cy="24438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2" name="Table 51"/>
          <p:cNvGraphicFramePr>
            <a:graphicFrameLocks noGrp="1"/>
          </p:cNvGraphicFramePr>
          <p:nvPr>
            <p:extLst>
              <p:ext uri="{D42A27DB-BD31-4B8C-83A1-F6EECF244321}">
                <p14:modId xmlns:p14="http://schemas.microsoft.com/office/powerpoint/2010/main" val="4173480927"/>
              </p:ext>
            </p:extLst>
          </p:nvPr>
        </p:nvGraphicFramePr>
        <p:xfrm>
          <a:off x="2441868" y="6034957"/>
          <a:ext cx="2795778" cy="228600"/>
        </p:xfrm>
        <a:graphic>
          <a:graphicData uri="http://schemas.openxmlformats.org/drawingml/2006/table">
            <a:tbl>
              <a:tblPr firstRow="1" bandRow="1"/>
              <a:tblGrid>
                <a:gridCol w="931926">
                  <a:extLst>
                    <a:ext uri="{9D8B030D-6E8A-4147-A177-3AD203B41FA5}">
                      <a16:colId xmlns:a16="http://schemas.microsoft.com/office/drawing/2014/main" val="20000"/>
                    </a:ext>
                  </a:extLst>
                </a:gridCol>
                <a:gridCol w="931926">
                  <a:extLst>
                    <a:ext uri="{9D8B030D-6E8A-4147-A177-3AD203B41FA5}">
                      <a16:colId xmlns:a16="http://schemas.microsoft.com/office/drawing/2014/main" val="20001"/>
                    </a:ext>
                  </a:extLst>
                </a:gridCol>
                <a:gridCol w="931926">
                  <a:extLst>
                    <a:ext uri="{9D8B030D-6E8A-4147-A177-3AD203B41FA5}">
                      <a16:colId xmlns:a16="http://schemas.microsoft.com/office/drawing/2014/main" val="20002"/>
                    </a:ext>
                  </a:extLst>
                </a:gridCol>
              </a:tblGrid>
              <a:tr h="206478">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accent4"/>
                          </a:solidFill>
                        </a:rPr>
                        <a:t>Foundational</a:t>
                      </a:r>
                    </a:p>
                  </a:txBody>
                  <a:tcPr anchor="ctr">
                    <a:lnL w="9525" cap="flat" cmpd="sng" algn="ctr">
                      <a:noFill/>
                      <a:prstDash val="solid"/>
                    </a:lnL>
                    <a:lnR>
                      <a:noFill/>
                    </a:lnR>
                    <a:lnT w="9525" cap="flat" cmpd="sng" algn="ctr">
                      <a:noFill/>
                      <a:prstDash val="soli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Dynamic</a:t>
                      </a:r>
                    </a:p>
                  </a:txBody>
                  <a:tcPr anchor="ctr">
                    <a:lnL>
                      <a:noFill/>
                    </a:lnL>
                    <a:lnR>
                      <a:noFill/>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Proactive</a:t>
                      </a:r>
                    </a:p>
                  </a:txBody>
                  <a:tcPr anchor="ctr">
                    <a:lnL>
                      <a:noFill/>
                    </a:lnL>
                    <a:lnR w="9525" cap="flat" cmpd="sng" algn="ctr">
                      <a:noFill/>
                      <a:prstDash val="solid"/>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4100805919"/>
              </p:ext>
            </p:extLst>
          </p:nvPr>
        </p:nvGraphicFramePr>
        <p:xfrm>
          <a:off x="2441868" y="4047654"/>
          <a:ext cx="2795778" cy="228600"/>
        </p:xfrm>
        <a:graphic>
          <a:graphicData uri="http://schemas.openxmlformats.org/drawingml/2006/table">
            <a:tbl>
              <a:tblPr firstRow="1" bandRow="1"/>
              <a:tblGrid>
                <a:gridCol w="931926">
                  <a:extLst>
                    <a:ext uri="{9D8B030D-6E8A-4147-A177-3AD203B41FA5}">
                      <a16:colId xmlns:a16="http://schemas.microsoft.com/office/drawing/2014/main" val="20000"/>
                    </a:ext>
                  </a:extLst>
                </a:gridCol>
                <a:gridCol w="931926">
                  <a:extLst>
                    <a:ext uri="{9D8B030D-6E8A-4147-A177-3AD203B41FA5}">
                      <a16:colId xmlns:a16="http://schemas.microsoft.com/office/drawing/2014/main" val="20001"/>
                    </a:ext>
                  </a:extLst>
                </a:gridCol>
                <a:gridCol w="931926">
                  <a:extLst>
                    <a:ext uri="{9D8B030D-6E8A-4147-A177-3AD203B41FA5}">
                      <a16:colId xmlns:a16="http://schemas.microsoft.com/office/drawing/2014/main" val="20002"/>
                    </a:ext>
                  </a:extLst>
                </a:gridCol>
              </a:tblGrid>
              <a:tr h="206478">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accent4"/>
                          </a:solidFill>
                        </a:rPr>
                        <a:t>Foundational</a:t>
                      </a:r>
                    </a:p>
                  </a:txBody>
                  <a:tcPr anchor="ctr">
                    <a:lnL w="9525" cap="flat" cmpd="sng" algn="ctr">
                      <a:noFill/>
                      <a:prstDash val="solid"/>
                    </a:lnL>
                    <a:lnR>
                      <a:noFill/>
                    </a:lnR>
                    <a:lnT w="9525" cap="flat" cmpd="sng" algn="ctr">
                      <a:noFill/>
                      <a:prstDash val="soli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Dynamic</a:t>
                      </a:r>
                    </a:p>
                  </a:txBody>
                  <a:tcPr anchor="ctr">
                    <a:lnL>
                      <a:noFill/>
                    </a:lnL>
                    <a:lnR>
                      <a:noFill/>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Proactive</a:t>
                      </a:r>
                    </a:p>
                  </a:txBody>
                  <a:tcPr anchor="ctr">
                    <a:lnL>
                      <a:noFill/>
                    </a:lnL>
                    <a:lnR w="9525" cap="flat" cmpd="sng" algn="ctr">
                      <a:noFill/>
                      <a:prstDash val="solid"/>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bl>
          </a:graphicData>
        </a:graphic>
      </p:graphicFrame>
      <p:sp>
        <p:nvSpPr>
          <p:cNvPr id="14" name="Rectangle 13"/>
          <p:cNvSpPr/>
          <p:nvPr/>
        </p:nvSpPr>
        <p:spPr>
          <a:xfrm>
            <a:off x="517048" y="726276"/>
            <a:ext cx="3557449" cy="369332"/>
          </a:xfrm>
          <a:prstGeom prst="rect">
            <a:avLst/>
          </a:prstGeom>
        </p:spPr>
        <p:txBody>
          <a:bodyPr wrap="none">
            <a:spAutoFit/>
          </a:bodyPr>
          <a:lstStyle/>
          <a:p>
            <a:r>
              <a:rPr lang="en-US" b="1" dirty="0">
                <a:solidFill>
                  <a:schemeClr val="accent5">
                    <a:lumMod val="50000"/>
                  </a:schemeClr>
                </a:solidFill>
              </a:rPr>
              <a:t>Value Chain Current State (1/2)</a:t>
            </a:r>
          </a:p>
        </p:txBody>
      </p:sp>
      <p:sp>
        <p:nvSpPr>
          <p:cNvPr id="17" name="Rectangle 16"/>
          <p:cNvSpPr/>
          <p:nvPr/>
        </p:nvSpPr>
        <p:spPr>
          <a:xfrm>
            <a:off x="322688" y="6438702"/>
            <a:ext cx="1116306" cy="238266"/>
          </a:xfrm>
          <a:prstGeom prst="rect">
            <a:avLst/>
          </a:prstGeom>
          <a:solidFill>
            <a:schemeClr val="accent2"/>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00" dirty="0">
                <a:solidFill>
                  <a:schemeClr val="bg1"/>
                </a:solidFill>
              </a:rPr>
              <a:t>ITD</a:t>
            </a:r>
          </a:p>
        </p:txBody>
      </p:sp>
      <p:sp>
        <p:nvSpPr>
          <p:cNvPr id="18" name="Rectangle 17"/>
          <p:cNvSpPr/>
          <p:nvPr/>
        </p:nvSpPr>
        <p:spPr>
          <a:xfrm>
            <a:off x="1428834" y="6438702"/>
            <a:ext cx="1116306" cy="238266"/>
          </a:xfrm>
          <a:prstGeom prst="rect">
            <a:avLst/>
          </a:prstGeom>
          <a:solidFill>
            <a:schemeClr val="accent4">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00" dirty="0">
                <a:solidFill>
                  <a:schemeClr val="bg1"/>
                </a:solidFill>
              </a:rPr>
              <a:t>Comparable IT</a:t>
            </a:r>
          </a:p>
        </p:txBody>
      </p:sp>
      <p:grpSp>
        <p:nvGrpSpPr>
          <p:cNvPr id="19" name="Group 18"/>
          <p:cNvGrpSpPr/>
          <p:nvPr/>
        </p:nvGrpSpPr>
        <p:grpSpPr>
          <a:xfrm>
            <a:off x="1025049" y="1551288"/>
            <a:ext cx="3468087" cy="281175"/>
            <a:chOff x="961673" y="824447"/>
            <a:chExt cx="8705405" cy="879330"/>
          </a:xfrm>
        </p:grpSpPr>
        <p:grpSp>
          <p:nvGrpSpPr>
            <p:cNvPr id="20" name="Group 19"/>
            <p:cNvGrpSpPr/>
            <p:nvPr/>
          </p:nvGrpSpPr>
          <p:grpSpPr>
            <a:xfrm>
              <a:off x="3144419" y="824447"/>
              <a:ext cx="6522659" cy="879330"/>
              <a:chOff x="1526678" y="1819657"/>
              <a:chExt cx="4450854" cy="702766"/>
            </a:xfrm>
            <a:solidFill>
              <a:schemeClr val="accent2"/>
            </a:solidFill>
          </p:grpSpPr>
          <p:sp>
            <p:nvSpPr>
              <p:cNvPr id="23" name="Freeform 22"/>
              <p:cNvSpPr/>
              <p:nvPr/>
            </p:nvSpPr>
            <p:spPr>
              <a:xfrm>
                <a:off x="1526678"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a:ea typeface="+mn-ea"/>
                    <a:cs typeface="+mn-cs"/>
                  </a:rPr>
                  <a:t>Build</a:t>
                </a:r>
              </a:p>
            </p:txBody>
          </p:sp>
          <p:sp>
            <p:nvSpPr>
              <p:cNvPr id="24" name="Freeform 23"/>
              <p:cNvSpPr/>
              <p:nvPr/>
            </p:nvSpPr>
            <p:spPr>
              <a:xfrm>
                <a:off x="2815083" y="2025802"/>
                <a:ext cx="248310" cy="29047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Calibri"/>
                  <a:ea typeface="+mn-ea"/>
                  <a:cs typeface="+mn-cs"/>
                </a:endParaRPr>
              </a:p>
            </p:txBody>
          </p:sp>
          <p:sp>
            <p:nvSpPr>
              <p:cNvPr id="25" name="Freeform 24"/>
              <p:cNvSpPr/>
              <p:nvPr/>
            </p:nvSpPr>
            <p:spPr>
              <a:xfrm>
                <a:off x="3166467"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4"/>
              </a:solid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a:ea typeface="+mn-ea"/>
                    <a:cs typeface="+mn-cs"/>
                  </a:rPr>
                  <a:t>Deliver</a:t>
                </a:r>
              </a:p>
            </p:txBody>
          </p:sp>
          <p:sp>
            <p:nvSpPr>
              <p:cNvPr id="26" name="Freeform 25"/>
              <p:cNvSpPr/>
              <p:nvPr/>
            </p:nvSpPr>
            <p:spPr>
              <a:xfrm>
                <a:off x="4454872" y="2025802"/>
                <a:ext cx="248310" cy="29047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Calibri"/>
                  <a:ea typeface="+mn-ea"/>
                  <a:cs typeface="+mn-cs"/>
                </a:endParaRPr>
              </a:p>
            </p:txBody>
          </p:sp>
          <p:sp>
            <p:nvSpPr>
              <p:cNvPr id="27" name="Freeform 26"/>
              <p:cNvSpPr/>
              <p:nvPr/>
            </p:nvSpPr>
            <p:spPr>
              <a:xfrm>
                <a:off x="4806255"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4"/>
              </a:solid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lang="en-US" sz="1100" kern="0" dirty="0">
                    <a:solidFill>
                      <a:prstClr val="white"/>
                    </a:solidFill>
                    <a:latin typeface="Calibri"/>
                  </a:rPr>
                  <a:t>Run</a:t>
                </a:r>
                <a:endParaRPr kumimoji="0" lang="en-US" sz="1100" b="0" i="0" u="none" strike="noStrike" kern="0" cap="none" spc="0" normalizeH="0" baseline="0" noProof="0" dirty="0">
                  <a:ln>
                    <a:noFill/>
                  </a:ln>
                  <a:solidFill>
                    <a:prstClr val="white"/>
                  </a:solidFill>
                  <a:effectLst/>
                  <a:uLnTx/>
                  <a:uFillTx/>
                  <a:latin typeface="Calibri"/>
                </a:endParaRPr>
              </a:p>
            </p:txBody>
          </p:sp>
        </p:grpSp>
        <p:sp>
          <p:nvSpPr>
            <p:cNvPr id="21" name="Freeform 20"/>
            <p:cNvSpPr/>
            <p:nvPr/>
          </p:nvSpPr>
          <p:spPr>
            <a:xfrm>
              <a:off x="961673" y="824447"/>
              <a:ext cx="1454299" cy="879330"/>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2"/>
            </a:solidFill>
            <a:ln w="25400" cap="flat" cmpd="sng" algn="ctr">
              <a:solidFill>
                <a:sysClr val="window" lastClr="FFFFFF">
                  <a:hueOff val="0"/>
                  <a:satOff val="0"/>
                  <a:lumOff val="0"/>
                  <a:alphaOff val="0"/>
                </a:sysClr>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a:ea typeface="+mn-ea"/>
                  <a:cs typeface="+mn-cs"/>
                </a:rPr>
                <a:t>Plan</a:t>
              </a:r>
            </a:p>
          </p:txBody>
        </p:sp>
        <p:sp>
          <p:nvSpPr>
            <p:cNvPr id="22" name="Freeform 21"/>
            <p:cNvSpPr/>
            <p:nvPr/>
          </p:nvSpPr>
          <p:spPr>
            <a:xfrm>
              <a:off x="2581303" y="1091345"/>
              <a:ext cx="308311" cy="36345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a:ln w="25400" cap="flat" cmpd="sng" algn="ctr">
              <a:solidFill>
                <a:sysClr val="window" lastClr="FFFFFF">
                  <a:hueOff val="0"/>
                  <a:satOff val="0"/>
                  <a:lumOff val="0"/>
                  <a:alphaOff val="0"/>
                </a:sysClr>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2" name="Group 1"/>
          <p:cNvGrpSpPr/>
          <p:nvPr/>
        </p:nvGrpSpPr>
        <p:grpSpPr>
          <a:xfrm>
            <a:off x="1018492" y="1378884"/>
            <a:ext cx="3414337" cy="98019"/>
            <a:chOff x="1308562" y="1772394"/>
            <a:chExt cx="8805256" cy="98019"/>
          </a:xfrm>
        </p:grpSpPr>
        <p:cxnSp>
          <p:nvCxnSpPr>
            <p:cNvPr id="28" name="Straight Connector 27"/>
            <p:cNvCxnSpPr/>
            <p:nvPr/>
          </p:nvCxnSpPr>
          <p:spPr>
            <a:xfrm flipV="1">
              <a:off x="1308562" y="1850045"/>
              <a:ext cx="8805256" cy="20368"/>
            </a:xfrm>
            <a:prstGeom prst="line">
              <a:avLst/>
            </a:prstGeom>
            <a:ln>
              <a:solidFill>
                <a:schemeClr val="accent4"/>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569928" y="1772394"/>
              <a:ext cx="4205173" cy="91570"/>
            </a:xfrm>
            <a:prstGeom prst="rect">
              <a:avLst/>
            </a:prstGeom>
            <a:noFill/>
          </p:spPr>
          <p:txBody>
            <a:bodyPr wrap="square" lIns="0" tIns="0" rIns="0" bIns="0" rtlCol="0" anchor="b">
              <a:noAutofit/>
            </a:bodyPr>
            <a:lstStyle/>
            <a:p>
              <a:pPr algn="ctr">
                <a:spcBef>
                  <a:spcPts val="800"/>
                </a:spcBef>
              </a:pPr>
              <a:r>
                <a:rPr lang="en-US" sz="900" b="1" i="1" dirty="0">
                  <a:solidFill>
                    <a:schemeClr val="accent4"/>
                  </a:solidFill>
                </a:rPr>
                <a:t>IT Function Value Chain</a:t>
              </a:r>
            </a:p>
          </p:txBody>
        </p:sp>
      </p:grpSp>
      <p:sp>
        <p:nvSpPr>
          <p:cNvPr id="6" name="TextBox 5"/>
          <p:cNvSpPr txBox="1"/>
          <p:nvPr/>
        </p:nvSpPr>
        <p:spPr>
          <a:xfrm>
            <a:off x="5516396" y="2178809"/>
            <a:ext cx="6203740" cy="1807382"/>
          </a:xfrm>
          <a:prstGeom prst="rect">
            <a:avLst/>
          </a:prstGeom>
          <a:noFill/>
          <a:ln>
            <a:noFill/>
          </a:ln>
        </p:spPr>
        <p:txBody>
          <a:bodyPr wrap="square" lIns="0" tIns="0" rIns="0" bIns="0" rtlCol="0">
            <a:noAutofit/>
          </a:bodyPr>
          <a:lstStyle/>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Missing key technology governance, planning and sourcing functions and capabilities</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Enterprise Architecture (EA) and function is non-existent </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Weak application of vendor management and sourcing</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The business relationship and delivery process is not formalized nor structured</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The budgets (CAPEX &amp; OPEX) are allocated at high level and lack of formal monitoring the spending </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Little or missing view of resource utilization and effectiveness</a:t>
            </a:r>
          </a:p>
        </p:txBody>
      </p:sp>
      <p:sp>
        <p:nvSpPr>
          <p:cNvPr id="7" name="Rectangle 6"/>
          <p:cNvSpPr/>
          <p:nvPr/>
        </p:nvSpPr>
        <p:spPr>
          <a:xfrm>
            <a:off x="7159350" y="1503716"/>
            <a:ext cx="2758191" cy="276999"/>
          </a:xfrm>
          <a:prstGeom prst="rect">
            <a:avLst/>
          </a:prstGeom>
        </p:spPr>
        <p:txBody>
          <a:bodyPr wrap="none">
            <a:spAutoFit/>
          </a:bodyPr>
          <a:lstStyle/>
          <a:p>
            <a:pPr algn="ctr"/>
            <a:r>
              <a:rPr lang="en-US" sz="1200" b="1" dirty="0">
                <a:solidFill>
                  <a:schemeClr val="accent4"/>
                </a:solidFill>
              </a:rPr>
              <a:t>Description of Assessment Results</a:t>
            </a:r>
          </a:p>
        </p:txBody>
      </p:sp>
      <p:sp>
        <p:nvSpPr>
          <p:cNvPr id="34" name="TextBox 33"/>
          <p:cNvSpPr txBox="1"/>
          <p:nvPr/>
        </p:nvSpPr>
        <p:spPr>
          <a:xfrm>
            <a:off x="5516396" y="4414683"/>
            <a:ext cx="5963920" cy="1875080"/>
          </a:xfrm>
          <a:prstGeom prst="rect">
            <a:avLst/>
          </a:prstGeom>
          <a:noFill/>
          <a:ln>
            <a:noFill/>
          </a:ln>
        </p:spPr>
        <p:txBody>
          <a:bodyPr wrap="square" lIns="0" tIns="0" rIns="0" bIns="0" rtlCol="0">
            <a:noAutofit/>
          </a:bodyPr>
          <a:lstStyle/>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Projects are taking place on an </a:t>
            </a:r>
            <a:r>
              <a:rPr lang="en-US" sz="1300" kern="0" dirty="0" err="1">
                <a:solidFill>
                  <a:schemeClr val="tx1">
                    <a:lumMod val="75000"/>
                    <a:lumOff val="25000"/>
                  </a:schemeClr>
                </a:solidFill>
                <a:latin typeface="Arial (Body)"/>
              </a:rPr>
              <a:t>adhoc</a:t>
            </a:r>
            <a:r>
              <a:rPr lang="en-US" sz="1300" kern="0" dirty="0">
                <a:solidFill>
                  <a:schemeClr val="tx1">
                    <a:lumMod val="75000"/>
                    <a:lumOff val="25000"/>
                  </a:schemeClr>
                </a:solidFill>
                <a:latin typeface="Arial (Body)"/>
              </a:rPr>
              <a:t> basis with little or no context to business prioritization and relevance</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Business analysis and requirements gathering is not a structured part of the IT project lifecycle</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Solution design does not follow a standardized process</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Solution development is undertaken by multiple vendors on a need based approach </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Knowledge management and function is non existent</a:t>
            </a:r>
          </a:p>
          <a:p>
            <a:pPr marL="285750" indent="-285750">
              <a:buFont typeface="Wingdings" panose="05000000000000000000" pitchFamily="2" charset="2"/>
              <a:buChar char="§"/>
            </a:pPr>
            <a:r>
              <a:rPr lang="en-US" sz="1300" kern="0" dirty="0">
                <a:solidFill>
                  <a:schemeClr val="tx1">
                    <a:lumMod val="75000"/>
                    <a:lumOff val="25000"/>
                  </a:schemeClr>
                </a:solidFill>
                <a:latin typeface="Arial (Body)"/>
              </a:rPr>
              <a:t>PMO function recently established and is not acting in full capacity of PMO</a:t>
            </a:r>
          </a:p>
        </p:txBody>
      </p:sp>
      <p:cxnSp>
        <p:nvCxnSpPr>
          <p:cNvPr id="9" name="Straight Connector 8"/>
          <p:cNvCxnSpPr/>
          <p:nvPr/>
        </p:nvCxnSpPr>
        <p:spPr>
          <a:xfrm>
            <a:off x="5658113" y="4364732"/>
            <a:ext cx="5547875"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7" name="Chart 36"/>
          <p:cNvGraphicFramePr/>
          <p:nvPr>
            <p:extLst>
              <p:ext uri="{D42A27DB-BD31-4B8C-83A1-F6EECF244321}">
                <p14:modId xmlns:p14="http://schemas.microsoft.com/office/powerpoint/2010/main" val="428173119"/>
              </p:ext>
            </p:extLst>
          </p:nvPr>
        </p:nvGraphicFramePr>
        <p:xfrm>
          <a:off x="272499" y="4408632"/>
          <a:ext cx="5081114" cy="197245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43602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effectiveness review assessment</a:t>
            </a:r>
          </a:p>
        </p:txBody>
      </p:sp>
      <p:graphicFrame>
        <p:nvGraphicFramePr>
          <p:cNvPr id="48" name="Chart 47"/>
          <p:cNvGraphicFramePr/>
          <p:nvPr>
            <p:extLst>
              <p:ext uri="{D42A27DB-BD31-4B8C-83A1-F6EECF244321}">
                <p14:modId xmlns:p14="http://schemas.microsoft.com/office/powerpoint/2010/main" val="2232998483"/>
              </p:ext>
            </p:extLst>
          </p:nvPr>
        </p:nvGraphicFramePr>
        <p:xfrm>
          <a:off x="322688" y="4204625"/>
          <a:ext cx="5081114" cy="219099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64857686"/>
              </p:ext>
            </p:extLst>
          </p:nvPr>
        </p:nvGraphicFramePr>
        <p:xfrm>
          <a:off x="2495617" y="3845046"/>
          <a:ext cx="2795778" cy="228600"/>
        </p:xfrm>
        <a:graphic>
          <a:graphicData uri="http://schemas.openxmlformats.org/drawingml/2006/table">
            <a:tbl>
              <a:tblPr firstRow="1" bandRow="1"/>
              <a:tblGrid>
                <a:gridCol w="931926">
                  <a:extLst>
                    <a:ext uri="{9D8B030D-6E8A-4147-A177-3AD203B41FA5}">
                      <a16:colId xmlns:a16="http://schemas.microsoft.com/office/drawing/2014/main" val="20000"/>
                    </a:ext>
                  </a:extLst>
                </a:gridCol>
                <a:gridCol w="931926">
                  <a:extLst>
                    <a:ext uri="{9D8B030D-6E8A-4147-A177-3AD203B41FA5}">
                      <a16:colId xmlns:a16="http://schemas.microsoft.com/office/drawing/2014/main" val="20001"/>
                    </a:ext>
                  </a:extLst>
                </a:gridCol>
                <a:gridCol w="931926">
                  <a:extLst>
                    <a:ext uri="{9D8B030D-6E8A-4147-A177-3AD203B41FA5}">
                      <a16:colId xmlns:a16="http://schemas.microsoft.com/office/drawing/2014/main" val="20002"/>
                    </a:ext>
                  </a:extLst>
                </a:gridCol>
              </a:tblGrid>
              <a:tr h="206478">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accent4"/>
                          </a:solidFill>
                        </a:rPr>
                        <a:t>Foundational</a:t>
                      </a:r>
                    </a:p>
                  </a:txBody>
                  <a:tcPr anchor="ctr">
                    <a:lnL w="9525" cap="flat" cmpd="sng" algn="ctr">
                      <a:noFill/>
                      <a:prstDash val="solid"/>
                    </a:lnL>
                    <a:lnR>
                      <a:noFill/>
                    </a:lnR>
                    <a:lnT w="9525" cap="flat" cmpd="sng" algn="ctr">
                      <a:noFill/>
                      <a:prstDash val="soli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Dynamic</a:t>
                      </a:r>
                    </a:p>
                  </a:txBody>
                  <a:tcPr anchor="ctr">
                    <a:lnL>
                      <a:noFill/>
                    </a:lnL>
                    <a:lnR>
                      <a:noFill/>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Proactive</a:t>
                      </a:r>
                    </a:p>
                  </a:txBody>
                  <a:tcPr anchor="ctr">
                    <a:lnL>
                      <a:noFill/>
                    </a:lnL>
                    <a:lnR w="9525" cap="flat" cmpd="sng" algn="ctr">
                      <a:noFill/>
                      <a:prstDash val="solid"/>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1026359791"/>
              </p:ext>
            </p:extLst>
          </p:nvPr>
        </p:nvGraphicFramePr>
        <p:xfrm>
          <a:off x="2495617" y="6064309"/>
          <a:ext cx="2795778" cy="228600"/>
        </p:xfrm>
        <a:graphic>
          <a:graphicData uri="http://schemas.openxmlformats.org/drawingml/2006/table">
            <a:tbl>
              <a:tblPr firstRow="1" bandRow="1"/>
              <a:tblGrid>
                <a:gridCol w="931926">
                  <a:extLst>
                    <a:ext uri="{9D8B030D-6E8A-4147-A177-3AD203B41FA5}">
                      <a16:colId xmlns:a16="http://schemas.microsoft.com/office/drawing/2014/main" val="20000"/>
                    </a:ext>
                  </a:extLst>
                </a:gridCol>
                <a:gridCol w="931926">
                  <a:extLst>
                    <a:ext uri="{9D8B030D-6E8A-4147-A177-3AD203B41FA5}">
                      <a16:colId xmlns:a16="http://schemas.microsoft.com/office/drawing/2014/main" val="20001"/>
                    </a:ext>
                  </a:extLst>
                </a:gridCol>
                <a:gridCol w="931926">
                  <a:extLst>
                    <a:ext uri="{9D8B030D-6E8A-4147-A177-3AD203B41FA5}">
                      <a16:colId xmlns:a16="http://schemas.microsoft.com/office/drawing/2014/main" val="20002"/>
                    </a:ext>
                  </a:extLst>
                </a:gridCol>
              </a:tblGrid>
              <a:tr h="206478">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accent4"/>
                          </a:solidFill>
                        </a:rPr>
                        <a:t>Foundational</a:t>
                      </a:r>
                    </a:p>
                  </a:txBody>
                  <a:tcPr anchor="ctr">
                    <a:lnL w="9525" cap="flat" cmpd="sng" algn="ctr">
                      <a:noFill/>
                      <a:prstDash val="solid"/>
                    </a:lnL>
                    <a:lnR>
                      <a:noFill/>
                    </a:lnR>
                    <a:lnT w="9525" cap="flat" cmpd="sng" algn="ctr">
                      <a:noFill/>
                      <a:prstDash val="solid"/>
                    </a:lnT>
                    <a:lnB w="28575" cap="flat" cmpd="sng" algn="ctr">
                      <a:solidFill>
                        <a:srgbClr val="FFFFFF">
                          <a:lumMod val="95000"/>
                        </a:srgbClr>
                      </a:solidFill>
                      <a:prstDash val="solid"/>
                      <a:round/>
                      <a:headEnd type="none" w="med" len="med"/>
                      <a:tailEnd type="none" w="med" len="med"/>
                    </a:lnB>
                    <a:lnTlToBr w="12700" cmpd="sng">
                      <a:noFill/>
                      <a:prstDash val="solid"/>
                    </a:lnTlToBr>
                    <a:lnBlToTr w="12700" cmpd="sng">
                      <a:noFill/>
                      <a:prstDash val="solid"/>
                    </a:lnBlToTr>
                    <a:solidFill>
                      <a:srgbClr val="646464">
                        <a:lumMod val="20000"/>
                        <a:lumOff val="80000"/>
                      </a:srgbClr>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Dynamic</a:t>
                      </a:r>
                    </a:p>
                  </a:txBody>
                  <a:tcPr anchor="ctr">
                    <a:lnL>
                      <a:noFill/>
                    </a:lnL>
                    <a:lnR>
                      <a:noFill/>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b="1" kern="1200">
                          <a:solidFill>
                            <a:schemeClr val="bg1"/>
                          </a:solidFill>
                          <a:latin typeface="EYInterstate"/>
                        </a:defRPr>
                      </a:lvl1pPr>
                      <a:lvl2pPr marL="457200" algn="l" defTabSz="914400" rtl="0" eaLnBrk="1" latinLnBrk="0" hangingPunct="1">
                        <a:defRPr sz="1800" b="1" kern="1200">
                          <a:solidFill>
                            <a:schemeClr val="bg1"/>
                          </a:solidFill>
                          <a:latin typeface="EYInterstate"/>
                        </a:defRPr>
                      </a:lvl2pPr>
                      <a:lvl3pPr marL="914400" algn="l" defTabSz="914400" rtl="0" eaLnBrk="1" latinLnBrk="0" hangingPunct="1">
                        <a:defRPr sz="1800" b="1" kern="1200">
                          <a:solidFill>
                            <a:schemeClr val="bg1"/>
                          </a:solidFill>
                          <a:latin typeface="EYInterstate"/>
                        </a:defRPr>
                      </a:lvl3pPr>
                      <a:lvl4pPr marL="1371600" algn="l" defTabSz="914400" rtl="0" eaLnBrk="1" latinLnBrk="0" hangingPunct="1">
                        <a:defRPr sz="1800" b="1" kern="1200">
                          <a:solidFill>
                            <a:schemeClr val="bg1"/>
                          </a:solidFill>
                          <a:latin typeface="EYInterstate"/>
                        </a:defRPr>
                      </a:lvl4pPr>
                      <a:lvl5pPr marL="1828800" algn="l" defTabSz="914400" rtl="0" eaLnBrk="1" latinLnBrk="0" hangingPunct="1">
                        <a:defRPr sz="1800" b="1" kern="1200">
                          <a:solidFill>
                            <a:schemeClr val="bg1"/>
                          </a:solidFill>
                          <a:latin typeface="EYInterstate"/>
                        </a:defRPr>
                      </a:lvl5pPr>
                      <a:lvl6pPr marL="2286000" algn="l" defTabSz="914400" rtl="0" eaLnBrk="1" latinLnBrk="0" hangingPunct="1">
                        <a:defRPr sz="1800" b="1" kern="1200">
                          <a:solidFill>
                            <a:schemeClr val="bg1"/>
                          </a:solidFill>
                          <a:latin typeface="EYInterstate"/>
                        </a:defRPr>
                      </a:lvl6pPr>
                      <a:lvl7pPr marL="2743200" algn="l" defTabSz="914400" rtl="0" eaLnBrk="1" latinLnBrk="0" hangingPunct="1">
                        <a:defRPr sz="1800" b="1" kern="1200">
                          <a:solidFill>
                            <a:schemeClr val="bg1"/>
                          </a:solidFill>
                          <a:latin typeface="EYInterstate"/>
                        </a:defRPr>
                      </a:lvl7pPr>
                      <a:lvl8pPr marL="3200400" algn="l" defTabSz="914400" rtl="0" eaLnBrk="1" latinLnBrk="0" hangingPunct="1">
                        <a:defRPr sz="1800" b="1" kern="1200">
                          <a:solidFill>
                            <a:schemeClr val="bg1"/>
                          </a:solidFill>
                          <a:latin typeface="EYInterstate"/>
                        </a:defRPr>
                      </a:lvl8pPr>
                      <a:lvl9pPr marL="3657600" algn="l" defTabSz="914400" rtl="0" eaLnBrk="1" latinLnBrk="0" hangingPunct="1">
                        <a:defRPr sz="1800" b="1" kern="1200">
                          <a:solidFill>
                            <a:schemeClr val="bg1"/>
                          </a:solidFill>
                          <a:latin typeface="EYInterstate"/>
                        </a:defRPr>
                      </a:lvl9pPr>
                    </a:lstStyle>
                    <a:p>
                      <a:r>
                        <a:rPr lang="en-US" sz="900" dirty="0">
                          <a:solidFill>
                            <a:schemeClr val="bg1"/>
                          </a:solidFill>
                        </a:rPr>
                        <a:t>Proactive</a:t>
                      </a:r>
                    </a:p>
                  </a:txBody>
                  <a:tcPr anchor="ctr">
                    <a:lnL>
                      <a:noFill/>
                    </a:lnL>
                    <a:lnR w="9525" cap="flat" cmpd="sng" algn="ctr">
                      <a:noFill/>
                      <a:prstDash val="solid"/>
                    </a:lnR>
                    <a:lnT w="9525" cap="flat" cmpd="sng" algn="ctr">
                      <a:noFill/>
                      <a:prstDash val="soli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bl>
          </a:graphicData>
        </a:graphic>
      </p:graphicFrame>
      <p:sp>
        <p:nvSpPr>
          <p:cNvPr id="54" name="Rectangle 53"/>
          <p:cNvSpPr/>
          <p:nvPr/>
        </p:nvSpPr>
        <p:spPr>
          <a:xfrm>
            <a:off x="322688" y="6438702"/>
            <a:ext cx="1116306" cy="238266"/>
          </a:xfrm>
          <a:prstGeom prst="rect">
            <a:avLst/>
          </a:prstGeom>
          <a:solidFill>
            <a:schemeClr val="accent2"/>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00" dirty="0">
                <a:solidFill>
                  <a:schemeClr val="bg1"/>
                </a:solidFill>
              </a:rPr>
              <a:t>ITD</a:t>
            </a:r>
          </a:p>
        </p:txBody>
      </p:sp>
      <p:sp>
        <p:nvSpPr>
          <p:cNvPr id="56" name="Rectangle 55"/>
          <p:cNvSpPr/>
          <p:nvPr/>
        </p:nvSpPr>
        <p:spPr>
          <a:xfrm>
            <a:off x="1428834" y="6438702"/>
            <a:ext cx="1116306" cy="238266"/>
          </a:xfrm>
          <a:prstGeom prst="rect">
            <a:avLst/>
          </a:prstGeom>
          <a:solidFill>
            <a:schemeClr val="accent4">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00" dirty="0">
                <a:solidFill>
                  <a:schemeClr val="bg1"/>
                </a:solidFill>
              </a:rPr>
              <a:t>Comparable IT</a:t>
            </a:r>
          </a:p>
        </p:txBody>
      </p:sp>
      <p:sp>
        <p:nvSpPr>
          <p:cNvPr id="44" name="Rectangle 43"/>
          <p:cNvSpPr/>
          <p:nvPr/>
        </p:nvSpPr>
        <p:spPr>
          <a:xfrm>
            <a:off x="517048" y="726276"/>
            <a:ext cx="3685689" cy="369332"/>
          </a:xfrm>
          <a:prstGeom prst="rect">
            <a:avLst/>
          </a:prstGeom>
        </p:spPr>
        <p:txBody>
          <a:bodyPr wrap="none">
            <a:spAutoFit/>
          </a:bodyPr>
          <a:lstStyle/>
          <a:p>
            <a:r>
              <a:rPr lang="en-US" b="1" dirty="0">
                <a:solidFill>
                  <a:schemeClr val="accent5">
                    <a:lumMod val="50000"/>
                  </a:schemeClr>
                </a:solidFill>
              </a:rPr>
              <a:t>Value Chain Current State (2/2)</a:t>
            </a:r>
          </a:p>
        </p:txBody>
      </p:sp>
      <p:grpSp>
        <p:nvGrpSpPr>
          <p:cNvPr id="45" name="Group 44"/>
          <p:cNvGrpSpPr/>
          <p:nvPr/>
        </p:nvGrpSpPr>
        <p:grpSpPr>
          <a:xfrm>
            <a:off x="1018492" y="1578838"/>
            <a:ext cx="3468087" cy="281175"/>
            <a:chOff x="961673" y="824447"/>
            <a:chExt cx="8705405" cy="879330"/>
          </a:xfrm>
        </p:grpSpPr>
        <p:grpSp>
          <p:nvGrpSpPr>
            <p:cNvPr id="46" name="Group 45"/>
            <p:cNvGrpSpPr/>
            <p:nvPr/>
          </p:nvGrpSpPr>
          <p:grpSpPr>
            <a:xfrm>
              <a:off x="3144419" y="824447"/>
              <a:ext cx="6522659" cy="879330"/>
              <a:chOff x="1526678" y="1819657"/>
              <a:chExt cx="4450854" cy="702766"/>
            </a:xfrm>
            <a:solidFill>
              <a:schemeClr val="accent2"/>
            </a:solidFill>
          </p:grpSpPr>
          <p:sp>
            <p:nvSpPr>
              <p:cNvPr id="55" name="Freeform 54"/>
              <p:cNvSpPr/>
              <p:nvPr/>
            </p:nvSpPr>
            <p:spPr>
              <a:xfrm>
                <a:off x="1526678"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4"/>
              </a:solid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a:ea typeface="+mn-ea"/>
                    <a:cs typeface="+mn-cs"/>
                  </a:rPr>
                  <a:t>Build</a:t>
                </a:r>
              </a:p>
            </p:txBody>
          </p:sp>
          <p:sp>
            <p:nvSpPr>
              <p:cNvPr id="57" name="Freeform 56"/>
              <p:cNvSpPr/>
              <p:nvPr/>
            </p:nvSpPr>
            <p:spPr>
              <a:xfrm>
                <a:off x="2815083" y="2025802"/>
                <a:ext cx="248310" cy="29047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Calibri"/>
                  <a:ea typeface="+mn-ea"/>
                  <a:cs typeface="+mn-cs"/>
                </a:endParaRPr>
              </a:p>
            </p:txBody>
          </p:sp>
          <p:sp>
            <p:nvSpPr>
              <p:cNvPr id="58" name="Freeform 57"/>
              <p:cNvSpPr/>
              <p:nvPr/>
            </p:nvSpPr>
            <p:spPr>
              <a:xfrm>
                <a:off x="3166467"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2"/>
              </a:solid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a:ea typeface="+mn-ea"/>
                    <a:cs typeface="+mn-cs"/>
                  </a:rPr>
                  <a:t>Deliver</a:t>
                </a:r>
              </a:p>
            </p:txBody>
          </p:sp>
          <p:sp>
            <p:nvSpPr>
              <p:cNvPr id="59" name="Freeform 58"/>
              <p:cNvSpPr/>
              <p:nvPr/>
            </p:nvSpPr>
            <p:spPr>
              <a:xfrm>
                <a:off x="4454872" y="2025802"/>
                <a:ext cx="248310" cy="29047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grp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Calibri"/>
                  <a:ea typeface="+mn-ea"/>
                  <a:cs typeface="+mn-cs"/>
                </a:endParaRPr>
              </a:p>
            </p:txBody>
          </p:sp>
          <p:sp>
            <p:nvSpPr>
              <p:cNvPr id="60" name="Freeform 59"/>
              <p:cNvSpPr/>
              <p:nvPr/>
            </p:nvSpPr>
            <p:spPr>
              <a:xfrm>
                <a:off x="4806255" y="1819657"/>
                <a:ext cx="1171277" cy="702766"/>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2"/>
              </a:solidFill>
              <a:ln w="25400" cap="flat" cmpd="sng" algn="ctr">
                <a:solidFill>
                  <a:sysClr val="window" lastClr="FFFFFF">
                    <a:hueOff val="0"/>
                    <a:satOff val="0"/>
                    <a:lumOff val="0"/>
                    <a:alphaOff val="0"/>
                  </a:sysClr>
                </a:solidFill>
                <a:prstDash val="solid"/>
              </a:ln>
              <a:effectLst/>
            </p:spPr>
            <p:txBody>
              <a:bodyPr spcFirstLastPara="0" vert="horz" wrap="square" lIns="89163" tIns="89163" rIns="89163" bIns="89163"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lang="en-US" sz="1100" kern="0" dirty="0">
                    <a:solidFill>
                      <a:prstClr val="white"/>
                    </a:solidFill>
                    <a:latin typeface="Calibri"/>
                  </a:rPr>
                  <a:t>Run</a:t>
                </a:r>
                <a:endParaRPr kumimoji="0" lang="en-US" sz="1100" b="0" i="0" u="none" strike="noStrike" kern="0" cap="none" spc="0" normalizeH="0" baseline="0" noProof="0" dirty="0">
                  <a:ln>
                    <a:noFill/>
                  </a:ln>
                  <a:solidFill>
                    <a:prstClr val="white"/>
                  </a:solidFill>
                  <a:effectLst/>
                  <a:uLnTx/>
                  <a:uFillTx/>
                  <a:latin typeface="Calibri"/>
                </a:endParaRPr>
              </a:p>
            </p:txBody>
          </p:sp>
        </p:grpSp>
        <p:sp>
          <p:nvSpPr>
            <p:cNvPr id="49" name="Freeform 48"/>
            <p:cNvSpPr/>
            <p:nvPr/>
          </p:nvSpPr>
          <p:spPr>
            <a:xfrm>
              <a:off x="961673" y="824447"/>
              <a:ext cx="1454299" cy="879330"/>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4"/>
            </a:solidFill>
            <a:ln w="25400" cap="flat" cmpd="sng" algn="ctr">
              <a:solidFill>
                <a:sysClr val="window" lastClr="FFFFFF">
                  <a:hueOff val="0"/>
                  <a:satOff val="0"/>
                  <a:lumOff val="0"/>
                  <a:alphaOff val="0"/>
                </a:sysClr>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a:ea typeface="+mn-ea"/>
                  <a:cs typeface="+mn-cs"/>
                </a:rPr>
                <a:t>Plan</a:t>
              </a:r>
            </a:p>
          </p:txBody>
        </p:sp>
        <p:sp>
          <p:nvSpPr>
            <p:cNvPr id="50" name="Freeform 49"/>
            <p:cNvSpPr/>
            <p:nvPr/>
          </p:nvSpPr>
          <p:spPr>
            <a:xfrm>
              <a:off x="2581303" y="1091345"/>
              <a:ext cx="308311" cy="363456"/>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a:ln w="25400" cap="flat" cmpd="sng" algn="ctr">
              <a:solidFill>
                <a:sysClr val="window" lastClr="FFFFFF">
                  <a:hueOff val="0"/>
                  <a:satOff val="0"/>
                  <a:lumOff val="0"/>
                  <a:alphaOff val="0"/>
                </a:sysClr>
              </a:solidFill>
              <a:prstDash val="solid"/>
            </a:ln>
            <a:effectLst/>
          </p:spPr>
          <p:txBody>
            <a:bodyPr spcFirstLastPara="0" vert="horz" wrap="square" lIns="0" tIns="0" rIns="0" bIns="0" numCol="1" spcCol="1270" anchor="ctr" anchorCtr="0">
              <a:noAutofit/>
            </a:bodyPr>
            <a:lstStyle/>
            <a:p>
              <a:pPr marL="0" marR="0" lvl="0" indent="0" algn="ctr" defTabSz="800100" eaLnBrk="1" fontAlgn="auto" latinLnBrk="0" hangingPunct="1">
                <a:lnSpc>
                  <a:spcPct val="90000"/>
                </a:lnSpc>
                <a:spcBef>
                  <a:spcPct val="0"/>
                </a:spcBef>
                <a:spcAft>
                  <a:spcPct val="350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61" name="Group 60"/>
          <p:cNvGrpSpPr/>
          <p:nvPr/>
        </p:nvGrpSpPr>
        <p:grpSpPr>
          <a:xfrm>
            <a:off x="1018492" y="1378884"/>
            <a:ext cx="3414337" cy="98019"/>
            <a:chOff x="1308562" y="1772394"/>
            <a:chExt cx="8805256" cy="98019"/>
          </a:xfrm>
        </p:grpSpPr>
        <p:cxnSp>
          <p:nvCxnSpPr>
            <p:cNvPr id="62" name="Straight Connector 61"/>
            <p:cNvCxnSpPr/>
            <p:nvPr/>
          </p:nvCxnSpPr>
          <p:spPr>
            <a:xfrm flipV="1">
              <a:off x="1308562" y="1850045"/>
              <a:ext cx="8805256" cy="20368"/>
            </a:xfrm>
            <a:prstGeom prst="line">
              <a:avLst/>
            </a:prstGeom>
            <a:ln>
              <a:solidFill>
                <a:schemeClr val="accent4"/>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3569928" y="1772394"/>
              <a:ext cx="4205173" cy="91570"/>
            </a:xfrm>
            <a:prstGeom prst="rect">
              <a:avLst/>
            </a:prstGeom>
            <a:noFill/>
          </p:spPr>
          <p:txBody>
            <a:bodyPr wrap="square" lIns="0" tIns="0" rIns="0" bIns="0" rtlCol="0" anchor="b">
              <a:noAutofit/>
            </a:bodyPr>
            <a:lstStyle/>
            <a:p>
              <a:pPr algn="ctr">
                <a:spcBef>
                  <a:spcPts val="800"/>
                </a:spcBef>
              </a:pPr>
              <a:r>
                <a:rPr lang="en-US" sz="900" b="1" i="1" dirty="0">
                  <a:solidFill>
                    <a:schemeClr val="accent4"/>
                  </a:solidFill>
                </a:rPr>
                <a:t>IT Function Value Chain</a:t>
              </a:r>
            </a:p>
          </p:txBody>
        </p:sp>
      </p:grpSp>
      <p:sp>
        <p:nvSpPr>
          <p:cNvPr id="64" name="TextBox 63"/>
          <p:cNvSpPr txBox="1"/>
          <p:nvPr/>
        </p:nvSpPr>
        <p:spPr>
          <a:xfrm>
            <a:off x="5516396" y="2339790"/>
            <a:ext cx="5963920" cy="1807382"/>
          </a:xfrm>
          <a:prstGeom prst="rect">
            <a:avLst/>
          </a:prstGeom>
          <a:noFill/>
          <a:ln>
            <a:noFill/>
          </a:ln>
        </p:spPr>
        <p:txBody>
          <a:bodyPr wrap="square" lIns="0" tIns="0" rIns="0" bIns="0" rtlCol="0">
            <a:noAutofit/>
          </a:bodyPr>
          <a:lstStyle/>
          <a:p>
            <a:pPr marL="285750" indent="-285750">
              <a:buFont typeface="Courier New" panose="02070309020205020404" pitchFamily="49" charset="0"/>
              <a:buChar char="o"/>
            </a:pPr>
            <a:r>
              <a:rPr lang="en-US" sz="1400" kern="0" dirty="0">
                <a:solidFill>
                  <a:schemeClr val="tx1">
                    <a:lumMod val="75000"/>
                    <a:lumOff val="25000"/>
                  </a:schemeClr>
                </a:solidFill>
              </a:rPr>
              <a:t>Applications management is ad-hoc and lacks continual improvement process</a:t>
            </a:r>
          </a:p>
          <a:p>
            <a:pPr marL="285750" indent="-285750">
              <a:buFont typeface="Courier New" panose="02070309020205020404" pitchFamily="49" charset="0"/>
              <a:buChar char="o"/>
            </a:pPr>
            <a:r>
              <a:rPr lang="en-US" sz="1400" kern="0" dirty="0">
                <a:solidFill>
                  <a:schemeClr val="tx1">
                    <a:lumMod val="75000"/>
                    <a:lumOff val="25000"/>
                  </a:schemeClr>
                </a:solidFill>
              </a:rPr>
              <a:t>Lack of monitoring and Identification end of life legacy systems and applications</a:t>
            </a:r>
          </a:p>
          <a:p>
            <a:pPr marL="285750" indent="-285750">
              <a:buFont typeface="Courier New" panose="02070309020205020404" pitchFamily="49" charset="0"/>
              <a:buChar char="o"/>
            </a:pPr>
            <a:r>
              <a:rPr lang="en-US" sz="1400" kern="0" dirty="0">
                <a:solidFill>
                  <a:schemeClr val="tx1">
                    <a:lumMod val="75000"/>
                    <a:lumOff val="25000"/>
                  </a:schemeClr>
                </a:solidFill>
              </a:rPr>
              <a:t>Majority of the business applications are supported directly by IT Staff</a:t>
            </a:r>
          </a:p>
          <a:p>
            <a:pPr marL="285750" indent="-285750">
              <a:buFont typeface="Courier New" panose="02070309020205020404" pitchFamily="49" charset="0"/>
              <a:buChar char="o"/>
            </a:pPr>
            <a:r>
              <a:rPr lang="en-US" sz="1400" kern="0" dirty="0">
                <a:solidFill>
                  <a:schemeClr val="tx1">
                    <a:lumMod val="75000"/>
                    <a:lumOff val="25000"/>
                  </a:schemeClr>
                </a:solidFill>
              </a:rPr>
              <a:t>Lack of segregation of duties between operations and projects development</a:t>
            </a:r>
          </a:p>
          <a:p>
            <a:pPr marL="285750" indent="-285750">
              <a:buFont typeface="Wingdings" panose="05000000000000000000" pitchFamily="2" charset="2"/>
              <a:buChar char="§"/>
            </a:pPr>
            <a:endParaRPr lang="en-US" sz="1400" dirty="0">
              <a:latin typeface="Arial (Body)"/>
            </a:endParaRPr>
          </a:p>
          <a:p>
            <a:pPr marL="285750" indent="-285750">
              <a:buFont typeface="Wingdings" panose="05000000000000000000" pitchFamily="2" charset="2"/>
              <a:buChar char="§"/>
            </a:pPr>
            <a:endParaRPr lang="en-US" sz="1400" dirty="0">
              <a:latin typeface="Arial (Body)"/>
            </a:endParaRPr>
          </a:p>
          <a:p>
            <a:pPr marL="285750" indent="-285750">
              <a:buFont typeface="Wingdings" panose="05000000000000000000" pitchFamily="2" charset="2"/>
              <a:buChar char="§"/>
            </a:pPr>
            <a:endParaRPr lang="en-US" sz="1400" dirty="0">
              <a:latin typeface="Arial (Body)"/>
            </a:endParaRPr>
          </a:p>
          <a:p>
            <a:pPr marL="285750" indent="-285750">
              <a:buFont typeface="Wingdings" panose="05000000000000000000" pitchFamily="2" charset="2"/>
              <a:buChar char="§"/>
            </a:pPr>
            <a:endParaRPr lang="en-US" sz="1400" dirty="0">
              <a:latin typeface="Arial (Body)"/>
            </a:endParaRPr>
          </a:p>
        </p:txBody>
      </p:sp>
      <p:sp>
        <p:nvSpPr>
          <p:cNvPr id="65" name="TextBox 64"/>
          <p:cNvSpPr txBox="1"/>
          <p:nvPr/>
        </p:nvSpPr>
        <p:spPr>
          <a:xfrm>
            <a:off x="5516396" y="4896382"/>
            <a:ext cx="5963920" cy="1167927"/>
          </a:xfrm>
          <a:prstGeom prst="rect">
            <a:avLst/>
          </a:prstGeom>
          <a:noFill/>
          <a:ln>
            <a:noFill/>
          </a:ln>
        </p:spPr>
        <p:txBody>
          <a:bodyPr wrap="square" lIns="0" tIns="0" rIns="0" bIns="0" rtlCol="0">
            <a:noAutofit/>
          </a:bodyPr>
          <a:lstStyle/>
          <a:p>
            <a:pPr marL="285750" indent="-285750">
              <a:buFont typeface="Courier New" panose="02070309020205020404" pitchFamily="49" charset="0"/>
              <a:buChar char="o"/>
            </a:pPr>
            <a:r>
              <a:rPr lang="en-US" sz="1400" kern="0" dirty="0">
                <a:solidFill>
                  <a:schemeClr val="tx1">
                    <a:lumMod val="75000"/>
                    <a:lumOff val="25000"/>
                  </a:schemeClr>
                </a:solidFill>
              </a:rPr>
              <a:t>Service Management lacks continual improvement process</a:t>
            </a:r>
          </a:p>
          <a:p>
            <a:pPr marL="285750" indent="-285750">
              <a:buFont typeface="Courier New" panose="02070309020205020404" pitchFamily="49" charset="0"/>
              <a:buChar char="o"/>
            </a:pPr>
            <a:r>
              <a:rPr lang="en-US" sz="1400" kern="0" dirty="0">
                <a:solidFill>
                  <a:schemeClr val="tx1">
                    <a:lumMod val="75000"/>
                    <a:lumOff val="25000"/>
                  </a:schemeClr>
                </a:solidFill>
              </a:rPr>
              <a:t>Service catalog is defined however needs to be refreshed </a:t>
            </a:r>
          </a:p>
          <a:p>
            <a:pPr marL="285750" indent="-285750">
              <a:buFont typeface="Courier New" panose="02070309020205020404" pitchFamily="49" charset="0"/>
              <a:buChar char="o"/>
            </a:pPr>
            <a:r>
              <a:rPr lang="en-US" sz="1400" kern="0" dirty="0">
                <a:solidFill>
                  <a:schemeClr val="tx1">
                    <a:lumMod val="75000"/>
                    <a:lumOff val="25000"/>
                  </a:schemeClr>
                </a:solidFill>
              </a:rPr>
              <a:t>Complex contract management for warranty and maintenance of technology components</a:t>
            </a:r>
          </a:p>
          <a:p>
            <a:pPr marL="285750" indent="-285750">
              <a:buFont typeface="Courier New" panose="02070309020205020404" pitchFamily="49" charset="0"/>
              <a:buChar char="o"/>
            </a:pPr>
            <a:r>
              <a:rPr lang="en-US" sz="1400" dirty="0">
                <a:latin typeface="Arial (Body)"/>
              </a:rPr>
              <a:t>Key vendor dependency </a:t>
            </a:r>
          </a:p>
          <a:p>
            <a:pPr marL="285750" indent="-285750">
              <a:buFont typeface="Courier New" panose="02070309020205020404" pitchFamily="49" charset="0"/>
              <a:buChar char="o"/>
            </a:pPr>
            <a:endParaRPr lang="en-US" sz="1400" kern="0" dirty="0">
              <a:solidFill>
                <a:schemeClr val="tx1">
                  <a:lumMod val="75000"/>
                  <a:lumOff val="25000"/>
                </a:schemeClr>
              </a:solidFill>
            </a:endParaRPr>
          </a:p>
          <a:p>
            <a:pPr marL="285750" indent="-285750">
              <a:buFont typeface="Courier New" panose="02070309020205020404" pitchFamily="49" charset="0"/>
              <a:buChar char="o"/>
            </a:pPr>
            <a:endParaRPr lang="en-US" sz="1400" kern="0" dirty="0">
              <a:solidFill>
                <a:schemeClr val="tx1">
                  <a:lumMod val="75000"/>
                  <a:lumOff val="25000"/>
                </a:schemeClr>
              </a:solidFill>
            </a:endParaRPr>
          </a:p>
        </p:txBody>
      </p:sp>
      <p:cxnSp>
        <p:nvCxnSpPr>
          <p:cNvPr id="66" name="Straight Connector 65"/>
          <p:cNvCxnSpPr/>
          <p:nvPr/>
        </p:nvCxnSpPr>
        <p:spPr>
          <a:xfrm>
            <a:off x="5658113" y="4364732"/>
            <a:ext cx="5547875"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7" name="Chart 66"/>
          <p:cNvGraphicFramePr/>
          <p:nvPr>
            <p:extLst>
              <p:ext uri="{D42A27DB-BD31-4B8C-83A1-F6EECF244321}">
                <p14:modId xmlns:p14="http://schemas.microsoft.com/office/powerpoint/2010/main" val="3028148092"/>
              </p:ext>
            </p:extLst>
          </p:nvPr>
        </p:nvGraphicFramePr>
        <p:xfrm>
          <a:off x="322690" y="2093558"/>
          <a:ext cx="5081112" cy="1980088"/>
        </p:xfrm>
        <a:graphic>
          <a:graphicData uri="http://schemas.openxmlformats.org/drawingml/2006/chart">
            <c:chart xmlns:c="http://schemas.openxmlformats.org/drawingml/2006/chart" xmlns:r="http://schemas.openxmlformats.org/officeDocument/2006/relationships" r:id="rId3"/>
          </a:graphicData>
        </a:graphic>
      </p:graphicFrame>
      <p:sp>
        <p:nvSpPr>
          <p:cNvPr id="68" name="Rectangle 67"/>
          <p:cNvSpPr/>
          <p:nvPr/>
        </p:nvSpPr>
        <p:spPr>
          <a:xfrm>
            <a:off x="7159350" y="1503716"/>
            <a:ext cx="2758191" cy="276999"/>
          </a:xfrm>
          <a:prstGeom prst="rect">
            <a:avLst/>
          </a:prstGeom>
        </p:spPr>
        <p:txBody>
          <a:bodyPr wrap="none">
            <a:spAutoFit/>
          </a:bodyPr>
          <a:lstStyle/>
          <a:p>
            <a:pPr algn="ctr"/>
            <a:r>
              <a:rPr lang="en-US" sz="1200" b="1" dirty="0">
                <a:solidFill>
                  <a:schemeClr val="accent4"/>
                </a:solidFill>
              </a:rPr>
              <a:t>Description of Assessment Results</a:t>
            </a:r>
          </a:p>
        </p:txBody>
      </p:sp>
    </p:spTree>
    <p:extLst>
      <p:ext uri="{BB962C8B-B14F-4D97-AF65-F5344CB8AC3E}">
        <p14:creationId xmlns:p14="http://schemas.microsoft.com/office/powerpoint/2010/main" val="2271366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p:cNvSpPr/>
          <p:nvPr/>
        </p:nvSpPr>
        <p:spPr>
          <a:xfrm>
            <a:off x="9402179" y="6573516"/>
            <a:ext cx="2794000" cy="355202"/>
          </a:xfrm>
          <a:prstGeom prst="rect">
            <a:avLst/>
          </a:prstGeom>
          <a:noFill/>
          <a:ln w="9525" cap="flat" cmpd="sng" algn="ctr">
            <a:noFill/>
            <a:prstDash val="solid"/>
          </a:ln>
          <a:effectLst/>
        </p:spPr>
        <p:txBody>
          <a:bodyPr lIns="72000" tIns="36000" rIns="72000" bIns="36000" numCol="1" rtlCol="0" anchor="t" anchorCtr="0"/>
          <a:lstStyle/>
          <a:p>
            <a:pPr>
              <a:lnSpc>
                <a:spcPts val="900"/>
              </a:lnSpc>
              <a:buClr>
                <a:schemeClr val="tx1"/>
              </a:buClr>
              <a:buSzPct val="70000"/>
              <a:defRPr/>
            </a:pPr>
            <a:r>
              <a:rPr lang="en-AU" sz="800" i="1" dirty="0">
                <a:solidFill>
                  <a:schemeClr val="tx1">
                    <a:lumMod val="50000"/>
                    <a:lumOff val="50000"/>
                  </a:schemeClr>
                </a:solidFill>
              </a:rPr>
              <a:t>*Benchmarks sources: Gartner IT Key Metrics Data – Government National and International Analysis </a:t>
            </a:r>
          </a:p>
          <a:p>
            <a:pPr>
              <a:lnSpc>
                <a:spcPts val="900"/>
              </a:lnSpc>
              <a:buClr>
                <a:schemeClr val="tx1"/>
              </a:buClr>
              <a:buSzPct val="70000"/>
              <a:defRPr/>
            </a:pPr>
            <a:endParaRPr lang="en-AU" sz="800" i="1" dirty="0">
              <a:solidFill>
                <a:schemeClr val="tx1">
                  <a:lumMod val="50000"/>
                  <a:lumOff val="50000"/>
                </a:schemeClr>
              </a:solidFill>
            </a:endParaRPr>
          </a:p>
        </p:txBody>
      </p:sp>
      <p:sp>
        <p:nvSpPr>
          <p:cNvPr id="90" name="Rounded Rectangular Callout 89"/>
          <p:cNvSpPr/>
          <p:nvPr/>
        </p:nvSpPr>
        <p:spPr>
          <a:xfrm>
            <a:off x="632028" y="1358887"/>
            <a:ext cx="5932155" cy="203834"/>
          </a:xfrm>
          <a:prstGeom prst="wedgeRoundRectCallout">
            <a:avLst>
              <a:gd name="adj1" fmla="val 29431"/>
              <a:gd name="adj2" fmla="val -47549"/>
              <a:gd name="adj3" fmla="val 16667"/>
            </a:avLst>
          </a:prstGeom>
          <a:solidFill>
            <a:schemeClr val="accent3"/>
          </a:solidFill>
          <a:ln w="9525" cap="flat" cmpd="sng" algn="ctr">
            <a:noFill/>
            <a:prstDash val="solid"/>
          </a:ln>
          <a:effectLst/>
        </p:spPr>
        <p:txBody>
          <a:bodyPr rtlCol="0" anchor="ctr" anchorCtr="0"/>
          <a:lstStyle/>
          <a:p>
            <a:pPr marL="0" marR="0" lvl="0" indent="0" algn="ctr" defTabSz="914400" eaLnBrk="1" fontAlgn="auto" latinLnBrk="0" hangingPunct="1">
              <a:lnSpc>
                <a:spcPct val="85000"/>
              </a:lnSpc>
              <a:spcBef>
                <a:spcPts val="0"/>
              </a:spcBef>
              <a:spcAft>
                <a:spcPts val="600"/>
              </a:spcAft>
              <a:buClr>
                <a:srgbClr val="808080"/>
              </a:buClr>
              <a:buSzPct val="70000"/>
              <a:buFontTx/>
              <a:buNone/>
              <a:tabLst/>
              <a:defRPr/>
            </a:pPr>
            <a:r>
              <a:rPr kumimoji="0" lang="en-AU" sz="1100" b="1" i="0" u="none" strike="noStrike" kern="0" cap="none" spc="0" normalizeH="0" baseline="0" noProof="0" dirty="0">
                <a:ln>
                  <a:noFill/>
                </a:ln>
                <a:solidFill>
                  <a:srgbClr val="FFFFFF"/>
                </a:solidFill>
                <a:effectLst/>
                <a:uLnTx/>
                <a:uFillTx/>
                <a:latin typeface="EYInterstate Light"/>
              </a:rPr>
              <a:t>Business users supported,</a:t>
            </a:r>
            <a:r>
              <a:rPr kumimoji="0" lang="en-AU" sz="1100" b="1" i="0" u="none" strike="noStrike" kern="0" cap="none" spc="0" normalizeH="0" noProof="0" dirty="0">
                <a:ln>
                  <a:noFill/>
                </a:ln>
                <a:solidFill>
                  <a:srgbClr val="FFFFFF"/>
                </a:solidFill>
                <a:effectLst/>
                <a:uLnTx/>
                <a:uFillTx/>
                <a:latin typeface="EYInterstate Light"/>
              </a:rPr>
              <a:t> </a:t>
            </a:r>
            <a:r>
              <a:rPr kumimoji="0" lang="en-AU" sz="1100" b="1" i="0" u="none" strike="noStrike" kern="0" cap="none" spc="0" normalizeH="0" baseline="0" noProof="0" dirty="0">
                <a:ln>
                  <a:noFill/>
                </a:ln>
                <a:solidFill>
                  <a:srgbClr val="FFFFFF"/>
                </a:solidFill>
                <a:effectLst/>
                <a:uLnTx/>
                <a:uFillTx/>
                <a:latin typeface="EYInterstate Light"/>
              </a:rPr>
              <a:t>Tech. FTE &amp;</a:t>
            </a:r>
            <a:r>
              <a:rPr kumimoji="0" lang="en-AU" sz="1100" b="1" i="0" u="none" strike="noStrike" kern="0" cap="none" spc="0" normalizeH="0" noProof="0" dirty="0">
                <a:ln>
                  <a:noFill/>
                </a:ln>
                <a:solidFill>
                  <a:srgbClr val="FFFFFF"/>
                </a:solidFill>
                <a:effectLst/>
                <a:uLnTx/>
                <a:uFillTx/>
                <a:latin typeface="EYInterstate Light"/>
              </a:rPr>
              <a:t> Help desk</a:t>
            </a:r>
            <a:r>
              <a:rPr kumimoji="0" lang="en-AU" sz="1100" b="1" i="0" u="none" strike="noStrike" kern="0" cap="none" spc="0" normalizeH="0" baseline="0" noProof="0" dirty="0">
                <a:ln>
                  <a:noFill/>
                </a:ln>
                <a:solidFill>
                  <a:srgbClr val="FFFFFF"/>
                </a:solidFill>
                <a:effectLst/>
                <a:uLnTx/>
                <a:uFillTx/>
                <a:latin typeface="EYInterstate Light"/>
              </a:rPr>
              <a:t> ratios</a:t>
            </a:r>
          </a:p>
        </p:txBody>
      </p:sp>
      <p:graphicFrame>
        <p:nvGraphicFramePr>
          <p:cNvPr id="91" name="Table 90"/>
          <p:cNvGraphicFramePr>
            <a:graphicFrameLocks noGrp="1"/>
          </p:cNvGraphicFramePr>
          <p:nvPr>
            <p:extLst>
              <p:ext uri="{D42A27DB-BD31-4B8C-83A1-F6EECF244321}">
                <p14:modId xmlns:p14="http://schemas.microsoft.com/office/powerpoint/2010/main" val="3280566402"/>
              </p:ext>
            </p:extLst>
          </p:nvPr>
        </p:nvGraphicFramePr>
        <p:xfrm>
          <a:off x="619760" y="1599167"/>
          <a:ext cx="5944424" cy="932470"/>
        </p:xfrm>
        <a:graphic>
          <a:graphicData uri="http://schemas.openxmlformats.org/drawingml/2006/table">
            <a:tbl>
              <a:tblPr firstRow="1" bandRow="1">
                <a:tableStyleId>{00A15C55-8517-42AA-B614-E9B94910E393}</a:tableStyleId>
              </a:tblPr>
              <a:tblGrid>
                <a:gridCol w="2272199">
                  <a:extLst>
                    <a:ext uri="{9D8B030D-6E8A-4147-A177-3AD203B41FA5}">
                      <a16:colId xmlns:a16="http://schemas.microsoft.com/office/drawing/2014/main" val="20000"/>
                    </a:ext>
                  </a:extLst>
                </a:gridCol>
                <a:gridCol w="734445">
                  <a:extLst>
                    <a:ext uri="{9D8B030D-6E8A-4147-A177-3AD203B41FA5}">
                      <a16:colId xmlns:a16="http://schemas.microsoft.com/office/drawing/2014/main" val="20001"/>
                    </a:ext>
                  </a:extLst>
                </a:gridCol>
                <a:gridCol w="734445">
                  <a:extLst>
                    <a:ext uri="{9D8B030D-6E8A-4147-A177-3AD203B41FA5}">
                      <a16:colId xmlns:a16="http://schemas.microsoft.com/office/drawing/2014/main" val="20002"/>
                    </a:ext>
                  </a:extLst>
                </a:gridCol>
                <a:gridCol w="734445">
                  <a:extLst>
                    <a:ext uri="{9D8B030D-6E8A-4147-A177-3AD203B41FA5}">
                      <a16:colId xmlns:a16="http://schemas.microsoft.com/office/drawing/2014/main" val="20003"/>
                    </a:ext>
                  </a:extLst>
                </a:gridCol>
                <a:gridCol w="734445">
                  <a:extLst>
                    <a:ext uri="{9D8B030D-6E8A-4147-A177-3AD203B41FA5}">
                      <a16:colId xmlns:a16="http://schemas.microsoft.com/office/drawing/2014/main" val="20004"/>
                    </a:ext>
                  </a:extLst>
                </a:gridCol>
                <a:gridCol w="734445">
                  <a:extLst>
                    <a:ext uri="{9D8B030D-6E8A-4147-A177-3AD203B41FA5}">
                      <a16:colId xmlns:a16="http://schemas.microsoft.com/office/drawing/2014/main" val="20005"/>
                    </a:ext>
                  </a:extLst>
                </a:gridCol>
              </a:tblGrid>
              <a:tr h="435733">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r>
                        <a:rPr lang="en-AU" sz="700" kern="1200" dirty="0"/>
                        <a:t>Benchmark*</a:t>
                      </a:r>
                      <a:endParaRPr lang="en-AU" sz="700" b="1" kern="1200" dirty="0">
                        <a:solidFill>
                          <a:schemeClr val="bg1"/>
                        </a:solidFill>
                        <a:latin typeface="EYInterstate Light" panose="02000506000000020004" pitchFamily="2" charset="0"/>
                        <a:ea typeface="+mn-ea"/>
                        <a:cs typeface="+mn-cs"/>
                      </a:endParaRPr>
                    </a:p>
                  </a:txBody>
                  <a:tcPr marL="90481" marR="90481" marT="45240" marB="45240" anchor="ct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fontAlgn="ctr"/>
                      <a:r>
                        <a:rPr lang="en-AU" sz="700" kern="1200" dirty="0"/>
                        <a:t>ADD – Tech. Division</a:t>
                      </a:r>
                      <a:endParaRPr lang="en-AU" sz="700" b="1" kern="1200" dirty="0">
                        <a:solidFill>
                          <a:schemeClr val="bg1"/>
                        </a:solidFill>
                        <a:latin typeface="+mn-lt"/>
                        <a:ea typeface="+mn-ea"/>
                        <a:cs typeface="+mn-cs"/>
                      </a:endParaRPr>
                    </a:p>
                  </a:txBody>
                  <a:tcPr marL="0" marR="0" marT="0" marB="0" anchor="ct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fontAlgn="ctr"/>
                      <a:r>
                        <a:rPr lang="en-AU" sz="700" kern="1200" dirty="0"/>
                        <a:t>International</a:t>
                      </a:r>
                    </a:p>
                    <a:p>
                      <a:pPr algn="ctr" fontAlgn="ctr"/>
                      <a:r>
                        <a:rPr lang="en-AU" sz="700" kern="1200" dirty="0"/>
                        <a:t>Retailer Companies</a:t>
                      </a:r>
                      <a:endParaRPr lang="en-AU" sz="700" b="1" kern="1200" dirty="0">
                        <a:solidFill>
                          <a:schemeClr val="bg1"/>
                        </a:solidFill>
                        <a:latin typeface="+mn-lt"/>
                        <a:ea typeface="+mn-ea"/>
                        <a:cs typeface="+mn-cs"/>
                      </a:endParaRPr>
                    </a:p>
                  </a:txBody>
                  <a:tcPr marL="0" marR="0" marT="0" marB="0" anchor="ct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fontAlgn="ctr"/>
                      <a:r>
                        <a:rPr lang="en-AU" sz="700" kern="1200" dirty="0"/>
                        <a:t>Benchmark Average</a:t>
                      </a:r>
                      <a:endParaRPr lang="en-AU" sz="700" b="1" kern="1200" dirty="0">
                        <a:solidFill>
                          <a:schemeClr val="bg1"/>
                        </a:solidFill>
                        <a:latin typeface="EYInterstate Light" panose="02000506000000020004" pitchFamily="2" charset="0"/>
                        <a:ea typeface="+mn-ea"/>
                        <a:cs typeface="+mn-cs"/>
                      </a:endParaRPr>
                    </a:p>
                  </a:txBody>
                  <a:tcPr marL="0" marR="0" marT="0" marB="0" anchor="ct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fontAlgn="ctr"/>
                      <a:r>
                        <a:rPr lang="en-US" sz="700" kern="1200" dirty="0"/>
                        <a:t>Energy</a:t>
                      </a:r>
                      <a:endParaRPr lang="en-AU" sz="700" b="1" kern="1200" dirty="0">
                        <a:solidFill>
                          <a:schemeClr val="bg1"/>
                        </a:solidFill>
                        <a:latin typeface="EYInterstate Light" panose="02000506000000020004" pitchFamily="2" charset="0"/>
                        <a:ea typeface="+mn-ea"/>
                        <a:cs typeface="+mn-cs"/>
                      </a:endParaRPr>
                    </a:p>
                  </a:txBody>
                  <a:tcPr marL="0" marR="0" marT="0" marB="0" anchor="ct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700" u="none" strike="noStrike" kern="1200" cap="none" spc="0" normalizeH="0" baseline="0" noProof="0" dirty="0">
                          <a:ln>
                            <a:noFill/>
                          </a:ln>
                          <a:effectLst/>
                          <a:uLnTx/>
                          <a:uFillTx/>
                        </a:rPr>
                        <a:t>Utilities</a:t>
                      </a:r>
                      <a:endParaRPr lang="en-AU" sz="700" b="1" kern="1200" dirty="0">
                        <a:solidFill>
                          <a:schemeClr val="bg1"/>
                        </a:solidFill>
                        <a:latin typeface="EYInterstate Light" panose="02000506000000020004" pitchFamily="2" charset="0"/>
                        <a:ea typeface="+mn-ea"/>
                        <a:cs typeface="+mn-cs"/>
                      </a:endParaRPr>
                    </a:p>
                  </a:txBody>
                  <a:tcPr marL="0" marR="0" marT="0" marB="0" anchor="ctr"/>
                </a:tc>
                <a:extLst>
                  <a:ext uri="{0D108BD9-81ED-4DB2-BD59-A6C34878D82A}">
                    <a16:rowId xmlns:a16="http://schemas.microsoft.com/office/drawing/2014/main" val="10000"/>
                  </a:ext>
                </a:extLst>
              </a:tr>
              <a:tr h="165579">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l" fontAlgn="b"/>
                      <a:r>
                        <a:rPr lang="en-AU" sz="700" b="1" u="none" strike="noStrike" kern="1200" dirty="0">
                          <a:effectLst/>
                        </a:rPr>
                        <a:t># Users supported /</a:t>
                      </a:r>
                      <a:r>
                        <a:rPr lang="en-AU" sz="700" b="1" u="none" strike="noStrike" kern="1200" baseline="0" dirty="0">
                          <a:effectLst/>
                        </a:rPr>
                        <a:t> Tech.</a:t>
                      </a:r>
                      <a:r>
                        <a:rPr lang="en-AU" sz="700" b="1" u="none" strike="noStrike" kern="1200" dirty="0">
                          <a:effectLst/>
                        </a:rPr>
                        <a:t> total FTE</a:t>
                      </a:r>
                      <a:endParaRPr lang="en-AU" sz="700" b="1" i="0" u="none" strike="noStrike" kern="1200" dirty="0">
                        <a:solidFill>
                          <a:srgbClr val="000000"/>
                        </a:solidFill>
                        <a:effectLst/>
                        <a:latin typeface="+mn-lt"/>
                        <a:ea typeface="+mn-ea"/>
                        <a:cs typeface="+mn-cs"/>
                      </a:endParaRPr>
                    </a:p>
                  </a:txBody>
                  <a:tcPr marL="7200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b="1" i="0" u="none" strike="noStrike" dirty="0">
                          <a:solidFill>
                            <a:srgbClr val="000000"/>
                          </a:solidFill>
                          <a:effectLst/>
                          <a:latin typeface="EYInterstate Light" panose="02000506000000020004" pitchFamily="2" charset="0"/>
                        </a:rPr>
                        <a:t>141</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b="0" i="0" u="none" strike="noStrike" dirty="0">
                          <a:solidFill>
                            <a:srgbClr val="000000"/>
                          </a:solidFill>
                          <a:effectLst/>
                          <a:latin typeface="EYInterstate Light" panose="02000506000000020004" pitchFamily="2" charset="0"/>
                        </a:rPr>
                        <a:t>48</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b="0" i="0" u="none" strike="noStrike" dirty="0">
                          <a:solidFill>
                            <a:srgbClr val="000000"/>
                          </a:solidFill>
                          <a:effectLst/>
                          <a:latin typeface="EYInterstate Light" panose="02000506000000020004" pitchFamily="2" charset="0"/>
                        </a:rPr>
                        <a:t>20</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b="0" i="0" u="none" strike="noStrike" dirty="0">
                          <a:solidFill>
                            <a:srgbClr val="000000"/>
                          </a:solidFill>
                          <a:effectLst/>
                          <a:latin typeface="EYInterstate Light" panose="02000506000000020004" pitchFamily="2" charset="0"/>
                        </a:rPr>
                        <a:t>21</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b="0" i="0" u="none" strike="noStrike" dirty="0">
                          <a:solidFill>
                            <a:srgbClr val="000000"/>
                          </a:solidFill>
                          <a:effectLst/>
                          <a:latin typeface="EYInterstate Light" panose="02000506000000020004" pitchFamily="2" charset="0"/>
                        </a:rPr>
                        <a:t>16</a:t>
                      </a:r>
                    </a:p>
                  </a:txBody>
                  <a:tcPr marL="0" marR="0" marT="0" marB="0" anchor="ctr"/>
                </a:tc>
                <a:extLst>
                  <a:ext uri="{0D108BD9-81ED-4DB2-BD59-A6C34878D82A}">
                    <a16:rowId xmlns:a16="http://schemas.microsoft.com/office/drawing/2014/main" val="10001"/>
                  </a:ext>
                </a:extLst>
              </a:tr>
              <a:tr h="165579">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l" fontAlgn="b"/>
                      <a:r>
                        <a:rPr lang="en-AU" sz="700" b="1" u="none" strike="noStrike" kern="1200" dirty="0">
                          <a:effectLst/>
                        </a:rPr>
                        <a:t>Tech.</a:t>
                      </a:r>
                      <a:r>
                        <a:rPr lang="en-AU" sz="700" b="1" u="none" strike="noStrike" kern="1200" baseline="0" dirty="0">
                          <a:effectLst/>
                        </a:rPr>
                        <a:t> </a:t>
                      </a:r>
                      <a:r>
                        <a:rPr lang="en-AU" sz="700" b="1" u="none" strike="noStrike" kern="1200" dirty="0">
                          <a:effectLst/>
                        </a:rPr>
                        <a:t>FTE as %</a:t>
                      </a:r>
                      <a:r>
                        <a:rPr lang="en-AU" sz="700" b="1" u="none" strike="noStrike" kern="1200" baseline="0" dirty="0">
                          <a:effectLst/>
                        </a:rPr>
                        <a:t> </a:t>
                      </a:r>
                      <a:r>
                        <a:rPr lang="en-AU" sz="700" b="1" u="none" strike="noStrike" kern="1200" dirty="0">
                          <a:effectLst/>
                        </a:rPr>
                        <a:t>of employees</a:t>
                      </a:r>
                      <a:endParaRPr lang="en-AU" sz="700" b="1" i="0" u="none" strike="noStrike" kern="1200" dirty="0">
                        <a:solidFill>
                          <a:srgbClr val="000000"/>
                        </a:solidFill>
                        <a:effectLst/>
                        <a:latin typeface="+mn-lt"/>
                        <a:ea typeface="+mn-ea"/>
                        <a:cs typeface="+mn-cs"/>
                      </a:endParaRPr>
                    </a:p>
                  </a:txBody>
                  <a:tcPr marL="7200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b="1" u="none" strike="noStrike" dirty="0">
                          <a:effectLst/>
                        </a:rPr>
                        <a:t>0.7%</a:t>
                      </a:r>
                      <a:endParaRPr lang="en-AU" sz="900" b="1" i="0" u="none" strike="noStrike" dirty="0">
                        <a:solidFill>
                          <a:srgbClr val="000000"/>
                        </a:solidFill>
                        <a:effectLst/>
                        <a:latin typeface="EYInterstate Light" panose="02000506000000020004" pitchFamily="2" charset="0"/>
                      </a:endParaRP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u="none" strike="noStrike" dirty="0">
                          <a:effectLst/>
                        </a:rPr>
                        <a:t>2.1%</a:t>
                      </a:r>
                      <a:endParaRPr lang="en-AU" sz="900" b="0" i="0" u="none" strike="noStrike" dirty="0">
                        <a:solidFill>
                          <a:srgbClr val="000000"/>
                        </a:solidFill>
                        <a:effectLst/>
                        <a:latin typeface="EYInterstate Light" panose="02000506000000020004" pitchFamily="2" charset="0"/>
                      </a:endParaRP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u="none" strike="noStrike" dirty="0">
                          <a:effectLst/>
                        </a:rPr>
                        <a:t>4.9%</a:t>
                      </a:r>
                      <a:endParaRPr lang="en-AU" sz="900" b="0" i="0" u="none" strike="noStrike" dirty="0">
                        <a:solidFill>
                          <a:srgbClr val="000000"/>
                        </a:solidFill>
                        <a:effectLst/>
                        <a:latin typeface="EYInterstate Light" panose="02000506000000020004" pitchFamily="2" charset="0"/>
                      </a:endParaRP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u="none" strike="noStrike" dirty="0">
                          <a:effectLst/>
                        </a:rPr>
                        <a:t>4.8%</a:t>
                      </a:r>
                      <a:endParaRPr lang="en-AU" sz="900" b="0" i="0" u="none" strike="noStrike" dirty="0">
                        <a:solidFill>
                          <a:srgbClr val="000000"/>
                        </a:solidFill>
                        <a:effectLst/>
                        <a:latin typeface="EYInterstate Light" panose="02000506000000020004" pitchFamily="2" charset="0"/>
                      </a:endParaRP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900" u="none" strike="noStrike" dirty="0">
                          <a:effectLst/>
                        </a:rPr>
                        <a:t>6.4%</a:t>
                      </a:r>
                      <a:endParaRPr lang="en-AU" sz="900" b="0" i="0" u="none" strike="noStrike" dirty="0">
                        <a:solidFill>
                          <a:srgbClr val="000000"/>
                        </a:solidFill>
                        <a:effectLst/>
                        <a:latin typeface="EYInterstate Light" panose="02000506000000020004" pitchFamily="2" charset="0"/>
                      </a:endParaRPr>
                    </a:p>
                  </a:txBody>
                  <a:tcPr marL="0" marR="0" marT="0" marB="0" anchor="ctr"/>
                </a:tc>
                <a:extLst>
                  <a:ext uri="{0D108BD9-81ED-4DB2-BD59-A6C34878D82A}">
                    <a16:rowId xmlns:a16="http://schemas.microsoft.com/office/drawing/2014/main" val="10002"/>
                  </a:ext>
                </a:extLst>
              </a:tr>
              <a:tr h="165579">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l" fontAlgn="b"/>
                      <a:r>
                        <a:rPr lang="en-AU" sz="700" b="1" u="none" strike="noStrike" kern="1200" dirty="0">
                          <a:effectLst/>
                        </a:rPr>
                        <a:t>Internal Tech.</a:t>
                      </a:r>
                      <a:r>
                        <a:rPr lang="en-AU" sz="700" b="1" u="none" strike="noStrike" kern="1200" baseline="0" dirty="0">
                          <a:effectLst/>
                        </a:rPr>
                        <a:t> </a:t>
                      </a:r>
                      <a:r>
                        <a:rPr lang="en-AU" sz="700" b="1" u="none" strike="noStrike" kern="1200" dirty="0">
                          <a:effectLst/>
                        </a:rPr>
                        <a:t>FTE / Total IT FTE </a:t>
                      </a:r>
                      <a:endParaRPr lang="en-AU" sz="700" b="1" i="0" u="none" strike="noStrike" kern="1200" dirty="0">
                        <a:solidFill>
                          <a:srgbClr val="000000"/>
                        </a:solidFill>
                        <a:effectLst/>
                        <a:latin typeface="+mn-lt"/>
                        <a:ea typeface="+mn-ea"/>
                        <a:cs typeface="+mn-cs"/>
                      </a:endParaRPr>
                    </a:p>
                  </a:txBody>
                  <a:tcPr marL="7200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800" b="1" i="0" u="none" strike="noStrike" dirty="0">
                          <a:solidFill>
                            <a:srgbClr val="000000"/>
                          </a:solidFill>
                          <a:effectLst/>
                          <a:latin typeface="EYInterstate Light" panose="02000506000000020004" pitchFamily="2" charset="0"/>
                        </a:rPr>
                        <a:t>XX%</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800" b="0" i="0" u="none" strike="noStrike" dirty="0">
                          <a:solidFill>
                            <a:srgbClr val="000000"/>
                          </a:solidFill>
                          <a:effectLst/>
                          <a:latin typeface="EYInterstate Light" panose="02000506000000020004" pitchFamily="2" charset="0"/>
                        </a:rPr>
                        <a:t>XX%</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800" b="0" i="0" u="none" strike="noStrike" dirty="0">
                          <a:solidFill>
                            <a:srgbClr val="000000"/>
                          </a:solidFill>
                          <a:effectLst/>
                          <a:latin typeface="EYInterstate Light" panose="02000506000000020004" pitchFamily="2" charset="0"/>
                        </a:rPr>
                        <a:t>XX%</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800" b="0" i="0" u="none" strike="noStrike" dirty="0">
                          <a:solidFill>
                            <a:srgbClr val="000000"/>
                          </a:solidFill>
                          <a:effectLst/>
                          <a:latin typeface="EYInterstate Light" panose="02000506000000020004" pitchFamily="2" charset="0"/>
                        </a:rPr>
                        <a:t>XX%</a:t>
                      </a:r>
                    </a:p>
                  </a:txBody>
                  <a:tcPr marL="0" marR="0" marT="0" marB="0" anchor="ct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ctr" fontAlgn="b"/>
                      <a:r>
                        <a:rPr lang="en-AU" sz="800" b="0" i="0" u="none" strike="noStrike" dirty="0">
                          <a:solidFill>
                            <a:srgbClr val="000000"/>
                          </a:solidFill>
                          <a:effectLst/>
                          <a:latin typeface="EYInterstate Light" panose="02000506000000020004" pitchFamily="2" charset="0"/>
                        </a:rPr>
                        <a:t>XX%</a:t>
                      </a:r>
                    </a:p>
                  </a:txBody>
                  <a:tcPr marL="0" marR="0" marT="0" marB="0" anchor="ctr"/>
                </a:tc>
                <a:extLst>
                  <a:ext uri="{0D108BD9-81ED-4DB2-BD59-A6C34878D82A}">
                    <a16:rowId xmlns:a16="http://schemas.microsoft.com/office/drawing/2014/main" val="10003"/>
                  </a:ext>
                </a:extLst>
              </a:tr>
            </a:tbl>
          </a:graphicData>
        </a:graphic>
      </p:graphicFrame>
      <p:sp>
        <p:nvSpPr>
          <p:cNvPr id="8" name="Rectangle 7"/>
          <p:cNvSpPr/>
          <p:nvPr/>
        </p:nvSpPr>
        <p:spPr>
          <a:xfrm>
            <a:off x="7337118" y="2089031"/>
            <a:ext cx="3880461" cy="1077218"/>
          </a:xfrm>
          <a:prstGeom prst="rect">
            <a:avLst/>
          </a:prstGeom>
        </p:spPr>
        <p:txBody>
          <a:bodyPr wrap="square">
            <a:spAutoFit/>
          </a:bodyPr>
          <a:lstStyle/>
          <a:p>
            <a:r>
              <a:rPr lang="en-US" sz="1600" dirty="0">
                <a:solidFill>
                  <a:schemeClr val="accent4"/>
                </a:solidFill>
                <a:latin typeface="+mj-lt"/>
              </a:rPr>
              <a:t>IT FTEs As a percentage of employees is a key measure of IT support investment from a human capital perspective</a:t>
            </a:r>
            <a:endParaRPr lang="en-US" dirty="0"/>
          </a:p>
        </p:txBody>
      </p:sp>
      <p:sp>
        <p:nvSpPr>
          <p:cNvPr id="34"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effectiveness review assessment</a:t>
            </a:r>
          </a:p>
        </p:txBody>
      </p:sp>
      <p:graphicFrame>
        <p:nvGraphicFramePr>
          <p:cNvPr id="33" name="Table 32"/>
          <p:cNvGraphicFramePr>
            <a:graphicFrameLocks noGrp="1"/>
          </p:cNvGraphicFramePr>
          <p:nvPr>
            <p:extLst>
              <p:ext uri="{D42A27DB-BD31-4B8C-83A1-F6EECF244321}">
                <p14:modId xmlns:p14="http://schemas.microsoft.com/office/powerpoint/2010/main" val="698547997"/>
              </p:ext>
            </p:extLst>
          </p:nvPr>
        </p:nvGraphicFramePr>
        <p:xfrm>
          <a:off x="619760" y="2658064"/>
          <a:ext cx="5944425" cy="840726"/>
        </p:xfrm>
        <a:graphic>
          <a:graphicData uri="http://schemas.openxmlformats.org/drawingml/2006/table">
            <a:tbl>
              <a:tblPr firstRow="1" firstCol="1" bandRow="1">
                <a:tableStyleId>{5C22544A-7EE6-4342-B048-85BDC9FD1C3A}</a:tableStyleId>
              </a:tblPr>
              <a:tblGrid>
                <a:gridCol w="1421964">
                  <a:extLst>
                    <a:ext uri="{9D8B030D-6E8A-4147-A177-3AD203B41FA5}">
                      <a16:colId xmlns:a16="http://schemas.microsoft.com/office/drawing/2014/main" val="20000"/>
                    </a:ext>
                  </a:extLst>
                </a:gridCol>
                <a:gridCol w="768429">
                  <a:extLst>
                    <a:ext uri="{9D8B030D-6E8A-4147-A177-3AD203B41FA5}">
                      <a16:colId xmlns:a16="http://schemas.microsoft.com/office/drawing/2014/main" val="20001"/>
                    </a:ext>
                  </a:extLst>
                </a:gridCol>
                <a:gridCol w="1172729">
                  <a:extLst>
                    <a:ext uri="{9D8B030D-6E8A-4147-A177-3AD203B41FA5}">
                      <a16:colId xmlns:a16="http://schemas.microsoft.com/office/drawing/2014/main" val="20002"/>
                    </a:ext>
                  </a:extLst>
                </a:gridCol>
                <a:gridCol w="1026301">
                  <a:extLst>
                    <a:ext uri="{9D8B030D-6E8A-4147-A177-3AD203B41FA5}">
                      <a16:colId xmlns:a16="http://schemas.microsoft.com/office/drawing/2014/main" val="20003"/>
                    </a:ext>
                  </a:extLst>
                </a:gridCol>
                <a:gridCol w="1555002">
                  <a:extLst>
                    <a:ext uri="{9D8B030D-6E8A-4147-A177-3AD203B41FA5}">
                      <a16:colId xmlns:a16="http://schemas.microsoft.com/office/drawing/2014/main" val="20004"/>
                    </a:ext>
                  </a:extLst>
                </a:gridCol>
              </a:tblGrid>
              <a:tr h="243052">
                <a:tc>
                  <a:txBody>
                    <a:bodyPr/>
                    <a:lstStyle/>
                    <a:p>
                      <a:pPr marL="0" marR="0" algn="ctr">
                        <a:spcBef>
                          <a:spcPts val="0"/>
                        </a:spcBef>
                        <a:spcAft>
                          <a:spcPts val="0"/>
                        </a:spcAft>
                      </a:pPr>
                      <a:r>
                        <a:rPr lang="en-US" sz="700" dirty="0">
                          <a:effectLst/>
                          <a:latin typeface="+mn-lt"/>
                        </a:rPr>
                        <a:t>Benchmark</a:t>
                      </a:r>
                      <a:endParaRPr lang="en-US" sz="700" dirty="0">
                        <a:effectLst/>
                        <a:latin typeface="+mn-lt"/>
                        <a:ea typeface="Calibri" panose="020F0502020204030204" pitchFamily="34" charset="0"/>
                      </a:endParaRPr>
                    </a:p>
                  </a:txBody>
                  <a:tcPr marL="46561" marR="46561" marT="23281" marB="23281" anchor="ctr">
                    <a:solidFill>
                      <a:schemeClr val="tx1">
                        <a:lumMod val="65000"/>
                        <a:lumOff val="35000"/>
                      </a:schemeClr>
                    </a:solidFill>
                  </a:tcPr>
                </a:tc>
                <a:tc>
                  <a:txBody>
                    <a:bodyPr/>
                    <a:lstStyle/>
                    <a:p>
                      <a:pPr marL="0" marR="0" algn="ctr">
                        <a:spcBef>
                          <a:spcPts val="0"/>
                        </a:spcBef>
                        <a:spcAft>
                          <a:spcPts val="0"/>
                        </a:spcAft>
                      </a:pPr>
                      <a:r>
                        <a:rPr lang="en-US" sz="700" dirty="0">
                          <a:solidFill>
                            <a:schemeClr val="tx1">
                              <a:lumMod val="75000"/>
                              <a:lumOff val="25000"/>
                            </a:schemeClr>
                          </a:solidFill>
                          <a:effectLst/>
                          <a:latin typeface="+mn-lt"/>
                        </a:rPr>
                        <a:t>Client Distribution</a:t>
                      </a:r>
                      <a:endParaRPr lang="en-US" sz="700" dirty="0">
                        <a:solidFill>
                          <a:schemeClr val="tx1">
                            <a:lumMod val="75000"/>
                            <a:lumOff val="25000"/>
                          </a:schemeClr>
                        </a:solidFill>
                        <a:effectLst/>
                        <a:latin typeface="+mn-lt"/>
                        <a:ea typeface="Calibri" panose="020F0502020204030204" pitchFamily="34" charset="0"/>
                      </a:endParaRPr>
                    </a:p>
                  </a:txBody>
                  <a:tcPr marL="46561" marR="46561" marT="23281" marB="23281" anchor="ctr">
                    <a:solidFill>
                      <a:schemeClr val="bg2">
                        <a:lumMod val="90000"/>
                      </a:schemeClr>
                    </a:solidFill>
                  </a:tcPr>
                </a:tc>
                <a:tc>
                  <a:txBody>
                    <a:bodyPr/>
                    <a:lstStyle/>
                    <a:p>
                      <a:pPr marL="0" marR="0" algn="ctr">
                        <a:spcBef>
                          <a:spcPts val="0"/>
                        </a:spcBef>
                        <a:spcAft>
                          <a:spcPts val="0"/>
                        </a:spcAft>
                      </a:pPr>
                      <a:r>
                        <a:rPr lang="en-US" sz="700" dirty="0">
                          <a:solidFill>
                            <a:schemeClr val="tx1">
                              <a:lumMod val="75000"/>
                              <a:lumOff val="25000"/>
                            </a:schemeClr>
                          </a:solidFill>
                          <a:effectLst/>
                          <a:latin typeface="+mn-lt"/>
                        </a:rPr>
                        <a:t>Benchmark (Average</a:t>
                      </a:r>
                      <a:r>
                        <a:rPr lang="en-US" sz="700" baseline="0" dirty="0">
                          <a:solidFill>
                            <a:schemeClr val="tx1">
                              <a:lumMod val="75000"/>
                              <a:lumOff val="25000"/>
                            </a:schemeClr>
                          </a:solidFill>
                          <a:effectLst/>
                          <a:latin typeface="+mn-lt"/>
                        </a:rPr>
                        <a:t> Retail &amp; Energy)</a:t>
                      </a:r>
                      <a:endParaRPr lang="en-US" sz="700" dirty="0">
                        <a:solidFill>
                          <a:schemeClr val="tx1">
                            <a:lumMod val="75000"/>
                            <a:lumOff val="25000"/>
                          </a:schemeClr>
                        </a:solidFill>
                        <a:effectLst/>
                        <a:latin typeface="+mn-lt"/>
                        <a:ea typeface="Calibri" panose="020F0502020204030204" pitchFamily="34" charset="0"/>
                      </a:endParaRPr>
                    </a:p>
                  </a:txBody>
                  <a:tcPr marL="46561" marR="46561" marT="23281" marB="23281" anchor="ctr">
                    <a:solidFill>
                      <a:schemeClr val="bg2">
                        <a:lumMod val="90000"/>
                      </a:schemeClr>
                    </a:solidFill>
                  </a:tcPr>
                </a:tc>
                <a:tc>
                  <a:txBody>
                    <a:bodyPr/>
                    <a:lstStyle/>
                    <a:p>
                      <a:pPr marL="0" marR="0" algn="ctr">
                        <a:spcBef>
                          <a:spcPts val="0"/>
                        </a:spcBef>
                        <a:spcAft>
                          <a:spcPts val="0"/>
                        </a:spcAft>
                      </a:pPr>
                      <a:r>
                        <a:rPr lang="en-US" sz="700" dirty="0">
                          <a:solidFill>
                            <a:schemeClr val="tx1">
                              <a:lumMod val="75000"/>
                              <a:lumOff val="25000"/>
                            </a:schemeClr>
                          </a:solidFill>
                          <a:effectLst/>
                          <a:latin typeface="+mn-lt"/>
                        </a:rPr>
                        <a:t>Benchmark Source</a:t>
                      </a:r>
                      <a:endParaRPr lang="en-US" sz="700" dirty="0">
                        <a:solidFill>
                          <a:schemeClr val="tx1">
                            <a:lumMod val="75000"/>
                            <a:lumOff val="25000"/>
                          </a:schemeClr>
                        </a:solidFill>
                        <a:effectLst/>
                        <a:latin typeface="+mn-lt"/>
                        <a:ea typeface="Calibri" panose="020F0502020204030204" pitchFamily="34" charset="0"/>
                      </a:endParaRPr>
                    </a:p>
                  </a:txBody>
                  <a:tcPr marL="46561" marR="46561" marT="23281" marB="23281" anchor="ctr">
                    <a:solidFill>
                      <a:schemeClr val="bg2">
                        <a:lumMod val="90000"/>
                      </a:schemeClr>
                    </a:solidFill>
                  </a:tcPr>
                </a:tc>
                <a:tc>
                  <a:txBody>
                    <a:bodyPr/>
                    <a:lstStyle/>
                    <a:p>
                      <a:pPr marL="0" marR="0" algn="ctr">
                        <a:spcBef>
                          <a:spcPts val="0"/>
                        </a:spcBef>
                        <a:spcAft>
                          <a:spcPts val="0"/>
                        </a:spcAft>
                      </a:pPr>
                      <a:r>
                        <a:rPr lang="en-US" sz="700" dirty="0">
                          <a:solidFill>
                            <a:schemeClr val="tx1">
                              <a:lumMod val="65000"/>
                              <a:lumOff val="35000"/>
                            </a:schemeClr>
                          </a:solidFill>
                          <a:effectLst/>
                          <a:latin typeface="+mn-lt"/>
                        </a:rPr>
                        <a:t>Numbers used for Calculation</a:t>
                      </a:r>
                    </a:p>
                  </a:txBody>
                  <a:tcPr marL="46561" marR="46561" marT="23281" marB="23281" anchor="ctr">
                    <a:solidFill>
                      <a:schemeClr val="bg2">
                        <a:lumMod val="90000"/>
                      </a:schemeClr>
                    </a:solidFill>
                  </a:tcPr>
                </a:tc>
                <a:extLst>
                  <a:ext uri="{0D108BD9-81ED-4DB2-BD59-A6C34878D82A}">
                    <a16:rowId xmlns:a16="http://schemas.microsoft.com/office/drawing/2014/main" val="10000"/>
                  </a:ext>
                </a:extLst>
              </a:tr>
              <a:tr h="267312">
                <a:tc>
                  <a:txBody>
                    <a:bodyPr/>
                    <a:lstStyle/>
                    <a:p>
                      <a:pPr marL="0" marR="0" algn="l" fontAlgn="b">
                        <a:spcBef>
                          <a:spcPts val="0"/>
                        </a:spcBef>
                        <a:spcAft>
                          <a:spcPts val="0"/>
                        </a:spcAft>
                      </a:pPr>
                      <a:r>
                        <a:rPr lang="en-US" sz="800" dirty="0">
                          <a:effectLst/>
                          <a:latin typeface="+mn-lt"/>
                        </a:rPr>
                        <a:t>Incidents vs Requests</a:t>
                      </a:r>
                      <a:endParaRPr lang="en-US" sz="800" dirty="0">
                        <a:effectLst/>
                        <a:latin typeface="+mn-lt"/>
                        <a:ea typeface="Calibri" panose="020F0502020204030204" pitchFamily="34" charset="0"/>
                      </a:endParaRPr>
                    </a:p>
                  </a:txBody>
                  <a:tcPr marL="46561" marR="46561" marT="23281" marB="23281" anchor="ctr">
                    <a:solidFill>
                      <a:schemeClr val="tx1">
                        <a:lumMod val="65000"/>
                        <a:lumOff val="35000"/>
                      </a:schemeClr>
                    </a:solidFill>
                  </a:tcPr>
                </a:tc>
                <a:tc>
                  <a:txBody>
                    <a:bodyPr/>
                    <a:lstStyle/>
                    <a:p>
                      <a:pPr marL="0" marR="0" algn="ctr" fontAlgn="ctr">
                        <a:spcBef>
                          <a:spcPts val="0"/>
                        </a:spcBef>
                        <a:spcAft>
                          <a:spcPts val="0"/>
                        </a:spcAft>
                      </a:pPr>
                      <a:r>
                        <a:rPr lang="en-US" sz="800" dirty="0">
                          <a:solidFill>
                            <a:schemeClr val="tx1">
                              <a:lumMod val="65000"/>
                              <a:lumOff val="35000"/>
                            </a:schemeClr>
                          </a:solidFill>
                          <a:effectLst/>
                          <a:latin typeface="+mn-lt"/>
                        </a:rPr>
                        <a:t>39%</a:t>
                      </a:r>
                      <a:endParaRPr lang="en-US" sz="800" dirty="0">
                        <a:solidFill>
                          <a:schemeClr val="tx1">
                            <a:lumMod val="65000"/>
                            <a:lumOff val="35000"/>
                          </a:schemeClr>
                        </a:solidFill>
                        <a:effectLst/>
                        <a:latin typeface="+mn-lt"/>
                        <a:ea typeface="Calibri" panose="020F0502020204030204" pitchFamily="34" charset="0"/>
                      </a:endParaRPr>
                    </a:p>
                  </a:txBody>
                  <a:tcPr marL="46561" marR="46561" marT="23281" marB="23281" anchor="ctr">
                    <a:solidFill>
                      <a:schemeClr val="bg1">
                        <a:lumMod val="95000"/>
                      </a:schemeClr>
                    </a:solidFill>
                  </a:tcPr>
                </a:tc>
                <a:tc>
                  <a:txBody>
                    <a:bodyPr/>
                    <a:lstStyle/>
                    <a:p>
                      <a:pPr marL="0" marR="0" algn="ctr" fontAlgn="ctr">
                        <a:spcBef>
                          <a:spcPts val="0"/>
                        </a:spcBef>
                        <a:spcAft>
                          <a:spcPts val="0"/>
                        </a:spcAft>
                      </a:pPr>
                      <a:r>
                        <a:rPr lang="en-US" sz="800" dirty="0">
                          <a:solidFill>
                            <a:schemeClr val="tx1">
                              <a:lumMod val="65000"/>
                              <a:lumOff val="35000"/>
                            </a:schemeClr>
                          </a:solidFill>
                          <a:effectLst/>
                          <a:latin typeface="+mn-lt"/>
                        </a:rPr>
                        <a:t>0 – 10%</a:t>
                      </a:r>
                      <a:endParaRPr lang="en-US" sz="800" dirty="0">
                        <a:solidFill>
                          <a:schemeClr val="tx1">
                            <a:lumMod val="65000"/>
                            <a:lumOff val="35000"/>
                          </a:schemeClr>
                        </a:solidFill>
                        <a:effectLst/>
                        <a:latin typeface="+mn-lt"/>
                        <a:ea typeface="Calibri" panose="020F0502020204030204" pitchFamily="34" charset="0"/>
                      </a:endParaRPr>
                    </a:p>
                  </a:txBody>
                  <a:tcPr marL="46561" marR="46561" marT="23281" marB="23281" anchor="ctr">
                    <a:solidFill>
                      <a:schemeClr val="bg1">
                        <a:lumMod val="95000"/>
                      </a:schemeClr>
                    </a:solidFill>
                  </a:tcPr>
                </a:tc>
                <a:tc>
                  <a:txBody>
                    <a:bodyPr/>
                    <a:lstStyle/>
                    <a:p>
                      <a:pPr marL="0" marR="0">
                        <a:spcBef>
                          <a:spcPts val="0"/>
                        </a:spcBef>
                        <a:spcAft>
                          <a:spcPts val="0"/>
                        </a:spcAft>
                      </a:pPr>
                      <a:r>
                        <a:rPr lang="en-US" sz="800" dirty="0">
                          <a:solidFill>
                            <a:schemeClr val="tx1">
                              <a:lumMod val="65000"/>
                              <a:lumOff val="35000"/>
                            </a:schemeClr>
                          </a:solidFill>
                          <a:effectLst/>
                          <a:latin typeface="+mn-lt"/>
                        </a:rPr>
                        <a:t>Computer Economics</a:t>
                      </a:r>
                      <a:endParaRPr lang="en-US" sz="800" dirty="0">
                        <a:solidFill>
                          <a:schemeClr val="tx1">
                            <a:lumMod val="65000"/>
                            <a:lumOff val="35000"/>
                          </a:schemeClr>
                        </a:solidFill>
                        <a:effectLst/>
                        <a:latin typeface="+mn-lt"/>
                        <a:ea typeface="Calibri" panose="020F0502020204030204" pitchFamily="34" charset="0"/>
                      </a:endParaRPr>
                    </a:p>
                  </a:txBody>
                  <a:tcPr marL="46561" marR="46561" marT="23281" marB="23281" anchor="ctr">
                    <a:solidFill>
                      <a:schemeClr val="bg1">
                        <a:lumMod val="95000"/>
                      </a:schemeClr>
                    </a:solidFill>
                  </a:tcPr>
                </a:tc>
                <a:tc>
                  <a:txBody>
                    <a:bodyPr/>
                    <a:lstStyle/>
                    <a:p>
                      <a:pPr marL="0" marR="0">
                        <a:spcBef>
                          <a:spcPts val="0"/>
                        </a:spcBef>
                        <a:spcAft>
                          <a:spcPts val="0"/>
                        </a:spcAft>
                      </a:pPr>
                      <a:r>
                        <a:rPr lang="en-US" sz="800" dirty="0">
                          <a:solidFill>
                            <a:schemeClr val="tx1">
                              <a:lumMod val="65000"/>
                              <a:lumOff val="35000"/>
                            </a:schemeClr>
                          </a:solidFill>
                          <a:effectLst/>
                          <a:latin typeface="+mn-lt"/>
                        </a:rPr>
                        <a:t>Incidents: 11,648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lumMod val="65000"/>
                              <a:lumOff val="35000"/>
                            </a:schemeClr>
                          </a:solidFill>
                          <a:effectLst/>
                          <a:latin typeface="+mn-lt"/>
                        </a:rPr>
                        <a:t>Service tickets</a:t>
                      </a:r>
                      <a:r>
                        <a:rPr lang="en-US" sz="800" baseline="0" dirty="0">
                          <a:solidFill>
                            <a:schemeClr val="tx1">
                              <a:lumMod val="65000"/>
                              <a:lumOff val="35000"/>
                            </a:schemeClr>
                          </a:solidFill>
                          <a:effectLst/>
                          <a:latin typeface="+mn-lt"/>
                        </a:rPr>
                        <a:t> per year</a:t>
                      </a:r>
                      <a:r>
                        <a:rPr lang="en-US" sz="800" dirty="0">
                          <a:solidFill>
                            <a:schemeClr val="tx1">
                              <a:lumMod val="65000"/>
                              <a:lumOff val="35000"/>
                            </a:schemeClr>
                          </a:solidFill>
                          <a:effectLst/>
                          <a:latin typeface="+mn-lt"/>
                        </a:rPr>
                        <a:t>:</a:t>
                      </a:r>
                      <a:r>
                        <a:rPr lang="en-US" sz="800" baseline="0" dirty="0">
                          <a:solidFill>
                            <a:schemeClr val="tx1">
                              <a:lumMod val="65000"/>
                              <a:lumOff val="35000"/>
                            </a:schemeClr>
                          </a:solidFill>
                          <a:effectLst/>
                          <a:latin typeface="+mn-lt"/>
                        </a:rPr>
                        <a:t> </a:t>
                      </a:r>
                      <a:r>
                        <a:rPr lang="en-US" sz="800" dirty="0">
                          <a:solidFill>
                            <a:schemeClr val="tx1">
                              <a:lumMod val="65000"/>
                              <a:lumOff val="35000"/>
                            </a:schemeClr>
                          </a:solidFill>
                          <a:effectLst/>
                          <a:latin typeface="+mn-lt"/>
                        </a:rPr>
                        <a:t>29,790</a:t>
                      </a:r>
                    </a:p>
                  </a:txBody>
                  <a:tcPr marL="46561" marR="46561" marT="23281" marB="23281" anchor="ctr">
                    <a:solidFill>
                      <a:schemeClr val="bg1">
                        <a:lumMod val="95000"/>
                      </a:schemeClr>
                    </a:solidFill>
                  </a:tcPr>
                </a:tc>
                <a:extLst>
                  <a:ext uri="{0D108BD9-81ED-4DB2-BD59-A6C34878D82A}">
                    <a16:rowId xmlns:a16="http://schemas.microsoft.com/office/drawing/2014/main" val="10001"/>
                  </a:ext>
                </a:extLst>
              </a:tr>
              <a:tr h="216749">
                <a:tc>
                  <a:txBody>
                    <a:bodyPr/>
                    <a:lstStyle/>
                    <a:p>
                      <a:pPr marL="0" marR="0" algn="l" fontAlgn="b">
                        <a:spcBef>
                          <a:spcPts val="0"/>
                        </a:spcBef>
                        <a:spcAft>
                          <a:spcPts val="0"/>
                        </a:spcAft>
                      </a:pPr>
                      <a:r>
                        <a:rPr lang="en-US" sz="800" dirty="0">
                          <a:effectLst/>
                          <a:latin typeface="+mn-lt"/>
                        </a:rPr>
                        <a:t>Users per Help Desk Staff</a:t>
                      </a:r>
                      <a:endParaRPr lang="en-US" sz="800" dirty="0">
                        <a:effectLst/>
                        <a:latin typeface="+mn-lt"/>
                        <a:ea typeface="Calibri" panose="020F0502020204030204" pitchFamily="34" charset="0"/>
                      </a:endParaRPr>
                    </a:p>
                  </a:txBody>
                  <a:tcPr marL="46561" marR="46561" marT="23281" marB="23281" anchor="ctr">
                    <a:solidFill>
                      <a:schemeClr val="tx1">
                        <a:lumMod val="65000"/>
                        <a:lumOff val="35000"/>
                      </a:schemeClr>
                    </a:solidFill>
                  </a:tcPr>
                </a:tc>
                <a:tc>
                  <a:txBody>
                    <a:bodyPr/>
                    <a:lstStyle/>
                    <a:p>
                      <a:pPr marL="0" marR="0" algn="ctr" fontAlgn="ctr">
                        <a:spcBef>
                          <a:spcPts val="0"/>
                        </a:spcBef>
                        <a:spcAft>
                          <a:spcPts val="0"/>
                        </a:spcAft>
                      </a:pPr>
                      <a:r>
                        <a:rPr lang="en-US" sz="800" dirty="0">
                          <a:solidFill>
                            <a:schemeClr val="tx1">
                              <a:lumMod val="65000"/>
                              <a:lumOff val="35000"/>
                            </a:schemeClr>
                          </a:solidFill>
                          <a:effectLst/>
                          <a:latin typeface="+mn-lt"/>
                        </a:rPr>
                        <a:t> 1751</a:t>
                      </a:r>
                      <a:endParaRPr lang="en-US" sz="800" dirty="0">
                        <a:solidFill>
                          <a:schemeClr val="tx1">
                            <a:lumMod val="65000"/>
                            <a:lumOff val="35000"/>
                          </a:schemeClr>
                        </a:solidFill>
                        <a:effectLst/>
                        <a:latin typeface="+mn-lt"/>
                        <a:ea typeface="Calibri" panose="020F0502020204030204" pitchFamily="34" charset="0"/>
                      </a:endParaRPr>
                    </a:p>
                  </a:txBody>
                  <a:tcPr marL="46561" marR="46561" marT="23281" marB="23281" anchor="ctr">
                    <a:solidFill>
                      <a:schemeClr val="bg1">
                        <a:lumMod val="95000"/>
                      </a:schemeClr>
                    </a:solidFill>
                  </a:tcPr>
                </a:tc>
                <a:tc>
                  <a:txBody>
                    <a:bodyPr/>
                    <a:lstStyle/>
                    <a:p>
                      <a:pPr marL="0" marR="0" algn="ctr" fontAlgn="ctr">
                        <a:spcBef>
                          <a:spcPts val="0"/>
                        </a:spcBef>
                        <a:spcAft>
                          <a:spcPts val="0"/>
                        </a:spcAft>
                      </a:pPr>
                      <a:r>
                        <a:rPr lang="en-US" sz="800" dirty="0">
                          <a:solidFill>
                            <a:schemeClr val="tx1">
                              <a:lumMod val="65000"/>
                              <a:lumOff val="35000"/>
                            </a:schemeClr>
                          </a:solidFill>
                          <a:effectLst/>
                          <a:latin typeface="+mn-lt"/>
                        </a:rPr>
                        <a:t>362 - 808</a:t>
                      </a:r>
                      <a:endParaRPr lang="en-US" sz="800" dirty="0">
                        <a:solidFill>
                          <a:schemeClr val="tx1">
                            <a:lumMod val="65000"/>
                            <a:lumOff val="35000"/>
                          </a:schemeClr>
                        </a:solidFill>
                        <a:effectLst/>
                        <a:latin typeface="+mn-lt"/>
                        <a:ea typeface="Calibri" panose="020F0502020204030204" pitchFamily="34" charset="0"/>
                      </a:endParaRPr>
                    </a:p>
                  </a:txBody>
                  <a:tcPr marL="46561" marR="46561" marT="23281" marB="23281" anchor="ctr">
                    <a:solidFill>
                      <a:schemeClr val="bg1">
                        <a:lumMod val="95000"/>
                      </a:schemeClr>
                    </a:solidFill>
                  </a:tcPr>
                </a:tc>
                <a:tc>
                  <a:txBody>
                    <a:bodyPr/>
                    <a:lstStyle/>
                    <a:p>
                      <a:pPr marL="0" marR="0">
                        <a:spcBef>
                          <a:spcPts val="0"/>
                        </a:spcBef>
                        <a:spcAft>
                          <a:spcPts val="0"/>
                        </a:spcAft>
                      </a:pPr>
                      <a:r>
                        <a:rPr lang="en-US" sz="800" dirty="0">
                          <a:solidFill>
                            <a:schemeClr val="tx1">
                              <a:lumMod val="65000"/>
                              <a:lumOff val="35000"/>
                            </a:schemeClr>
                          </a:solidFill>
                          <a:effectLst/>
                          <a:latin typeface="+mn-lt"/>
                        </a:rPr>
                        <a:t>Computer Economics</a:t>
                      </a:r>
                      <a:endParaRPr lang="en-US" sz="800" dirty="0">
                        <a:solidFill>
                          <a:schemeClr val="tx1">
                            <a:lumMod val="65000"/>
                            <a:lumOff val="35000"/>
                          </a:schemeClr>
                        </a:solidFill>
                        <a:effectLst/>
                        <a:latin typeface="+mn-lt"/>
                        <a:ea typeface="Calibri" panose="020F0502020204030204" pitchFamily="34" charset="0"/>
                      </a:endParaRPr>
                    </a:p>
                  </a:txBody>
                  <a:tcPr marL="46561" marR="46561" marT="23281" marB="23281"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lumMod val="65000"/>
                              <a:lumOff val="35000"/>
                            </a:schemeClr>
                          </a:solidFill>
                          <a:effectLst/>
                          <a:latin typeface="+mn-lt"/>
                          <a:ea typeface="+mn-ea"/>
                        </a:rPr>
                        <a:t>No.</a:t>
                      </a:r>
                      <a:r>
                        <a:rPr lang="en-US" sz="800" baseline="0" dirty="0">
                          <a:solidFill>
                            <a:schemeClr val="tx1">
                              <a:lumMod val="65000"/>
                              <a:lumOff val="35000"/>
                            </a:schemeClr>
                          </a:solidFill>
                          <a:effectLst/>
                          <a:latin typeface="+mn-lt"/>
                          <a:ea typeface="+mn-ea"/>
                        </a:rPr>
                        <a:t> of users: 12 254</a:t>
                      </a:r>
                      <a:endParaRPr lang="en-US" sz="800" dirty="0">
                        <a:solidFill>
                          <a:schemeClr val="tx1">
                            <a:lumMod val="65000"/>
                            <a:lumOff val="35000"/>
                          </a:schemeClr>
                        </a:solidFill>
                        <a:effectLst/>
                        <a:latin typeface="+mn-l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lumMod val="65000"/>
                              <a:lumOff val="35000"/>
                            </a:schemeClr>
                          </a:solidFill>
                          <a:effectLst/>
                          <a:latin typeface="+mn-lt"/>
                        </a:rPr>
                        <a:t>Help Desk FTE: 7</a:t>
                      </a:r>
                      <a:endParaRPr lang="en-US" sz="800" dirty="0">
                        <a:solidFill>
                          <a:schemeClr val="tx1">
                            <a:lumMod val="65000"/>
                            <a:lumOff val="35000"/>
                          </a:schemeClr>
                        </a:solidFill>
                        <a:effectLst/>
                        <a:latin typeface="+mn-lt"/>
                        <a:ea typeface="Calibri" panose="020F0502020204030204" pitchFamily="34" charset="0"/>
                      </a:endParaRPr>
                    </a:p>
                  </a:txBody>
                  <a:tcPr marL="46561" marR="46561" marT="23281" marB="23281"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37" name="Rectangle 36"/>
          <p:cNvSpPr/>
          <p:nvPr/>
        </p:nvSpPr>
        <p:spPr>
          <a:xfrm>
            <a:off x="506761" y="768289"/>
            <a:ext cx="3672800" cy="369332"/>
          </a:xfrm>
          <a:prstGeom prst="rect">
            <a:avLst/>
          </a:prstGeom>
        </p:spPr>
        <p:txBody>
          <a:bodyPr wrap="none">
            <a:spAutoFit/>
          </a:bodyPr>
          <a:lstStyle/>
          <a:p>
            <a:r>
              <a:rPr lang="en-US" b="1" dirty="0">
                <a:solidFill>
                  <a:schemeClr val="accent5">
                    <a:lumMod val="50000"/>
                  </a:schemeClr>
                </a:solidFill>
              </a:rPr>
              <a:t>IT FTEs Analysis (Current State)</a:t>
            </a:r>
          </a:p>
        </p:txBody>
      </p:sp>
      <p:grpSp>
        <p:nvGrpSpPr>
          <p:cNvPr id="38" name="Gruppieren 3">
            <a:extLst>
              <a:ext uri="{FF2B5EF4-FFF2-40B4-BE49-F238E27FC236}">
                <a16:creationId xmlns:a16="http://schemas.microsoft.com/office/drawing/2014/main" id="{0DCCD37D-5631-478F-89C4-AAAAC7C9F324}"/>
              </a:ext>
            </a:extLst>
          </p:cNvPr>
          <p:cNvGrpSpPr>
            <a:grpSpLocks noChangeAspect="1"/>
          </p:cNvGrpSpPr>
          <p:nvPr>
            <p:custDataLst>
              <p:tags r:id="rId1"/>
            </p:custDataLst>
          </p:nvPr>
        </p:nvGrpSpPr>
        <p:grpSpPr bwMode="gray">
          <a:xfrm>
            <a:off x="6858511" y="2341603"/>
            <a:ext cx="304406" cy="504000"/>
            <a:chOff x="7936110" y="3644896"/>
            <a:chExt cx="233867" cy="387208"/>
          </a:xfrm>
          <a:solidFill>
            <a:schemeClr val="accent2"/>
          </a:solidFill>
        </p:grpSpPr>
        <p:sp>
          <p:nvSpPr>
            <p:cNvPr id="39" name="Ellipse 1">
              <a:extLst>
                <a:ext uri="{FF2B5EF4-FFF2-40B4-BE49-F238E27FC236}">
                  <a16:creationId xmlns:a16="http://schemas.microsoft.com/office/drawing/2014/main" id="{04DBA7C4-46E9-42C5-828D-708ED445F910}"/>
                </a:ext>
              </a:extLst>
            </p:cNvPr>
            <p:cNvSpPr/>
            <p:nvPr>
              <p:custDataLst>
                <p:tags r:id="rId14"/>
              </p:custDataLst>
            </p:nvPr>
          </p:nvSpPr>
          <p:spPr bwMode="gray">
            <a:xfrm>
              <a:off x="7936110" y="3644896"/>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40" name="Ellipse 181">
              <a:extLst>
                <a:ext uri="{FF2B5EF4-FFF2-40B4-BE49-F238E27FC236}">
                  <a16:creationId xmlns:a16="http://schemas.microsoft.com/office/drawing/2014/main" id="{ED59ED85-7E0E-4326-944E-D39D265C6162}"/>
                </a:ext>
              </a:extLst>
            </p:cNvPr>
            <p:cNvSpPr/>
            <p:nvPr>
              <p:custDataLst>
                <p:tags r:id="rId15"/>
              </p:custDataLst>
            </p:nvPr>
          </p:nvSpPr>
          <p:spPr bwMode="gray">
            <a:xfrm>
              <a:off x="8017043" y="372328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41" name="Ellipse 182">
              <a:extLst>
                <a:ext uri="{FF2B5EF4-FFF2-40B4-BE49-F238E27FC236}">
                  <a16:creationId xmlns:a16="http://schemas.microsoft.com/office/drawing/2014/main" id="{1D25B1FB-724E-4BF6-96E9-D4FF17CB02E6}"/>
                </a:ext>
              </a:extLst>
            </p:cNvPr>
            <p:cNvSpPr/>
            <p:nvPr>
              <p:custDataLst>
                <p:tags r:id="rId16"/>
              </p:custDataLst>
            </p:nvPr>
          </p:nvSpPr>
          <p:spPr bwMode="gray">
            <a:xfrm>
              <a:off x="8097977" y="380167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42" name="Ellipse 191">
              <a:extLst>
                <a:ext uri="{FF2B5EF4-FFF2-40B4-BE49-F238E27FC236}">
                  <a16:creationId xmlns:a16="http://schemas.microsoft.com/office/drawing/2014/main" id="{FD9A90B9-BD7D-4A91-8546-7CBD75D9D387}"/>
                </a:ext>
              </a:extLst>
            </p:cNvPr>
            <p:cNvSpPr/>
            <p:nvPr>
              <p:custDataLst>
                <p:tags r:id="rId17"/>
              </p:custDataLst>
            </p:nvPr>
          </p:nvSpPr>
          <p:spPr bwMode="gray">
            <a:xfrm flipV="1">
              <a:off x="7936110" y="396010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43" name="Ellipse 192">
              <a:extLst>
                <a:ext uri="{FF2B5EF4-FFF2-40B4-BE49-F238E27FC236}">
                  <a16:creationId xmlns:a16="http://schemas.microsoft.com/office/drawing/2014/main" id="{68BE7CBD-2122-4A17-90E4-6831E5C18F3D}"/>
                </a:ext>
              </a:extLst>
            </p:cNvPr>
            <p:cNvSpPr/>
            <p:nvPr>
              <p:custDataLst>
                <p:tags r:id="rId18"/>
              </p:custDataLst>
            </p:nvPr>
          </p:nvSpPr>
          <p:spPr bwMode="gray">
            <a:xfrm flipV="1">
              <a:off x="8017043" y="388171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grpSp>
      <p:grpSp>
        <p:nvGrpSpPr>
          <p:cNvPr id="69" name="Group 68">
            <a:extLst>
              <a:ext uri="{FF2B5EF4-FFF2-40B4-BE49-F238E27FC236}">
                <a16:creationId xmlns:a16="http://schemas.microsoft.com/office/drawing/2014/main" id="{0C5A3B84-0A14-4B8E-A55C-DB177F431C97}"/>
              </a:ext>
            </a:extLst>
          </p:cNvPr>
          <p:cNvGrpSpPr/>
          <p:nvPr/>
        </p:nvGrpSpPr>
        <p:grpSpPr>
          <a:xfrm>
            <a:off x="506761" y="5008700"/>
            <a:ext cx="6046195" cy="1002364"/>
            <a:chOff x="530641" y="3364589"/>
            <a:chExt cx="6034476" cy="3109418"/>
          </a:xfrm>
        </p:grpSpPr>
        <p:graphicFrame>
          <p:nvGraphicFramePr>
            <p:cNvPr id="70" name="Chart 69">
              <a:extLst>
                <a:ext uri="{FF2B5EF4-FFF2-40B4-BE49-F238E27FC236}">
                  <a16:creationId xmlns:a16="http://schemas.microsoft.com/office/drawing/2014/main" id="{8FAFB3CE-EA5F-4A1F-B98C-A336F8F08C18}"/>
                </a:ext>
              </a:extLst>
            </p:cNvPr>
            <p:cNvGraphicFramePr/>
            <p:nvPr/>
          </p:nvGraphicFramePr>
          <p:xfrm>
            <a:off x="642255" y="3364589"/>
            <a:ext cx="5922862" cy="3109418"/>
          </p:xfrm>
          <a:graphic>
            <a:graphicData uri="http://schemas.openxmlformats.org/drawingml/2006/chart">
              <c:chart xmlns:c="http://schemas.openxmlformats.org/drawingml/2006/chart" xmlns:r="http://schemas.openxmlformats.org/officeDocument/2006/relationships" r:id="rId20"/>
            </a:graphicData>
          </a:graphic>
        </p:graphicFrame>
        <p:cxnSp>
          <p:nvCxnSpPr>
            <p:cNvPr id="71" name="Straight Arrow Connector 70">
              <a:extLst>
                <a:ext uri="{FF2B5EF4-FFF2-40B4-BE49-F238E27FC236}">
                  <a16:creationId xmlns:a16="http://schemas.microsoft.com/office/drawing/2014/main" id="{25B1022F-8BE0-489A-86E1-6A59B47BC120}"/>
                </a:ext>
              </a:extLst>
            </p:cNvPr>
            <p:cNvCxnSpPr>
              <a:cxnSpLocks/>
            </p:cNvCxnSpPr>
            <p:nvPr/>
          </p:nvCxnSpPr>
          <p:spPr>
            <a:xfrm>
              <a:off x="4038235" y="4716412"/>
              <a:ext cx="2110383" cy="439721"/>
            </a:xfrm>
            <a:prstGeom prst="straightConnector1">
              <a:avLst/>
            </a:prstGeom>
            <a:ln w="12700">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1145C03E-1EDD-43C8-A2ED-A97552ED82FA}"/>
                </a:ext>
              </a:extLst>
            </p:cNvPr>
            <p:cNvSpPr txBox="1"/>
            <p:nvPr/>
          </p:nvSpPr>
          <p:spPr>
            <a:xfrm rot="214492">
              <a:off x="4008437" y="4392924"/>
              <a:ext cx="1880005" cy="479762"/>
            </a:xfrm>
            <a:prstGeom prst="rect">
              <a:avLst/>
            </a:prstGeom>
            <a:noFill/>
          </p:spPr>
          <p:txBody>
            <a:bodyPr wrap="square" lIns="0" tIns="36576" rIns="0" bIns="0" rtlCol="0" anchor="ctr">
              <a:spAutoFit/>
            </a:bodyPr>
            <a:lstStyle/>
            <a:p>
              <a:pPr algn="ctr">
                <a:lnSpc>
                  <a:spcPct val="85000"/>
                </a:lnSpc>
                <a:spcAft>
                  <a:spcPts val="600"/>
                </a:spcAft>
                <a:buClr>
                  <a:srgbClr val="FFE600"/>
                </a:buClr>
                <a:buSzPct val="70000"/>
              </a:pPr>
              <a:r>
                <a:rPr lang="en-AU" sz="900" b="1" dirty="0">
                  <a:solidFill>
                    <a:schemeClr val="accent4"/>
                  </a:solidFill>
                  <a:latin typeface="EYInterstate Light" panose="02000506000000020004" pitchFamily="2" charset="0"/>
                </a:rPr>
                <a:t>         7 times more users supported</a:t>
              </a:r>
            </a:p>
          </p:txBody>
        </p:sp>
        <p:sp>
          <p:nvSpPr>
            <p:cNvPr id="73" name="Rectangle 72">
              <a:extLst>
                <a:ext uri="{FF2B5EF4-FFF2-40B4-BE49-F238E27FC236}">
                  <a16:creationId xmlns:a16="http://schemas.microsoft.com/office/drawing/2014/main" id="{22BA984B-77EB-49D3-B075-EADF808FCE71}"/>
                </a:ext>
              </a:extLst>
            </p:cNvPr>
            <p:cNvSpPr/>
            <p:nvPr/>
          </p:nvSpPr>
          <p:spPr>
            <a:xfrm>
              <a:off x="530641" y="5810718"/>
              <a:ext cx="3588792" cy="335415"/>
            </a:xfrm>
            <a:prstGeom prst="rect">
              <a:avLst/>
            </a:prstGeom>
            <a:no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dirty="0">
                <a:ln>
                  <a:noFill/>
                </a:ln>
                <a:solidFill>
                  <a:schemeClr val="bg1"/>
                </a:solidFill>
                <a:effectLst/>
                <a:uLnTx/>
                <a:uFillTx/>
                <a:latin typeface="EYInterstate Light"/>
                <a:ea typeface="+mn-ea"/>
                <a:cs typeface="+mn-cs"/>
              </a:endParaRPr>
            </a:p>
          </p:txBody>
        </p:sp>
      </p:grpSp>
      <p:graphicFrame>
        <p:nvGraphicFramePr>
          <p:cNvPr id="74" name="Chart 73">
            <a:extLst>
              <a:ext uri="{FF2B5EF4-FFF2-40B4-BE49-F238E27FC236}">
                <a16:creationId xmlns:a16="http://schemas.microsoft.com/office/drawing/2014/main" id="{41485365-7FB7-4550-8132-4B8A1EFF5FE8}"/>
              </a:ext>
            </a:extLst>
          </p:cNvPr>
          <p:cNvGraphicFramePr/>
          <p:nvPr>
            <p:extLst>
              <p:ext uri="{D42A27DB-BD31-4B8C-83A1-F6EECF244321}">
                <p14:modId xmlns:p14="http://schemas.microsoft.com/office/powerpoint/2010/main" val="238843606"/>
              </p:ext>
            </p:extLst>
          </p:nvPr>
        </p:nvGraphicFramePr>
        <p:xfrm>
          <a:off x="622776" y="3912681"/>
          <a:ext cx="5945325" cy="655074"/>
        </p:xfrm>
        <a:graphic>
          <a:graphicData uri="http://schemas.openxmlformats.org/drawingml/2006/chart">
            <c:chart xmlns:c="http://schemas.openxmlformats.org/drawingml/2006/chart" xmlns:r="http://schemas.openxmlformats.org/officeDocument/2006/relationships" r:id="rId21"/>
          </a:graphicData>
        </a:graphic>
      </p:graphicFrame>
      <p:sp>
        <p:nvSpPr>
          <p:cNvPr id="75" name="Rounded Rectangular Callout 30">
            <a:extLst>
              <a:ext uri="{FF2B5EF4-FFF2-40B4-BE49-F238E27FC236}">
                <a16:creationId xmlns:a16="http://schemas.microsoft.com/office/drawing/2014/main" id="{7645FAE5-8667-4540-8162-751EFFA351D0}"/>
              </a:ext>
            </a:extLst>
          </p:cNvPr>
          <p:cNvSpPr/>
          <p:nvPr/>
        </p:nvSpPr>
        <p:spPr>
          <a:xfrm>
            <a:off x="7243997" y="3653537"/>
            <a:ext cx="3973582" cy="1246250"/>
          </a:xfrm>
          <a:prstGeom prst="wedgeRoundRectCallout">
            <a:avLst>
              <a:gd name="adj1" fmla="val 29431"/>
              <a:gd name="adj2" fmla="val -47549"/>
              <a:gd name="adj3" fmla="val 16667"/>
            </a:avLst>
          </a:prstGeom>
          <a:noFill/>
          <a:ln w="9525" cap="flat" cmpd="sng" algn="ctr">
            <a:noFill/>
            <a:prstDash val="solid"/>
          </a:ln>
          <a:effectLst/>
        </p:spPr>
        <p:txBody>
          <a:bodyPr rtlCol="0" anchor="ctr" anchorCtr="0"/>
          <a:lstStyle/>
          <a:p>
            <a:pPr>
              <a:lnSpc>
                <a:spcPct val="90000"/>
              </a:lnSpc>
              <a:spcAft>
                <a:spcPts val="900"/>
              </a:spcAft>
              <a:buClr>
                <a:srgbClr val="FFE600"/>
              </a:buClr>
              <a:buSzPct val="70000"/>
              <a:defRPr/>
            </a:pPr>
            <a:r>
              <a:rPr lang="en-AU" sz="1600" dirty="0">
                <a:solidFill>
                  <a:schemeClr val="accent4"/>
                </a:solidFill>
                <a:latin typeface="+mj-lt"/>
              </a:rPr>
              <a:t>The rate of incidents and service requests resolution on first contact could be improved</a:t>
            </a:r>
          </a:p>
        </p:txBody>
      </p:sp>
      <p:sp>
        <p:nvSpPr>
          <p:cNvPr id="77" name="Rounded Rectangular Callout 31">
            <a:extLst>
              <a:ext uri="{FF2B5EF4-FFF2-40B4-BE49-F238E27FC236}">
                <a16:creationId xmlns:a16="http://schemas.microsoft.com/office/drawing/2014/main" id="{56A379AD-0089-4B3B-9DB4-26812827053C}"/>
              </a:ext>
            </a:extLst>
          </p:cNvPr>
          <p:cNvSpPr/>
          <p:nvPr/>
        </p:nvSpPr>
        <p:spPr>
          <a:xfrm>
            <a:off x="7301083" y="4894294"/>
            <a:ext cx="4224610" cy="1255505"/>
          </a:xfrm>
          <a:prstGeom prst="wedgeRoundRectCallout">
            <a:avLst>
              <a:gd name="adj1" fmla="val 29431"/>
              <a:gd name="adj2" fmla="val -47549"/>
              <a:gd name="adj3" fmla="val 16667"/>
            </a:avLst>
          </a:prstGeom>
          <a:noFill/>
          <a:ln w="9525" cap="flat" cmpd="sng" algn="ctr">
            <a:noFill/>
            <a:prstDash val="solid"/>
          </a:ln>
          <a:effectLst/>
        </p:spPr>
        <p:txBody>
          <a:bodyPr rtlCol="0" anchor="ctr" anchorCtr="0"/>
          <a:lstStyle/>
          <a:p>
            <a:pPr lvl="0">
              <a:lnSpc>
                <a:spcPct val="90000"/>
              </a:lnSpc>
              <a:spcAft>
                <a:spcPts val="900"/>
              </a:spcAft>
              <a:buClr>
                <a:srgbClr val="FFE600"/>
              </a:buClr>
              <a:buSzPct val="70000"/>
              <a:defRPr/>
            </a:pPr>
            <a:r>
              <a:rPr lang="en-AU" sz="1600" dirty="0">
                <a:solidFill>
                  <a:schemeClr val="accent4"/>
                </a:solidFill>
                <a:latin typeface="+mj-lt"/>
              </a:rPr>
              <a:t>The IT Division of Client Distribution supports a significantly higher number of business users than the average of Retail companies</a:t>
            </a:r>
          </a:p>
        </p:txBody>
      </p:sp>
      <p:grpSp>
        <p:nvGrpSpPr>
          <p:cNvPr id="78" name="Gruppieren 3">
            <a:extLst>
              <a:ext uri="{FF2B5EF4-FFF2-40B4-BE49-F238E27FC236}">
                <a16:creationId xmlns:a16="http://schemas.microsoft.com/office/drawing/2014/main" id="{ED638FFA-05DC-4E8F-B0CA-E5F845537897}"/>
              </a:ext>
            </a:extLst>
          </p:cNvPr>
          <p:cNvGrpSpPr>
            <a:grpSpLocks noChangeAspect="1"/>
          </p:cNvGrpSpPr>
          <p:nvPr>
            <p:custDataLst>
              <p:tags r:id="rId2"/>
            </p:custDataLst>
          </p:nvPr>
        </p:nvGrpSpPr>
        <p:grpSpPr bwMode="gray">
          <a:xfrm>
            <a:off x="6765390" y="3952917"/>
            <a:ext cx="304406" cy="504000"/>
            <a:chOff x="7936110" y="3644896"/>
            <a:chExt cx="233867" cy="387208"/>
          </a:xfrm>
          <a:solidFill>
            <a:schemeClr val="accent2"/>
          </a:solidFill>
        </p:grpSpPr>
        <p:sp>
          <p:nvSpPr>
            <p:cNvPr id="79" name="Ellipse 1">
              <a:extLst>
                <a:ext uri="{FF2B5EF4-FFF2-40B4-BE49-F238E27FC236}">
                  <a16:creationId xmlns:a16="http://schemas.microsoft.com/office/drawing/2014/main" id="{A335D259-09C5-4F55-B794-BB9BD08E6212}"/>
                </a:ext>
              </a:extLst>
            </p:cNvPr>
            <p:cNvSpPr/>
            <p:nvPr>
              <p:custDataLst>
                <p:tags r:id="rId9"/>
              </p:custDataLst>
            </p:nvPr>
          </p:nvSpPr>
          <p:spPr bwMode="gray">
            <a:xfrm>
              <a:off x="7936110" y="3644896"/>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80" name="Ellipse 181">
              <a:extLst>
                <a:ext uri="{FF2B5EF4-FFF2-40B4-BE49-F238E27FC236}">
                  <a16:creationId xmlns:a16="http://schemas.microsoft.com/office/drawing/2014/main" id="{B07D2628-F955-4906-97B3-CC5CDB1803BD}"/>
                </a:ext>
              </a:extLst>
            </p:cNvPr>
            <p:cNvSpPr/>
            <p:nvPr>
              <p:custDataLst>
                <p:tags r:id="rId10"/>
              </p:custDataLst>
            </p:nvPr>
          </p:nvSpPr>
          <p:spPr bwMode="gray">
            <a:xfrm>
              <a:off x="8017043" y="372328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81" name="Ellipse 182">
              <a:extLst>
                <a:ext uri="{FF2B5EF4-FFF2-40B4-BE49-F238E27FC236}">
                  <a16:creationId xmlns:a16="http://schemas.microsoft.com/office/drawing/2014/main" id="{472B809E-12D2-4A89-8AAC-01FE089E409C}"/>
                </a:ext>
              </a:extLst>
            </p:cNvPr>
            <p:cNvSpPr/>
            <p:nvPr>
              <p:custDataLst>
                <p:tags r:id="rId11"/>
              </p:custDataLst>
            </p:nvPr>
          </p:nvSpPr>
          <p:spPr bwMode="gray">
            <a:xfrm>
              <a:off x="8097977" y="380167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82" name="Ellipse 191">
              <a:extLst>
                <a:ext uri="{FF2B5EF4-FFF2-40B4-BE49-F238E27FC236}">
                  <a16:creationId xmlns:a16="http://schemas.microsoft.com/office/drawing/2014/main" id="{F56EC1EB-0A6E-4B23-9D56-5023C49AAECD}"/>
                </a:ext>
              </a:extLst>
            </p:cNvPr>
            <p:cNvSpPr/>
            <p:nvPr>
              <p:custDataLst>
                <p:tags r:id="rId12"/>
              </p:custDataLst>
            </p:nvPr>
          </p:nvSpPr>
          <p:spPr bwMode="gray">
            <a:xfrm flipV="1">
              <a:off x="7936110" y="396010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84" name="Ellipse 192">
              <a:extLst>
                <a:ext uri="{FF2B5EF4-FFF2-40B4-BE49-F238E27FC236}">
                  <a16:creationId xmlns:a16="http://schemas.microsoft.com/office/drawing/2014/main" id="{C87280F8-FEEC-4B85-8492-79E88443EA6C}"/>
                </a:ext>
              </a:extLst>
            </p:cNvPr>
            <p:cNvSpPr/>
            <p:nvPr>
              <p:custDataLst>
                <p:tags r:id="rId13"/>
              </p:custDataLst>
            </p:nvPr>
          </p:nvSpPr>
          <p:spPr bwMode="gray">
            <a:xfrm flipV="1">
              <a:off x="8017043" y="388171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grpSp>
      <p:grpSp>
        <p:nvGrpSpPr>
          <p:cNvPr id="85" name="Gruppieren 3">
            <a:extLst>
              <a:ext uri="{FF2B5EF4-FFF2-40B4-BE49-F238E27FC236}">
                <a16:creationId xmlns:a16="http://schemas.microsoft.com/office/drawing/2014/main" id="{4C4458D3-F3A7-4408-8E73-38B24716DC67}"/>
              </a:ext>
            </a:extLst>
          </p:cNvPr>
          <p:cNvGrpSpPr>
            <a:grpSpLocks noChangeAspect="1"/>
          </p:cNvGrpSpPr>
          <p:nvPr>
            <p:custDataLst>
              <p:tags r:id="rId3"/>
            </p:custDataLst>
          </p:nvPr>
        </p:nvGrpSpPr>
        <p:grpSpPr bwMode="gray">
          <a:xfrm>
            <a:off x="6774817" y="5224264"/>
            <a:ext cx="304406" cy="504000"/>
            <a:chOff x="7936110" y="3644896"/>
            <a:chExt cx="233867" cy="387208"/>
          </a:xfrm>
          <a:solidFill>
            <a:schemeClr val="accent2"/>
          </a:solidFill>
        </p:grpSpPr>
        <p:sp>
          <p:nvSpPr>
            <p:cNvPr id="86" name="Ellipse 1">
              <a:extLst>
                <a:ext uri="{FF2B5EF4-FFF2-40B4-BE49-F238E27FC236}">
                  <a16:creationId xmlns:a16="http://schemas.microsoft.com/office/drawing/2014/main" id="{B67A5BC0-4756-43B1-AEEB-65EC281B34E0}"/>
                </a:ext>
              </a:extLst>
            </p:cNvPr>
            <p:cNvSpPr/>
            <p:nvPr>
              <p:custDataLst>
                <p:tags r:id="rId4"/>
              </p:custDataLst>
            </p:nvPr>
          </p:nvSpPr>
          <p:spPr bwMode="gray">
            <a:xfrm>
              <a:off x="7936110" y="3644896"/>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87" name="Ellipse 181">
              <a:extLst>
                <a:ext uri="{FF2B5EF4-FFF2-40B4-BE49-F238E27FC236}">
                  <a16:creationId xmlns:a16="http://schemas.microsoft.com/office/drawing/2014/main" id="{0FE3D536-1459-4956-A544-2C0F2FA3F70D}"/>
                </a:ext>
              </a:extLst>
            </p:cNvPr>
            <p:cNvSpPr/>
            <p:nvPr>
              <p:custDataLst>
                <p:tags r:id="rId5"/>
              </p:custDataLst>
            </p:nvPr>
          </p:nvSpPr>
          <p:spPr bwMode="gray">
            <a:xfrm>
              <a:off x="8017043" y="372328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89" name="Ellipse 182">
              <a:extLst>
                <a:ext uri="{FF2B5EF4-FFF2-40B4-BE49-F238E27FC236}">
                  <a16:creationId xmlns:a16="http://schemas.microsoft.com/office/drawing/2014/main" id="{200B753E-FED5-40DE-8698-44129AA0C1E1}"/>
                </a:ext>
              </a:extLst>
            </p:cNvPr>
            <p:cNvSpPr/>
            <p:nvPr>
              <p:custDataLst>
                <p:tags r:id="rId6"/>
              </p:custDataLst>
            </p:nvPr>
          </p:nvSpPr>
          <p:spPr bwMode="gray">
            <a:xfrm>
              <a:off x="8097977" y="380167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94" name="Ellipse 191">
              <a:extLst>
                <a:ext uri="{FF2B5EF4-FFF2-40B4-BE49-F238E27FC236}">
                  <a16:creationId xmlns:a16="http://schemas.microsoft.com/office/drawing/2014/main" id="{3DF17411-978C-4CC4-979B-FF4026D7A3E1}"/>
                </a:ext>
              </a:extLst>
            </p:cNvPr>
            <p:cNvSpPr/>
            <p:nvPr>
              <p:custDataLst>
                <p:tags r:id="rId7"/>
              </p:custDataLst>
            </p:nvPr>
          </p:nvSpPr>
          <p:spPr bwMode="gray">
            <a:xfrm flipV="1">
              <a:off x="7936110" y="396010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95" name="Ellipse 192">
              <a:extLst>
                <a:ext uri="{FF2B5EF4-FFF2-40B4-BE49-F238E27FC236}">
                  <a16:creationId xmlns:a16="http://schemas.microsoft.com/office/drawing/2014/main" id="{B09010FC-9BBB-464B-A683-1867541E160C}"/>
                </a:ext>
              </a:extLst>
            </p:cNvPr>
            <p:cNvSpPr/>
            <p:nvPr>
              <p:custDataLst>
                <p:tags r:id="rId8"/>
              </p:custDataLst>
            </p:nvPr>
          </p:nvSpPr>
          <p:spPr bwMode="gray">
            <a:xfrm flipV="1">
              <a:off x="8017043" y="388171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grpSp>
      <p:sp>
        <p:nvSpPr>
          <p:cNvPr id="96" name="Rounded Rectangular Callout 89">
            <a:extLst>
              <a:ext uri="{FF2B5EF4-FFF2-40B4-BE49-F238E27FC236}">
                <a16:creationId xmlns:a16="http://schemas.microsoft.com/office/drawing/2014/main" id="{91EB3583-62AE-4B47-9DF4-B92BF1CEFDBD}"/>
              </a:ext>
            </a:extLst>
          </p:cNvPr>
          <p:cNvSpPr/>
          <p:nvPr/>
        </p:nvSpPr>
        <p:spPr>
          <a:xfrm>
            <a:off x="636060" y="3690017"/>
            <a:ext cx="5932155" cy="170217"/>
          </a:xfrm>
          <a:prstGeom prst="wedgeRoundRectCallout">
            <a:avLst>
              <a:gd name="adj1" fmla="val 29431"/>
              <a:gd name="adj2" fmla="val -47549"/>
              <a:gd name="adj3" fmla="val 16667"/>
            </a:avLst>
          </a:prstGeom>
          <a:solidFill>
            <a:schemeClr val="accent3"/>
          </a:solidFill>
          <a:ln w="9525" cap="flat" cmpd="sng" algn="ctr">
            <a:noFill/>
            <a:prstDash val="solid"/>
          </a:ln>
          <a:effectLst/>
        </p:spPr>
        <p:txBody>
          <a:bodyPr rtlCol="0" anchor="ctr" anchorCtr="0"/>
          <a:lstStyle/>
          <a:p>
            <a:pPr algn="ctr">
              <a:defRPr sz="900" b="1" i="0" u="none" strike="noStrike" kern="1200" spc="100" baseline="0">
                <a:solidFill>
                  <a:prstClr val="white">
                    <a:lumMod val="95000"/>
                  </a:prstClr>
                </a:solidFill>
                <a:effectLst>
                  <a:outerShdw blurRad="50800" dist="38100" dir="5400000" algn="t" rotWithShape="0">
                    <a:prstClr val="black">
                      <a:alpha val="40000"/>
                    </a:prstClr>
                  </a:outerShdw>
                </a:effectLst>
                <a:latin typeface="+mn-lt"/>
                <a:ea typeface="+mn-ea"/>
                <a:cs typeface="+mn-cs"/>
              </a:defRPr>
            </a:pPr>
            <a:r>
              <a:rPr lang="en-AU" sz="1100" b="1" dirty="0"/>
              <a:t># of business users supported by 1 Help Desk FTE</a:t>
            </a:r>
            <a:endParaRPr lang="en-US" sz="1100" b="1" dirty="0"/>
          </a:p>
        </p:txBody>
      </p:sp>
      <p:sp>
        <p:nvSpPr>
          <p:cNvPr id="97" name="Rounded Rectangular Callout 89">
            <a:extLst>
              <a:ext uri="{FF2B5EF4-FFF2-40B4-BE49-F238E27FC236}">
                <a16:creationId xmlns:a16="http://schemas.microsoft.com/office/drawing/2014/main" id="{EC67CFD9-123A-40EB-A63E-7B3A3902EE8E}"/>
              </a:ext>
            </a:extLst>
          </p:cNvPr>
          <p:cNvSpPr/>
          <p:nvPr/>
        </p:nvSpPr>
        <p:spPr>
          <a:xfrm>
            <a:off x="620801" y="4831994"/>
            <a:ext cx="5932155" cy="170217"/>
          </a:xfrm>
          <a:prstGeom prst="wedgeRoundRectCallout">
            <a:avLst>
              <a:gd name="adj1" fmla="val 29431"/>
              <a:gd name="adj2" fmla="val -47549"/>
              <a:gd name="adj3" fmla="val 16667"/>
            </a:avLst>
          </a:prstGeom>
          <a:solidFill>
            <a:schemeClr val="accent3"/>
          </a:solidFill>
          <a:ln w="9525" cap="flat" cmpd="sng" algn="ctr">
            <a:noFill/>
            <a:prstDash val="solid"/>
          </a:ln>
          <a:effectLst/>
        </p:spPr>
        <p:txBody>
          <a:bodyPr rtlCol="0" anchor="ctr" anchorCtr="0"/>
          <a:lstStyle/>
          <a:p>
            <a:pPr algn="ctr">
              <a:defRPr sz="900" b="1" i="0" u="none" strike="noStrike" kern="1200" spc="100" baseline="0">
                <a:solidFill>
                  <a:prstClr val="white">
                    <a:lumMod val="95000"/>
                  </a:prstClr>
                </a:solidFill>
                <a:effectLst>
                  <a:outerShdw blurRad="50800" dist="38100" dir="5400000" algn="t" rotWithShape="0">
                    <a:prstClr val="black">
                      <a:alpha val="40000"/>
                    </a:prstClr>
                  </a:outerShdw>
                </a:effectLst>
                <a:latin typeface="+mn-lt"/>
                <a:ea typeface="+mn-ea"/>
                <a:cs typeface="+mn-cs"/>
              </a:defRPr>
            </a:pPr>
            <a:r>
              <a:rPr lang="en-US" sz="1100" b="1" dirty="0"/>
              <a:t># of business users supported by 1 Technology Division FTE</a:t>
            </a:r>
          </a:p>
        </p:txBody>
      </p:sp>
    </p:spTree>
    <p:extLst>
      <p:ext uri="{BB962C8B-B14F-4D97-AF65-F5344CB8AC3E}">
        <p14:creationId xmlns:p14="http://schemas.microsoft.com/office/powerpoint/2010/main" val="1197387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9761" y="1482973"/>
            <a:ext cx="4500879" cy="1732503"/>
          </a:xfrm>
          <a:prstGeom prst="rect">
            <a:avLst/>
          </a:prstGeom>
          <a:noFill/>
          <a:ln w="3810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2" name="Rectangle 1"/>
          <p:cNvSpPr/>
          <p:nvPr/>
        </p:nvSpPr>
        <p:spPr>
          <a:xfrm>
            <a:off x="500523" y="1167239"/>
            <a:ext cx="10705465" cy="307777"/>
          </a:xfrm>
          <a:prstGeom prst="rect">
            <a:avLst/>
          </a:prstGeom>
        </p:spPr>
        <p:txBody>
          <a:bodyPr wrap="square">
            <a:spAutoFit/>
          </a:bodyPr>
          <a:lstStyle/>
          <a:p>
            <a:r>
              <a:rPr lang="en-US" sz="1400" dirty="0">
                <a:solidFill>
                  <a:schemeClr val="accent4"/>
                </a:solidFill>
              </a:rPr>
              <a:t>Improvement opportunities are identified through business usage along with the functional &amp; technical adequacy</a:t>
            </a:r>
          </a:p>
        </p:txBody>
      </p:sp>
      <p:sp>
        <p:nvSpPr>
          <p:cNvPr id="48" name="Rectangle 47"/>
          <p:cNvSpPr/>
          <p:nvPr/>
        </p:nvSpPr>
        <p:spPr>
          <a:xfrm>
            <a:off x="1840269" y="4263255"/>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HSSE</a:t>
            </a:r>
          </a:p>
        </p:txBody>
      </p:sp>
      <p:sp>
        <p:nvSpPr>
          <p:cNvPr id="49" name="Rectangle 48"/>
          <p:cNvSpPr/>
          <p:nvPr/>
        </p:nvSpPr>
        <p:spPr>
          <a:xfrm>
            <a:off x="1840268" y="4673286"/>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Proc. GS &amp; EPD</a:t>
            </a:r>
          </a:p>
        </p:txBody>
      </p:sp>
      <p:sp>
        <p:nvSpPr>
          <p:cNvPr id="70" name="Rectangle 69"/>
          <p:cNvSpPr/>
          <p:nvPr/>
        </p:nvSpPr>
        <p:spPr>
          <a:xfrm>
            <a:off x="1840270" y="3350934"/>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Finance</a:t>
            </a:r>
          </a:p>
        </p:txBody>
      </p:sp>
      <p:sp>
        <p:nvSpPr>
          <p:cNvPr id="71" name="Rectangle 70"/>
          <p:cNvSpPr/>
          <p:nvPr/>
        </p:nvSpPr>
        <p:spPr>
          <a:xfrm>
            <a:off x="1840269" y="3811626"/>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HCD</a:t>
            </a:r>
          </a:p>
        </p:txBody>
      </p:sp>
      <p:sp>
        <p:nvSpPr>
          <p:cNvPr id="11" name="TextBox 10"/>
          <p:cNvSpPr txBox="1"/>
          <p:nvPr/>
        </p:nvSpPr>
        <p:spPr>
          <a:xfrm>
            <a:off x="759806" y="2130058"/>
            <a:ext cx="845474" cy="483538"/>
          </a:xfrm>
          <a:prstGeom prst="rect">
            <a:avLst/>
          </a:prstGeom>
          <a:noFill/>
        </p:spPr>
        <p:txBody>
          <a:bodyPr wrap="square" lIns="0" tIns="0" rIns="0" bIns="0" rtlCol="0">
            <a:noAutofit/>
          </a:bodyPr>
          <a:lstStyle/>
          <a:p>
            <a:pPr algn="l">
              <a:spcBef>
                <a:spcPts val="800"/>
              </a:spcBef>
            </a:pPr>
            <a:r>
              <a:rPr lang="en-US" sz="1600" dirty="0">
                <a:solidFill>
                  <a:schemeClr val="accent4"/>
                </a:solidFill>
              </a:rPr>
              <a:t>Business  Priorities </a:t>
            </a:r>
          </a:p>
        </p:txBody>
      </p:sp>
      <p:sp>
        <p:nvSpPr>
          <p:cNvPr id="74" name="Rectangle 73"/>
          <p:cNvSpPr/>
          <p:nvPr/>
        </p:nvSpPr>
        <p:spPr>
          <a:xfrm>
            <a:off x="619759" y="3301773"/>
            <a:ext cx="4500881" cy="1804149"/>
          </a:xfrm>
          <a:prstGeom prst="rect">
            <a:avLst/>
          </a:prstGeom>
          <a:noFill/>
          <a:ln w="3810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75" name="TextBox 74"/>
          <p:cNvSpPr txBox="1"/>
          <p:nvPr/>
        </p:nvSpPr>
        <p:spPr>
          <a:xfrm>
            <a:off x="699659" y="4051130"/>
            <a:ext cx="905621" cy="483538"/>
          </a:xfrm>
          <a:prstGeom prst="rect">
            <a:avLst/>
          </a:prstGeom>
          <a:noFill/>
        </p:spPr>
        <p:txBody>
          <a:bodyPr wrap="square" lIns="0" tIns="0" rIns="0" bIns="0" rtlCol="0">
            <a:noAutofit/>
          </a:bodyPr>
          <a:lstStyle/>
          <a:p>
            <a:pPr algn="l">
              <a:spcBef>
                <a:spcPts val="800"/>
              </a:spcBef>
            </a:pPr>
            <a:r>
              <a:rPr lang="en-US" sz="1600" dirty="0">
                <a:solidFill>
                  <a:schemeClr val="accent4"/>
                </a:solidFill>
              </a:rPr>
              <a:t>Support Functions</a:t>
            </a:r>
          </a:p>
        </p:txBody>
      </p:sp>
      <p:grpSp>
        <p:nvGrpSpPr>
          <p:cNvPr id="9" name="Group 8"/>
          <p:cNvGrpSpPr/>
          <p:nvPr/>
        </p:nvGrpSpPr>
        <p:grpSpPr>
          <a:xfrm>
            <a:off x="1884745" y="1511428"/>
            <a:ext cx="3084068" cy="1567177"/>
            <a:chOff x="1884745" y="1511428"/>
            <a:chExt cx="1728192" cy="1567177"/>
          </a:xfrm>
        </p:grpSpPr>
        <p:sp>
          <p:nvSpPr>
            <p:cNvPr id="35" name="Rectangle 34"/>
            <p:cNvSpPr/>
            <p:nvPr/>
          </p:nvSpPr>
          <p:spPr>
            <a:xfrm>
              <a:off x="1884745" y="2290710"/>
              <a:ext cx="1728192" cy="360040"/>
            </a:xfrm>
            <a:prstGeom prst="rect">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Commercial</a:t>
              </a:r>
            </a:p>
          </p:txBody>
        </p:sp>
        <p:sp>
          <p:nvSpPr>
            <p:cNvPr id="36" name="Rectangle 35"/>
            <p:cNvSpPr/>
            <p:nvPr/>
          </p:nvSpPr>
          <p:spPr>
            <a:xfrm>
              <a:off x="1884745" y="1896048"/>
              <a:ext cx="1728192" cy="360040"/>
            </a:xfrm>
            <a:prstGeom prst="rect">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Retail</a:t>
              </a:r>
            </a:p>
          </p:txBody>
        </p:sp>
        <p:sp>
          <p:nvSpPr>
            <p:cNvPr id="57" name="Rectangle 56"/>
            <p:cNvSpPr/>
            <p:nvPr/>
          </p:nvSpPr>
          <p:spPr>
            <a:xfrm>
              <a:off x="1884745" y="1511428"/>
              <a:ext cx="1728192" cy="360040"/>
            </a:xfrm>
            <a:prstGeom prst="rect">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Marketing</a:t>
              </a:r>
            </a:p>
          </p:txBody>
        </p:sp>
        <p:sp>
          <p:nvSpPr>
            <p:cNvPr id="58" name="Rectangle 57"/>
            <p:cNvSpPr/>
            <p:nvPr/>
          </p:nvSpPr>
          <p:spPr>
            <a:xfrm>
              <a:off x="1884745" y="2718565"/>
              <a:ext cx="1728192" cy="36004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Operations</a:t>
              </a:r>
            </a:p>
          </p:txBody>
        </p:sp>
      </p:grpSp>
      <p:sp>
        <p:nvSpPr>
          <p:cNvPr id="59" name="Rectangle 58"/>
          <p:cNvSpPr/>
          <p:nvPr/>
        </p:nvSpPr>
        <p:spPr>
          <a:xfrm>
            <a:off x="3425175" y="4282410"/>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HSSE</a:t>
            </a:r>
          </a:p>
        </p:txBody>
      </p:sp>
      <p:sp>
        <p:nvSpPr>
          <p:cNvPr id="60" name="Rectangle 59"/>
          <p:cNvSpPr/>
          <p:nvPr/>
        </p:nvSpPr>
        <p:spPr>
          <a:xfrm>
            <a:off x="3425174" y="4692441"/>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Proc. GS &amp; EPD</a:t>
            </a:r>
          </a:p>
        </p:txBody>
      </p:sp>
      <p:sp>
        <p:nvSpPr>
          <p:cNvPr id="61" name="Rectangle 60"/>
          <p:cNvSpPr/>
          <p:nvPr/>
        </p:nvSpPr>
        <p:spPr>
          <a:xfrm>
            <a:off x="3425176" y="3370089"/>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Legal</a:t>
            </a:r>
          </a:p>
        </p:txBody>
      </p:sp>
      <p:sp>
        <p:nvSpPr>
          <p:cNvPr id="62" name="Rectangle 61"/>
          <p:cNvSpPr/>
          <p:nvPr/>
        </p:nvSpPr>
        <p:spPr>
          <a:xfrm>
            <a:off x="3425175" y="3830781"/>
            <a:ext cx="1543639" cy="360040"/>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Audit</a:t>
            </a:r>
          </a:p>
        </p:txBody>
      </p:sp>
      <p:sp>
        <p:nvSpPr>
          <p:cNvPr id="63" name="Rectangle 62"/>
          <p:cNvSpPr/>
          <p:nvPr/>
        </p:nvSpPr>
        <p:spPr>
          <a:xfrm>
            <a:off x="5602710" y="1821492"/>
            <a:ext cx="3880461" cy="861774"/>
          </a:xfrm>
          <a:prstGeom prst="rect">
            <a:avLst/>
          </a:prstGeom>
        </p:spPr>
        <p:txBody>
          <a:bodyPr wrap="square">
            <a:spAutoFit/>
          </a:bodyPr>
          <a:lstStyle/>
          <a:p>
            <a:r>
              <a:rPr lang="en-US" sz="1600" b="1" dirty="0">
                <a:solidFill>
                  <a:schemeClr val="accent4"/>
                </a:solidFill>
                <a:latin typeface="+mj-lt"/>
              </a:rPr>
              <a:t>200+ </a:t>
            </a:r>
            <a:r>
              <a:rPr lang="en-US" sz="1600" dirty="0">
                <a:solidFill>
                  <a:schemeClr val="accent4"/>
                </a:solidFill>
                <a:latin typeface="+mj-lt"/>
              </a:rPr>
              <a:t>Applications (ERP &amp; OT systems)</a:t>
            </a:r>
          </a:p>
          <a:p>
            <a:r>
              <a:rPr lang="en-US" sz="1600" dirty="0">
                <a:solidFill>
                  <a:schemeClr val="accent4"/>
                </a:solidFill>
                <a:latin typeface="+mj-lt"/>
              </a:rPr>
              <a:t> </a:t>
            </a:r>
          </a:p>
          <a:p>
            <a:endParaRPr lang="en-US" dirty="0"/>
          </a:p>
        </p:txBody>
      </p:sp>
      <p:sp>
        <p:nvSpPr>
          <p:cNvPr id="10" name="Rectangle 9"/>
          <p:cNvSpPr/>
          <p:nvPr/>
        </p:nvSpPr>
        <p:spPr>
          <a:xfrm>
            <a:off x="6185756" y="4100098"/>
            <a:ext cx="1172307" cy="9332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cxnSp>
        <p:nvCxnSpPr>
          <p:cNvPr id="13" name="Straight Connector 12"/>
          <p:cNvCxnSpPr/>
          <p:nvPr/>
        </p:nvCxnSpPr>
        <p:spPr>
          <a:xfrm>
            <a:off x="5929313" y="5052481"/>
            <a:ext cx="3057525"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6185756" y="2899124"/>
            <a:ext cx="1172307" cy="117155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72" name="Rectangle 71"/>
          <p:cNvSpPr/>
          <p:nvPr/>
        </p:nvSpPr>
        <p:spPr>
          <a:xfrm>
            <a:off x="7542940" y="4071326"/>
            <a:ext cx="1172307" cy="9332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73" name="Rectangle 72"/>
          <p:cNvSpPr/>
          <p:nvPr/>
        </p:nvSpPr>
        <p:spPr>
          <a:xfrm>
            <a:off x="7542940" y="3701931"/>
            <a:ext cx="1172307" cy="32146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76" name="Rectangle 75"/>
          <p:cNvSpPr/>
          <p:nvPr/>
        </p:nvSpPr>
        <p:spPr>
          <a:xfrm>
            <a:off x="7542940" y="2899123"/>
            <a:ext cx="1172307" cy="759245"/>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80" name="Rectangle 79"/>
          <p:cNvSpPr/>
          <p:nvPr/>
        </p:nvSpPr>
        <p:spPr>
          <a:xfrm>
            <a:off x="6373044" y="5062748"/>
            <a:ext cx="699269" cy="369332"/>
          </a:xfrm>
          <a:prstGeom prst="rect">
            <a:avLst/>
          </a:prstGeom>
        </p:spPr>
        <p:txBody>
          <a:bodyPr wrap="square">
            <a:spAutoFit/>
          </a:bodyPr>
          <a:lstStyle/>
          <a:p>
            <a:r>
              <a:rPr lang="en-US" b="1" dirty="0">
                <a:solidFill>
                  <a:schemeClr val="accent4"/>
                </a:solidFill>
                <a:latin typeface="+mj-lt"/>
              </a:rPr>
              <a:t>2018</a:t>
            </a:r>
            <a:endParaRPr lang="en-US" sz="2000" dirty="0"/>
          </a:p>
        </p:txBody>
      </p:sp>
      <p:sp>
        <p:nvSpPr>
          <p:cNvPr id="81" name="Rectangle 80"/>
          <p:cNvSpPr/>
          <p:nvPr/>
        </p:nvSpPr>
        <p:spPr>
          <a:xfrm>
            <a:off x="7625448" y="5102320"/>
            <a:ext cx="699269" cy="369332"/>
          </a:xfrm>
          <a:prstGeom prst="rect">
            <a:avLst/>
          </a:prstGeom>
        </p:spPr>
        <p:txBody>
          <a:bodyPr wrap="square">
            <a:spAutoFit/>
          </a:bodyPr>
          <a:lstStyle/>
          <a:p>
            <a:r>
              <a:rPr lang="en-US" b="1" dirty="0">
                <a:solidFill>
                  <a:schemeClr val="accent4"/>
                </a:solidFill>
                <a:latin typeface="+mj-lt"/>
              </a:rPr>
              <a:t>2020</a:t>
            </a:r>
            <a:endParaRPr lang="en-US" sz="2000" dirty="0"/>
          </a:p>
        </p:txBody>
      </p:sp>
      <p:sp>
        <p:nvSpPr>
          <p:cNvPr id="82" name="Rectangle 81"/>
          <p:cNvSpPr/>
          <p:nvPr/>
        </p:nvSpPr>
        <p:spPr>
          <a:xfrm>
            <a:off x="9118548" y="4772081"/>
            <a:ext cx="364623" cy="16370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83" name="Rectangle 82"/>
          <p:cNvSpPr/>
          <p:nvPr/>
        </p:nvSpPr>
        <p:spPr>
          <a:xfrm>
            <a:off x="9118548" y="4983567"/>
            <a:ext cx="364623" cy="1637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84" name="Rectangle 83"/>
          <p:cNvSpPr/>
          <p:nvPr/>
        </p:nvSpPr>
        <p:spPr>
          <a:xfrm>
            <a:off x="9118548" y="4560596"/>
            <a:ext cx="364623" cy="16370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85" name="Rectangle 84"/>
          <p:cNvSpPr/>
          <p:nvPr/>
        </p:nvSpPr>
        <p:spPr>
          <a:xfrm>
            <a:off x="9479022" y="4893471"/>
            <a:ext cx="1787517" cy="261610"/>
          </a:xfrm>
          <a:prstGeom prst="rect">
            <a:avLst/>
          </a:prstGeom>
        </p:spPr>
        <p:txBody>
          <a:bodyPr wrap="square">
            <a:spAutoFit/>
          </a:bodyPr>
          <a:lstStyle/>
          <a:p>
            <a:r>
              <a:rPr lang="en-US" sz="1100" dirty="0">
                <a:solidFill>
                  <a:schemeClr val="accent4"/>
                </a:solidFill>
                <a:latin typeface="+mj-lt"/>
              </a:rPr>
              <a:t>Mature Systems (ERP)</a:t>
            </a:r>
            <a:endParaRPr lang="en-US" sz="1200" dirty="0"/>
          </a:p>
        </p:txBody>
      </p:sp>
      <p:cxnSp>
        <p:nvCxnSpPr>
          <p:cNvPr id="86" name="Straight Connector 85"/>
          <p:cNvCxnSpPr/>
          <p:nvPr/>
        </p:nvCxnSpPr>
        <p:spPr>
          <a:xfrm flipH="1" flipV="1">
            <a:off x="5806207" y="2683266"/>
            <a:ext cx="1" cy="2508954"/>
          </a:xfrm>
          <a:prstGeom prst="line">
            <a:avLst/>
          </a:prstGeom>
        </p:spPr>
        <p:style>
          <a:lnRef idx="1">
            <a:schemeClr val="accent1"/>
          </a:lnRef>
          <a:fillRef idx="0">
            <a:schemeClr val="accent1"/>
          </a:fillRef>
          <a:effectRef idx="0">
            <a:schemeClr val="accent1"/>
          </a:effectRef>
          <a:fontRef idx="minor">
            <a:schemeClr val="tx1"/>
          </a:fontRef>
        </p:style>
      </p:cxnSp>
      <p:sp>
        <p:nvSpPr>
          <p:cNvPr id="87" name="Rectangle 86"/>
          <p:cNvSpPr/>
          <p:nvPr/>
        </p:nvSpPr>
        <p:spPr>
          <a:xfrm rot="16200000">
            <a:off x="4388796" y="3803725"/>
            <a:ext cx="2393448" cy="338554"/>
          </a:xfrm>
          <a:prstGeom prst="rect">
            <a:avLst/>
          </a:prstGeom>
        </p:spPr>
        <p:txBody>
          <a:bodyPr wrap="square">
            <a:spAutoFit/>
          </a:bodyPr>
          <a:lstStyle/>
          <a:p>
            <a:r>
              <a:rPr lang="en-US" sz="1600" dirty="0">
                <a:solidFill>
                  <a:schemeClr val="accent4"/>
                </a:solidFill>
                <a:latin typeface="+mj-lt"/>
              </a:rPr>
              <a:t>Applications percentage</a:t>
            </a:r>
            <a:endParaRPr lang="en-US" dirty="0"/>
          </a:p>
        </p:txBody>
      </p:sp>
      <p:sp>
        <p:nvSpPr>
          <p:cNvPr id="88" name="TextBox 1"/>
          <p:cNvSpPr txBox="1"/>
          <p:nvPr/>
        </p:nvSpPr>
        <p:spPr>
          <a:xfrm>
            <a:off x="5566634" y="2594885"/>
            <a:ext cx="192343" cy="154672"/>
          </a:xfrm>
          <a:prstGeom prst="rect">
            <a:avLst/>
          </a:prstGeom>
          <a:noFill/>
        </p:spPr>
        <p:txBody>
          <a:bodyPr wrap="none" lIns="0" tIns="36576"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85000"/>
              </a:lnSpc>
              <a:spcAft>
                <a:spcPts val="600"/>
              </a:spcAft>
              <a:buClr>
                <a:schemeClr val="accent2"/>
              </a:buClr>
              <a:buSzPct val="70000"/>
            </a:pPr>
            <a:r>
              <a:rPr lang="en-GB" sz="900" dirty="0">
                <a:solidFill>
                  <a:schemeClr val="tx1"/>
                </a:solidFill>
              </a:rPr>
              <a:t>100</a:t>
            </a:r>
          </a:p>
        </p:txBody>
      </p:sp>
      <p:sp>
        <p:nvSpPr>
          <p:cNvPr id="90" name="TextBox 1"/>
          <p:cNvSpPr txBox="1"/>
          <p:nvPr/>
        </p:nvSpPr>
        <p:spPr>
          <a:xfrm>
            <a:off x="5533317" y="5050703"/>
            <a:ext cx="64120" cy="154658"/>
          </a:xfrm>
          <a:prstGeom prst="rect">
            <a:avLst/>
          </a:prstGeom>
          <a:noFill/>
        </p:spPr>
        <p:txBody>
          <a:bodyPr wrap="none" lIns="0" tIns="36576"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85000"/>
              </a:lnSpc>
              <a:spcAft>
                <a:spcPts val="600"/>
              </a:spcAft>
              <a:buClr>
                <a:schemeClr val="accent2"/>
              </a:buClr>
              <a:buSzPct val="70000"/>
            </a:pPr>
            <a:r>
              <a:rPr lang="en-GB" sz="900" dirty="0">
                <a:solidFill>
                  <a:schemeClr val="tx1"/>
                </a:solidFill>
              </a:rPr>
              <a:t>0</a:t>
            </a:r>
          </a:p>
        </p:txBody>
      </p:sp>
      <p:sp>
        <p:nvSpPr>
          <p:cNvPr id="91" name="Rectangle 90"/>
          <p:cNvSpPr/>
          <p:nvPr/>
        </p:nvSpPr>
        <p:spPr>
          <a:xfrm>
            <a:off x="9503250" y="4692441"/>
            <a:ext cx="2037597" cy="261610"/>
          </a:xfrm>
          <a:prstGeom prst="rect">
            <a:avLst/>
          </a:prstGeom>
        </p:spPr>
        <p:txBody>
          <a:bodyPr wrap="square">
            <a:spAutoFit/>
          </a:bodyPr>
          <a:lstStyle/>
          <a:p>
            <a:r>
              <a:rPr lang="en-US" sz="1100" dirty="0">
                <a:solidFill>
                  <a:schemeClr val="accent4"/>
                </a:solidFill>
                <a:latin typeface="+mj-lt"/>
              </a:rPr>
              <a:t>Legacy Systems</a:t>
            </a:r>
            <a:endParaRPr lang="en-US" sz="1200" dirty="0"/>
          </a:p>
        </p:txBody>
      </p:sp>
      <p:sp>
        <p:nvSpPr>
          <p:cNvPr id="92" name="Rectangle 91"/>
          <p:cNvSpPr/>
          <p:nvPr/>
        </p:nvSpPr>
        <p:spPr>
          <a:xfrm>
            <a:off x="9515463" y="4476658"/>
            <a:ext cx="2228862" cy="261610"/>
          </a:xfrm>
          <a:prstGeom prst="rect">
            <a:avLst/>
          </a:prstGeom>
        </p:spPr>
        <p:txBody>
          <a:bodyPr wrap="square">
            <a:spAutoFit/>
          </a:bodyPr>
          <a:lstStyle/>
          <a:p>
            <a:r>
              <a:rPr lang="en-US" sz="1100" dirty="0">
                <a:solidFill>
                  <a:schemeClr val="accent4"/>
                </a:solidFill>
                <a:latin typeface="+mj-lt"/>
              </a:rPr>
              <a:t>Brand new Systems</a:t>
            </a:r>
            <a:endParaRPr lang="en-US" sz="1200" dirty="0"/>
          </a:p>
        </p:txBody>
      </p:sp>
      <p:sp>
        <p:nvSpPr>
          <p:cNvPr id="43"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effectiveness review assessment</a:t>
            </a:r>
          </a:p>
        </p:txBody>
      </p:sp>
      <p:sp>
        <p:nvSpPr>
          <p:cNvPr id="42" name="Rectangle 41"/>
          <p:cNvSpPr/>
          <p:nvPr/>
        </p:nvSpPr>
        <p:spPr>
          <a:xfrm>
            <a:off x="529245" y="753601"/>
            <a:ext cx="2710999" cy="369332"/>
          </a:xfrm>
          <a:prstGeom prst="rect">
            <a:avLst/>
          </a:prstGeom>
        </p:spPr>
        <p:txBody>
          <a:bodyPr wrap="none">
            <a:spAutoFit/>
          </a:bodyPr>
          <a:lstStyle/>
          <a:p>
            <a:r>
              <a:rPr lang="en-US" b="1" dirty="0">
                <a:solidFill>
                  <a:schemeClr val="accent5">
                    <a:lumMod val="50000"/>
                  </a:schemeClr>
                </a:solidFill>
              </a:rPr>
              <a:t>Application Landscape</a:t>
            </a:r>
          </a:p>
        </p:txBody>
      </p:sp>
      <p:sp>
        <p:nvSpPr>
          <p:cNvPr id="47" name="Rectangle 46"/>
          <p:cNvSpPr/>
          <p:nvPr/>
        </p:nvSpPr>
        <p:spPr>
          <a:xfrm>
            <a:off x="638800" y="5584691"/>
            <a:ext cx="10354319" cy="925704"/>
          </a:xfrm>
          <a:prstGeom prst="rect">
            <a:avLst/>
          </a:prstGeom>
          <a:solidFill>
            <a:schemeClr val="bg1"/>
          </a:solidFill>
          <a:ln w="9525" cap="flat" cmpd="sng" algn="ctr">
            <a:noFill/>
            <a:prstDash val="solid"/>
          </a:ln>
          <a:effectLst/>
          <a:scene3d>
            <a:camera prst="orthographicFront"/>
            <a:lightRig rig="threePt" dir="t"/>
          </a:scene3d>
          <a:sp3d>
            <a:bevelT w="165100" prst="coolSlant"/>
          </a:sp3d>
        </p:spPr>
        <p:txBody>
          <a:bodyPr lIns="365760" tIns="91440" rIns="182880" bIns="91440" rtlCol="0" anchor="ctr" anchorCtr="0"/>
          <a:lstStyle/>
          <a:p>
            <a:pPr algn="ctr">
              <a:defRPr/>
            </a:pPr>
            <a:r>
              <a:rPr lang="en-US" sz="1600" kern="0" dirty="0"/>
              <a:t>ITD needs to embrace the next generation of technology trends &amp; operating models, to digitize legacy and increase the organization's agility and cost efficiency</a:t>
            </a:r>
          </a:p>
        </p:txBody>
      </p:sp>
      <p:sp>
        <p:nvSpPr>
          <p:cNvPr id="50" name="Oval 49"/>
          <p:cNvSpPr/>
          <p:nvPr/>
        </p:nvSpPr>
        <p:spPr>
          <a:xfrm>
            <a:off x="713091" y="5944891"/>
            <a:ext cx="116742" cy="226770"/>
          </a:xfrm>
          <a:prstGeom prst="ellipse">
            <a:avLst/>
          </a:prstGeom>
          <a:solidFill>
            <a:srgbClr val="FFFFFF"/>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ea typeface="+mn-ea"/>
              <a:cs typeface="+mn-cs"/>
            </a:endParaRPr>
          </a:p>
        </p:txBody>
      </p:sp>
      <p:sp>
        <p:nvSpPr>
          <p:cNvPr id="51" name="Rounded Rectangle 50"/>
          <p:cNvSpPr/>
          <p:nvPr/>
        </p:nvSpPr>
        <p:spPr>
          <a:xfrm>
            <a:off x="404876" y="6001584"/>
            <a:ext cx="393560" cy="113385"/>
          </a:xfrm>
          <a:prstGeom prst="roundRect">
            <a:avLst>
              <a:gd name="adj" fmla="val 50000"/>
            </a:avLst>
          </a:prstGeom>
          <a:solidFill>
            <a:srgbClr val="C0C0C0"/>
          </a:solidFill>
          <a:ln w="9525" cap="flat" cmpd="sng" algn="ctr">
            <a:noFill/>
            <a:prstDash val="solid"/>
          </a:ln>
          <a:effectLst/>
          <a:scene3d>
            <a:camera prst="orthographicFront"/>
            <a:lightRig rig="threePt" dir="t"/>
          </a:scene3d>
          <a:sp3d>
            <a:bevelT w="165100" prst="coolSlant"/>
          </a:sp3d>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ea typeface="+mn-ea"/>
              <a:cs typeface="+mn-cs"/>
            </a:endParaRPr>
          </a:p>
        </p:txBody>
      </p:sp>
    </p:spTree>
    <p:extLst>
      <p:ext uri="{BB962C8B-B14F-4D97-AF65-F5344CB8AC3E}">
        <p14:creationId xmlns:p14="http://schemas.microsoft.com/office/powerpoint/2010/main" val="2622907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561995" y="1128695"/>
            <a:ext cx="10538827" cy="646331"/>
          </a:xfrm>
          <a:prstGeom prst="rect">
            <a:avLst/>
          </a:prstGeom>
        </p:spPr>
        <p:txBody>
          <a:bodyPr wrap="square">
            <a:spAutoFit/>
          </a:bodyPr>
          <a:lstStyle/>
          <a:p>
            <a:r>
              <a:rPr lang="en-GB" sz="1200" dirty="0"/>
              <a:t>The Innovation </a:t>
            </a:r>
            <a:r>
              <a:rPr lang="en-US" sz="1200" dirty="0"/>
              <a:t>function and culture need to be built within the IT Division to be able to provide recommendations based on disruptive technologies, leading trends and changes that can impact the business and technological landscape</a:t>
            </a:r>
          </a:p>
          <a:p>
            <a:endParaRPr lang="en-US" sz="1200" dirty="0"/>
          </a:p>
        </p:txBody>
      </p:sp>
      <p:sp>
        <p:nvSpPr>
          <p:cNvPr id="9" name="Rectangle 8"/>
          <p:cNvSpPr/>
          <p:nvPr/>
        </p:nvSpPr>
        <p:spPr>
          <a:xfrm>
            <a:off x="637331" y="1841770"/>
            <a:ext cx="2387083" cy="4697255"/>
          </a:xfrm>
          <a:prstGeom prst="rect">
            <a:avLst/>
          </a:prstGeom>
          <a:solidFill>
            <a:schemeClr val="accent2"/>
          </a:solidFill>
          <a:ln w="9525" cap="flat" cmpd="sng" algn="ctr">
            <a:noFill/>
            <a:prstDash val="solid"/>
          </a:ln>
          <a:effectLst/>
          <a:scene3d>
            <a:camera prst="orthographicFront"/>
            <a:lightRig rig="threePt" dir="t"/>
          </a:scene3d>
          <a:sp3d>
            <a:bevelT w="165100" prst="coolSlant"/>
          </a:sp3d>
        </p:spPr>
        <p:txBody>
          <a:bodyPr lIns="365760" tIns="91440" rIns="182880" bIns="91440" rtlCol="0" anchor="ctr" anchorCtr="0"/>
          <a:lstStyle/>
          <a:p>
            <a:pPr algn="ctr"/>
            <a:endParaRPr lang="en-US" sz="1600" kern="0" dirty="0" err="1">
              <a:solidFill>
                <a:schemeClr val="tx1"/>
              </a:solidFill>
            </a:endParaRPr>
          </a:p>
        </p:txBody>
      </p:sp>
      <p:sp>
        <p:nvSpPr>
          <p:cNvPr id="5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effectiveness review assessment</a:t>
            </a:r>
          </a:p>
          <a:p>
            <a:endParaRPr lang="en-US" sz="3200" dirty="0"/>
          </a:p>
        </p:txBody>
      </p:sp>
      <p:sp>
        <p:nvSpPr>
          <p:cNvPr id="60" name="Rectangle 59"/>
          <p:cNvSpPr/>
          <p:nvPr/>
        </p:nvSpPr>
        <p:spPr>
          <a:xfrm>
            <a:off x="529245" y="753601"/>
            <a:ext cx="5570756" cy="369332"/>
          </a:xfrm>
          <a:prstGeom prst="rect">
            <a:avLst/>
          </a:prstGeom>
        </p:spPr>
        <p:txBody>
          <a:bodyPr wrap="none">
            <a:spAutoFit/>
          </a:bodyPr>
          <a:lstStyle/>
          <a:p>
            <a:pPr>
              <a:spcBef>
                <a:spcPts val="300"/>
              </a:spcBef>
              <a:spcAft>
                <a:spcPts val="300"/>
              </a:spcAft>
              <a:defRPr/>
            </a:pPr>
            <a:r>
              <a:rPr lang="en-US" b="1" kern="0" dirty="0">
                <a:solidFill>
                  <a:schemeClr val="accent4"/>
                </a:solidFill>
              </a:rPr>
              <a:t>Innovation management function is non-existent </a:t>
            </a:r>
          </a:p>
        </p:txBody>
      </p:sp>
      <p:sp>
        <p:nvSpPr>
          <p:cNvPr id="2" name="Rectangle 1"/>
          <p:cNvSpPr/>
          <p:nvPr/>
        </p:nvSpPr>
        <p:spPr>
          <a:xfrm>
            <a:off x="3991682" y="2095606"/>
            <a:ext cx="7013347" cy="535531"/>
          </a:xfrm>
          <a:prstGeom prst="rect">
            <a:avLst/>
          </a:prstGeom>
        </p:spPr>
        <p:txBody>
          <a:bodyPr wrap="square">
            <a:spAutoFit/>
          </a:bodyPr>
          <a:lstStyle/>
          <a:p>
            <a:pPr marL="0" lvl="1">
              <a:lnSpc>
                <a:spcPct val="90000"/>
              </a:lnSpc>
              <a:spcBef>
                <a:spcPts val="250"/>
              </a:spcBef>
              <a:buClr>
                <a:srgbClr val="FFD200"/>
              </a:buClr>
              <a:buSzPct val="75000"/>
              <a:defRPr/>
            </a:pPr>
            <a:r>
              <a:rPr lang="en-US" sz="1600" dirty="0">
                <a:solidFill>
                  <a:schemeClr val="accent4"/>
                </a:solidFill>
                <a:latin typeface="EYInterstate"/>
              </a:rPr>
              <a:t>Digital strategy is being recently formed by the</a:t>
            </a:r>
            <a:r>
              <a:rPr lang="en-US" sz="1600" kern="0" dirty="0">
                <a:solidFill>
                  <a:schemeClr val="accent4"/>
                </a:solidFill>
                <a:latin typeface="EYInterstate"/>
              </a:rPr>
              <a:t> Corporate Excellence  Division </a:t>
            </a:r>
            <a:r>
              <a:rPr lang="en-US" sz="1600" dirty="0">
                <a:solidFill>
                  <a:schemeClr val="accent4"/>
                </a:solidFill>
                <a:latin typeface="EYInterstate"/>
              </a:rPr>
              <a:t>and in its infancy stage </a:t>
            </a:r>
            <a:endParaRPr lang="en-US" sz="1600" kern="0" dirty="0">
              <a:solidFill>
                <a:schemeClr val="accent4"/>
              </a:solidFill>
            </a:endParaRPr>
          </a:p>
        </p:txBody>
      </p:sp>
      <p:grpSp>
        <p:nvGrpSpPr>
          <p:cNvPr id="10" name="Group 9"/>
          <p:cNvGrpSpPr/>
          <p:nvPr/>
        </p:nvGrpSpPr>
        <p:grpSpPr>
          <a:xfrm>
            <a:off x="1100239" y="3219516"/>
            <a:ext cx="1440000" cy="1440000"/>
            <a:chOff x="796704" y="3102550"/>
            <a:chExt cx="1440000" cy="1440000"/>
          </a:xfrm>
        </p:grpSpPr>
        <p:sp>
          <p:nvSpPr>
            <p:cNvPr id="72" name="Oval 71"/>
            <p:cNvSpPr>
              <a:spLocks noChangeAspect="1"/>
            </p:cNvSpPr>
            <p:nvPr/>
          </p:nvSpPr>
          <p:spPr>
            <a:xfrm>
              <a:off x="796704" y="3102550"/>
              <a:ext cx="1440000" cy="1440000"/>
            </a:xfrm>
            <a:prstGeom prst="ellipse">
              <a:avLst/>
            </a:prstGeom>
            <a:solidFill>
              <a:srgbClr val="FFFFFF"/>
            </a:solidFill>
            <a:ln w="76200" cap="flat" cmpd="sng" algn="ctr">
              <a:solidFill>
                <a:schemeClr val="tx2"/>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EYInterstate" panose="02000503020000020004" pitchFamily="2" charset="0"/>
                <a:ea typeface="+mn-ea"/>
                <a:cs typeface="Arial" panose="020B0604020202020204" pitchFamily="34" charset="0"/>
              </a:endParaRPr>
            </a:p>
          </p:txBody>
        </p:sp>
        <p:sp>
          <p:nvSpPr>
            <p:cNvPr id="73" name="TextBox 72"/>
            <p:cNvSpPr txBox="1"/>
            <p:nvPr/>
          </p:nvSpPr>
          <p:spPr>
            <a:xfrm>
              <a:off x="875534" y="3657442"/>
              <a:ext cx="1282339" cy="298543"/>
            </a:xfrm>
            <a:prstGeom prst="rect">
              <a:avLst/>
            </a:prstGeom>
            <a:noFill/>
          </p:spPr>
          <p:txBody>
            <a:bodyPr wrap="none" lIns="0" tIns="36576" rIns="0" bIns="0" rtlCol="0">
              <a:spAutoFit/>
            </a:bodyPr>
            <a:lstStyle/>
            <a:p>
              <a:pPr algn="ctr">
                <a:lnSpc>
                  <a:spcPct val="85000"/>
                </a:lnSpc>
                <a:spcAft>
                  <a:spcPts val="600"/>
                </a:spcAft>
                <a:buClr>
                  <a:srgbClr val="FFD200"/>
                </a:buClr>
                <a:buSzPct val="70000"/>
              </a:pPr>
              <a:r>
                <a:rPr lang="en-GB" sz="2000" b="1" dirty="0">
                  <a:solidFill>
                    <a:srgbClr val="646464"/>
                  </a:solidFill>
                  <a:latin typeface="EYInterstate" panose="02000503020000020004" pitchFamily="2" charset="0"/>
                  <a:cs typeface="Arial" panose="020B0604020202020204" pitchFamily="34" charset="0"/>
                </a:rPr>
                <a:t>Innovation</a:t>
              </a:r>
            </a:p>
          </p:txBody>
        </p:sp>
      </p:grpSp>
      <p:sp>
        <p:nvSpPr>
          <p:cNvPr id="115" name="Textfeld 449">
            <a:extLst>
              <a:ext uri="{FF2B5EF4-FFF2-40B4-BE49-F238E27FC236}">
                <a16:creationId xmlns:a16="http://schemas.microsoft.com/office/drawing/2014/main" id="{9E17166D-497B-4EED-AB81-EF4D0FCBCD47}"/>
              </a:ext>
            </a:extLst>
          </p:cNvPr>
          <p:cNvSpPr txBox="1"/>
          <p:nvPr>
            <p:custDataLst>
              <p:tags r:id="rId1"/>
            </p:custDataLst>
          </p:nvPr>
        </p:nvSpPr>
        <p:spPr bwMode="gray">
          <a:xfrm>
            <a:off x="860079" y="5035719"/>
            <a:ext cx="1957017" cy="1367776"/>
          </a:xfrm>
          <a:prstGeom prst="rect">
            <a:avLst/>
          </a:prstGeom>
          <a:noFill/>
          <a:ln>
            <a:noFill/>
          </a:ln>
        </p:spPr>
        <p:txBody>
          <a:bodyPr wrap="square" lIns="0" tIns="0" rIns="0" bIns="82800" rtlCol="0" anchor="b" anchorCtr="0">
            <a:noAutofit/>
          </a:bodyPr>
          <a:lstStyle/>
          <a:p>
            <a:pPr algn="ctr" defTabSz="914239">
              <a:spcBef>
                <a:spcPts val="400"/>
              </a:spcBef>
              <a:buClr>
                <a:srgbClr val="FFD200"/>
              </a:buClr>
              <a:buSzPct val="70000"/>
              <a:defRPr/>
            </a:pPr>
            <a:r>
              <a:rPr lang="en-GB" sz="1600" b="1" kern="0" dirty="0">
                <a:solidFill>
                  <a:schemeClr val="bg1"/>
                </a:solidFill>
              </a:rPr>
              <a:t>Innovation focused IT will grow to enable the features of the Digital</a:t>
            </a:r>
          </a:p>
        </p:txBody>
      </p:sp>
      <p:sp>
        <p:nvSpPr>
          <p:cNvPr id="306" name="Freeform 78">
            <a:extLst>
              <a:ext uri="{FF2B5EF4-FFF2-40B4-BE49-F238E27FC236}">
                <a16:creationId xmlns:a16="http://schemas.microsoft.com/office/drawing/2014/main" id="{8B0634E1-64AC-41AE-826C-E29FDB37AA90}"/>
              </a:ext>
            </a:extLst>
          </p:cNvPr>
          <p:cNvSpPr>
            <a:spLocks noChangeAspect="1" noEditPoints="1"/>
          </p:cNvSpPr>
          <p:nvPr>
            <p:custDataLst>
              <p:tags r:id="rId2"/>
            </p:custDataLst>
          </p:nvPr>
        </p:nvSpPr>
        <p:spPr bwMode="gray">
          <a:xfrm>
            <a:off x="806548" y="2059627"/>
            <a:ext cx="507177" cy="504000"/>
          </a:xfrm>
          <a:custGeom>
            <a:avLst/>
            <a:gdLst>
              <a:gd name="T0" fmla="*/ 2147483647 w 4790"/>
              <a:gd name="T1" fmla="*/ 2147483647 h 4763"/>
              <a:gd name="T2" fmla="*/ 2147483647 w 4790"/>
              <a:gd name="T3" fmla="*/ 2147483647 h 4763"/>
              <a:gd name="T4" fmla="*/ 2147483647 w 4790"/>
              <a:gd name="T5" fmla="*/ 2147483647 h 4763"/>
              <a:gd name="T6" fmla="*/ 2147483647 w 4790"/>
              <a:gd name="T7" fmla="*/ 2147483647 h 4763"/>
              <a:gd name="T8" fmla="*/ 2147483647 w 4790"/>
              <a:gd name="T9" fmla="*/ 2147483647 h 4763"/>
              <a:gd name="T10" fmla="*/ 2147483647 w 4790"/>
              <a:gd name="T11" fmla="*/ 2147483647 h 4763"/>
              <a:gd name="T12" fmla="*/ 2147483647 w 4790"/>
              <a:gd name="T13" fmla="*/ 2147483647 h 4763"/>
              <a:gd name="T14" fmla="*/ 2147483647 w 4790"/>
              <a:gd name="T15" fmla="*/ 2147483647 h 4763"/>
              <a:gd name="T16" fmla="*/ 2147483647 w 4790"/>
              <a:gd name="T17" fmla="*/ 2147483647 h 4763"/>
              <a:gd name="T18" fmla="*/ 2147483647 w 4790"/>
              <a:gd name="T19" fmla="*/ 2147483647 h 4763"/>
              <a:gd name="T20" fmla="*/ 2147483647 w 4790"/>
              <a:gd name="T21" fmla="*/ 2147483647 h 4763"/>
              <a:gd name="T22" fmla="*/ 2147483647 w 4790"/>
              <a:gd name="T23" fmla="*/ 2147483647 h 4763"/>
              <a:gd name="T24" fmla="*/ 2147483647 w 4790"/>
              <a:gd name="T25" fmla="*/ 2147483647 h 4763"/>
              <a:gd name="T26" fmla="*/ 2147483647 w 4790"/>
              <a:gd name="T27" fmla="*/ 2147483647 h 4763"/>
              <a:gd name="T28" fmla="*/ 2147483647 w 4790"/>
              <a:gd name="T29" fmla="*/ 2147483647 h 4763"/>
              <a:gd name="T30" fmla="*/ 2147483647 w 4790"/>
              <a:gd name="T31" fmla="*/ 0 h 4763"/>
              <a:gd name="T32" fmla="*/ 2147483647 w 4790"/>
              <a:gd name="T33" fmla="*/ 2147483647 h 4763"/>
              <a:gd name="T34" fmla="*/ 2147483647 w 4790"/>
              <a:gd name="T35" fmla="*/ 2147483647 h 4763"/>
              <a:gd name="T36" fmla="*/ 2147483647 w 4790"/>
              <a:gd name="T37" fmla="*/ 2147483647 h 4763"/>
              <a:gd name="T38" fmla="*/ 2147483647 w 4790"/>
              <a:gd name="T39" fmla="*/ 2147483647 h 4763"/>
              <a:gd name="T40" fmla="*/ 2147483647 w 4790"/>
              <a:gd name="T41" fmla="*/ 2147483647 h 4763"/>
              <a:gd name="T42" fmla="*/ 2147483647 w 4790"/>
              <a:gd name="T43" fmla="*/ 2147483647 h 4763"/>
              <a:gd name="T44" fmla="*/ 2147483647 w 4790"/>
              <a:gd name="T45" fmla="*/ 2147483647 h 4763"/>
              <a:gd name="T46" fmla="*/ 2147483647 w 4790"/>
              <a:gd name="T47" fmla="*/ 2147483647 h 4763"/>
              <a:gd name="T48" fmla="*/ 2147483647 w 4790"/>
              <a:gd name="T49" fmla="*/ 2147483647 h 4763"/>
              <a:gd name="T50" fmla="*/ 2147483647 w 4790"/>
              <a:gd name="T51" fmla="*/ 2147483647 h 4763"/>
              <a:gd name="T52" fmla="*/ 2147483647 w 4790"/>
              <a:gd name="T53" fmla="*/ 2147483647 h 4763"/>
              <a:gd name="T54" fmla="*/ 2147483647 w 4790"/>
              <a:gd name="T55" fmla="*/ 2147483647 h 4763"/>
              <a:gd name="T56" fmla="*/ 2147483647 w 4790"/>
              <a:gd name="T57" fmla="*/ 2147483647 h 4763"/>
              <a:gd name="T58" fmla="*/ 2147483647 w 4790"/>
              <a:gd name="T59" fmla="*/ 2147483647 h 4763"/>
              <a:gd name="T60" fmla="*/ 2147483647 w 4790"/>
              <a:gd name="T61" fmla="*/ 2147483647 h 4763"/>
              <a:gd name="T62" fmla="*/ 2147483647 w 4790"/>
              <a:gd name="T63" fmla="*/ 2147483647 h 4763"/>
              <a:gd name="T64" fmla="*/ 2147483647 w 4790"/>
              <a:gd name="T65" fmla="*/ 2147483647 h 4763"/>
              <a:gd name="T66" fmla="*/ 2147483647 w 4790"/>
              <a:gd name="T67" fmla="*/ 2147483647 h 4763"/>
              <a:gd name="T68" fmla="*/ 2147483647 w 4790"/>
              <a:gd name="T69" fmla="*/ 2147483647 h 4763"/>
              <a:gd name="T70" fmla="*/ 2147483647 w 4790"/>
              <a:gd name="T71" fmla="*/ 2147483647 h 4763"/>
              <a:gd name="T72" fmla="*/ 2147483647 w 4790"/>
              <a:gd name="T73" fmla="*/ 2147483647 h 4763"/>
              <a:gd name="T74" fmla="*/ 2147483647 w 4790"/>
              <a:gd name="T75" fmla="*/ 2147483647 h 4763"/>
              <a:gd name="T76" fmla="*/ 2147483647 w 4790"/>
              <a:gd name="T77" fmla="*/ 2147483647 h 4763"/>
              <a:gd name="T78" fmla="*/ 2147483647 w 4790"/>
              <a:gd name="T79" fmla="*/ 2147483647 h 4763"/>
              <a:gd name="T80" fmla="*/ 2147483647 w 4790"/>
              <a:gd name="T81" fmla="*/ 2147483647 h 4763"/>
              <a:gd name="T82" fmla="*/ 2147483647 w 4790"/>
              <a:gd name="T83" fmla="*/ 2147483647 h 4763"/>
              <a:gd name="T84" fmla="*/ 2147483647 w 4790"/>
              <a:gd name="T85" fmla="*/ 2147483647 h 4763"/>
              <a:gd name="T86" fmla="*/ 2147483647 w 4790"/>
              <a:gd name="T87" fmla="*/ 2147483647 h 4763"/>
              <a:gd name="T88" fmla="*/ 2147483647 w 4790"/>
              <a:gd name="T89" fmla="*/ 2147483647 h 4763"/>
              <a:gd name="T90" fmla="*/ 2147483647 w 4790"/>
              <a:gd name="T91" fmla="*/ 2147483647 h 4763"/>
              <a:gd name="T92" fmla="*/ 2147483647 w 4790"/>
              <a:gd name="T93" fmla="*/ 2147483647 h 4763"/>
              <a:gd name="T94" fmla="*/ 2147483647 w 4790"/>
              <a:gd name="T95" fmla="*/ 2147483647 h 4763"/>
              <a:gd name="T96" fmla="*/ 2147483647 w 4790"/>
              <a:gd name="T97" fmla="*/ 2147483647 h 4763"/>
              <a:gd name="T98" fmla="*/ 2147483647 w 4790"/>
              <a:gd name="T99" fmla="*/ 2147483647 h 4763"/>
              <a:gd name="T100" fmla="*/ 2147483647 w 4790"/>
              <a:gd name="T101" fmla="*/ 2147483647 h 4763"/>
              <a:gd name="T102" fmla="*/ 2147483647 w 4790"/>
              <a:gd name="T103" fmla="*/ 2147483647 h 4763"/>
              <a:gd name="T104" fmla="*/ 2147483647 w 4790"/>
              <a:gd name="T105" fmla="*/ 2147483647 h 4763"/>
              <a:gd name="T106" fmla="*/ 2147483647 w 4790"/>
              <a:gd name="T107" fmla="*/ 2147483647 h 4763"/>
              <a:gd name="T108" fmla="*/ 2147483647 w 4790"/>
              <a:gd name="T109" fmla="*/ 2147483647 h 4763"/>
              <a:gd name="T110" fmla="*/ 2147483647 w 4790"/>
              <a:gd name="T111" fmla="*/ 2147483647 h 4763"/>
              <a:gd name="T112" fmla="*/ 2147483647 w 4790"/>
              <a:gd name="T113" fmla="*/ 2147483647 h 4763"/>
              <a:gd name="T114" fmla="*/ 2147483647 w 4790"/>
              <a:gd name="T115" fmla="*/ 2147483647 h 4763"/>
              <a:gd name="T116" fmla="*/ 2147483647 w 4790"/>
              <a:gd name="T117" fmla="*/ 2147483647 h 4763"/>
              <a:gd name="T118" fmla="*/ 2147483647 w 4790"/>
              <a:gd name="T119" fmla="*/ 2147483647 h 47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790"/>
              <a:gd name="T181" fmla="*/ 0 h 4763"/>
              <a:gd name="T182" fmla="*/ 4790 w 4790"/>
              <a:gd name="T183" fmla="*/ 4763 h 47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790" h="4763">
                <a:moveTo>
                  <a:pt x="2669" y="862"/>
                </a:moveTo>
                <a:lnTo>
                  <a:pt x="2669" y="1219"/>
                </a:lnTo>
                <a:lnTo>
                  <a:pt x="2569" y="1219"/>
                </a:lnTo>
                <a:lnTo>
                  <a:pt x="2569" y="862"/>
                </a:lnTo>
                <a:lnTo>
                  <a:pt x="2669" y="862"/>
                </a:lnTo>
                <a:close/>
                <a:moveTo>
                  <a:pt x="2441" y="862"/>
                </a:moveTo>
                <a:lnTo>
                  <a:pt x="2441" y="1219"/>
                </a:lnTo>
                <a:lnTo>
                  <a:pt x="2341" y="1219"/>
                </a:lnTo>
                <a:lnTo>
                  <a:pt x="2341" y="862"/>
                </a:lnTo>
                <a:lnTo>
                  <a:pt x="2441" y="862"/>
                </a:lnTo>
                <a:close/>
                <a:moveTo>
                  <a:pt x="2214" y="862"/>
                </a:moveTo>
                <a:lnTo>
                  <a:pt x="2214" y="1219"/>
                </a:lnTo>
                <a:lnTo>
                  <a:pt x="2115" y="1219"/>
                </a:lnTo>
                <a:lnTo>
                  <a:pt x="2115" y="862"/>
                </a:lnTo>
                <a:lnTo>
                  <a:pt x="2214" y="862"/>
                </a:lnTo>
                <a:close/>
                <a:moveTo>
                  <a:pt x="2081" y="2490"/>
                </a:moveTo>
                <a:lnTo>
                  <a:pt x="1783" y="973"/>
                </a:lnTo>
                <a:lnTo>
                  <a:pt x="2029" y="973"/>
                </a:lnTo>
                <a:lnTo>
                  <a:pt x="2029" y="1072"/>
                </a:lnTo>
                <a:lnTo>
                  <a:pt x="1904" y="1072"/>
                </a:lnTo>
                <a:lnTo>
                  <a:pt x="2178" y="2471"/>
                </a:lnTo>
                <a:lnTo>
                  <a:pt x="2081" y="2490"/>
                </a:lnTo>
                <a:close/>
                <a:moveTo>
                  <a:pt x="2345" y="3271"/>
                </a:moveTo>
                <a:lnTo>
                  <a:pt x="2345" y="2596"/>
                </a:lnTo>
                <a:lnTo>
                  <a:pt x="2445" y="2596"/>
                </a:lnTo>
                <a:lnTo>
                  <a:pt x="2445" y="3271"/>
                </a:lnTo>
                <a:lnTo>
                  <a:pt x="2345" y="3271"/>
                </a:lnTo>
                <a:close/>
                <a:moveTo>
                  <a:pt x="1627" y="3271"/>
                </a:moveTo>
                <a:lnTo>
                  <a:pt x="1627" y="2698"/>
                </a:lnTo>
                <a:lnTo>
                  <a:pt x="1588" y="2673"/>
                </a:lnTo>
                <a:lnTo>
                  <a:pt x="1551" y="2648"/>
                </a:lnTo>
                <a:lnTo>
                  <a:pt x="1513" y="2621"/>
                </a:lnTo>
                <a:lnTo>
                  <a:pt x="1478" y="2592"/>
                </a:lnTo>
                <a:lnTo>
                  <a:pt x="1443" y="2563"/>
                </a:lnTo>
                <a:lnTo>
                  <a:pt x="1409" y="2533"/>
                </a:lnTo>
                <a:lnTo>
                  <a:pt x="1376" y="2502"/>
                </a:lnTo>
                <a:lnTo>
                  <a:pt x="1344" y="2470"/>
                </a:lnTo>
                <a:lnTo>
                  <a:pt x="1313" y="2436"/>
                </a:lnTo>
                <a:lnTo>
                  <a:pt x="1283" y="2403"/>
                </a:lnTo>
                <a:lnTo>
                  <a:pt x="1254" y="2367"/>
                </a:lnTo>
                <a:lnTo>
                  <a:pt x="1227" y="2330"/>
                </a:lnTo>
                <a:lnTo>
                  <a:pt x="1199" y="2294"/>
                </a:lnTo>
                <a:lnTo>
                  <a:pt x="1174" y="2256"/>
                </a:lnTo>
                <a:lnTo>
                  <a:pt x="1150" y="2217"/>
                </a:lnTo>
                <a:lnTo>
                  <a:pt x="1126" y="2178"/>
                </a:lnTo>
                <a:lnTo>
                  <a:pt x="1105" y="2139"/>
                </a:lnTo>
                <a:lnTo>
                  <a:pt x="1084" y="2098"/>
                </a:lnTo>
                <a:lnTo>
                  <a:pt x="1064" y="2055"/>
                </a:lnTo>
                <a:lnTo>
                  <a:pt x="1046" y="2013"/>
                </a:lnTo>
                <a:lnTo>
                  <a:pt x="1029" y="1970"/>
                </a:lnTo>
                <a:lnTo>
                  <a:pt x="1014" y="1926"/>
                </a:lnTo>
                <a:lnTo>
                  <a:pt x="999" y="1882"/>
                </a:lnTo>
                <a:lnTo>
                  <a:pt x="986" y="1837"/>
                </a:lnTo>
                <a:lnTo>
                  <a:pt x="975" y="1791"/>
                </a:lnTo>
                <a:lnTo>
                  <a:pt x="965" y="1745"/>
                </a:lnTo>
                <a:lnTo>
                  <a:pt x="957" y="1699"/>
                </a:lnTo>
                <a:lnTo>
                  <a:pt x="949" y="1652"/>
                </a:lnTo>
                <a:lnTo>
                  <a:pt x="944" y="1604"/>
                </a:lnTo>
                <a:lnTo>
                  <a:pt x="940" y="1556"/>
                </a:lnTo>
                <a:lnTo>
                  <a:pt x="938" y="1507"/>
                </a:lnTo>
                <a:lnTo>
                  <a:pt x="937" y="1459"/>
                </a:lnTo>
                <a:lnTo>
                  <a:pt x="938" y="1421"/>
                </a:lnTo>
                <a:lnTo>
                  <a:pt x="939" y="1384"/>
                </a:lnTo>
                <a:lnTo>
                  <a:pt x="942" y="1346"/>
                </a:lnTo>
                <a:lnTo>
                  <a:pt x="944" y="1309"/>
                </a:lnTo>
                <a:lnTo>
                  <a:pt x="949" y="1273"/>
                </a:lnTo>
                <a:lnTo>
                  <a:pt x="954" y="1237"/>
                </a:lnTo>
                <a:lnTo>
                  <a:pt x="959" y="1201"/>
                </a:lnTo>
                <a:lnTo>
                  <a:pt x="966" y="1165"/>
                </a:lnTo>
                <a:lnTo>
                  <a:pt x="974" y="1130"/>
                </a:lnTo>
                <a:lnTo>
                  <a:pt x="983" y="1094"/>
                </a:lnTo>
                <a:lnTo>
                  <a:pt x="993" y="1060"/>
                </a:lnTo>
                <a:lnTo>
                  <a:pt x="1003" y="1025"/>
                </a:lnTo>
                <a:lnTo>
                  <a:pt x="1014" y="991"/>
                </a:lnTo>
                <a:lnTo>
                  <a:pt x="1025" y="957"/>
                </a:lnTo>
                <a:lnTo>
                  <a:pt x="1037" y="924"/>
                </a:lnTo>
                <a:lnTo>
                  <a:pt x="1051" y="891"/>
                </a:lnTo>
                <a:lnTo>
                  <a:pt x="1066" y="858"/>
                </a:lnTo>
                <a:lnTo>
                  <a:pt x="1081" y="826"/>
                </a:lnTo>
                <a:lnTo>
                  <a:pt x="1096" y="795"/>
                </a:lnTo>
                <a:lnTo>
                  <a:pt x="1113" y="764"/>
                </a:lnTo>
                <a:lnTo>
                  <a:pt x="1130" y="732"/>
                </a:lnTo>
                <a:lnTo>
                  <a:pt x="1148" y="702"/>
                </a:lnTo>
                <a:lnTo>
                  <a:pt x="1167" y="673"/>
                </a:lnTo>
                <a:lnTo>
                  <a:pt x="1186" y="643"/>
                </a:lnTo>
                <a:lnTo>
                  <a:pt x="1206" y="614"/>
                </a:lnTo>
                <a:lnTo>
                  <a:pt x="1227" y="587"/>
                </a:lnTo>
                <a:lnTo>
                  <a:pt x="1248" y="558"/>
                </a:lnTo>
                <a:lnTo>
                  <a:pt x="1270" y="531"/>
                </a:lnTo>
                <a:lnTo>
                  <a:pt x="1293" y="504"/>
                </a:lnTo>
                <a:lnTo>
                  <a:pt x="1315" y="478"/>
                </a:lnTo>
                <a:lnTo>
                  <a:pt x="1340" y="452"/>
                </a:lnTo>
                <a:lnTo>
                  <a:pt x="1364" y="427"/>
                </a:lnTo>
                <a:lnTo>
                  <a:pt x="1389" y="402"/>
                </a:lnTo>
                <a:lnTo>
                  <a:pt x="1415" y="379"/>
                </a:lnTo>
                <a:lnTo>
                  <a:pt x="1441" y="356"/>
                </a:lnTo>
                <a:lnTo>
                  <a:pt x="1467" y="334"/>
                </a:lnTo>
                <a:lnTo>
                  <a:pt x="1495" y="311"/>
                </a:lnTo>
                <a:lnTo>
                  <a:pt x="1523" y="290"/>
                </a:lnTo>
                <a:lnTo>
                  <a:pt x="1551" y="269"/>
                </a:lnTo>
                <a:lnTo>
                  <a:pt x="1579" y="249"/>
                </a:lnTo>
                <a:lnTo>
                  <a:pt x="1609" y="230"/>
                </a:lnTo>
                <a:lnTo>
                  <a:pt x="1639" y="212"/>
                </a:lnTo>
                <a:lnTo>
                  <a:pt x="1669" y="193"/>
                </a:lnTo>
                <a:lnTo>
                  <a:pt x="1700" y="176"/>
                </a:lnTo>
                <a:lnTo>
                  <a:pt x="1731" y="159"/>
                </a:lnTo>
                <a:lnTo>
                  <a:pt x="1762" y="144"/>
                </a:lnTo>
                <a:lnTo>
                  <a:pt x="1795" y="130"/>
                </a:lnTo>
                <a:lnTo>
                  <a:pt x="1827" y="115"/>
                </a:lnTo>
                <a:lnTo>
                  <a:pt x="1861" y="101"/>
                </a:lnTo>
                <a:lnTo>
                  <a:pt x="1894" y="88"/>
                </a:lnTo>
                <a:lnTo>
                  <a:pt x="1928" y="77"/>
                </a:lnTo>
                <a:lnTo>
                  <a:pt x="1962" y="66"/>
                </a:lnTo>
                <a:lnTo>
                  <a:pt x="1996" y="56"/>
                </a:lnTo>
                <a:lnTo>
                  <a:pt x="2030" y="46"/>
                </a:lnTo>
                <a:lnTo>
                  <a:pt x="2066" y="37"/>
                </a:lnTo>
                <a:lnTo>
                  <a:pt x="2101" y="30"/>
                </a:lnTo>
                <a:lnTo>
                  <a:pt x="2137" y="22"/>
                </a:lnTo>
                <a:lnTo>
                  <a:pt x="2173" y="17"/>
                </a:lnTo>
                <a:lnTo>
                  <a:pt x="2209" y="12"/>
                </a:lnTo>
                <a:lnTo>
                  <a:pt x="2246" y="7"/>
                </a:lnTo>
                <a:lnTo>
                  <a:pt x="2283" y="5"/>
                </a:lnTo>
                <a:lnTo>
                  <a:pt x="2320" y="2"/>
                </a:lnTo>
                <a:lnTo>
                  <a:pt x="2358" y="1"/>
                </a:lnTo>
                <a:lnTo>
                  <a:pt x="2395" y="0"/>
                </a:lnTo>
                <a:lnTo>
                  <a:pt x="2432" y="1"/>
                </a:lnTo>
                <a:lnTo>
                  <a:pt x="2470" y="2"/>
                </a:lnTo>
                <a:lnTo>
                  <a:pt x="2507" y="5"/>
                </a:lnTo>
                <a:lnTo>
                  <a:pt x="2544" y="7"/>
                </a:lnTo>
                <a:lnTo>
                  <a:pt x="2581" y="12"/>
                </a:lnTo>
                <a:lnTo>
                  <a:pt x="2617" y="17"/>
                </a:lnTo>
                <a:lnTo>
                  <a:pt x="2653" y="22"/>
                </a:lnTo>
                <a:lnTo>
                  <a:pt x="2689" y="30"/>
                </a:lnTo>
                <a:lnTo>
                  <a:pt x="2725" y="37"/>
                </a:lnTo>
                <a:lnTo>
                  <a:pt x="2760" y="46"/>
                </a:lnTo>
                <a:lnTo>
                  <a:pt x="2795" y="56"/>
                </a:lnTo>
                <a:lnTo>
                  <a:pt x="2828" y="66"/>
                </a:lnTo>
                <a:lnTo>
                  <a:pt x="2863" y="77"/>
                </a:lnTo>
                <a:lnTo>
                  <a:pt x="2897" y="88"/>
                </a:lnTo>
                <a:lnTo>
                  <a:pt x="2929" y="101"/>
                </a:lnTo>
                <a:lnTo>
                  <a:pt x="2963" y="115"/>
                </a:lnTo>
                <a:lnTo>
                  <a:pt x="2995" y="130"/>
                </a:lnTo>
                <a:lnTo>
                  <a:pt x="3028" y="144"/>
                </a:lnTo>
                <a:lnTo>
                  <a:pt x="3059" y="159"/>
                </a:lnTo>
                <a:lnTo>
                  <a:pt x="3090" y="176"/>
                </a:lnTo>
                <a:lnTo>
                  <a:pt x="3121" y="193"/>
                </a:lnTo>
                <a:lnTo>
                  <a:pt x="3151" y="212"/>
                </a:lnTo>
                <a:lnTo>
                  <a:pt x="3181" y="230"/>
                </a:lnTo>
                <a:lnTo>
                  <a:pt x="3211" y="249"/>
                </a:lnTo>
                <a:lnTo>
                  <a:pt x="3239" y="269"/>
                </a:lnTo>
                <a:lnTo>
                  <a:pt x="3268" y="290"/>
                </a:lnTo>
                <a:lnTo>
                  <a:pt x="3295" y="311"/>
                </a:lnTo>
                <a:lnTo>
                  <a:pt x="3323" y="334"/>
                </a:lnTo>
                <a:lnTo>
                  <a:pt x="3349" y="356"/>
                </a:lnTo>
                <a:lnTo>
                  <a:pt x="3375" y="379"/>
                </a:lnTo>
                <a:lnTo>
                  <a:pt x="3401" y="402"/>
                </a:lnTo>
                <a:lnTo>
                  <a:pt x="3426" y="427"/>
                </a:lnTo>
                <a:lnTo>
                  <a:pt x="3451" y="452"/>
                </a:lnTo>
                <a:lnTo>
                  <a:pt x="3475" y="478"/>
                </a:lnTo>
                <a:lnTo>
                  <a:pt x="3497" y="504"/>
                </a:lnTo>
                <a:lnTo>
                  <a:pt x="3521" y="531"/>
                </a:lnTo>
                <a:lnTo>
                  <a:pt x="3542" y="558"/>
                </a:lnTo>
                <a:lnTo>
                  <a:pt x="3563" y="587"/>
                </a:lnTo>
                <a:lnTo>
                  <a:pt x="3584" y="614"/>
                </a:lnTo>
                <a:lnTo>
                  <a:pt x="3604" y="643"/>
                </a:lnTo>
                <a:lnTo>
                  <a:pt x="3624" y="673"/>
                </a:lnTo>
                <a:lnTo>
                  <a:pt x="3642" y="702"/>
                </a:lnTo>
                <a:lnTo>
                  <a:pt x="3660" y="732"/>
                </a:lnTo>
                <a:lnTo>
                  <a:pt x="3678" y="764"/>
                </a:lnTo>
                <a:lnTo>
                  <a:pt x="3694" y="795"/>
                </a:lnTo>
                <a:lnTo>
                  <a:pt x="3710" y="826"/>
                </a:lnTo>
                <a:lnTo>
                  <a:pt x="3725" y="858"/>
                </a:lnTo>
                <a:lnTo>
                  <a:pt x="3739" y="891"/>
                </a:lnTo>
                <a:lnTo>
                  <a:pt x="3753" y="924"/>
                </a:lnTo>
                <a:lnTo>
                  <a:pt x="3765" y="957"/>
                </a:lnTo>
                <a:lnTo>
                  <a:pt x="3776" y="991"/>
                </a:lnTo>
                <a:lnTo>
                  <a:pt x="3787" y="1025"/>
                </a:lnTo>
                <a:lnTo>
                  <a:pt x="3799" y="1060"/>
                </a:lnTo>
                <a:lnTo>
                  <a:pt x="3807" y="1094"/>
                </a:lnTo>
                <a:lnTo>
                  <a:pt x="3816" y="1130"/>
                </a:lnTo>
                <a:lnTo>
                  <a:pt x="3824" y="1165"/>
                </a:lnTo>
                <a:lnTo>
                  <a:pt x="3831" y="1201"/>
                </a:lnTo>
                <a:lnTo>
                  <a:pt x="3837" y="1237"/>
                </a:lnTo>
                <a:lnTo>
                  <a:pt x="3842" y="1273"/>
                </a:lnTo>
                <a:lnTo>
                  <a:pt x="3846" y="1309"/>
                </a:lnTo>
                <a:lnTo>
                  <a:pt x="3850" y="1346"/>
                </a:lnTo>
                <a:lnTo>
                  <a:pt x="3851" y="1384"/>
                </a:lnTo>
                <a:lnTo>
                  <a:pt x="3853" y="1421"/>
                </a:lnTo>
                <a:lnTo>
                  <a:pt x="3853" y="1459"/>
                </a:lnTo>
                <a:lnTo>
                  <a:pt x="3852" y="1507"/>
                </a:lnTo>
                <a:lnTo>
                  <a:pt x="3850" y="1556"/>
                </a:lnTo>
                <a:lnTo>
                  <a:pt x="3846" y="1604"/>
                </a:lnTo>
                <a:lnTo>
                  <a:pt x="3841" y="1652"/>
                </a:lnTo>
                <a:lnTo>
                  <a:pt x="3833" y="1699"/>
                </a:lnTo>
                <a:lnTo>
                  <a:pt x="3825" y="1745"/>
                </a:lnTo>
                <a:lnTo>
                  <a:pt x="3815" y="1791"/>
                </a:lnTo>
                <a:lnTo>
                  <a:pt x="3804" y="1837"/>
                </a:lnTo>
                <a:lnTo>
                  <a:pt x="3791" y="1882"/>
                </a:lnTo>
                <a:lnTo>
                  <a:pt x="3777" y="1926"/>
                </a:lnTo>
                <a:lnTo>
                  <a:pt x="3761" y="1970"/>
                </a:lnTo>
                <a:lnTo>
                  <a:pt x="3744" y="2013"/>
                </a:lnTo>
                <a:lnTo>
                  <a:pt x="3726" y="2055"/>
                </a:lnTo>
                <a:lnTo>
                  <a:pt x="3706" y="2098"/>
                </a:lnTo>
                <a:lnTo>
                  <a:pt x="3685" y="2139"/>
                </a:lnTo>
                <a:lnTo>
                  <a:pt x="3664" y="2178"/>
                </a:lnTo>
                <a:lnTo>
                  <a:pt x="3640" y="2217"/>
                </a:lnTo>
                <a:lnTo>
                  <a:pt x="3617" y="2256"/>
                </a:lnTo>
                <a:lnTo>
                  <a:pt x="3591" y="2294"/>
                </a:lnTo>
                <a:lnTo>
                  <a:pt x="3564" y="2330"/>
                </a:lnTo>
                <a:lnTo>
                  <a:pt x="3536" y="2367"/>
                </a:lnTo>
                <a:lnTo>
                  <a:pt x="3507" y="2403"/>
                </a:lnTo>
                <a:lnTo>
                  <a:pt x="3477" y="2436"/>
                </a:lnTo>
                <a:lnTo>
                  <a:pt x="3446" y="2470"/>
                </a:lnTo>
                <a:lnTo>
                  <a:pt x="3414" y="2502"/>
                </a:lnTo>
                <a:lnTo>
                  <a:pt x="3381" y="2533"/>
                </a:lnTo>
                <a:lnTo>
                  <a:pt x="3348" y="2563"/>
                </a:lnTo>
                <a:lnTo>
                  <a:pt x="3313" y="2592"/>
                </a:lnTo>
                <a:lnTo>
                  <a:pt x="3277" y="2621"/>
                </a:lnTo>
                <a:lnTo>
                  <a:pt x="3239" y="2648"/>
                </a:lnTo>
                <a:lnTo>
                  <a:pt x="3202" y="2673"/>
                </a:lnTo>
                <a:lnTo>
                  <a:pt x="3163" y="2698"/>
                </a:lnTo>
                <a:lnTo>
                  <a:pt x="3163" y="3271"/>
                </a:lnTo>
                <a:lnTo>
                  <a:pt x="2964" y="3271"/>
                </a:lnTo>
                <a:lnTo>
                  <a:pt x="2964" y="2583"/>
                </a:lnTo>
                <a:lnTo>
                  <a:pt x="3004" y="2561"/>
                </a:lnTo>
                <a:lnTo>
                  <a:pt x="3041" y="2537"/>
                </a:lnTo>
                <a:lnTo>
                  <a:pt x="3079" y="2512"/>
                </a:lnTo>
                <a:lnTo>
                  <a:pt x="3115" y="2487"/>
                </a:lnTo>
                <a:lnTo>
                  <a:pt x="3151" y="2461"/>
                </a:lnTo>
                <a:lnTo>
                  <a:pt x="3185" y="2434"/>
                </a:lnTo>
                <a:lnTo>
                  <a:pt x="3218" y="2405"/>
                </a:lnTo>
                <a:lnTo>
                  <a:pt x="3251" y="2377"/>
                </a:lnTo>
                <a:lnTo>
                  <a:pt x="3282" y="2348"/>
                </a:lnTo>
                <a:lnTo>
                  <a:pt x="3312" y="2317"/>
                </a:lnTo>
                <a:lnTo>
                  <a:pt x="3340" y="2286"/>
                </a:lnTo>
                <a:lnTo>
                  <a:pt x="3368" y="2254"/>
                </a:lnTo>
                <a:lnTo>
                  <a:pt x="3395" y="2221"/>
                </a:lnTo>
                <a:lnTo>
                  <a:pt x="3420" y="2187"/>
                </a:lnTo>
                <a:lnTo>
                  <a:pt x="3445" y="2154"/>
                </a:lnTo>
                <a:lnTo>
                  <a:pt x="3467" y="2119"/>
                </a:lnTo>
                <a:lnTo>
                  <a:pt x="3490" y="2083"/>
                </a:lnTo>
                <a:lnTo>
                  <a:pt x="3510" y="2046"/>
                </a:lnTo>
                <a:lnTo>
                  <a:pt x="3530" y="2009"/>
                </a:lnTo>
                <a:lnTo>
                  <a:pt x="3547" y="1970"/>
                </a:lnTo>
                <a:lnTo>
                  <a:pt x="3563" y="1932"/>
                </a:lnTo>
                <a:lnTo>
                  <a:pt x="3579" y="1892"/>
                </a:lnTo>
                <a:lnTo>
                  <a:pt x="3593" y="1852"/>
                </a:lnTo>
                <a:lnTo>
                  <a:pt x="3606" y="1811"/>
                </a:lnTo>
                <a:lnTo>
                  <a:pt x="3617" y="1770"/>
                </a:lnTo>
                <a:lnTo>
                  <a:pt x="3627" y="1728"/>
                </a:lnTo>
                <a:lnTo>
                  <a:pt x="3635" y="1684"/>
                </a:lnTo>
                <a:lnTo>
                  <a:pt x="3642" y="1640"/>
                </a:lnTo>
                <a:lnTo>
                  <a:pt x="3647" y="1596"/>
                </a:lnTo>
                <a:lnTo>
                  <a:pt x="3652" y="1551"/>
                </a:lnTo>
                <a:lnTo>
                  <a:pt x="3653" y="1505"/>
                </a:lnTo>
                <a:lnTo>
                  <a:pt x="3654" y="1459"/>
                </a:lnTo>
                <a:lnTo>
                  <a:pt x="3654" y="1426"/>
                </a:lnTo>
                <a:lnTo>
                  <a:pt x="3653" y="1394"/>
                </a:lnTo>
                <a:lnTo>
                  <a:pt x="3650" y="1361"/>
                </a:lnTo>
                <a:lnTo>
                  <a:pt x="3648" y="1330"/>
                </a:lnTo>
                <a:lnTo>
                  <a:pt x="3644" y="1298"/>
                </a:lnTo>
                <a:lnTo>
                  <a:pt x="3639" y="1267"/>
                </a:lnTo>
                <a:lnTo>
                  <a:pt x="3634" y="1236"/>
                </a:lnTo>
                <a:lnTo>
                  <a:pt x="3628" y="1204"/>
                </a:lnTo>
                <a:lnTo>
                  <a:pt x="3622" y="1175"/>
                </a:lnTo>
                <a:lnTo>
                  <a:pt x="3614" y="1143"/>
                </a:lnTo>
                <a:lnTo>
                  <a:pt x="3607" y="1114"/>
                </a:lnTo>
                <a:lnTo>
                  <a:pt x="3598" y="1084"/>
                </a:lnTo>
                <a:lnTo>
                  <a:pt x="3588" y="1055"/>
                </a:lnTo>
                <a:lnTo>
                  <a:pt x="3578" y="1025"/>
                </a:lnTo>
                <a:lnTo>
                  <a:pt x="3567" y="996"/>
                </a:lnTo>
                <a:lnTo>
                  <a:pt x="3556" y="969"/>
                </a:lnTo>
                <a:lnTo>
                  <a:pt x="3543" y="940"/>
                </a:lnTo>
                <a:lnTo>
                  <a:pt x="3530" y="913"/>
                </a:lnTo>
                <a:lnTo>
                  <a:pt x="3502" y="858"/>
                </a:lnTo>
                <a:lnTo>
                  <a:pt x="3472" y="806"/>
                </a:lnTo>
                <a:lnTo>
                  <a:pt x="3439" y="755"/>
                </a:lnTo>
                <a:lnTo>
                  <a:pt x="3404" y="705"/>
                </a:lnTo>
                <a:lnTo>
                  <a:pt x="3366" y="658"/>
                </a:lnTo>
                <a:lnTo>
                  <a:pt x="3327" y="612"/>
                </a:lnTo>
                <a:lnTo>
                  <a:pt x="3285" y="568"/>
                </a:lnTo>
                <a:lnTo>
                  <a:pt x="3242" y="527"/>
                </a:lnTo>
                <a:lnTo>
                  <a:pt x="3196" y="487"/>
                </a:lnTo>
                <a:lnTo>
                  <a:pt x="3148" y="450"/>
                </a:lnTo>
                <a:lnTo>
                  <a:pt x="3099" y="415"/>
                </a:lnTo>
                <a:lnTo>
                  <a:pt x="3048" y="382"/>
                </a:lnTo>
                <a:lnTo>
                  <a:pt x="2995" y="351"/>
                </a:lnTo>
                <a:lnTo>
                  <a:pt x="2941" y="324"/>
                </a:lnTo>
                <a:lnTo>
                  <a:pt x="2913" y="310"/>
                </a:lnTo>
                <a:lnTo>
                  <a:pt x="2886" y="299"/>
                </a:lnTo>
                <a:lnTo>
                  <a:pt x="2857" y="286"/>
                </a:lnTo>
                <a:lnTo>
                  <a:pt x="2828" y="277"/>
                </a:lnTo>
                <a:lnTo>
                  <a:pt x="2799" y="265"/>
                </a:lnTo>
                <a:lnTo>
                  <a:pt x="2770" y="257"/>
                </a:lnTo>
                <a:lnTo>
                  <a:pt x="2740" y="248"/>
                </a:lnTo>
                <a:lnTo>
                  <a:pt x="2710" y="239"/>
                </a:lnTo>
                <a:lnTo>
                  <a:pt x="2679" y="232"/>
                </a:lnTo>
                <a:lnTo>
                  <a:pt x="2649" y="225"/>
                </a:lnTo>
                <a:lnTo>
                  <a:pt x="2618" y="219"/>
                </a:lnTo>
                <a:lnTo>
                  <a:pt x="2587" y="214"/>
                </a:lnTo>
                <a:lnTo>
                  <a:pt x="2556" y="209"/>
                </a:lnTo>
                <a:lnTo>
                  <a:pt x="2523" y="206"/>
                </a:lnTo>
                <a:lnTo>
                  <a:pt x="2492" y="203"/>
                </a:lnTo>
                <a:lnTo>
                  <a:pt x="2460" y="201"/>
                </a:lnTo>
                <a:lnTo>
                  <a:pt x="2427" y="201"/>
                </a:lnTo>
                <a:lnTo>
                  <a:pt x="2395" y="199"/>
                </a:lnTo>
                <a:lnTo>
                  <a:pt x="2363" y="201"/>
                </a:lnTo>
                <a:lnTo>
                  <a:pt x="2330" y="201"/>
                </a:lnTo>
                <a:lnTo>
                  <a:pt x="2298" y="203"/>
                </a:lnTo>
                <a:lnTo>
                  <a:pt x="2267" y="206"/>
                </a:lnTo>
                <a:lnTo>
                  <a:pt x="2234" y="209"/>
                </a:lnTo>
                <a:lnTo>
                  <a:pt x="2203" y="214"/>
                </a:lnTo>
                <a:lnTo>
                  <a:pt x="2172" y="219"/>
                </a:lnTo>
                <a:lnTo>
                  <a:pt x="2141" y="225"/>
                </a:lnTo>
                <a:lnTo>
                  <a:pt x="2111" y="232"/>
                </a:lnTo>
                <a:lnTo>
                  <a:pt x="2080" y="239"/>
                </a:lnTo>
                <a:lnTo>
                  <a:pt x="2050" y="248"/>
                </a:lnTo>
                <a:lnTo>
                  <a:pt x="2020" y="257"/>
                </a:lnTo>
                <a:lnTo>
                  <a:pt x="1991" y="265"/>
                </a:lnTo>
                <a:lnTo>
                  <a:pt x="1963" y="277"/>
                </a:lnTo>
                <a:lnTo>
                  <a:pt x="1933" y="286"/>
                </a:lnTo>
                <a:lnTo>
                  <a:pt x="1906" y="299"/>
                </a:lnTo>
                <a:lnTo>
                  <a:pt x="1877" y="310"/>
                </a:lnTo>
                <a:lnTo>
                  <a:pt x="1849" y="324"/>
                </a:lnTo>
                <a:lnTo>
                  <a:pt x="1795" y="351"/>
                </a:lnTo>
                <a:lnTo>
                  <a:pt x="1742" y="382"/>
                </a:lnTo>
                <a:lnTo>
                  <a:pt x="1691" y="415"/>
                </a:lnTo>
                <a:lnTo>
                  <a:pt x="1642" y="450"/>
                </a:lnTo>
                <a:lnTo>
                  <a:pt x="1594" y="487"/>
                </a:lnTo>
                <a:lnTo>
                  <a:pt x="1548" y="527"/>
                </a:lnTo>
                <a:lnTo>
                  <a:pt x="1505" y="568"/>
                </a:lnTo>
                <a:lnTo>
                  <a:pt x="1463" y="612"/>
                </a:lnTo>
                <a:lnTo>
                  <a:pt x="1424" y="658"/>
                </a:lnTo>
                <a:lnTo>
                  <a:pt x="1386" y="705"/>
                </a:lnTo>
                <a:lnTo>
                  <a:pt x="1351" y="755"/>
                </a:lnTo>
                <a:lnTo>
                  <a:pt x="1319" y="806"/>
                </a:lnTo>
                <a:lnTo>
                  <a:pt x="1288" y="858"/>
                </a:lnTo>
                <a:lnTo>
                  <a:pt x="1260" y="913"/>
                </a:lnTo>
                <a:lnTo>
                  <a:pt x="1248" y="940"/>
                </a:lnTo>
                <a:lnTo>
                  <a:pt x="1235" y="969"/>
                </a:lnTo>
                <a:lnTo>
                  <a:pt x="1223" y="996"/>
                </a:lnTo>
                <a:lnTo>
                  <a:pt x="1213" y="1025"/>
                </a:lnTo>
                <a:lnTo>
                  <a:pt x="1202" y="1055"/>
                </a:lnTo>
                <a:lnTo>
                  <a:pt x="1193" y="1084"/>
                </a:lnTo>
                <a:lnTo>
                  <a:pt x="1184" y="1114"/>
                </a:lnTo>
                <a:lnTo>
                  <a:pt x="1176" y="1143"/>
                </a:lnTo>
                <a:lnTo>
                  <a:pt x="1168" y="1175"/>
                </a:lnTo>
                <a:lnTo>
                  <a:pt x="1162" y="1204"/>
                </a:lnTo>
                <a:lnTo>
                  <a:pt x="1156" y="1236"/>
                </a:lnTo>
                <a:lnTo>
                  <a:pt x="1151" y="1267"/>
                </a:lnTo>
                <a:lnTo>
                  <a:pt x="1146" y="1298"/>
                </a:lnTo>
                <a:lnTo>
                  <a:pt x="1142" y="1330"/>
                </a:lnTo>
                <a:lnTo>
                  <a:pt x="1140" y="1361"/>
                </a:lnTo>
                <a:lnTo>
                  <a:pt x="1138" y="1394"/>
                </a:lnTo>
                <a:lnTo>
                  <a:pt x="1137" y="1426"/>
                </a:lnTo>
                <a:lnTo>
                  <a:pt x="1136" y="1459"/>
                </a:lnTo>
                <a:lnTo>
                  <a:pt x="1137" y="1505"/>
                </a:lnTo>
                <a:lnTo>
                  <a:pt x="1140" y="1551"/>
                </a:lnTo>
                <a:lnTo>
                  <a:pt x="1143" y="1596"/>
                </a:lnTo>
                <a:lnTo>
                  <a:pt x="1148" y="1640"/>
                </a:lnTo>
                <a:lnTo>
                  <a:pt x="1156" y="1684"/>
                </a:lnTo>
                <a:lnTo>
                  <a:pt x="1163" y="1728"/>
                </a:lnTo>
                <a:lnTo>
                  <a:pt x="1173" y="1770"/>
                </a:lnTo>
                <a:lnTo>
                  <a:pt x="1184" y="1811"/>
                </a:lnTo>
                <a:lnTo>
                  <a:pt x="1197" y="1852"/>
                </a:lnTo>
                <a:lnTo>
                  <a:pt x="1211" y="1892"/>
                </a:lnTo>
                <a:lnTo>
                  <a:pt x="1227" y="1932"/>
                </a:lnTo>
                <a:lnTo>
                  <a:pt x="1243" y="1970"/>
                </a:lnTo>
                <a:lnTo>
                  <a:pt x="1262" y="2009"/>
                </a:lnTo>
                <a:lnTo>
                  <a:pt x="1280" y="2046"/>
                </a:lnTo>
                <a:lnTo>
                  <a:pt x="1301" y="2083"/>
                </a:lnTo>
                <a:lnTo>
                  <a:pt x="1323" y="2119"/>
                </a:lnTo>
                <a:lnTo>
                  <a:pt x="1346" y="2154"/>
                </a:lnTo>
                <a:lnTo>
                  <a:pt x="1370" y="2187"/>
                </a:lnTo>
                <a:lnTo>
                  <a:pt x="1396" y="2221"/>
                </a:lnTo>
                <a:lnTo>
                  <a:pt x="1422" y="2254"/>
                </a:lnTo>
                <a:lnTo>
                  <a:pt x="1450" y="2286"/>
                </a:lnTo>
                <a:lnTo>
                  <a:pt x="1478" y="2317"/>
                </a:lnTo>
                <a:lnTo>
                  <a:pt x="1509" y="2348"/>
                </a:lnTo>
                <a:lnTo>
                  <a:pt x="1541" y="2377"/>
                </a:lnTo>
                <a:lnTo>
                  <a:pt x="1572" y="2405"/>
                </a:lnTo>
                <a:lnTo>
                  <a:pt x="1605" y="2434"/>
                </a:lnTo>
                <a:lnTo>
                  <a:pt x="1640" y="2461"/>
                </a:lnTo>
                <a:lnTo>
                  <a:pt x="1675" y="2487"/>
                </a:lnTo>
                <a:lnTo>
                  <a:pt x="1711" y="2512"/>
                </a:lnTo>
                <a:lnTo>
                  <a:pt x="1749" y="2537"/>
                </a:lnTo>
                <a:lnTo>
                  <a:pt x="1786" y="2561"/>
                </a:lnTo>
                <a:lnTo>
                  <a:pt x="1826" y="2583"/>
                </a:lnTo>
                <a:lnTo>
                  <a:pt x="1826" y="3271"/>
                </a:lnTo>
                <a:lnTo>
                  <a:pt x="1627" y="3271"/>
                </a:lnTo>
                <a:close/>
                <a:moveTo>
                  <a:pt x="1827" y="3841"/>
                </a:moveTo>
                <a:lnTo>
                  <a:pt x="1826" y="4301"/>
                </a:lnTo>
                <a:lnTo>
                  <a:pt x="2204" y="4564"/>
                </a:lnTo>
                <a:lnTo>
                  <a:pt x="2591" y="4564"/>
                </a:lnTo>
                <a:lnTo>
                  <a:pt x="2949" y="4315"/>
                </a:lnTo>
                <a:lnTo>
                  <a:pt x="1827" y="3841"/>
                </a:lnTo>
                <a:close/>
                <a:moveTo>
                  <a:pt x="1661" y="3470"/>
                </a:moveTo>
                <a:lnTo>
                  <a:pt x="2970" y="4028"/>
                </a:lnTo>
                <a:lnTo>
                  <a:pt x="2970" y="3920"/>
                </a:lnTo>
                <a:lnTo>
                  <a:pt x="1916" y="3470"/>
                </a:lnTo>
                <a:lnTo>
                  <a:pt x="3170" y="3470"/>
                </a:lnTo>
                <a:lnTo>
                  <a:pt x="3170" y="4406"/>
                </a:lnTo>
                <a:lnTo>
                  <a:pt x="2653" y="4763"/>
                </a:lnTo>
                <a:lnTo>
                  <a:pt x="2142" y="4763"/>
                </a:lnTo>
                <a:lnTo>
                  <a:pt x="1625" y="4406"/>
                </a:lnTo>
                <a:lnTo>
                  <a:pt x="1629" y="3470"/>
                </a:lnTo>
                <a:lnTo>
                  <a:pt x="1661" y="3470"/>
                </a:lnTo>
                <a:close/>
                <a:moveTo>
                  <a:pt x="2620" y="2471"/>
                </a:moveTo>
                <a:lnTo>
                  <a:pt x="2886" y="1072"/>
                </a:lnTo>
                <a:lnTo>
                  <a:pt x="2770" y="1072"/>
                </a:lnTo>
                <a:lnTo>
                  <a:pt x="2770" y="973"/>
                </a:lnTo>
                <a:lnTo>
                  <a:pt x="3007" y="973"/>
                </a:lnTo>
                <a:lnTo>
                  <a:pt x="2719" y="2490"/>
                </a:lnTo>
                <a:lnTo>
                  <a:pt x="2620" y="2471"/>
                </a:lnTo>
                <a:close/>
                <a:moveTo>
                  <a:pt x="3860" y="2201"/>
                </a:moveTo>
                <a:lnTo>
                  <a:pt x="4518" y="2581"/>
                </a:lnTo>
                <a:lnTo>
                  <a:pt x="4419" y="2754"/>
                </a:lnTo>
                <a:lnTo>
                  <a:pt x="3758" y="2372"/>
                </a:lnTo>
                <a:lnTo>
                  <a:pt x="3785" y="2330"/>
                </a:lnTo>
                <a:lnTo>
                  <a:pt x="3811" y="2288"/>
                </a:lnTo>
                <a:lnTo>
                  <a:pt x="3836" y="2244"/>
                </a:lnTo>
                <a:lnTo>
                  <a:pt x="3860" y="2201"/>
                </a:lnTo>
                <a:close/>
                <a:moveTo>
                  <a:pt x="371" y="186"/>
                </a:moveTo>
                <a:lnTo>
                  <a:pt x="1008" y="553"/>
                </a:lnTo>
                <a:lnTo>
                  <a:pt x="981" y="595"/>
                </a:lnTo>
                <a:lnTo>
                  <a:pt x="957" y="639"/>
                </a:lnTo>
                <a:lnTo>
                  <a:pt x="933" y="683"/>
                </a:lnTo>
                <a:lnTo>
                  <a:pt x="910" y="727"/>
                </a:lnTo>
                <a:lnTo>
                  <a:pt x="272" y="359"/>
                </a:lnTo>
                <a:lnTo>
                  <a:pt x="371" y="186"/>
                </a:lnTo>
                <a:close/>
                <a:moveTo>
                  <a:pt x="1035" y="2370"/>
                </a:moveTo>
                <a:lnTo>
                  <a:pt x="371" y="2754"/>
                </a:lnTo>
                <a:lnTo>
                  <a:pt x="272" y="2581"/>
                </a:lnTo>
                <a:lnTo>
                  <a:pt x="933" y="2200"/>
                </a:lnTo>
                <a:lnTo>
                  <a:pt x="957" y="2243"/>
                </a:lnTo>
                <a:lnTo>
                  <a:pt x="981" y="2287"/>
                </a:lnTo>
                <a:lnTo>
                  <a:pt x="1008" y="2329"/>
                </a:lnTo>
                <a:lnTo>
                  <a:pt x="1035" y="2370"/>
                </a:lnTo>
                <a:close/>
                <a:moveTo>
                  <a:pt x="4518" y="359"/>
                </a:moveTo>
                <a:lnTo>
                  <a:pt x="3882" y="726"/>
                </a:lnTo>
                <a:lnTo>
                  <a:pt x="3860" y="681"/>
                </a:lnTo>
                <a:lnTo>
                  <a:pt x="3836" y="638"/>
                </a:lnTo>
                <a:lnTo>
                  <a:pt x="3811" y="594"/>
                </a:lnTo>
                <a:lnTo>
                  <a:pt x="3785" y="552"/>
                </a:lnTo>
                <a:lnTo>
                  <a:pt x="4419" y="186"/>
                </a:lnTo>
                <a:lnTo>
                  <a:pt x="4518" y="359"/>
                </a:lnTo>
                <a:close/>
                <a:moveTo>
                  <a:pt x="753" y="1569"/>
                </a:moveTo>
                <a:lnTo>
                  <a:pt x="0" y="1569"/>
                </a:lnTo>
                <a:lnTo>
                  <a:pt x="0" y="1370"/>
                </a:lnTo>
                <a:lnTo>
                  <a:pt x="750" y="1370"/>
                </a:lnTo>
                <a:lnTo>
                  <a:pt x="749" y="1405"/>
                </a:lnTo>
                <a:lnTo>
                  <a:pt x="749" y="1441"/>
                </a:lnTo>
                <a:lnTo>
                  <a:pt x="750" y="1506"/>
                </a:lnTo>
                <a:lnTo>
                  <a:pt x="753" y="1569"/>
                </a:lnTo>
                <a:close/>
                <a:moveTo>
                  <a:pt x="4790" y="1569"/>
                </a:moveTo>
                <a:lnTo>
                  <a:pt x="4040" y="1569"/>
                </a:lnTo>
                <a:lnTo>
                  <a:pt x="4044" y="1506"/>
                </a:lnTo>
                <a:lnTo>
                  <a:pt x="4045" y="1441"/>
                </a:lnTo>
                <a:lnTo>
                  <a:pt x="4044" y="1405"/>
                </a:lnTo>
                <a:lnTo>
                  <a:pt x="4043" y="1370"/>
                </a:lnTo>
                <a:lnTo>
                  <a:pt x="4790" y="1370"/>
                </a:lnTo>
                <a:lnTo>
                  <a:pt x="4790" y="1569"/>
                </a:lnTo>
                <a:close/>
              </a:path>
            </a:pathLst>
          </a:custGeom>
          <a:solidFill>
            <a:schemeClr val="bg1"/>
          </a:solidFill>
          <a:ln w="9525">
            <a:noFill/>
            <a:round/>
            <a:headEnd/>
            <a:tailEnd/>
          </a:ln>
        </p:spPr>
        <p:txBody>
          <a:bodyPr/>
          <a:lstStyle/>
          <a:p>
            <a:endParaRPr lang="en-GB" dirty="0">
              <a:solidFill>
                <a:srgbClr val="FFFFFF"/>
              </a:solidFill>
            </a:endParaRPr>
          </a:p>
        </p:txBody>
      </p:sp>
      <p:sp>
        <p:nvSpPr>
          <p:cNvPr id="317" name="Freeform 112">
            <a:extLst>
              <a:ext uri="{FF2B5EF4-FFF2-40B4-BE49-F238E27FC236}">
                <a16:creationId xmlns:a16="http://schemas.microsoft.com/office/drawing/2014/main" id="{85F32309-6CFF-4C9C-9354-199432E037E7}"/>
              </a:ext>
            </a:extLst>
          </p:cNvPr>
          <p:cNvSpPr>
            <a:spLocks noChangeAspect="1" noEditPoints="1"/>
          </p:cNvSpPr>
          <p:nvPr>
            <p:custDataLst>
              <p:tags r:id="rId3"/>
            </p:custDataLst>
          </p:nvPr>
        </p:nvSpPr>
        <p:spPr bwMode="gray">
          <a:xfrm>
            <a:off x="1617975" y="4839393"/>
            <a:ext cx="404528" cy="504000"/>
          </a:xfrm>
          <a:custGeom>
            <a:avLst/>
            <a:gdLst>
              <a:gd name="T0" fmla="*/ 2147483647 w 3822"/>
              <a:gd name="T1" fmla="*/ 2147483647 h 4763"/>
              <a:gd name="T2" fmla="*/ 2147483647 w 3822"/>
              <a:gd name="T3" fmla="*/ 2147483647 h 4763"/>
              <a:gd name="T4" fmla="*/ 2147483647 w 3822"/>
              <a:gd name="T5" fmla="*/ 2147483647 h 4763"/>
              <a:gd name="T6" fmla="*/ 2147483647 w 3822"/>
              <a:gd name="T7" fmla="*/ 2147483647 h 4763"/>
              <a:gd name="T8" fmla="*/ 2147483647 w 3822"/>
              <a:gd name="T9" fmla="*/ 2147483647 h 4763"/>
              <a:gd name="T10" fmla="*/ 2147483647 w 3822"/>
              <a:gd name="T11" fmla="*/ 2147483647 h 4763"/>
              <a:gd name="T12" fmla="*/ 2147483647 w 3822"/>
              <a:gd name="T13" fmla="*/ 2147483647 h 4763"/>
              <a:gd name="T14" fmla="*/ 2147483647 w 3822"/>
              <a:gd name="T15" fmla="*/ 2147483647 h 4763"/>
              <a:gd name="T16" fmla="*/ 2147483647 w 3822"/>
              <a:gd name="T17" fmla="*/ 2147483647 h 4763"/>
              <a:gd name="T18" fmla="*/ 2147483647 w 3822"/>
              <a:gd name="T19" fmla="*/ 0 h 4763"/>
              <a:gd name="T20" fmla="*/ 2147483647 w 3822"/>
              <a:gd name="T21" fmla="*/ 2147483647 h 4763"/>
              <a:gd name="T22" fmla="*/ 2147483647 w 3822"/>
              <a:gd name="T23" fmla="*/ 2147483647 h 4763"/>
              <a:gd name="T24" fmla="*/ 2147483647 w 3822"/>
              <a:gd name="T25" fmla="*/ 2147483647 h 4763"/>
              <a:gd name="T26" fmla="*/ 2147483647 w 3822"/>
              <a:gd name="T27" fmla="*/ 2147483647 h 4763"/>
              <a:gd name="T28" fmla="*/ 2147483647 w 3822"/>
              <a:gd name="T29" fmla="*/ 2147483647 h 4763"/>
              <a:gd name="T30" fmla="*/ 2147483647 w 3822"/>
              <a:gd name="T31" fmla="*/ 2147483647 h 4763"/>
              <a:gd name="T32" fmla="*/ 2147483647 w 3822"/>
              <a:gd name="T33" fmla="*/ 2147483647 h 4763"/>
              <a:gd name="T34" fmla="*/ 2147483647 w 3822"/>
              <a:gd name="T35" fmla="*/ 2147483647 h 4763"/>
              <a:gd name="T36" fmla="*/ 2147483647 w 3822"/>
              <a:gd name="T37" fmla="*/ 2147483647 h 4763"/>
              <a:gd name="T38" fmla="*/ 2147483647 w 3822"/>
              <a:gd name="T39" fmla="*/ 2147483647 h 4763"/>
              <a:gd name="T40" fmla="*/ 2147483647 w 3822"/>
              <a:gd name="T41" fmla="*/ 2147483647 h 4763"/>
              <a:gd name="T42" fmla="*/ 2147483647 w 3822"/>
              <a:gd name="T43" fmla="*/ 2147483647 h 4763"/>
              <a:gd name="T44" fmla="*/ 2147483647 w 3822"/>
              <a:gd name="T45" fmla="*/ 2147483647 h 4763"/>
              <a:gd name="T46" fmla="*/ 2147483647 w 3822"/>
              <a:gd name="T47" fmla="*/ 2147483647 h 4763"/>
              <a:gd name="T48" fmla="*/ 2147483647 w 3822"/>
              <a:gd name="T49" fmla="*/ 2147483647 h 4763"/>
              <a:gd name="T50" fmla="*/ 2147483647 w 3822"/>
              <a:gd name="T51" fmla="*/ 2147483647 h 4763"/>
              <a:gd name="T52" fmla="*/ 2147483647 w 3822"/>
              <a:gd name="T53" fmla="*/ 2147483647 h 4763"/>
              <a:gd name="T54" fmla="*/ 2147483647 w 3822"/>
              <a:gd name="T55" fmla="*/ 2147483647 h 4763"/>
              <a:gd name="T56" fmla="*/ 2147483647 w 3822"/>
              <a:gd name="T57" fmla="*/ 2147483647 h 4763"/>
              <a:gd name="T58" fmla="*/ 2147483647 w 3822"/>
              <a:gd name="T59" fmla="*/ 2147483647 h 4763"/>
              <a:gd name="T60" fmla="*/ 2147483647 w 3822"/>
              <a:gd name="T61" fmla="*/ 2147483647 h 4763"/>
              <a:gd name="T62" fmla="*/ 2147483647 w 3822"/>
              <a:gd name="T63" fmla="*/ 2147483647 h 4763"/>
              <a:gd name="T64" fmla="*/ 2147483647 w 3822"/>
              <a:gd name="T65" fmla="*/ 2147483647 h 4763"/>
              <a:gd name="T66" fmla="*/ 2147483647 w 3822"/>
              <a:gd name="T67" fmla="*/ 2147483647 h 4763"/>
              <a:gd name="T68" fmla="*/ 2147483647 w 3822"/>
              <a:gd name="T69" fmla="*/ 2147483647 h 4763"/>
              <a:gd name="T70" fmla="*/ 2147483647 w 3822"/>
              <a:gd name="T71" fmla="*/ 2147483647 h 4763"/>
              <a:gd name="T72" fmla="*/ 2147483647 w 3822"/>
              <a:gd name="T73" fmla="*/ 2147483647 h 4763"/>
              <a:gd name="T74" fmla="*/ 2147483647 w 3822"/>
              <a:gd name="T75" fmla="*/ 2147483647 h 4763"/>
              <a:gd name="T76" fmla="*/ 2147483647 w 3822"/>
              <a:gd name="T77" fmla="*/ 2147483647 h 4763"/>
              <a:gd name="T78" fmla="*/ 2147483647 w 3822"/>
              <a:gd name="T79" fmla="*/ 2147483647 h 4763"/>
              <a:gd name="T80" fmla="*/ 2147483647 w 3822"/>
              <a:gd name="T81" fmla="*/ 2147483647 h 4763"/>
              <a:gd name="T82" fmla="*/ 2147483647 w 3822"/>
              <a:gd name="T83" fmla="*/ 2147483647 h 4763"/>
              <a:gd name="T84" fmla="*/ 2147483647 w 3822"/>
              <a:gd name="T85" fmla="*/ 2147483647 h 4763"/>
              <a:gd name="T86" fmla="*/ 2147483647 w 3822"/>
              <a:gd name="T87" fmla="*/ 2147483647 h 4763"/>
              <a:gd name="T88" fmla="*/ 2147483647 w 3822"/>
              <a:gd name="T89" fmla="*/ 2147483647 h 4763"/>
              <a:gd name="T90" fmla="*/ 2147483647 w 3822"/>
              <a:gd name="T91" fmla="*/ 2147483647 h 4763"/>
              <a:gd name="T92" fmla="*/ 2147483647 w 3822"/>
              <a:gd name="T93" fmla="*/ 2147483647 h 4763"/>
              <a:gd name="T94" fmla="*/ 2147483647 w 3822"/>
              <a:gd name="T95" fmla="*/ 2147483647 h 4763"/>
              <a:gd name="T96" fmla="*/ 2147483647 w 3822"/>
              <a:gd name="T97" fmla="*/ 2147483647 h 4763"/>
              <a:gd name="T98" fmla="*/ 2147483647 w 3822"/>
              <a:gd name="T99" fmla="*/ 2147483647 h 4763"/>
              <a:gd name="T100" fmla="*/ 2147483647 w 3822"/>
              <a:gd name="T101" fmla="*/ 2147483647 h 4763"/>
              <a:gd name="T102" fmla="*/ 2147483647 w 3822"/>
              <a:gd name="T103" fmla="*/ 2147483647 h 4763"/>
              <a:gd name="T104" fmla="*/ 2147483647 w 3822"/>
              <a:gd name="T105" fmla="*/ 2147483647 h 4763"/>
              <a:gd name="T106" fmla="*/ 2147483647 w 3822"/>
              <a:gd name="T107" fmla="*/ 2147483647 h 4763"/>
              <a:gd name="T108" fmla="*/ 2147483647 w 3822"/>
              <a:gd name="T109" fmla="*/ 2147483647 h 4763"/>
              <a:gd name="T110" fmla="*/ 2147483647 w 3822"/>
              <a:gd name="T111" fmla="*/ 2147483647 h 4763"/>
              <a:gd name="T112" fmla="*/ 2147483647 w 3822"/>
              <a:gd name="T113" fmla="*/ 2147483647 h 4763"/>
              <a:gd name="T114" fmla="*/ 2147483647 w 3822"/>
              <a:gd name="T115" fmla="*/ 2147483647 h 4763"/>
              <a:gd name="T116" fmla="*/ 2147483647 w 3822"/>
              <a:gd name="T117" fmla="*/ 2147483647 h 4763"/>
              <a:gd name="T118" fmla="*/ 2147483647 w 3822"/>
              <a:gd name="T119" fmla="*/ 2147483647 h 4763"/>
              <a:gd name="T120" fmla="*/ 2147483647 w 3822"/>
              <a:gd name="T121" fmla="*/ 2147483647 h 4763"/>
              <a:gd name="T122" fmla="*/ 2147483647 w 3822"/>
              <a:gd name="T123" fmla="*/ 2147483647 h 476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822"/>
              <a:gd name="T187" fmla="*/ 0 h 4763"/>
              <a:gd name="T188" fmla="*/ 3822 w 3822"/>
              <a:gd name="T189" fmla="*/ 4763 h 476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822" h="4763">
                <a:moveTo>
                  <a:pt x="2629" y="1997"/>
                </a:moveTo>
                <a:lnTo>
                  <a:pt x="2063" y="1997"/>
                </a:lnTo>
                <a:lnTo>
                  <a:pt x="2063" y="1594"/>
                </a:lnTo>
                <a:lnTo>
                  <a:pt x="2446" y="1594"/>
                </a:lnTo>
                <a:lnTo>
                  <a:pt x="2672" y="1206"/>
                </a:lnTo>
                <a:lnTo>
                  <a:pt x="2649" y="1608"/>
                </a:lnTo>
                <a:lnTo>
                  <a:pt x="2638" y="1803"/>
                </a:lnTo>
                <a:lnTo>
                  <a:pt x="2629" y="1997"/>
                </a:lnTo>
                <a:close/>
                <a:moveTo>
                  <a:pt x="2158" y="1875"/>
                </a:moveTo>
                <a:lnTo>
                  <a:pt x="2158" y="1875"/>
                </a:lnTo>
                <a:lnTo>
                  <a:pt x="2159" y="1867"/>
                </a:lnTo>
                <a:lnTo>
                  <a:pt x="2160" y="1859"/>
                </a:lnTo>
                <a:lnTo>
                  <a:pt x="2164" y="1852"/>
                </a:lnTo>
                <a:lnTo>
                  <a:pt x="2170" y="1847"/>
                </a:lnTo>
                <a:lnTo>
                  <a:pt x="2175" y="1842"/>
                </a:lnTo>
                <a:lnTo>
                  <a:pt x="2182" y="1838"/>
                </a:lnTo>
                <a:lnTo>
                  <a:pt x="2190" y="1835"/>
                </a:lnTo>
                <a:lnTo>
                  <a:pt x="2198" y="1835"/>
                </a:lnTo>
                <a:lnTo>
                  <a:pt x="2206" y="1835"/>
                </a:lnTo>
                <a:lnTo>
                  <a:pt x="2214" y="1838"/>
                </a:lnTo>
                <a:lnTo>
                  <a:pt x="2221" y="1842"/>
                </a:lnTo>
                <a:lnTo>
                  <a:pt x="2226" y="1847"/>
                </a:lnTo>
                <a:lnTo>
                  <a:pt x="2231" y="1852"/>
                </a:lnTo>
                <a:lnTo>
                  <a:pt x="2235" y="1859"/>
                </a:lnTo>
                <a:lnTo>
                  <a:pt x="2237" y="1867"/>
                </a:lnTo>
                <a:lnTo>
                  <a:pt x="2238" y="1875"/>
                </a:lnTo>
                <a:lnTo>
                  <a:pt x="2237" y="1883"/>
                </a:lnTo>
                <a:lnTo>
                  <a:pt x="2235" y="1891"/>
                </a:lnTo>
                <a:lnTo>
                  <a:pt x="2231" y="1898"/>
                </a:lnTo>
                <a:lnTo>
                  <a:pt x="2226" y="1903"/>
                </a:lnTo>
                <a:lnTo>
                  <a:pt x="2221" y="1909"/>
                </a:lnTo>
                <a:lnTo>
                  <a:pt x="2214" y="1911"/>
                </a:lnTo>
                <a:lnTo>
                  <a:pt x="2206" y="1914"/>
                </a:lnTo>
                <a:lnTo>
                  <a:pt x="2198" y="1915"/>
                </a:lnTo>
                <a:lnTo>
                  <a:pt x="2190" y="1914"/>
                </a:lnTo>
                <a:lnTo>
                  <a:pt x="2182" y="1911"/>
                </a:lnTo>
                <a:lnTo>
                  <a:pt x="2175" y="1909"/>
                </a:lnTo>
                <a:lnTo>
                  <a:pt x="2170" y="1903"/>
                </a:lnTo>
                <a:lnTo>
                  <a:pt x="2164" y="1898"/>
                </a:lnTo>
                <a:lnTo>
                  <a:pt x="2160" y="1891"/>
                </a:lnTo>
                <a:lnTo>
                  <a:pt x="2159" y="1883"/>
                </a:lnTo>
                <a:lnTo>
                  <a:pt x="2158" y="1875"/>
                </a:lnTo>
                <a:close/>
                <a:moveTo>
                  <a:pt x="2452" y="3624"/>
                </a:moveTo>
                <a:lnTo>
                  <a:pt x="2452" y="2674"/>
                </a:lnTo>
                <a:lnTo>
                  <a:pt x="2618" y="2674"/>
                </a:lnTo>
                <a:lnTo>
                  <a:pt x="2676" y="3624"/>
                </a:lnTo>
                <a:lnTo>
                  <a:pt x="2452" y="3624"/>
                </a:lnTo>
                <a:close/>
                <a:moveTo>
                  <a:pt x="2816" y="4763"/>
                </a:moveTo>
                <a:lnTo>
                  <a:pt x="2679" y="2666"/>
                </a:lnTo>
                <a:lnTo>
                  <a:pt x="2734" y="1228"/>
                </a:lnTo>
                <a:lnTo>
                  <a:pt x="2737" y="1194"/>
                </a:lnTo>
                <a:lnTo>
                  <a:pt x="2741" y="1158"/>
                </a:lnTo>
                <a:lnTo>
                  <a:pt x="2745" y="1139"/>
                </a:lnTo>
                <a:lnTo>
                  <a:pt x="2749" y="1120"/>
                </a:lnTo>
                <a:lnTo>
                  <a:pt x="2754" y="1100"/>
                </a:lnTo>
                <a:lnTo>
                  <a:pt x="2761" y="1081"/>
                </a:lnTo>
                <a:lnTo>
                  <a:pt x="2769" y="1061"/>
                </a:lnTo>
                <a:lnTo>
                  <a:pt x="2780" y="1042"/>
                </a:lnTo>
                <a:lnTo>
                  <a:pt x="2790" y="1024"/>
                </a:lnTo>
                <a:lnTo>
                  <a:pt x="2804" y="1005"/>
                </a:lnTo>
                <a:lnTo>
                  <a:pt x="2818" y="987"/>
                </a:lnTo>
                <a:lnTo>
                  <a:pt x="2836" y="971"/>
                </a:lnTo>
                <a:lnTo>
                  <a:pt x="2855" y="955"/>
                </a:lnTo>
                <a:lnTo>
                  <a:pt x="2876" y="940"/>
                </a:lnTo>
                <a:lnTo>
                  <a:pt x="3063" y="825"/>
                </a:lnTo>
                <a:lnTo>
                  <a:pt x="3076" y="817"/>
                </a:lnTo>
                <a:lnTo>
                  <a:pt x="3088" y="810"/>
                </a:lnTo>
                <a:lnTo>
                  <a:pt x="3102" y="805"/>
                </a:lnTo>
                <a:lnTo>
                  <a:pt x="3114" y="799"/>
                </a:lnTo>
                <a:lnTo>
                  <a:pt x="3126" y="797"/>
                </a:lnTo>
                <a:lnTo>
                  <a:pt x="3138" y="794"/>
                </a:lnTo>
                <a:lnTo>
                  <a:pt x="3149" y="791"/>
                </a:lnTo>
                <a:lnTo>
                  <a:pt x="3161" y="790"/>
                </a:lnTo>
                <a:lnTo>
                  <a:pt x="3172" y="790"/>
                </a:lnTo>
                <a:lnTo>
                  <a:pt x="3183" y="791"/>
                </a:lnTo>
                <a:lnTo>
                  <a:pt x="3193" y="792"/>
                </a:lnTo>
                <a:lnTo>
                  <a:pt x="3203" y="795"/>
                </a:lnTo>
                <a:lnTo>
                  <a:pt x="3212" y="798"/>
                </a:lnTo>
                <a:lnTo>
                  <a:pt x="3221" y="802"/>
                </a:lnTo>
                <a:lnTo>
                  <a:pt x="3239" y="811"/>
                </a:lnTo>
                <a:lnTo>
                  <a:pt x="3254" y="823"/>
                </a:lnTo>
                <a:lnTo>
                  <a:pt x="3269" y="837"/>
                </a:lnTo>
                <a:lnTo>
                  <a:pt x="3281" y="854"/>
                </a:lnTo>
                <a:lnTo>
                  <a:pt x="3290" y="873"/>
                </a:lnTo>
                <a:lnTo>
                  <a:pt x="3298" y="893"/>
                </a:lnTo>
                <a:lnTo>
                  <a:pt x="3303" y="915"/>
                </a:lnTo>
                <a:lnTo>
                  <a:pt x="3307" y="938"/>
                </a:lnTo>
                <a:lnTo>
                  <a:pt x="3307" y="962"/>
                </a:lnTo>
                <a:lnTo>
                  <a:pt x="3294" y="2497"/>
                </a:lnTo>
                <a:lnTo>
                  <a:pt x="2957" y="2497"/>
                </a:lnTo>
                <a:lnTo>
                  <a:pt x="2957" y="2696"/>
                </a:lnTo>
                <a:lnTo>
                  <a:pt x="3011" y="2696"/>
                </a:lnTo>
                <a:lnTo>
                  <a:pt x="3011" y="2551"/>
                </a:lnTo>
                <a:lnTo>
                  <a:pt x="3294" y="2551"/>
                </a:lnTo>
                <a:lnTo>
                  <a:pt x="3293" y="2674"/>
                </a:lnTo>
                <a:lnTo>
                  <a:pt x="3822" y="2674"/>
                </a:lnTo>
                <a:lnTo>
                  <a:pt x="3822" y="3624"/>
                </a:lnTo>
                <a:lnTo>
                  <a:pt x="3285" y="3624"/>
                </a:lnTo>
                <a:lnTo>
                  <a:pt x="3274" y="4763"/>
                </a:lnTo>
                <a:lnTo>
                  <a:pt x="2816" y="4763"/>
                </a:lnTo>
                <a:close/>
                <a:moveTo>
                  <a:pt x="2992" y="0"/>
                </a:moveTo>
                <a:lnTo>
                  <a:pt x="2992" y="0"/>
                </a:lnTo>
                <a:lnTo>
                  <a:pt x="3012" y="1"/>
                </a:lnTo>
                <a:lnTo>
                  <a:pt x="3031" y="3"/>
                </a:lnTo>
                <a:lnTo>
                  <a:pt x="3050" y="7"/>
                </a:lnTo>
                <a:lnTo>
                  <a:pt x="3068" y="11"/>
                </a:lnTo>
                <a:lnTo>
                  <a:pt x="3094" y="19"/>
                </a:lnTo>
                <a:lnTo>
                  <a:pt x="3118" y="30"/>
                </a:lnTo>
                <a:lnTo>
                  <a:pt x="3142" y="42"/>
                </a:lnTo>
                <a:lnTo>
                  <a:pt x="3164" y="56"/>
                </a:lnTo>
                <a:lnTo>
                  <a:pt x="3185" y="73"/>
                </a:lnTo>
                <a:lnTo>
                  <a:pt x="3204" y="91"/>
                </a:lnTo>
                <a:lnTo>
                  <a:pt x="3221" y="110"/>
                </a:lnTo>
                <a:lnTo>
                  <a:pt x="3239" y="132"/>
                </a:lnTo>
                <a:lnTo>
                  <a:pt x="3254" y="154"/>
                </a:lnTo>
                <a:lnTo>
                  <a:pt x="3266" y="179"/>
                </a:lnTo>
                <a:lnTo>
                  <a:pt x="3278" y="203"/>
                </a:lnTo>
                <a:lnTo>
                  <a:pt x="3287" y="230"/>
                </a:lnTo>
                <a:lnTo>
                  <a:pt x="3294" y="257"/>
                </a:lnTo>
                <a:lnTo>
                  <a:pt x="3299" y="283"/>
                </a:lnTo>
                <a:lnTo>
                  <a:pt x="3303" y="312"/>
                </a:lnTo>
                <a:lnTo>
                  <a:pt x="3305" y="341"/>
                </a:lnTo>
                <a:lnTo>
                  <a:pt x="3305" y="398"/>
                </a:lnTo>
                <a:lnTo>
                  <a:pt x="3305" y="428"/>
                </a:lnTo>
                <a:lnTo>
                  <a:pt x="3303" y="445"/>
                </a:lnTo>
                <a:lnTo>
                  <a:pt x="3299" y="459"/>
                </a:lnTo>
                <a:lnTo>
                  <a:pt x="3294" y="473"/>
                </a:lnTo>
                <a:lnTo>
                  <a:pt x="3285" y="486"/>
                </a:lnTo>
                <a:lnTo>
                  <a:pt x="3275" y="498"/>
                </a:lnTo>
                <a:lnTo>
                  <a:pt x="3263" y="509"/>
                </a:lnTo>
                <a:lnTo>
                  <a:pt x="3250" y="518"/>
                </a:lnTo>
                <a:lnTo>
                  <a:pt x="3235" y="528"/>
                </a:lnTo>
                <a:lnTo>
                  <a:pt x="3227" y="551"/>
                </a:lnTo>
                <a:lnTo>
                  <a:pt x="3217" y="572"/>
                </a:lnTo>
                <a:lnTo>
                  <a:pt x="3207" y="594"/>
                </a:lnTo>
                <a:lnTo>
                  <a:pt x="3195" y="614"/>
                </a:lnTo>
                <a:lnTo>
                  <a:pt x="3181" y="633"/>
                </a:lnTo>
                <a:lnTo>
                  <a:pt x="3166" y="650"/>
                </a:lnTo>
                <a:lnTo>
                  <a:pt x="3150" y="666"/>
                </a:lnTo>
                <a:lnTo>
                  <a:pt x="3133" y="681"/>
                </a:lnTo>
                <a:lnTo>
                  <a:pt x="3114" y="696"/>
                </a:lnTo>
                <a:lnTo>
                  <a:pt x="3095" y="708"/>
                </a:lnTo>
                <a:lnTo>
                  <a:pt x="3075" y="717"/>
                </a:lnTo>
                <a:lnTo>
                  <a:pt x="3054" y="727"/>
                </a:lnTo>
                <a:lnTo>
                  <a:pt x="3032" y="733"/>
                </a:lnTo>
                <a:lnTo>
                  <a:pt x="3011" y="739"/>
                </a:lnTo>
                <a:lnTo>
                  <a:pt x="2986" y="741"/>
                </a:lnTo>
                <a:lnTo>
                  <a:pt x="2964" y="743"/>
                </a:lnTo>
                <a:lnTo>
                  <a:pt x="2949" y="743"/>
                </a:lnTo>
                <a:lnTo>
                  <a:pt x="2934" y="741"/>
                </a:lnTo>
                <a:lnTo>
                  <a:pt x="2919" y="739"/>
                </a:lnTo>
                <a:lnTo>
                  <a:pt x="2904" y="736"/>
                </a:lnTo>
                <a:lnTo>
                  <a:pt x="2878" y="728"/>
                </a:lnTo>
                <a:lnTo>
                  <a:pt x="2851" y="717"/>
                </a:lnTo>
                <a:lnTo>
                  <a:pt x="2825" y="704"/>
                </a:lnTo>
                <a:lnTo>
                  <a:pt x="2802" y="688"/>
                </a:lnTo>
                <a:lnTo>
                  <a:pt x="2780" y="670"/>
                </a:lnTo>
                <a:lnTo>
                  <a:pt x="2759" y="650"/>
                </a:lnTo>
                <a:lnTo>
                  <a:pt x="2742" y="627"/>
                </a:lnTo>
                <a:lnTo>
                  <a:pt x="2726" y="603"/>
                </a:lnTo>
                <a:lnTo>
                  <a:pt x="2711" y="578"/>
                </a:lnTo>
                <a:lnTo>
                  <a:pt x="2699" y="549"/>
                </a:lnTo>
                <a:lnTo>
                  <a:pt x="2690" y="521"/>
                </a:lnTo>
                <a:lnTo>
                  <a:pt x="2683" y="492"/>
                </a:lnTo>
                <a:lnTo>
                  <a:pt x="2679" y="461"/>
                </a:lnTo>
                <a:lnTo>
                  <a:pt x="2677" y="428"/>
                </a:lnTo>
                <a:lnTo>
                  <a:pt x="2677" y="341"/>
                </a:lnTo>
                <a:lnTo>
                  <a:pt x="2677" y="324"/>
                </a:lnTo>
                <a:lnTo>
                  <a:pt x="2679" y="305"/>
                </a:lnTo>
                <a:lnTo>
                  <a:pt x="2681" y="287"/>
                </a:lnTo>
                <a:lnTo>
                  <a:pt x="2684" y="270"/>
                </a:lnTo>
                <a:lnTo>
                  <a:pt x="2688" y="254"/>
                </a:lnTo>
                <a:lnTo>
                  <a:pt x="2694" y="238"/>
                </a:lnTo>
                <a:lnTo>
                  <a:pt x="2699" y="222"/>
                </a:lnTo>
                <a:lnTo>
                  <a:pt x="2706" y="206"/>
                </a:lnTo>
                <a:lnTo>
                  <a:pt x="2712" y="191"/>
                </a:lnTo>
                <a:lnTo>
                  <a:pt x="2720" y="176"/>
                </a:lnTo>
                <a:lnTo>
                  <a:pt x="2728" y="161"/>
                </a:lnTo>
                <a:lnTo>
                  <a:pt x="2738" y="148"/>
                </a:lnTo>
                <a:lnTo>
                  <a:pt x="2749" y="134"/>
                </a:lnTo>
                <a:lnTo>
                  <a:pt x="2758" y="122"/>
                </a:lnTo>
                <a:lnTo>
                  <a:pt x="2770" y="110"/>
                </a:lnTo>
                <a:lnTo>
                  <a:pt x="2781" y="98"/>
                </a:lnTo>
                <a:lnTo>
                  <a:pt x="2751" y="82"/>
                </a:lnTo>
                <a:lnTo>
                  <a:pt x="2745" y="77"/>
                </a:lnTo>
                <a:lnTo>
                  <a:pt x="2738" y="71"/>
                </a:lnTo>
                <a:lnTo>
                  <a:pt x="2732" y="66"/>
                </a:lnTo>
                <a:lnTo>
                  <a:pt x="2728" y="59"/>
                </a:lnTo>
                <a:lnTo>
                  <a:pt x="2726" y="52"/>
                </a:lnTo>
                <a:lnTo>
                  <a:pt x="2724" y="47"/>
                </a:lnTo>
                <a:lnTo>
                  <a:pt x="2724" y="40"/>
                </a:lnTo>
                <a:lnTo>
                  <a:pt x="2724" y="34"/>
                </a:lnTo>
                <a:lnTo>
                  <a:pt x="2726" y="28"/>
                </a:lnTo>
                <a:lnTo>
                  <a:pt x="2727" y="21"/>
                </a:lnTo>
                <a:lnTo>
                  <a:pt x="2731" y="17"/>
                </a:lnTo>
                <a:lnTo>
                  <a:pt x="2734" y="12"/>
                </a:lnTo>
                <a:lnTo>
                  <a:pt x="2739" y="9"/>
                </a:lnTo>
                <a:lnTo>
                  <a:pt x="2743" y="5"/>
                </a:lnTo>
                <a:lnTo>
                  <a:pt x="2749" y="4"/>
                </a:lnTo>
                <a:lnTo>
                  <a:pt x="2755" y="4"/>
                </a:lnTo>
                <a:lnTo>
                  <a:pt x="2974" y="1"/>
                </a:lnTo>
                <a:lnTo>
                  <a:pt x="2992" y="0"/>
                </a:lnTo>
                <a:close/>
                <a:moveTo>
                  <a:pt x="3196" y="387"/>
                </a:moveTo>
                <a:lnTo>
                  <a:pt x="3196" y="428"/>
                </a:lnTo>
                <a:lnTo>
                  <a:pt x="3195" y="455"/>
                </a:lnTo>
                <a:lnTo>
                  <a:pt x="3191" y="482"/>
                </a:lnTo>
                <a:lnTo>
                  <a:pt x="3185" y="506"/>
                </a:lnTo>
                <a:lnTo>
                  <a:pt x="3177" y="531"/>
                </a:lnTo>
                <a:lnTo>
                  <a:pt x="3166" y="553"/>
                </a:lnTo>
                <a:lnTo>
                  <a:pt x="3156" y="575"/>
                </a:lnTo>
                <a:lnTo>
                  <a:pt x="3142" y="595"/>
                </a:lnTo>
                <a:lnTo>
                  <a:pt x="3126" y="614"/>
                </a:lnTo>
                <a:lnTo>
                  <a:pt x="3110" y="630"/>
                </a:lnTo>
                <a:lnTo>
                  <a:pt x="3093" y="645"/>
                </a:lnTo>
                <a:lnTo>
                  <a:pt x="3072" y="658"/>
                </a:lnTo>
                <a:lnTo>
                  <a:pt x="3052" y="669"/>
                </a:lnTo>
                <a:lnTo>
                  <a:pt x="3031" y="677"/>
                </a:lnTo>
                <a:lnTo>
                  <a:pt x="3009" y="684"/>
                </a:lnTo>
                <a:lnTo>
                  <a:pt x="2986" y="688"/>
                </a:lnTo>
                <a:lnTo>
                  <a:pt x="2964" y="689"/>
                </a:lnTo>
                <a:lnTo>
                  <a:pt x="2939" y="688"/>
                </a:lnTo>
                <a:lnTo>
                  <a:pt x="2917" y="684"/>
                </a:lnTo>
                <a:lnTo>
                  <a:pt x="2895" y="677"/>
                </a:lnTo>
                <a:lnTo>
                  <a:pt x="2874" y="669"/>
                </a:lnTo>
                <a:lnTo>
                  <a:pt x="2853" y="658"/>
                </a:lnTo>
                <a:lnTo>
                  <a:pt x="2835" y="645"/>
                </a:lnTo>
                <a:lnTo>
                  <a:pt x="2816" y="630"/>
                </a:lnTo>
                <a:lnTo>
                  <a:pt x="2800" y="614"/>
                </a:lnTo>
                <a:lnTo>
                  <a:pt x="2785" y="595"/>
                </a:lnTo>
                <a:lnTo>
                  <a:pt x="2771" y="575"/>
                </a:lnTo>
                <a:lnTo>
                  <a:pt x="2759" y="553"/>
                </a:lnTo>
                <a:lnTo>
                  <a:pt x="2750" y="531"/>
                </a:lnTo>
                <a:lnTo>
                  <a:pt x="2742" y="506"/>
                </a:lnTo>
                <a:lnTo>
                  <a:pt x="2735" y="482"/>
                </a:lnTo>
                <a:lnTo>
                  <a:pt x="2732" y="455"/>
                </a:lnTo>
                <a:lnTo>
                  <a:pt x="2731" y="428"/>
                </a:lnTo>
                <a:lnTo>
                  <a:pt x="2731" y="341"/>
                </a:lnTo>
                <a:lnTo>
                  <a:pt x="2731" y="325"/>
                </a:lnTo>
                <a:lnTo>
                  <a:pt x="2732" y="308"/>
                </a:lnTo>
                <a:lnTo>
                  <a:pt x="2735" y="291"/>
                </a:lnTo>
                <a:lnTo>
                  <a:pt x="2738" y="277"/>
                </a:lnTo>
                <a:lnTo>
                  <a:pt x="2742" y="261"/>
                </a:lnTo>
                <a:lnTo>
                  <a:pt x="2747" y="246"/>
                </a:lnTo>
                <a:lnTo>
                  <a:pt x="2753" y="231"/>
                </a:lnTo>
                <a:lnTo>
                  <a:pt x="2758" y="218"/>
                </a:lnTo>
                <a:lnTo>
                  <a:pt x="2766" y="204"/>
                </a:lnTo>
                <a:lnTo>
                  <a:pt x="2773" y="191"/>
                </a:lnTo>
                <a:lnTo>
                  <a:pt x="2782" y="179"/>
                </a:lnTo>
                <a:lnTo>
                  <a:pt x="2790" y="167"/>
                </a:lnTo>
                <a:lnTo>
                  <a:pt x="2800" y="156"/>
                </a:lnTo>
                <a:lnTo>
                  <a:pt x="2810" y="145"/>
                </a:lnTo>
                <a:lnTo>
                  <a:pt x="2821" y="136"/>
                </a:lnTo>
                <a:lnTo>
                  <a:pt x="2832" y="126"/>
                </a:lnTo>
                <a:lnTo>
                  <a:pt x="2998" y="219"/>
                </a:lnTo>
                <a:lnTo>
                  <a:pt x="2927" y="301"/>
                </a:lnTo>
                <a:lnTo>
                  <a:pt x="3084" y="306"/>
                </a:lnTo>
                <a:lnTo>
                  <a:pt x="3084" y="387"/>
                </a:lnTo>
                <a:lnTo>
                  <a:pt x="3196" y="387"/>
                </a:lnTo>
                <a:close/>
                <a:moveTo>
                  <a:pt x="629" y="21"/>
                </a:moveTo>
                <a:lnTo>
                  <a:pt x="629" y="21"/>
                </a:lnTo>
                <a:lnTo>
                  <a:pt x="645" y="21"/>
                </a:lnTo>
                <a:lnTo>
                  <a:pt x="661" y="23"/>
                </a:lnTo>
                <a:lnTo>
                  <a:pt x="676" y="26"/>
                </a:lnTo>
                <a:lnTo>
                  <a:pt x="691" y="30"/>
                </a:lnTo>
                <a:lnTo>
                  <a:pt x="716" y="34"/>
                </a:lnTo>
                <a:lnTo>
                  <a:pt x="742" y="42"/>
                </a:lnTo>
                <a:lnTo>
                  <a:pt x="767" y="51"/>
                </a:lnTo>
                <a:lnTo>
                  <a:pt x="790" y="63"/>
                </a:lnTo>
                <a:lnTo>
                  <a:pt x="813" y="78"/>
                </a:lnTo>
                <a:lnTo>
                  <a:pt x="833" y="94"/>
                </a:lnTo>
                <a:lnTo>
                  <a:pt x="853" y="113"/>
                </a:lnTo>
                <a:lnTo>
                  <a:pt x="871" y="133"/>
                </a:lnTo>
                <a:lnTo>
                  <a:pt x="887" y="154"/>
                </a:lnTo>
                <a:lnTo>
                  <a:pt x="901" y="177"/>
                </a:lnTo>
                <a:lnTo>
                  <a:pt x="914" y="201"/>
                </a:lnTo>
                <a:lnTo>
                  <a:pt x="924" y="228"/>
                </a:lnTo>
                <a:lnTo>
                  <a:pt x="932" y="255"/>
                </a:lnTo>
                <a:lnTo>
                  <a:pt x="938" y="283"/>
                </a:lnTo>
                <a:lnTo>
                  <a:pt x="942" y="312"/>
                </a:lnTo>
                <a:lnTo>
                  <a:pt x="943" y="341"/>
                </a:lnTo>
                <a:lnTo>
                  <a:pt x="943" y="428"/>
                </a:lnTo>
                <a:lnTo>
                  <a:pt x="942" y="461"/>
                </a:lnTo>
                <a:lnTo>
                  <a:pt x="938" y="492"/>
                </a:lnTo>
                <a:lnTo>
                  <a:pt x="931" y="521"/>
                </a:lnTo>
                <a:lnTo>
                  <a:pt x="922" y="549"/>
                </a:lnTo>
                <a:lnTo>
                  <a:pt x="909" y="578"/>
                </a:lnTo>
                <a:lnTo>
                  <a:pt x="895" y="603"/>
                </a:lnTo>
                <a:lnTo>
                  <a:pt x="879" y="627"/>
                </a:lnTo>
                <a:lnTo>
                  <a:pt x="860" y="650"/>
                </a:lnTo>
                <a:lnTo>
                  <a:pt x="840" y="670"/>
                </a:lnTo>
                <a:lnTo>
                  <a:pt x="818" y="688"/>
                </a:lnTo>
                <a:lnTo>
                  <a:pt x="794" y="704"/>
                </a:lnTo>
                <a:lnTo>
                  <a:pt x="770" y="717"/>
                </a:lnTo>
                <a:lnTo>
                  <a:pt x="743" y="728"/>
                </a:lnTo>
                <a:lnTo>
                  <a:pt x="716" y="736"/>
                </a:lnTo>
                <a:lnTo>
                  <a:pt x="701" y="739"/>
                </a:lnTo>
                <a:lnTo>
                  <a:pt x="686" y="741"/>
                </a:lnTo>
                <a:lnTo>
                  <a:pt x="672" y="743"/>
                </a:lnTo>
                <a:lnTo>
                  <a:pt x="657" y="743"/>
                </a:lnTo>
                <a:lnTo>
                  <a:pt x="639" y="741"/>
                </a:lnTo>
                <a:lnTo>
                  <a:pt x="622" y="740"/>
                </a:lnTo>
                <a:lnTo>
                  <a:pt x="605" y="737"/>
                </a:lnTo>
                <a:lnTo>
                  <a:pt x="587" y="733"/>
                </a:lnTo>
                <a:lnTo>
                  <a:pt x="571" y="728"/>
                </a:lnTo>
                <a:lnTo>
                  <a:pt x="555" y="723"/>
                </a:lnTo>
                <a:lnTo>
                  <a:pt x="540" y="715"/>
                </a:lnTo>
                <a:lnTo>
                  <a:pt x="525" y="708"/>
                </a:lnTo>
                <a:lnTo>
                  <a:pt x="510" y="698"/>
                </a:lnTo>
                <a:lnTo>
                  <a:pt x="496" y="689"/>
                </a:lnTo>
                <a:lnTo>
                  <a:pt x="484" y="678"/>
                </a:lnTo>
                <a:lnTo>
                  <a:pt x="470" y="666"/>
                </a:lnTo>
                <a:lnTo>
                  <a:pt x="458" y="654"/>
                </a:lnTo>
                <a:lnTo>
                  <a:pt x="447" y="642"/>
                </a:lnTo>
                <a:lnTo>
                  <a:pt x="435" y="627"/>
                </a:lnTo>
                <a:lnTo>
                  <a:pt x="426" y="614"/>
                </a:lnTo>
                <a:lnTo>
                  <a:pt x="403" y="604"/>
                </a:lnTo>
                <a:lnTo>
                  <a:pt x="382" y="594"/>
                </a:lnTo>
                <a:lnTo>
                  <a:pt x="363" y="582"/>
                </a:lnTo>
                <a:lnTo>
                  <a:pt x="347" y="568"/>
                </a:lnTo>
                <a:lnTo>
                  <a:pt x="340" y="560"/>
                </a:lnTo>
                <a:lnTo>
                  <a:pt x="333" y="553"/>
                </a:lnTo>
                <a:lnTo>
                  <a:pt x="328" y="544"/>
                </a:lnTo>
                <a:lnTo>
                  <a:pt x="324" y="536"/>
                </a:lnTo>
                <a:lnTo>
                  <a:pt x="320" y="527"/>
                </a:lnTo>
                <a:lnTo>
                  <a:pt x="317" y="517"/>
                </a:lnTo>
                <a:lnTo>
                  <a:pt x="316" y="508"/>
                </a:lnTo>
                <a:lnTo>
                  <a:pt x="316" y="497"/>
                </a:lnTo>
                <a:lnTo>
                  <a:pt x="316" y="363"/>
                </a:lnTo>
                <a:lnTo>
                  <a:pt x="317" y="328"/>
                </a:lnTo>
                <a:lnTo>
                  <a:pt x="321" y="296"/>
                </a:lnTo>
                <a:lnTo>
                  <a:pt x="329" y="263"/>
                </a:lnTo>
                <a:lnTo>
                  <a:pt x="339" y="231"/>
                </a:lnTo>
                <a:lnTo>
                  <a:pt x="352" y="201"/>
                </a:lnTo>
                <a:lnTo>
                  <a:pt x="367" y="173"/>
                </a:lnTo>
                <a:lnTo>
                  <a:pt x="386" y="148"/>
                </a:lnTo>
                <a:lnTo>
                  <a:pt x="404" y="124"/>
                </a:lnTo>
                <a:lnTo>
                  <a:pt x="427" y="101"/>
                </a:lnTo>
                <a:lnTo>
                  <a:pt x="451" y="81"/>
                </a:lnTo>
                <a:lnTo>
                  <a:pt x="477" y="63"/>
                </a:lnTo>
                <a:lnTo>
                  <a:pt x="490" y="56"/>
                </a:lnTo>
                <a:lnTo>
                  <a:pt x="504" y="48"/>
                </a:lnTo>
                <a:lnTo>
                  <a:pt x="519" y="43"/>
                </a:lnTo>
                <a:lnTo>
                  <a:pt x="533" y="38"/>
                </a:lnTo>
                <a:lnTo>
                  <a:pt x="548" y="32"/>
                </a:lnTo>
                <a:lnTo>
                  <a:pt x="564" y="28"/>
                </a:lnTo>
                <a:lnTo>
                  <a:pt x="579" y="26"/>
                </a:lnTo>
                <a:lnTo>
                  <a:pt x="595" y="23"/>
                </a:lnTo>
                <a:lnTo>
                  <a:pt x="611" y="21"/>
                </a:lnTo>
                <a:lnTo>
                  <a:pt x="629" y="21"/>
                </a:lnTo>
                <a:close/>
                <a:moveTo>
                  <a:pt x="446" y="539"/>
                </a:moveTo>
                <a:lnTo>
                  <a:pt x="446" y="539"/>
                </a:lnTo>
                <a:lnTo>
                  <a:pt x="459" y="565"/>
                </a:lnTo>
                <a:lnTo>
                  <a:pt x="474" y="590"/>
                </a:lnTo>
                <a:lnTo>
                  <a:pt x="492" y="611"/>
                </a:lnTo>
                <a:lnTo>
                  <a:pt x="512" y="631"/>
                </a:lnTo>
                <a:lnTo>
                  <a:pt x="527" y="645"/>
                </a:lnTo>
                <a:lnTo>
                  <a:pt x="544" y="655"/>
                </a:lnTo>
                <a:lnTo>
                  <a:pt x="562" y="665"/>
                </a:lnTo>
                <a:lnTo>
                  <a:pt x="579" y="674"/>
                </a:lnTo>
                <a:lnTo>
                  <a:pt x="598" y="680"/>
                </a:lnTo>
                <a:lnTo>
                  <a:pt x="617" y="685"/>
                </a:lnTo>
                <a:lnTo>
                  <a:pt x="637" y="688"/>
                </a:lnTo>
                <a:lnTo>
                  <a:pt x="657" y="689"/>
                </a:lnTo>
                <a:lnTo>
                  <a:pt x="680" y="688"/>
                </a:lnTo>
                <a:lnTo>
                  <a:pt x="703" y="684"/>
                </a:lnTo>
                <a:lnTo>
                  <a:pt x="725" y="677"/>
                </a:lnTo>
                <a:lnTo>
                  <a:pt x="747" y="669"/>
                </a:lnTo>
                <a:lnTo>
                  <a:pt x="767" y="658"/>
                </a:lnTo>
                <a:lnTo>
                  <a:pt x="786" y="645"/>
                </a:lnTo>
                <a:lnTo>
                  <a:pt x="803" y="630"/>
                </a:lnTo>
                <a:lnTo>
                  <a:pt x="821" y="614"/>
                </a:lnTo>
                <a:lnTo>
                  <a:pt x="836" y="595"/>
                </a:lnTo>
                <a:lnTo>
                  <a:pt x="849" y="575"/>
                </a:lnTo>
                <a:lnTo>
                  <a:pt x="861" y="553"/>
                </a:lnTo>
                <a:lnTo>
                  <a:pt x="871" y="531"/>
                </a:lnTo>
                <a:lnTo>
                  <a:pt x="879" y="506"/>
                </a:lnTo>
                <a:lnTo>
                  <a:pt x="884" y="482"/>
                </a:lnTo>
                <a:lnTo>
                  <a:pt x="888" y="455"/>
                </a:lnTo>
                <a:lnTo>
                  <a:pt x="889" y="428"/>
                </a:lnTo>
                <a:lnTo>
                  <a:pt x="889" y="341"/>
                </a:lnTo>
                <a:lnTo>
                  <a:pt x="888" y="318"/>
                </a:lnTo>
                <a:lnTo>
                  <a:pt x="885" y="297"/>
                </a:lnTo>
                <a:lnTo>
                  <a:pt x="881" y="275"/>
                </a:lnTo>
                <a:lnTo>
                  <a:pt x="876" y="255"/>
                </a:lnTo>
                <a:lnTo>
                  <a:pt x="869" y="235"/>
                </a:lnTo>
                <a:lnTo>
                  <a:pt x="861" y="216"/>
                </a:lnTo>
                <a:lnTo>
                  <a:pt x="852" y="199"/>
                </a:lnTo>
                <a:lnTo>
                  <a:pt x="841" y="181"/>
                </a:lnTo>
                <a:lnTo>
                  <a:pt x="742" y="181"/>
                </a:lnTo>
                <a:lnTo>
                  <a:pt x="720" y="183"/>
                </a:lnTo>
                <a:lnTo>
                  <a:pt x="701" y="187"/>
                </a:lnTo>
                <a:lnTo>
                  <a:pt x="684" y="192"/>
                </a:lnTo>
                <a:lnTo>
                  <a:pt x="670" y="200"/>
                </a:lnTo>
                <a:lnTo>
                  <a:pt x="658" y="210"/>
                </a:lnTo>
                <a:lnTo>
                  <a:pt x="649" y="222"/>
                </a:lnTo>
                <a:lnTo>
                  <a:pt x="641" y="235"/>
                </a:lnTo>
                <a:lnTo>
                  <a:pt x="634" y="248"/>
                </a:lnTo>
                <a:lnTo>
                  <a:pt x="630" y="265"/>
                </a:lnTo>
                <a:lnTo>
                  <a:pt x="626" y="282"/>
                </a:lnTo>
                <a:lnTo>
                  <a:pt x="623" y="300"/>
                </a:lnTo>
                <a:lnTo>
                  <a:pt x="622" y="318"/>
                </a:lnTo>
                <a:lnTo>
                  <a:pt x="621" y="357"/>
                </a:lnTo>
                <a:lnTo>
                  <a:pt x="621" y="396"/>
                </a:lnTo>
                <a:lnTo>
                  <a:pt x="531" y="317"/>
                </a:lnTo>
                <a:lnTo>
                  <a:pt x="531" y="497"/>
                </a:lnTo>
                <a:lnTo>
                  <a:pt x="446" y="539"/>
                </a:lnTo>
                <a:close/>
                <a:moveTo>
                  <a:pt x="1356" y="1970"/>
                </a:moveTo>
                <a:lnTo>
                  <a:pt x="1356" y="1640"/>
                </a:lnTo>
                <a:lnTo>
                  <a:pt x="911" y="1640"/>
                </a:lnTo>
                <a:lnTo>
                  <a:pt x="899" y="1629"/>
                </a:lnTo>
                <a:lnTo>
                  <a:pt x="871" y="1602"/>
                </a:lnTo>
                <a:lnTo>
                  <a:pt x="860" y="1381"/>
                </a:lnTo>
                <a:lnTo>
                  <a:pt x="856" y="1315"/>
                </a:lnTo>
                <a:lnTo>
                  <a:pt x="849" y="1257"/>
                </a:lnTo>
                <a:lnTo>
                  <a:pt x="846" y="1232"/>
                </a:lnTo>
                <a:lnTo>
                  <a:pt x="842" y="1209"/>
                </a:lnTo>
                <a:lnTo>
                  <a:pt x="837" y="1187"/>
                </a:lnTo>
                <a:lnTo>
                  <a:pt x="832" y="1166"/>
                </a:lnTo>
                <a:lnTo>
                  <a:pt x="825" y="1147"/>
                </a:lnTo>
                <a:lnTo>
                  <a:pt x="817" y="1130"/>
                </a:lnTo>
                <a:lnTo>
                  <a:pt x="809" y="1114"/>
                </a:lnTo>
                <a:lnTo>
                  <a:pt x="798" y="1099"/>
                </a:lnTo>
                <a:lnTo>
                  <a:pt x="787" y="1084"/>
                </a:lnTo>
                <a:lnTo>
                  <a:pt x="775" y="1071"/>
                </a:lnTo>
                <a:lnTo>
                  <a:pt x="760" y="1058"/>
                </a:lnTo>
                <a:lnTo>
                  <a:pt x="746" y="1046"/>
                </a:lnTo>
                <a:lnTo>
                  <a:pt x="563" y="912"/>
                </a:lnTo>
                <a:lnTo>
                  <a:pt x="547" y="901"/>
                </a:lnTo>
                <a:lnTo>
                  <a:pt x="531" y="893"/>
                </a:lnTo>
                <a:lnTo>
                  <a:pt x="516" y="888"/>
                </a:lnTo>
                <a:lnTo>
                  <a:pt x="501" y="885"/>
                </a:lnTo>
                <a:lnTo>
                  <a:pt x="488" y="884"/>
                </a:lnTo>
                <a:lnTo>
                  <a:pt x="474" y="887"/>
                </a:lnTo>
                <a:lnTo>
                  <a:pt x="461" y="889"/>
                </a:lnTo>
                <a:lnTo>
                  <a:pt x="450" y="896"/>
                </a:lnTo>
                <a:lnTo>
                  <a:pt x="439" y="903"/>
                </a:lnTo>
                <a:lnTo>
                  <a:pt x="430" y="913"/>
                </a:lnTo>
                <a:lnTo>
                  <a:pt x="422" y="924"/>
                </a:lnTo>
                <a:lnTo>
                  <a:pt x="414" y="938"/>
                </a:lnTo>
                <a:lnTo>
                  <a:pt x="408" y="952"/>
                </a:lnTo>
                <a:lnTo>
                  <a:pt x="404" y="968"/>
                </a:lnTo>
                <a:lnTo>
                  <a:pt x="403" y="986"/>
                </a:lnTo>
                <a:lnTo>
                  <a:pt x="402" y="1005"/>
                </a:lnTo>
                <a:lnTo>
                  <a:pt x="416" y="2621"/>
                </a:lnTo>
                <a:lnTo>
                  <a:pt x="922" y="2621"/>
                </a:lnTo>
                <a:lnTo>
                  <a:pt x="892" y="2024"/>
                </a:lnTo>
                <a:lnTo>
                  <a:pt x="727" y="2024"/>
                </a:lnTo>
                <a:lnTo>
                  <a:pt x="707" y="2023"/>
                </a:lnTo>
                <a:lnTo>
                  <a:pt x="689" y="2022"/>
                </a:lnTo>
                <a:lnTo>
                  <a:pt x="672" y="2019"/>
                </a:lnTo>
                <a:lnTo>
                  <a:pt x="654" y="2015"/>
                </a:lnTo>
                <a:lnTo>
                  <a:pt x="638" y="2009"/>
                </a:lnTo>
                <a:lnTo>
                  <a:pt x="623" y="2001"/>
                </a:lnTo>
                <a:lnTo>
                  <a:pt x="610" y="1993"/>
                </a:lnTo>
                <a:lnTo>
                  <a:pt x="596" y="1984"/>
                </a:lnTo>
                <a:lnTo>
                  <a:pt x="584" y="1973"/>
                </a:lnTo>
                <a:lnTo>
                  <a:pt x="574" y="1961"/>
                </a:lnTo>
                <a:lnTo>
                  <a:pt x="564" y="1948"/>
                </a:lnTo>
                <a:lnTo>
                  <a:pt x="555" y="1934"/>
                </a:lnTo>
                <a:lnTo>
                  <a:pt x="548" y="1917"/>
                </a:lnTo>
                <a:lnTo>
                  <a:pt x="543" y="1899"/>
                </a:lnTo>
                <a:lnTo>
                  <a:pt x="537" y="1880"/>
                </a:lnTo>
                <a:lnTo>
                  <a:pt x="535" y="1860"/>
                </a:lnTo>
                <a:lnTo>
                  <a:pt x="478" y="1338"/>
                </a:lnTo>
                <a:lnTo>
                  <a:pt x="532" y="1331"/>
                </a:lnTo>
                <a:lnTo>
                  <a:pt x="588" y="1855"/>
                </a:lnTo>
                <a:lnTo>
                  <a:pt x="591" y="1870"/>
                </a:lnTo>
                <a:lnTo>
                  <a:pt x="594" y="1883"/>
                </a:lnTo>
                <a:lnTo>
                  <a:pt x="598" y="1895"/>
                </a:lnTo>
                <a:lnTo>
                  <a:pt x="602" y="1907"/>
                </a:lnTo>
                <a:lnTo>
                  <a:pt x="609" y="1917"/>
                </a:lnTo>
                <a:lnTo>
                  <a:pt x="614" y="1926"/>
                </a:lnTo>
                <a:lnTo>
                  <a:pt x="622" y="1936"/>
                </a:lnTo>
                <a:lnTo>
                  <a:pt x="630" y="1942"/>
                </a:lnTo>
                <a:lnTo>
                  <a:pt x="639" y="1949"/>
                </a:lnTo>
                <a:lnTo>
                  <a:pt x="649" y="1954"/>
                </a:lnTo>
                <a:lnTo>
                  <a:pt x="660" y="1960"/>
                </a:lnTo>
                <a:lnTo>
                  <a:pt x="672" y="1964"/>
                </a:lnTo>
                <a:lnTo>
                  <a:pt x="684" y="1966"/>
                </a:lnTo>
                <a:lnTo>
                  <a:pt x="697" y="1969"/>
                </a:lnTo>
                <a:lnTo>
                  <a:pt x="712" y="1970"/>
                </a:lnTo>
                <a:lnTo>
                  <a:pt x="727" y="1970"/>
                </a:lnTo>
                <a:lnTo>
                  <a:pt x="1356" y="1970"/>
                </a:lnTo>
                <a:close/>
                <a:moveTo>
                  <a:pt x="977" y="1586"/>
                </a:moveTo>
                <a:lnTo>
                  <a:pt x="1409" y="1586"/>
                </a:lnTo>
                <a:lnTo>
                  <a:pt x="1409" y="2024"/>
                </a:lnTo>
                <a:lnTo>
                  <a:pt x="998" y="2024"/>
                </a:lnTo>
                <a:lnTo>
                  <a:pt x="1030" y="2678"/>
                </a:lnTo>
                <a:lnTo>
                  <a:pt x="893" y="4763"/>
                </a:lnTo>
                <a:lnTo>
                  <a:pt x="786" y="4763"/>
                </a:lnTo>
                <a:lnTo>
                  <a:pt x="923" y="2674"/>
                </a:lnTo>
                <a:lnTo>
                  <a:pt x="416" y="2674"/>
                </a:lnTo>
                <a:lnTo>
                  <a:pt x="435" y="4763"/>
                </a:lnTo>
                <a:lnTo>
                  <a:pt x="328" y="4763"/>
                </a:lnTo>
                <a:lnTo>
                  <a:pt x="318" y="3678"/>
                </a:lnTo>
                <a:lnTo>
                  <a:pt x="0" y="3678"/>
                </a:lnTo>
                <a:lnTo>
                  <a:pt x="0" y="2621"/>
                </a:lnTo>
                <a:lnTo>
                  <a:pt x="309" y="2621"/>
                </a:lnTo>
                <a:lnTo>
                  <a:pt x="294" y="1006"/>
                </a:lnTo>
                <a:lnTo>
                  <a:pt x="294" y="991"/>
                </a:lnTo>
                <a:lnTo>
                  <a:pt x="296" y="977"/>
                </a:lnTo>
                <a:lnTo>
                  <a:pt x="298" y="962"/>
                </a:lnTo>
                <a:lnTo>
                  <a:pt x="301" y="947"/>
                </a:lnTo>
                <a:lnTo>
                  <a:pt x="304" y="934"/>
                </a:lnTo>
                <a:lnTo>
                  <a:pt x="309" y="919"/>
                </a:lnTo>
                <a:lnTo>
                  <a:pt x="314" y="905"/>
                </a:lnTo>
                <a:lnTo>
                  <a:pt x="320" y="892"/>
                </a:lnTo>
                <a:lnTo>
                  <a:pt x="326" y="878"/>
                </a:lnTo>
                <a:lnTo>
                  <a:pt x="333" y="866"/>
                </a:lnTo>
                <a:lnTo>
                  <a:pt x="341" y="854"/>
                </a:lnTo>
                <a:lnTo>
                  <a:pt x="351" y="844"/>
                </a:lnTo>
                <a:lnTo>
                  <a:pt x="359" y="833"/>
                </a:lnTo>
                <a:lnTo>
                  <a:pt x="369" y="822"/>
                </a:lnTo>
                <a:lnTo>
                  <a:pt x="380" y="814"/>
                </a:lnTo>
                <a:lnTo>
                  <a:pt x="391" y="805"/>
                </a:lnTo>
                <a:lnTo>
                  <a:pt x="402" y="798"/>
                </a:lnTo>
                <a:lnTo>
                  <a:pt x="414" y="791"/>
                </a:lnTo>
                <a:lnTo>
                  <a:pt x="426" y="786"/>
                </a:lnTo>
                <a:lnTo>
                  <a:pt x="439" y="780"/>
                </a:lnTo>
                <a:lnTo>
                  <a:pt x="453" y="778"/>
                </a:lnTo>
                <a:lnTo>
                  <a:pt x="466" y="775"/>
                </a:lnTo>
                <a:lnTo>
                  <a:pt x="481" y="774"/>
                </a:lnTo>
                <a:lnTo>
                  <a:pt x="496" y="774"/>
                </a:lnTo>
                <a:lnTo>
                  <a:pt x="510" y="775"/>
                </a:lnTo>
                <a:lnTo>
                  <a:pt x="527" y="778"/>
                </a:lnTo>
                <a:lnTo>
                  <a:pt x="541" y="782"/>
                </a:lnTo>
                <a:lnTo>
                  <a:pt x="558" y="787"/>
                </a:lnTo>
                <a:lnTo>
                  <a:pt x="574" y="794"/>
                </a:lnTo>
                <a:lnTo>
                  <a:pt x="590" y="802"/>
                </a:lnTo>
                <a:lnTo>
                  <a:pt x="607" y="813"/>
                </a:lnTo>
                <a:lnTo>
                  <a:pt x="623" y="823"/>
                </a:lnTo>
                <a:lnTo>
                  <a:pt x="809" y="960"/>
                </a:lnTo>
                <a:lnTo>
                  <a:pt x="829" y="977"/>
                </a:lnTo>
                <a:lnTo>
                  <a:pt x="848" y="993"/>
                </a:lnTo>
                <a:lnTo>
                  <a:pt x="865" y="1010"/>
                </a:lnTo>
                <a:lnTo>
                  <a:pt x="881" y="1029"/>
                </a:lnTo>
                <a:lnTo>
                  <a:pt x="895" y="1048"/>
                </a:lnTo>
                <a:lnTo>
                  <a:pt x="907" y="1069"/>
                </a:lnTo>
                <a:lnTo>
                  <a:pt x="918" y="1091"/>
                </a:lnTo>
                <a:lnTo>
                  <a:pt x="927" y="1114"/>
                </a:lnTo>
                <a:lnTo>
                  <a:pt x="935" y="1139"/>
                </a:lnTo>
                <a:lnTo>
                  <a:pt x="942" y="1166"/>
                </a:lnTo>
                <a:lnTo>
                  <a:pt x="948" y="1194"/>
                </a:lnTo>
                <a:lnTo>
                  <a:pt x="954" y="1226"/>
                </a:lnTo>
                <a:lnTo>
                  <a:pt x="958" y="1259"/>
                </a:lnTo>
                <a:lnTo>
                  <a:pt x="962" y="1295"/>
                </a:lnTo>
                <a:lnTo>
                  <a:pt x="967" y="1375"/>
                </a:lnTo>
                <a:lnTo>
                  <a:pt x="977" y="1586"/>
                </a:lnTo>
                <a:close/>
                <a:moveTo>
                  <a:pt x="310" y="2728"/>
                </a:moveTo>
                <a:lnTo>
                  <a:pt x="107" y="2728"/>
                </a:lnTo>
                <a:lnTo>
                  <a:pt x="107" y="3570"/>
                </a:lnTo>
                <a:lnTo>
                  <a:pt x="317" y="3570"/>
                </a:lnTo>
                <a:lnTo>
                  <a:pt x="310" y="2728"/>
                </a:lnTo>
                <a:close/>
                <a:moveTo>
                  <a:pt x="1185" y="1875"/>
                </a:moveTo>
                <a:lnTo>
                  <a:pt x="1185" y="1875"/>
                </a:lnTo>
                <a:lnTo>
                  <a:pt x="1185" y="1867"/>
                </a:lnTo>
                <a:lnTo>
                  <a:pt x="1188" y="1859"/>
                </a:lnTo>
                <a:lnTo>
                  <a:pt x="1192" y="1852"/>
                </a:lnTo>
                <a:lnTo>
                  <a:pt x="1196" y="1847"/>
                </a:lnTo>
                <a:lnTo>
                  <a:pt x="1202" y="1842"/>
                </a:lnTo>
                <a:lnTo>
                  <a:pt x="1209" y="1838"/>
                </a:lnTo>
                <a:lnTo>
                  <a:pt x="1217" y="1835"/>
                </a:lnTo>
                <a:lnTo>
                  <a:pt x="1225" y="1835"/>
                </a:lnTo>
                <a:lnTo>
                  <a:pt x="1233" y="1835"/>
                </a:lnTo>
                <a:lnTo>
                  <a:pt x="1240" y="1838"/>
                </a:lnTo>
                <a:lnTo>
                  <a:pt x="1247" y="1842"/>
                </a:lnTo>
                <a:lnTo>
                  <a:pt x="1253" y="1847"/>
                </a:lnTo>
                <a:lnTo>
                  <a:pt x="1259" y="1852"/>
                </a:lnTo>
                <a:lnTo>
                  <a:pt x="1261" y="1859"/>
                </a:lnTo>
                <a:lnTo>
                  <a:pt x="1264" y="1867"/>
                </a:lnTo>
                <a:lnTo>
                  <a:pt x="1265" y="1875"/>
                </a:lnTo>
                <a:lnTo>
                  <a:pt x="1264" y="1883"/>
                </a:lnTo>
                <a:lnTo>
                  <a:pt x="1261" y="1891"/>
                </a:lnTo>
                <a:lnTo>
                  <a:pt x="1259" y="1898"/>
                </a:lnTo>
                <a:lnTo>
                  <a:pt x="1253" y="1903"/>
                </a:lnTo>
                <a:lnTo>
                  <a:pt x="1247" y="1909"/>
                </a:lnTo>
                <a:lnTo>
                  <a:pt x="1240" y="1911"/>
                </a:lnTo>
                <a:lnTo>
                  <a:pt x="1233" y="1914"/>
                </a:lnTo>
                <a:lnTo>
                  <a:pt x="1225" y="1915"/>
                </a:lnTo>
                <a:lnTo>
                  <a:pt x="1217" y="1914"/>
                </a:lnTo>
                <a:lnTo>
                  <a:pt x="1209" y="1911"/>
                </a:lnTo>
                <a:lnTo>
                  <a:pt x="1202" y="1909"/>
                </a:lnTo>
                <a:lnTo>
                  <a:pt x="1196" y="1903"/>
                </a:lnTo>
                <a:lnTo>
                  <a:pt x="1192" y="1898"/>
                </a:lnTo>
                <a:lnTo>
                  <a:pt x="1188" y="1891"/>
                </a:lnTo>
                <a:lnTo>
                  <a:pt x="1185" y="1883"/>
                </a:lnTo>
                <a:lnTo>
                  <a:pt x="1185" y="1875"/>
                </a:lnTo>
                <a:close/>
                <a:moveTo>
                  <a:pt x="1141" y="2728"/>
                </a:moveTo>
                <a:lnTo>
                  <a:pt x="1142" y="2621"/>
                </a:lnTo>
                <a:lnTo>
                  <a:pt x="1397" y="2621"/>
                </a:lnTo>
                <a:lnTo>
                  <a:pt x="1397" y="3678"/>
                </a:lnTo>
                <a:lnTo>
                  <a:pt x="1076" y="3678"/>
                </a:lnTo>
                <a:lnTo>
                  <a:pt x="1083" y="3570"/>
                </a:lnTo>
                <a:lnTo>
                  <a:pt x="1290" y="3570"/>
                </a:lnTo>
                <a:lnTo>
                  <a:pt x="1290" y="2728"/>
                </a:lnTo>
                <a:lnTo>
                  <a:pt x="1141" y="2728"/>
                </a:lnTo>
                <a:close/>
                <a:moveTo>
                  <a:pt x="1463" y="1880"/>
                </a:moveTo>
                <a:lnTo>
                  <a:pt x="1651" y="1956"/>
                </a:lnTo>
                <a:lnTo>
                  <a:pt x="1677" y="1965"/>
                </a:lnTo>
                <a:lnTo>
                  <a:pt x="1699" y="1972"/>
                </a:lnTo>
                <a:lnTo>
                  <a:pt x="1721" y="1976"/>
                </a:lnTo>
                <a:lnTo>
                  <a:pt x="1741" y="1977"/>
                </a:lnTo>
                <a:lnTo>
                  <a:pt x="1763" y="1976"/>
                </a:lnTo>
                <a:lnTo>
                  <a:pt x="1784" y="1972"/>
                </a:lnTo>
                <a:lnTo>
                  <a:pt x="1807" y="1965"/>
                </a:lnTo>
                <a:lnTo>
                  <a:pt x="1832" y="1956"/>
                </a:lnTo>
                <a:lnTo>
                  <a:pt x="2010" y="1890"/>
                </a:lnTo>
                <a:lnTo>
                  <a:pt x="2010" y="1950"/>
                </a:lnTo>
                <a:lnTo>
                  <a:pt x="1977" y="1961"/>
                </a:lnTo>
                <a:lnTo>
                  <a:pt x="1937" y="1975"/>
                </a:lnTo>
                <a:lnTo>
                  <a:pt x="1887" y="1992"/>
                </a:lnTo>
                <a:lnTo>
                  <a:pt x="1830" y="2015"/>
                </a:lnTo>
                <a:lnTo>
                  <a:pt x="1811" y="2022"/>
                </a:lnTo>
                <a:lnTo>
                  <a:pt x="1791" y="2027"/>
                </a:lnTo>
                <a:lnTo>
                  <a:pt x="1771" y="2030"/>
                </a:lnTo>
                <a:lnTo>
                  <a:pt x="1750" y="2032"/>
                </a:lnTo>
                <a:lnTo>
                  <a:pt x="1729" y="2031"/>
                </a:lnTo>
                <a:lnTo>
                  <a:pt x="1709" y="2030"/>
                </a:lnTo>
                <a:lnTo>
                  <a:pt x="1687" y="2024"/>
                </a:lnTo>
                <a:lnTo>
                  <a:pt x="1667" y="2017"/>
                </a:lnTo>
                <a:lnTo>
                  <a:pt x="1463" y="1938"/>
                </a:lnTo>
                <a:lnTo>
                  <a:pt x="1463" y="1880"/>
                </a:lnTo>
                <a:close/>
                <a:moveTo>
                  <a:pt x="2010" y="1647"/>
                </a:moveTo>
                <a:lnTo>
                  <a:pt x="1815" y="1613"/>
                </a:lnTo>
                <a:lnTo>
                  <a:pt x="1681" y="1639"/>
                </a:lnTo>
                <a:lnTo>
                  <a:pt x="1611" y="1723"/>
                </a:lnTo>
                <a:lnTo>
                  <a:pt x="1643" y="1741"/>
                </a:lnTo>
                <a:lnTo>
                  <a:pt x="1787" y="1695"/>
                </a:lnTo>
                <a:lnTo>
                  <a:pt x="1882" y="1781"/>
                </a:lnTo>
                <a:lnTo>
                  <a:pt x="1846" y="1821"/>
                </a:lnTo>
                <a:lnTo>
                  <a:pt x="1773" y="1756"/>
                </a:lnTo>
                <a:lnTo>
                  <a:pt x="1638" y="1799"/>
                </a:lnTo>
                <a:lnTo>
                  <a:pt x="1527" y="1741"/>
                </a:lnTo>
                <a:lnTo>
                  <a:pt x="1609" y="1640"/>
                </a:lnTo>
                <a:lnTo>
                  <a:pt x="1463" y="1640"/>
                </a:lnTo>
                <a:lnTo>
                  <a:pt x="1463" y="1586"/>
                </a:lnTo>
                <a:lnTo>
                  <a:pt x="1663" y="1586"/>
                </a:lnTo>
                <a:lnTo>
                  <a:pt x="1815" y="1559"/>
                </a:lnTo>
                <a:lnTo>
                  <a:pt x="2010" y="1592"/>
                </a:lnTo>
                <a:lnTo>
                  <a:pt x="2010" y="1647"/>
                </a:lnTo>
                <a:close/>
              </a:path>
            </a:pathLst>
          </a:custGeom>
          <a:solidFill>
            <a:schemeClr val="bg1"/>
          </a:solidFill>
          <a:ln w="9525">
            <a:noFill/>
            <a:round/>
            <a:headEnd/>
            <a:tailEnd/>
          </a:ln>
        </p:spPr>
        <p:txBody>
          <a:bodyPr/>
          <a:lstStyle/>
          <a:p>
            <a:endParaRPr lang="en-GB" dirty="0">
              <a:solidFill>
                <a:srgbClr val="FFFFFF"/>
              </a:solidFill>
            </a:endParaRPr>
          </a:p>
        </p:txBody>
      </p:sp>
      <p:sp>
        <p:nvSpPr>
          <p:cNvPr id="6" name="Rectangle 5"/>
          <p:cNvSpPr/>
          <p:nvPr/>
        </p:nvSpPr>
        <p:spPr>
          <a:xfrm>
            <a:off x="3979819" y="3494206"/>
            <a:ext cx="6096000" cy="757130"/>
          </a:xfrm>
          <a:prstGeom prst="rect">
            <a:avLst/>
          </a:prstGeom>
        </p:spPr>
        <p:txBody>
          <a:bodyPr>
            <a:spAutoFit/>
          </a:bodyPr>
          <a:lstStyle/>
          <a:p>
            <a:pPr marL="0" lvl="1">
              <a:lnSpc>
                <a:spcPct val="90000"/>
              </a:lnSpc>
              <a:spcBef>
                <a:spcPts val="250"/>
              </a:spcBef>
              <a:buClr>
                <a:srgbClr val="FFD200"/>
              </a:buClr>
              <a:buSzPct val="75000"/>
              <a:defRPr/>
            </a:pPr>
            <a:r>
              <a:rPr lang="en-US" sz="1600" dirty="0">
                <a:solidFill>
                  <a:schemeClr val="accent4"/>
                </a:solidFill>
                <a:latin typeface="EYInterstate"/>
              </a:rPr>
              <a:t>The innovation function has to be established shortly to work closely with the Corporate Excellence Division in identifying latest in digital trends and innovation</a:t>
            </a:r>
          </a:p>
        </p:txBody>
      </p:sp>
      <p:sp>
        <p:nvSpPr>
          <p:cNvPr id="7" name="Rectangle 6"/>
          <p:cNvSpPr/>
          <p:nvPr/>
        </p:nvSpPr>
        <p:spPr>
          <a:xfrm>
            <a:off x="3991682" y="2761348"/>
            <a:ext cx="6096000" cy="535531"/>
          </a:xfrm>
          <a:prstGeom prst="rect">
            <a:avLst/>
          </a:prstGeom>
        </p:spPr>
        <p:txBody>
          <a:bodyPr>
            <a:spAutoFit/>
          </a:bodyPr>
          <a:lstStyle/>
          <a:p>
            <a:pPr marL="0" lvl="1">
              <a:lnSpc>
                <a:spcPct val="90000"/>
              </a:lnSpc>
              <a:spcBef>
                <a:spcPts val="250"/>
              </a:spcBef>
              <a:buClr>
                <a:srgbClr val="FFD200"/>
              </a:buClr>
              <a:buSzPct val="75000"/>
              <a:defRPr/>
            </a:pPr>
            <a:r>
              <a:rPr lang="en-US" sz="1600" dirty="0">
                <a:solidFill>
                  <a:schemeClr val="accent4"/>
                </a:solidFill>
                <a:latin typeface="EYInterstate"/>
              </a:rPr>
              <a:t>The links between IT strategy and Digital Strategy have to be clearly defined</a:t>
            </a:r>
          </a:p>
        </p:txBody>
      </p:sp>
      <p:sp>
        <p:nvSpPr>
          <p:cNvPr id="8" name="Rectangle 7"/>
          <p:cNvSpPr/>
          <p:nvPr/>
        </p:nvSpPr>
        <p:spPr>
          <a:xfrm>
            <a:off x="4058757" y="4665825"/>
            <a:ext cx="6096000" cy="535531"/>
          </a:xfrm>
          <a:prstGeom prst="rect">
            <a:avLst/>
          </a:prstGeom>
        </p:spPr>
        <p:txBody>
          <a:bodyPr>
            <a:spAutoFit/>
          </a:bodyPr>
          <a:lstStyle/>
          <a:p>
            <a:pPr marL="0" lvl="1">
              <a:lnSpc>
                <a:spcPct val="90000"/>
              </a:lnSpc>
              <a:spcBef>
                <a:spcPts val="250"/>
              </a:spcBef>
              <a:buClr>
                <a:srgbClr val="FFD200"/>
              </a:buClr>
              <a:buSzPct val="75000"/>
              <a:defRPr/>
            </a:pPr>
            <a:r>
              <a:rPr lang="en-US" sz="1600" dirty="0">
                <a:solidFill>
                  <a:schemeClr val="accent4"/>
                </a:solidFill>
                <a:latin typeface="EYInterstate"/>
              </a:rPr>
              <a:t>Build innovation culture within IT Division and establish clear communication lines with business</a:t>
            </a:r>
          </a:p>
        </p:txBody>
      </p:sp>
      <p:grpSp>
        <p:nvGrpSpPr>
          <p:cNvPr id="324" name="Gruppieren 3">
            <a:extLst>
              <a:ext uri="{FF2B5EF4-FFF2-40B4-BE49-F238E27FC236}">
                <a16:creationId xmlns:a16="http://schemas.microsoft.com/office/drawing/2014/main" id="{0DCCD37D-5631-478F-89C4-AAAAC7C9F324}"/>
              </a:ext>
            </a:extLst>
          </p:cNvPr>
          <p:cNvGrpSpPr>
            <a:grpSpLocks noChangeAspect="1"/>
          </p:cNvGrpSpPr>
          <p:nvPr>
            <p:custDataLst>
              <p:tags r:id="rId4"/>
            </p:custDataLst>
          </p:nvPr>
        </p:nvGrpSpPr>
        <p:grpSpPr bwMode="gray">
          <a:xfrm>
            <a:off x="3331067" y="2367750"/>
            <a:ext cx="304406" cy="504000"/>
            <a:chOff x="7936110" y="3644896"/>
            <a:chExt cx="233867" cy="387208"/>
          </a:xfrm>
          <a:solidFill>
            <a:schemeClr val="accent2"/>
          </a:solidFill>
        </p:grpSpPr>
        <p:sp>
          <p:nvSpPr>
            <p:cNvPr id="325" name="Ellipse 1">
              <a:extLst>
                <a:ext uri="{FF2B5EF4-FFF2-40B4-BE49-F238E27FC236}">
                  <a16:creationId xmlns:a16="http://schemas.microsoft.com/office/drawing/2014/main" id="{04DBA7C4-46E9-42C5-828D-708ED445F910}"/>
                </a:ext>
              </a:extLst>
            </p:cNvPr>
            <p:cNvSpPr/>
            <p:nvPr>
              <p:custDataLst>
                <p:tags r:id="rId30"/>
              </p:custDataLst>
            </p:nvPr>
          </p:nvSpPr>
          <p:spPr bwMode="gray">
            <a:xfrm>
              <a:off x="7936110" y="3644896"/>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26" name="Ellipse 181">
              <a:extLst>
                <a:ext uri="{FF2B5EF4-FFF2-40B4-BE49-F238E27FC236}">
                  <a16:creationId xmlns:a16="http://schemas.microsoft.com/office/drawing/2014/main" id="{ED59ED85-7E0E-4326-944E-D39D265C6162}"/>
                </a:ext>
              </a:extLst>
            </p:cNvPr>
            <p:cNvSpPr/>
            <p:nvPr>
              <p:custDataLst>
                <p:tags r:id="rId31"/>
              </p:custDataLst>
            </p:nvPr>
          </p:nvSpPr>
          <p:spPr bwMode="gray">
            <a:xfrm>
              <a:off x="8017043" y="372328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27" name="Ellipse 182">
              <a:extLst>
                <a:ext uri="{FF2B5EF4-FFF2-40B4-BE49-F238E27FC236}">
                  <a16:creationId xmlns:a16="http://schemas.microsoft.com/office/drawing/2014/main" id="{1D25B1FB-724E-4BF6-96E9-D4FF17CB02E6}"/>
                </a:ext>
              </a:extLst>
            </p:cNvPr>
            <p:cNvSpPr/>
            <p:nvPr>
              <p:custDataLst>
                <p:tags r:id="rId32"/>
              </p:custDataLst>
            </p:nvPr>
          </p:nvSpPr>
          <p:spPr bwMode="gray">
            <a:xfrm>
              <a:off x="8097977" y="380167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28" name="Ellipse 191">
              <a:extLst>
                <a:ext uri="{FF2B5EF4-FFF2-40B4-BE49-F238E27FC236}">
                  <a16:creationId xmlns:a16="http://schemas.microsoft.com/office/drawing/2014/main" id="{FD9A90B9-BD7D-4A91-8546-7CBD75D9D387}"/>
                </a:ext>
              </a:extLst>
            </p:cNvPr>
            <p:cNvSpPr/>
            <p:nvPr>
              <p:custDataLst>
                <p:tags r:id="rId33"/>
              </p:custDataLst>
            </p:nvPr>
          </p:nvSpPr>
          <p:spPr bwMode="gray">
            <a:xfrm flipV="1">
              <a:off x="7936110" y="396010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29" name="Ellipse 192">
              <a:extLst>
                <a:ext uri="{FF2B5EF4-FFF2-40B4-BE49-F238E27FC236}">
                  <a16:creationId xmlns:a16="http://schemas.microsoft.com/office/drawing/2014/main" id="{68BE7CBD-2122-4A17-90E4-6831E5C18F3D}"/>
                </a:ext>
              </a:extLst>
            </p:cNvPr>
            <p:cNvSpPr/>
            <p:nvPr>
              <p:custDataLst>
                <p:tags r:id="rId34"/>
              </p:custDataLst>
            </p:nvPr>
          </p:nvSpPr>
          <p:spPr bwMode="gray">
            <a:xfrm flipV="1">
              <a:off x="8017043" y="388171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grpSp>
      <p:cxnSp>
        <p:nvCxnSpPr>
          <p:cNvPr id="330" name="Gerader Verbinder 86">
            <a:extLst>
              <a:ext uri="{FF2B5EF4-FFF2-40B4-BE49-F238E27FC236}">
                <a16:creationId xmlns:a16="http://schemas.microsoft.com/office/drawing/2014/main" id="{87AB1560-77D1-4C32-8012-3D1A42629D9B}"/>
              </a:ext>
            </a:extLst>
          </p:cNvPr>
          <p:cNvCxnSpPr>
            <a:cxnSpLocks/>
          </p:cNvCxnSpPr>
          <p:nvPr>
            <p:custDataLst>
              <p:tags r:id="rId5"/>
            </p:custDataLst>
          </p:nvPr>
        </p:nvCxnSpPr>
        <p:spPr bwMode="gray">
          <a:xfrm>
            <a:off x="3084565" y="3368053"/>
            <a:ext cx="7680960" cy="0"/>
          </a:xfrm>
          <a:prstGeom prst="line">
            <a:avLst/>
          </a:prstGeom>
          <a:ln w="9525">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nvGrpSpPr>
          <p:cNvPr id="331" name="Gruppieren 3">
            <a:extLst>
              <a:ext uri="{FF2B5EF4-FFF2-40B4-BE49-F238E27FC236}">
                <a16:creationId xmlns:a16="http://schemas.microsoft.com/office/drawing/2014/main" id="{0DCCD37D-5631-478F-89C4-AAAAC7C9F324}"/>
              </a:ext>
            </a:extLst>
          </p:cNvPr>
          <p:cNvGrpSpPr>
            <a:grpSpLocks noChangeAspect="1"/>
          </p:cNvGrpSpPr>
          <p:nvPr>
            <p:custDataLst>
              <p:tags r:id="rId6"/>
            </p:custDataLst>
          </p:nvPr>
        </p:nvGrpSpPr>
        <p:grpSpPr bwMode="gray">
          <a:xfrm>
            <a:off x="3331067" y="3578324"/>
            <a:ext cx="304406" cy="504000"/>
            <a:chOff x="7936110" y="3644896"/>
            <a:chExt cx="233867" cy="387208"/>
          </a:xfrm>
          <a:solidFill>
            <a:schemeClr val="accent2"/>
          </a:solidFill>
        </p:grpSpPr>
        <p:sp>
          <p:nvSpPr>
            <p:cNvPr id="332" name="Ellipse 1">
              <a:extLst>
                <a:ext uri="{FF2B5EF4-FFF2-40B4-BE49-F238E27FC236}">
                  <a16:creationId xmlns:a16="http://schemas.microsoft.com/office/drawing/2014/main" id="{04DBA7C4-46E9-42C5-828D-708ED445F910}"/>
                </a:ext>
              </a:extLst>
            </p:cNvPr>
            <p:cNvSpPr/>
            <p:nvPr>
              <p:custDataLst>
                <p:tags r:id="rId25"/>
              </p:custDataLst>
            </p:nvPr>
          </p:nvSpPr>
          <p:spPr bwMode="gray">
            <a:xfrm>
              <a:off x="7936110" y="3644896"/>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33" name="Ellipse 181">
              <a:extLst>
                <a:ext uri="{FF2B5EF4-FFF2-40B4-BE49-F238E27FC236}">
                  <a16:creationId xmlns:a16="http://schemas.microsoft.com/office/drawing/2014/main" id="{ED59ED85-7E0E-4326-944E-D39D265C6162}"/>
                </a:ext>
              </a:extLst>
            </p:cNvPr>
            <p:cNvSpPr/>
            <p:nvPr>
              <p:custDataLst>
                <p:tags r:id="rId26"/>
              </p:custDataLst>
            </p:nvPr>
          </p:nvSpPr>
          <p:spPr bwMode="gray">
            <a:xfrm>
              <a:off x="8017043" y="372328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34" name="Ellipse 182">
              <a:extLst>
                <a:ext uri="{FF2B5EF4-FFF2-40B4-BE49-F238E27FC236}">
                  <a16:creationId xmlns:a16="http://schemas.microsoft.com/office/drawing/2014/main" id="{1D25B1FB-724E-4BF6-96E9-D4FF17CB02E6}"/>
                </a:ext>
              </a:extLst>
            </p:cNvPr>
            <p:cNvSpPr/>
            <p:nvPr>
              <p:custDataLst>
                <p:tags r:id="rId27"/>
              </p:custDataLst>
            </p:nvPr>
          </p:nvSpPr>
          <p:spPr bwMode="gray">
            <a:xfrm>
              <a:off x="8097977" y="380167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35" name="Ellipse 191">
              <a:extLst>
                <a:ext uri="{FF2B5EF4-FFF2-40B4-BE49-F238E27FC236}">
                  <a16:creationId xmlns:a16="http://schemas.microsoft.com/office/drawing/2014/main" id="{FD9A90B9-BD7D-4A91-8546-7CBD75D9D387}"/>
                </a:ext>
              </a:extLst>
            </p:cNvPr>
            <p:cNvSpPr/>
            <p:nvPr>
              <p:custDataLst>
                <p:tags r:id="rId28"/>
              </p:custDataLst>
            </p:nvPr>
          </p:nvSpPr>
          <p:spPr bwMode="gray">
            <a:xfrm flipV="1">
              <a:off x="7936110" y="396010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36" name="Ellipse 192">
              <a:extLst>
                <a:ext uri="{FF2B5EF4-FFF2-40B4-BE49-F238E27FC236}">
                  <a16:creationId xmlns:a16="http://schemas.microsoft.com/office/drawing/2014/main" id="{68BE7CBD-2122-4A17-90E4-6831E5C18F3D}"/>
                </a:ext>
              </a:extLst>
            </p:cNvPr>
            <p:cNvSpPr/>
            <p:nvPr>
              <p:custDataLst>
                <p:tags r:id="rId29"/>
              </p:custDataLst>
            </p:nvPr>
          </p:nvSpPr>
          <p:spPr bwMode="gray">
            <a:xfrm flipV="1">
              <a:off x="8017043" y="388171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grpSp>
      <p:grpSp>
        <p:nvGrpSpPr>
          <p:cNvPr id="337" name="Gruppieren 3">
            <a:extLst>
              <a:ext uri="{FF2B5EF4-FFF2-40B4-BE49-F238E27FC236}">
                <a16:creationId xmlns:a16="http://schemas.microsoft.com/office/drawing/2014/main" id="{0DCCD37D-5631-478F-89C4-AAAAC7C9F324}"/>
              </a:ext>
            </a:extLst>
          </p:cNvPr>
          <p:cNvGrpSpPr>
            <a:grpSpLocks noChangeAspect="1"/>
          </p:cNvGrpSpPr>
          <p:nvPr>
            <p:custDataLst>
              <p:tags r:id="rId7"/>
            </p:custDataLst>
          </p:nvPr>
        </p:nvGrpSpPr>
        <p:grpSpPr bwMode="gray">
          <a:xfrm>
            <a:off x="3331067" y="4661302"/>
            <a:ext cx="304406" cy="504000"/>
            <a:chOff x="7936110" y="3644896"/>
            <a:chExt cx="233867" cy="387208"/>
          </a:xfrm>
          <a:solidFill>
            <a:schemeClr val="accent2"/>
          </a:solidFill>
        </p:grpSpPr>
        <p:sp>
          <p:nvSpPr>
            <p:cNvPr id="338" name="Ellipse 1">
              <a:extLst>
                <a:ext uri="{FF2B5EF4-FFF2-40B4-BE49-F238E27FC236}">
                  <a16:creationId xmlns:a16="http://schemas.microsoft.com/office/drawing/2014/main" id="{04DBA7C4-46E9-42C5-828D-708ED445F910}"/>
                </a:ext>
              </a:extLst>
            </p:cNvPr>
            <p:cNvSpPr/>
            <p:nvPr>
              <p:custDataLst>
                <p:tags r:id="rId20"/>
              </p:custDataLst>
            </p:nvPr>
          </p:nvSpPr>
          <p:spPr bwMode="gray">
            <a:xfrm>
              <a:off x="7936110" y="3644896"/>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39" name="Ellipse 181">
              <a:extLst>
                <a:ext uri="{FF2B5EF4-FFF2-40B4-BE49-F238E27FC236}">
                  <a16:creationId xmlns:a16="http://schemas.microsoft.com/office/drawing/2014/main" id="{ED59ED85-7E0E-4326-944E-D39D265C6162}"/>
                </a:ext>
              </a:extLst>
            </p:cNvPr>
            <p:cNvSpPr/>
            <p:nvPr>
              <p:custDataLst>
                <p:tags r:id="rId21"/>
              </p:custDataLst>
            </p:nvPr>
          </p:nvSpPr>
          <p:spPr bwMode="gray">
            <a:xfrm>
              <a:off x="8017043" y="372328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40" name="Ellipse 182">
              <a:extLst>
                <a:ext uri="{FF2B5EF4-FFF2-40B4-BE49-F238E27FC236}">
                  <a16:creationId xmlns:a16="http://schemas.microsoft.com/office/drawing/2014/main" id="{1D25B1FB-724E-4BF6-96E9-D4FF17CB02E6}"/>
                </a:ext>
              </a:extLst>
            </p:cNvPr>
            <p:cNvSpPr/>
            <p:nvPr>
              <p:custDataLst>
                <p:tags r:id="rId22"/>
              </p:custDataLst>
            </p:nvPr>
          </p:nvSpPr>
          <p:spPr bwMode="gray">
            <a:xfrm>
              <a:off x="8097977" y="380167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41" name="Ellipse 191">
              <a:extLst>
                <a:ext uri="{FF2B5EF4-FFF2-40B4-BE49-F238E27FC236}">
                  <a16:creationId xmlns:a16="http://schemas.microsoft.com/office/drawing/2014/main" id="{FD9A90B9-BD7D-4A91-8546-7CBD75D9D387}"/>
                </a:ext>
              </a:extLst>
            </p:cNvPr>
            <p:cNvSpPr/>
            <p:nvPr>
              <p:custDataLst>
                <p:tags r:id="rId23"/>
              </p:custDataLst>
            </p:nvPr>
          </p:nvSpPr>
          <p:spPr bwMode="gray">
            <a:xfrm flipV="1">
              <a:off x="7936110" y="396010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42" name="Ellipse 192">
              <a:extLst>
                <a:ext uri="{FF2B5EF4-FFF2-40B4-BE49-F238E27FC236}">
                  <a16:creationId xmlns:a16="http://schemas.microsoft.com/office/drawing/2014/main" id="{68BE7CBD-2122-4A17-90E4-6831E5C18F3D}"/>
                </a:ext>
              </a:extLst>
            </p:cNvPr>
            <p:cNvSpPr/>
            <p:nvPr>
              <p:custDataLst>
                <p:tags r:id="rId24"/>
              </p:custDataLst>
            </p:nvPr>
          </p:nvSpPr>
          <p:spPr bwMode="gray">
            <a:xfrm flipV="1">
              <a:off x="8017043" y="388171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grpSp>
      <p:sp>
        <p:nvSpPr>
          <p:cNvPr id="11" name="Rectangle 10"/>
          <p:cNvSpPr/>
          <p:nvPr/>
        </p:nvSpPr>
        <p:spPr>
          <a:xfrm>
            <a:off x="2684942" y="1796769"/>
            <a:ext cx="8445956" cy="275460"/>
          </a:xfrm>
          <a:prstGeom prst="rect">
            <a:avLst/>
          </a:prstGeom>
        </p:spPr>
        <p:txBody>
          <a:bodyPr wrap="square">
            <a:spAutoFit/>
          </a:bodyPr>
          <a:lstStyle/>
          <a:p>
            <a:pPr algn="ctr">
              <a:lnSpc>
                <a:spcPct val="85000"/>
              </a:lnSpc>
              <a:spcAft>
                <a:spcPts val="600"/>
              </a:spcAft>
              <a:buClr>
                <a:srgbClr val="FFD200"/>
              </a:buClr>
              <a:buSzPct val="70000"/>
            </a:pPr>
            <a:r>
              <a:rPr lang="en-GB" sz="1400" b="1" dirty="0">
                <a:solidFill>
                  <a:srgbClr val="646464"/>
                </a:solidFill>
                <a:latin typeface="EYInterstate" panose="02000503020000020004" pitchFamily="2" charset="0"/>
                <a:cs typeface="Arial" panose="020B0604020202020204" pitchFamily="34" charset="0"/>
              </a:rPr>
              <a:t>Key Challenges &amp; Drivers</a:t>
            </a:r>
          </a:p>
        </p:txBody>
      </p:sp>
      <p:sp>
        <p:nvSpPr>
          <p:cNvPr id="363" name="Freeform 71">
            <a:extLst>
              <a:ext uri="{FF2B5EF4-FFF2-40B4-BE49-F238E27FC236}">
                <a16:creationId xmlns:a16="http://schemas.microsoft.com/office/drawing/2014/main" id="{E4650D7C-903E-4F44-B2BC-7B31784B6A36}"/>
              </a:ext>
            </a:extLst>
          </p:cNvPr>
          <p:cNvSpPr>
            <a:spLocks noChangeAspect="1" noEditPoints="1"/>
          </p:cNvSpPr>
          <p:nvPr>
            <p:custDataLst>
              <p:tags r:id="rId8"/>
            </p:custDataLst>
          </p:nvPr>
        </p:nvSpPr>
        <p:spPr bwMode="gray">
          <a:xfrm>
            <a:off x="2249647" y="2076694"/>
            <a:ext cx="566035" cy="444076"/>
          </a:xfrm>
          <a:custGeom>
            <a:avLst/>
            <a:gdLst>
              <a:gd name="T0" fmla="*/ 2147483647 w 6082"/>
              <a:gd name="T1" fmla="*/ 2147483647 h 4763"/>
              <a:gd name="T2" fmla="*/ 2147483647 w 6082"/>
              <a:gd name="T3" fmla="*/ 2147483647 h 4763"/>
              <a:gd name="T4" fmla="*/ 2147483647 w 6082"/>
              <a:gd name="T5" fmla="*/ 2147483647 h 4763"/>
              <a:gd name="T6" fmla="*/ 2147483647 w 6082"/>
              <a:gd name="T7" fmla="*/ 2147483647 h 4763"/>
              <a:gd name="T8" fmla="*/ 2147483647 w 6082"/>
              <a:gd name="T9" fmla="*/ 2147483647 h 4763"/>
              <a:gd name="T10" fmla="*/ 2147483647 w 6082"/>
              <a:gd name="T11" fmla="*/ 2147483647 h 4763"/>
              <a:gd name="T12" fmla="*/ 2147483647 w 6082"/>
              <a:gd name="T13" fmla="*/ 2147483647 h 4763"/>
              <a:gd name="T14" fmla="*/ 2147483647 w 6082"/>
              <a:gd name="T15" fmla="*/ 2147483647 h 4763"/>
              <a:gd name="T16" fmla="*/ 2147483647 w 6082"/>
              <a:gd name="T17" fmla="*/ 2147483647 h 4763"/>
              <a:gd name="T18" fmla="*/ 2147483647 w 6082"/>
              <a:gd name="T19" fmla="*/ 2147483647 h 4763"/>
              <a:gd name="T20" fmla="*/ 2147483647 w 6082"/>
              <a:gd name="T21" fmla="*/ 2147483647 h 4763"/>
              <a:gd name="T22" fmla="*/ 2147483647 w 6082"/>
              <a:gd name="T23" fmla="*/ 2147483647 h 4763"/>
              <a:gd name="T24" fmla="*/ 2147483647 w 6082"/>
              <a:gd name="T25" fmla="*/ 2147483647 h 4763"/>
              <a:gd name="T26" fmla="*/ 2147483647 w 6082"/>
              <a:gd name="T27" fmla="*/ 2147483647 h 4763"/>
              <a:gd name="T28" fmla="*/ 2147483647 w 6082"/>
              <a:gd name="T29" fmla="*/ 2147483647 h 4763"/>
              <a:gd name="T30" fmla="*/ 2147483647 w 6082"/>
              <a:gd name="T31" fmla="*/ 2147483647 h 4763"/>
              <a:gd name="T32" fmla="*/ 2147483647 w 6082"/>
              <a:gd name="T33" fmla="*/ 2147483647 h 4763"/>
              <a:gd name="T34" fmla="*/ 2147483647 w 6082"/>
              <a:gd name="T35" fmla="*/ 2147483647 h 4763"/>
              <a:gd name="T36" fmla="*/ 2147483647 w 6082"/>
              <a:gd name="T37" fmla="*/ 2147483647 h 4763"/>
              <a:gd name="T38" fmla="*/ 2147483647 w 6082"/>
              <a:gd name="T39" fmla="*/ 2147483647 h 4763"/>
              <a:gd name="T40" fmla="*/ 2147483647 w 6082"/>
              <a:gd name="T41" fmla="*/ 2147483647 h 4763"/>
              <a:gd name="T42" fmla="*/ 2147483647 w 6082"/>
              <a:gd name="T43" fmla="*/ 2147483647 h 4763"/>
              <a:gd name="T44" fmla="*/ 2147483647 w 6082"/>
              <a:gd name="T45" fmla="*/ 2147483647 h 4763"/>
              <a:gd name="T46" fmla="*/ 2147483647 w 6082"/>
              <a:gd name="T47" fmla="*/ 2147483647 h 4763"/>
              <a:gd name="T48" fmla="*/ 2147483647 w 6082"/>
              <a:gd name="T49" fmla="*/ 2147483647 h 4763"/>
              <a:gd name="T50" fmla="*/ 2147483647 w 6082"/>
              <a:gd name="T51" fmla="*/ 2147483647 h 4763"/>
              <a:gd name="T52" fmla="*/ 2147483647 w 6082"/>
              <a:gd name="T53" fmla="*/ 2147483647 h 4763"/>
              <a:gd name="T54" fmla="*/ 0 w 6082"/>
              <a:gd name="T55" fmla="*/ 2147483647 h 4763"/>
              <a:gd name="T56" fmla="*/ 0 w 6082"/>
              <a:gd name="T57" fmla="*/ 2147483647 h 4763"/>
              <a:gd name="T58" fmla="*/ 2147483647 w 6082"/>
              <a:gd name="T59" fmla="*/ 2147483647 h 4763"/>
              <a:gd name="T60" fmla="*/ 2147483647 w 6082"/>
              <a:gd name="T61" fmla="*/ 2147483647 h 4763"/>
              <a:gd name="T62" fmla="*/ 2147483647 w 6082"/>
              <a:gd name="T63" fmla="*/ 2147483647 h 4763"/>
              <a:gd name="T64" fmla="*/ 2147483647 w 6082"/>
              <a:gd name="T65" fmla="*/ 2147483647 h 4763"/>
              <a:gd name="T66" fmla="*/ 2147483647 w 6082"/>
              <a:gd name="T67" fmla="*/ 2147483647 h 4763"/>
              <a:gd name="T68" fmla="*/ 2147483647 w 6082"/>
              <a:gd name="T69" fmla="*/ 2147483647 h 4763"/>
              <a:gd name="T70" fmla="*/ 2147483647 w 6082"/>
              <a:gd name="T71" fmla="*/ 2147483647 h 4763"/>
              <a:gd name="T72" fmla="*/ 2147483647 w 6082"/>
              <a:gd name="T73" fmla="*/ 2147483647 h 4763"/>
              <a:gd name="T74" fmla="*/ 2147483647 w 6082"/>
              <a:gd name="T75" fmla="*/ 2147483647 h 4763"/>
              <a:gd name="T76" fmla="*/ 2147483647 w 6082"/>
              <a:gd name="T77" fmla="*/ 0 h 4763"/>
              <a:gd name="T78" fmla="*/ 2147483647 w 6082"/>
              <a:gd name="T79" fmla="*/ 0 h 4763"/>
              <a:gd name="T80" fmla="*/ 2147483647 w 6082"/>
              <a:gd name="T81" fmla="*/ 2147483647 h 4763"/>
              <a:gd name="T82" fmla="*/ 2147483647 w 6082"/>
              <a:gd name="T83" fmla="*/ 2147483647 h 4763"/>
              <a:gd name="T84" fmla="*/ 2147483647 w 6082"/>
              <a:gd name="T85" fmla="*/ 2147483647 h 4763"/>
              <a:gd name="T86" fmla="*/ 2147483647 w 6082"/>
              <a:gd name="T87" fmla="*/ 2147483647 h 4763"/>
              <a:gd name="T88" fmla="*/ 0 w 6082"/>
              <a:gd name="T89" fmla="*/ 2147483647 h 4763"/>
              <a:gd name="T90" fmla="*/ 0 w 6082"/>
              <a:gd name="T91" fmla="*/ 2147483647 h 4763"/>
              <a:gd name="T92" fmla="*/ 2147483647 w 6082"/>
              <a:gd name="T93" fmla="*/ 2147483647 h 4763"/>
              <a:gd name="T94" fmla="*/ 2147483647 w 6082"/>
              <a:gd name="T95" fmla="*/ 2147483647 h 4763"/>
              <a:gd name="T96" fmla="*/ 2147483647 w 6082"/>
              <a:gd name="T97" fmla="*/ 2147483647 h 4763"/>
              <a:gd name="T98" fmla="*/ 2147483647 w 6082"/>
              <a:gd name="T99" fmla="*/ 2147483647 h 4763"/>
              <a:gd name="T100" fmla="*/ 2147483647 w 6082"/>
              <a:gd name="T101" fmla="*/ 2147483647 h 4763"/>
              <a:gd name="T102" fmla="*/ 2147483647 w 6082"/>
              <a:gd name="T103" fmla="*/ 2147483647 h 4763"/>
              <a:gd name="T104" fmla="*/ 2147483647 w 6082"/>
              <a:gd name="T105" fmla="*/ 2147483647 h 4763"/>
              <a:gd name="T106" fmla="*/ 2147483647 w 6082"/>
              <a:gd name="T107" fmla="*/ 2147483647 h 4763"/>
              <a:gd name="T108" fmla="*/ 2147483647 w 6082"/>
              <a:gd name="T109" fmla="*/ 2147483647 h 4763"/>
              <a:gd name="T110" fmla="*/ 2147483647 w 6082"/>
              <a:gd name="T111" fmla="*/ 2147483647 h 4763"/>
              <a:gd name="T112" fmla="*/ 2147483647 w 6082"/>
              <a:gd name="T113" fmla="*/ 2147483647 h 476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082"/>
              <a:gd name="T172" fmla="*/ 0 h 4763"/>
              <a:gd name="T173" fmla="*/ 6082 w 6082"/>
              <a:gd name="T174" fmla="*/ 4763 h 476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082" h="4763">
                <a:moveTo>
                  <a:pt x="5506" y="539"/>
                </a:moveTo>
                <a:lnTo>
                  <a:pt x="5832" y="226"/>
                </a:lnTo>
                <a:lnTo>
                  <a:pt x="5043" y="226"/>
                </a:lnTo>
                <a:lnTo>
                  <a:pt x="4718" y="539"/>
                </a:lnTo>
                <a:lnTo>
                  <a:pt x="5506" y="539"/>
                </a:lnTo>
                <a:close/>
                <a:moveTo>
                  <a:pt x="1114" y="3215"/>
                </a:moveTo>
                <a:lnTo>
                  <a:pt x="1438" y="2902"/>
                </a:lnTo>
                <a:lnTo>
                  <a:pt x="649" y="2902"/>
                </a:lnTo>
                <a:lnTo>
                  <a:pt x="325" y="3215"/>
                </a:lnTo>
                <a:lnTo>
                  <a:pt x="1114" y="3215"/>
                </a:lnTo>
                <a:close/>
                <a:moveTo>
                  <a:pt x="2578" y="1340"/>
                </a:moveTo>
                <a:lnTo>
                  <a:pt x="2904" y="1027"/>
                </a:lnTo>
                <a:lnTo>
                  <a:pt x="2115" y="1027"/>
                </a:lnTo>
                <a:lnTo>
                  <a:pt x="1789" y="1340"/>
                </a:lnTo>
                <a:lnTo>
                  <a:pt x="2578" y="1340"/>
                </a:lnTo>
                <a:close/>
                <a:moveTo>
                  <a:pt x="4036" y="2454"/>
                </a:moveTo>
                <a:lnTo>
                  <a:pt x="3154" y="2454"/>
                </a:lnTo>
                <a:lnTo>
                  <a:pt x="3152" y="4284"/>
                </a:lnTo>
                <a:lnTo>
                  <a:pt x="2572" y="4284"/>
                </a:lnTo>
                <a:lnTo>
                  <a:pt x="2572" y="1462"/>
                </a:lnTo>
                <a:lnTo>
                  <a:pt x="1690" y="1462"/>
                </a:lnTo>
                <a:lnTo>
                  <a:pt x="1690" y="2676"/>
                </a:lnTo>
                <a:lnTo>
                  <a:pt x="1690" y="4284"/>
                </a:lnTo>
                <a:lnTo>
                  <a:pt x="1108" y="4284"/>
                </a:lnTo>
                <a:lnTo>
                  <a:pt x="1108" y="3337"/>
                </a:lnTo>
                <a:lnTo>
                  <a:pt x="226" y="3337"/>
                </a:lnTo>
                <a:lnTo>
                  <a:pt x="226" y="4284"/>
                </a:lnTo>
                <a:lnTo>
                  <a:pt x="0" y="4284"/>
                </a:lnTo>
                <a:lnTo>
                  <a:pt x="0" y="3229"/>
                </a:lnTo>
                <a:lnTo>
                  <a:pt x="571" y="2676"/>
                </a:lnTo>
                <a:lnTo>
                  <a:pt x="1464" y="2676"/>
                </a:lnTo>
                <a:lnTo>
                  <a:pt x="1464" y="1353"/>
                </a:lnTo>
                <a:lnTo>
                  <a:pt x="2035" y="803"/>
                </a:lnTo>
                <a:lnTo>
                  <a:pt x="3154" y="803"/>
                </a:lnTo>
                <a:lnTo>
                  <a:pt x="3154" y="2125"/>
                </a:lnTo>
                <a:lnTo>
                  <a:pt x="3499" y="1792"/>
                </a:lnTo>
                <a:lnTo>
                  <a:pt x="4392" y="1792"/>
                </a:lnTo>
                <a:lnTo>
                  <a:pt x="4392" y="552"/>
                </a:lnTo>
                <a:lnTo>
                  <a:pt x="4963" y="0"/>
                </a:lnTo>
                <a:lnTo>
                  <a:pt x="6082" y="0"/>
                </a:lnTo>
                <a:lnTo>
                  <a:pt x="6082" y="4244"/>
                </a:lnTo>
                <a:lnTo>
                  <a:pt x="5546" y="4763"/>
                </a:lnTo>
                <a:lnTo>
                  <a:pt x="5526" y="4758"/>
                </a:lnTo>
                <a:lnTo>
                  <a:pt x="5526" y="4763"/>
                </a:lnTo>
                <a:lnTo>
                  <a:pt x="0" y="4763"/>
                </a:lnTo>
                <a:lnTo>
                  <a:pt x="0" y="4517"/>
                </a:lnTo>
                <a:lnTo>
                  <a:pt x="5500" y="4517"/>
                </a:lnTo>
                <a:lnTo>
                  <a:pt x="5500" y="661"/>
                </a:lnTo>
                <a:lnTo>
                  <a:pt x="4618" y="661"/>
                </a:lnTo>
                <a:lnTo>
                  <a:pt x="4618" y="4284"/>
                </a:lnTo>
                <a:lnTo>
                  <a:pt x="4036" y="4284"/>
                </a:lnTo>
                <a:lnTo>
                  <a:pt x="4036" y="2454"/>
                </a:lnTo>
                <a:close/>
                <a:moveTo>
                  <a:pt x="4042" y="2331"/>
                </a:moveTo>
                <a:lnTo>
                  <a:pt x="4366" y="2018"/>
                </a:lnTo>
                <a:lnTo>
                  <a:pt x="3577" y="2018"/>
                </a:lnTo>
                <a:lnTo>
                  <a:pt x="3254" y="2331"/>
                </a:lnTo>
                <a:lnTo>
                  <a:pt x="4042" y="2331"/>
                </a:lnTo>
                <a:close/>
              </a:path>
            </a:pathLst>
          </a:custGeom>
          <a:solidFill>
            <a:schemeClr val="bg1"/>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endParaRPr>
          </a:p>
        </p:txBody>
      </p:sp>
      <p:sp>
        <p:nvSpPr>
          <p:cNvPr id="364" name="Freeform 51">
            <a:extLst>
              <a:ext uri="{FF2B5EF4-FFF2-40B4-BE49-F238E27FC236}">
                <a16:creationId xmlns:a16="http://schemas.microsoft.com/office/drawing/2014/main" id="{DCA458CD-6BA8-4DFA-AC4F-63B72812D9AF}"/>
              </a:ext>
            </a:extLst>
          </p:cNvPr>
          <p:cNvSpPr>
            <a:spLocks noChangeAspect="1" noEditPoints="1"/>
          </p:cNvSpPr>
          <p:nvPr>
            <p:custDataLst>
              <p:tags r:id="rId9"/>
            </p:custDataLst>
          </p:nvPr>
        </p:nvSpPr>
        <p:spPr bwMode="gray">
          <a:xfrm>
            <a:off x="826368" y="3017257"/>
            <a:ext cx="396000" cy="328695"/>
          </a:xfrm>
          <a:custGeom>
            <a:avLst/>
            <a:gdLst>
              <a:gd name="T0" fmla="*/ 2147483647 w 5744"/>
              <a:gd name="T1" fmla="*/ 2147483647 h 4763"/>
              <a:gd name="T2" fmla="*/ 2147483647 w 5744"/>
              <a:gd name="T3" fmla="*/ 2147483647 h 4763"/>
              <a:gd name="T4" fmla="*/ 2147483647 w 5744"/>
              <a:gd name="T5" fmla="*/ 2147483647 h 4763"/>
              <a:gd name="T6" fmla="*/ 2147483647 w 5744"/>
              <a:gd name="T7" fmla="*/ 2147483647 h 4763"/>
              <a:gd name="T8" fmla="*/ 2147483647 w 5744"/>
              <a:gd name="T9" fmla="*/ 2147483647 h 4763"/>
              <a:gd name="T10" fmla="*/ 2147483647 w 5744"/>
              <a:gd name="T11" fmla="*/ 2147483647 h 4763"/>
              <a:gd name="T12" fmla="*/ 2147483647 w 5744"/>
              <a:gd name="T13" fmla="*/ 2147483647 h 4763"/>
              <a:gd name="T14" fmla="*/ 2147483647 w 5744"/>
              <a:gd name="T15" fmla="*/ 2147483647 h 4763"/>
              <a:gd name="T16" fmla="*/ 2147483647 w 5744"/>
              <a:gd name="T17" fmla="*/ 2147483647 h 4763"/>
              <a:gd name="T18" fmla="*/ 2147483647 w 5744"/>
              <a:gd name="T19" fmla="*/ 2147483647 h 4763"/>
              <a:gd name="T20" fmla="*/ 2147483647 w 5744"/>
              <a:gd name="T21" fmla="*/ 2147483647 h 4763"/>
              <a:gd name="T22" fmla="*/ 2147483647 w 5744"/>
              <a:gd name="T23" fmla="*/ 2147483647 h 4763"/>
              <a:gd name="T24" fmla="*/ 2147483647 w 5744"/>
              <a:gd name="T25" fmla="*/ 2147483647 h 4763"/>
              <a:gd name="T26" fmla="*/ 2147483647 w 5744"/>
              <a:gd name="T27" fmla="*/ 2147483647 h 4763"/>
              <a:gd name="T28" fmla="*/ 2147483647 w 5744"/>
              <a:gd name="T29" fmla="*/ 2147483647 h 4763"/>
              <a:gd name="T30" fmla="*/ 2147483647 w 5744"/>
              <a:gd name="T31" fmla="*/ 2147483647 h 4763"/>
              <a:gd name="T32" fmla="*/ 2147483647 w 5744"/>
              <a:gd name="T33" fmla="*/ 2147483647 h 4763"/>
              <a:gd name="T34" fmla="*/ 2147483647 w 5744"/>
              <a:gd name="T35" fmla="*/ 2147483647 h 4763"/>
              <a:gd name="T36" fmla="*/ 2147483647 w 5744"/>
              <a:gd name="T37" fmla="*/ 2147483647 h 4763"/>
              <a:gd name="T38" fmla="*/ 2147483647 w 5744"/>
              <a:gd name="T39" fmla="*/ 2147483647 h 4763"/>
              <a:gd name="T40" fmla="*/ 2147483647 w 5744"/>
              <a:gd name="T41" fmla="*/ 2147483647 h 4763"/>
              <a:gd name="T42" fmla="*/ 2147483647 w 5744"/>
              <a:gd name="T43" fmla="*/ 2147483647 h 4763"/>
              <a:gd name="T44" fmla="*/ 2147483647 w 5744"/>
              <a:gd name="T45" fmla="*/ 2147483647 h 4763"/>
              <a:gd name="T46" fmla="*/ 2147483647 w 5744"/>
              <a:gd name="T47" fmla="*/ 2147483647 h 4763"/>
              <a:gd name="T48" fmla="*/ 2147483647 w 5744"/>
              <a:gd name="T49" fmla="*/ 2147483647 h 4763"/>
              <a:gd name="T50" fmla="*/ 2147483647 w 5744"/>
              <a:gd name="T51" fmla="*/ 2147483647 h 4763"/>
              <a:gd name="T52" fmla="*/ 2147483647 w 5744"/>
              <a:gd name="T53" fmla="*/ 2147483647 h 4763"/>
              <a:gd name="T54" fmla="*/ 2147483647 w 5744"/>
              <a:gd name="T55" fmla="*/ 2147483647 h 4763"/>
              <a:gd name="T56" fmla="*/ 2147483647 w 5744"/>
              <a:gd name="T57" fmla="*/ 2147483647 h 4763"/>
              <a:gd name="T58" fmla="*/ 2147483647 w 5744"/>
              <a:gd name="T59" fmla="*/ 2147483647 h 4763"/>
              <a:gd name="T60" fmla="*/ 2147483647 w 5744"/>
              <a:gd name="T61" fmla="*/ 2147483647 h 4763"/>
              <a:gd name="T62" fmla="*/ 2147483647 w 5744"/>
              <a:gd name="T63" fmla="*/ 2147483647 h 4763"/>
              <a:gd name="T64" fmla="*/ 2147483647 w 5744"/>
              <a:gd name="T65" fmla="*/ 2147483647 h 4763"/>
              <a:gd name="T66" fmla="*/ 2147483647 w 5744"/>
              <a:gd name="T67" fmla="*/ 2147483647 h 4763"/>
              <a:gd name="T68" fmla="*/ 2147483647 w 5744"/>
              <a:gd name="T69" fmla="*/ 2147483647 h 4763"/>
              <a:gd name="T70" fmla="*/ 2147483647 w 5744"/>
              <a:gd name="T71" fmla="*/ 2147483647 h 4763"/>
              <a:gd name="T72" fmla="*/ 2147483647 w 5744"/>
              <a:gd name="T73" fmla="*/ 2147483647 h 4763"/>
              <a:gd name="T74" fmla="*/ 2147483647 w 5744"/>
              <a:gd name="T75" fmla="*/ 2147483647 h 4763"/>
              <a:gd name="T76" fmla="*/ 2147483647 w 5744"/>
              <a:gd name="T77" fmla="*/ 2147483647 h 4763"/>
              <a:gd name="T78" fmla="*/ 2147483647 w 5744"/>
              <a:gd name="T79" fmla="*/ 2147483647 h 4763"/>
              <a:gd name="T80" fmla="*/ 2147483647 w 5744"/>
              <a:gd name="T81" fmla="*/ 2147483647 h 4763"/>
              <a:gd name="T82" fmla="*/ 2147483647 w 5744"/>
              <a:gd name="T83" fmla="*/ 2147483647 h 4763"/>
              <a:gd name="T84" fmla="*/ 2147483647 w 5744"/>
              <a:gd name="T85" fmla="*/ 2147483647 h 4763"/>
              <a:gd name="T86" fmla="*/ 2147483647 w 5744"/>
              <a:gd name="T87" fmla="*/ 2147483647 h 4763"/>
              <a:gd name="T88" fmla="*/ 2147483647 w 5744"/>
              <a:gd name="T89" fmla="*/ 2147483647 h 4763"/>
              <a:gd name="T90" fmla="*/ 2147483647 w 5744"/>
              <a:gd name="T91" fmla="*/ 2147483647 h 4763"/>
              <a:gd name="T92" fmla="*/ 2147483647 w 5744"/>
              <a:gd name="T93" fmla="*/ 2147483647 h 4763"/>
              <a:gd name="T94" fmla="*/ 2147483647 w 5744"/>
              <a:gd name="T95" fmla="*/ 2147483647 h 4763"/>
              <a:gd name="T96" fmla="*/ 2147483647 w 5744"/>
              <a:gd name="T97" fmla="*/ 2147483647 h 4763"/>
              <a:gd name="T98" fmla="*/ 2147483647 w 5744"/>
              <a:gd name="T99" fmla="*/ 2147483647 h 4763"/>
              <a:gd name="T100" fmla="*/ 2147483647 w 5744"/>
              <a:gd name="T101" fmla="*/ 2147483647 h 4763"/>
              <a:gd name="T102" fmla="*/ 2147483647 w 5744"/>
              <a:gd name="T103" fmla="*/ 2147483647 h 4763"/>
              <a:gd name="T104" fmla="*/ 2147483647 w 5744"/>
              <a:gd name="T105" fmla="*/ 2147483647 h 4763"/>
              <a:gd name="T106" fmla="*/ 2147483647 w 5744"/>
              <a:gd name="T107" fmla="*/ 2147483647 h 4763"/>
              <a:gd name="T108" fmla="*/ 2147483647 w 5744"/>
              <a:gd name="T109" fmla="*/ 2147483647 h 4763"/>
              <a:gd name="T110" fmla="*/ 2147483647 w 5744"/>
              <a:gd name="T111" fmla="*/ 2147483647 h 4763"/>
              <a:gd name="T112" fmla="*/ 2147483647 w 5744"/>
              <a:gd name="T113" fmla="*/ 2147483647 h 4763"/>
              <a:gd name="T114" fmla="*/ 2147483647 w 5744"/>
              <a:gd name="T115" fmla="*/ 2147483647 h 4763"/>
              <a:gd name="T116" fmla="*/ 2147483647 w 5744"/>
              <a:gd name="T117" fmla="*/ 2147483647 h 4763"/>
              <a:gd name="T118" fmla="*/ 2147483647 w 5744"/>
              <a:gd name="T119" fmla="*/ 2147483647 h 4763"/>
              <a:gd name="T120" fmla="*/ 2147483647 w 5744"/>
              <a:gd name="T121" fmla="*/ 2147483647 h 476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744"/>
              <a:gd name="T184" fmla="*/ 0 h 4763"/>
              <a:gd name="T185" fmla="*/ 5744 w 5744"/>
              <a:gd name="T186" fmla="*/ 4763 h 476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744" h="4763">
                <a:moveTo>
                  <a:pt x="354" y="1386"/>
                </a:moveTo>
                <a:lnTo>
                  <a:pt x="258" y="1581"/>
                </a:lnTo>
                <a:lnTo>
                  <a:pt x="507" y="1764"/>
                </a:lnTo>
                <a:lnTo>
                  <a:pt x="671" y="1608"/>
                </a:lnTo>
                <a:lnTo>
                  <a:pt x="701" y="1618"/>
                </a:lnTo>
                <a:lnTo>
                  <a:pt x="731" y="1627"/>
                </a:lnTo>
                <a:lnTo>
                  <a:pt x="762" y="1634"/>
                </a:lnTo>
                <a:lnTo>
                  <a:pt x="793" y="1640"/>
                </a:lnTo>
                <a:lnTo>
                  <a:pt x="824" y="1644"/>
                </a:lnTo>
                <a:lnTo>
                  <a:pt x="856" y="1647"/>
                </a:lnTo>
                <a:lnTo>
                  <a:pt x="887" y="1648"/>
                </a:lnTo>
                <a:lnTo>
                  <a:pt x="919" y="1648"/>
                </a:lnTo>
                <a:lnTo>
                  <a:pt x="1018" y="1858"/>
                </a:lnTo>
                <a:lnTo>
                  <a:pt x="1316" y="1776"/>
                </a:lnTo>
                <a:lnTo>
                  <a:pt x="1294" y="1538"/>
                </a:lnTo>
                <a:lnTo>
                  <a:pt x="1317" y="1524"/>
                </a:lnTo>
                <a:lnTo>
                  <a:pt x="1340" y="1506"/>
                </a:lnTo>
                <a:lnTo>
                  <a:pt x="1361" y="1491"/>
                </a:lnTo>
                <a:lnTo>
                  <a:pt x="1383" y="1472"/>
                </a:lnTo>
                <a:lnTo>
                  <a:pt x="1407" y="1451"/>
                </a:lnTo>
                <a:lnTo>
                  <a:pt x="1430" y="1428"/>
                </a:lnTo>
                <a:lnTo>
                  <a:pt x="1452" y="1405"/>
                </a:lnTo>
                <a:lnTo>
                  <a:pt x="1472" y="1380"/>
                </a:lnTo>
                <a:lnTo>
                  <a:pt x="1707" y="1436"/>
                </a:lnTo>
                <a:lnTo>
                  <a:pt x="1830" y="1152"/>
                </a:lnTo>
                <a:lnTo>
                  <a:pt x="1625" y="1018"/>
                </a:lnTo>
                <a:lnTo>
                  <a:pt x="1628" y="989"/>
                </a:lnTo>
                <a:lnTo>
                  <a:pt x="1631" y="959"/>
                </a:lnTo>
                <a:lnTo>
                  <a:pt x="1631" y="930"/>
                </a:lnTo>
                <a:lnTo>
                  <a:pt x="1631" y="902"/>
                </a:lnTo>
                <a:lnTo>
                  <a:pt x="1629" y="871"/>
                </a:lnTo>
                <a:lnTo>
                  <a:pt x="1627" y="843"/>
                </a:lnTo>
                <a:lnTo>
                  <a:pt x="1622" y="813"/>
                </a:lnTo>
                <a:lnTo>
                  <a:pt x="1617" y="784"/>
                </a:lnTo>
                <a:lnTo>
                  <a:pt x="1807" y="634"/>
                </a:lnTo>
                <a:lnTo>
                  <a:pt x="1662" y="361"/>
                </a:lnTo>
                <a:lnTo>
                  <a:pt x="1436" y="436"/>
                </a:lnTo>
                <a:lnTo>
                  <a:pt x="1415" y="413"/>
                </a:lnTo>
                <a:lnTo>
                  <a:pt x="1392" y="391"/>
                </a:lnTo>
                <a:lnTo>
                  <a:pt x="1369" y="371"/>
                </a:lnTo>
                <a:lnTo>
                  <a:pt x="1344" y="353"/>
                </a:lnTo>
                <a:lnTo>
                  <a:pt x="1320" y="334"/>
                </a:lnTo>
                <a:lnTo>
                  <a:pt x="1294" y="318"/>
                </a:lnTo>
                <a:lnTo>
                  <a:pt x="1268" y="302"/>
                </a:lnTo>
                <a:lnTo>
                  <a:pt x="1241" y="288"/>
                </a:lnTo>
                <a:lnTo>
                  <a:pt x="1244" y="56"/>
                </a:lnTo>
                <a:lnTo>
                  <a:pt x="939" y="0"/>
                </a:lnTo>
                <a:lnTo>
                  <a:pt x="861" y="209"/>
                </a:lnTo>
                <a:lnTo>
                  <a:pt x="828" y="212"/>
                </a:lnTo>
                <a:lnTo>
                  <a:pt x="797" y="216"/>
                </a:lnTo>
                <a:lnTo>
                  <a:pt x="764" y="222"/>
                </a:lnTo>
                <a:lnTo>
                  <a:pt x="732" y="229"/>
                </a:lnTo>
                <a:lnTo>
                  <a:pt x="701" y="238"/>
                </a:lnTo>
                <a:lnTo>
                  <a:pt x="669" y="248"/>
                </a:lnTo>
                <a:lnTo>
                  <a:pt x="639" y="259"/>
                </a:lnTo>
                <a:lnTo>
                  <a:pt x="609" y="274"/>
                </a:lnTo>
                <a:lnTo>
                  <a:pt x="439" y="136"/>
                </a:lnTo>
                <a:lnTo>
                  <a:pt x="205" y="340"/>
                </a:lnTo>
                <a:lnTo>
                  <a:pt x="315" y="522"/>
                </a:lnTo>
                <a:lnTo>
                  <a:pt x="297" y="550"/>
                </a:lnTo>
                <a:lnTo>
                  <a:pt x="279" y="581"/>
                </a:lnTo>
                <a:lnTo>
                  <a:pt x="264" y="611"/>
                </a:lnTo>
                <a:lnTo>
                  <a:pt x="249" y="641"/>
                </a:lnTo>
                <a:lnTo>
                  <a:pt x="236" y="672"/>
                </a:lnTo>
                <a:lnTo>
                  <a:pt x="225" y="705"/>
                </a:lnTo>
                <a:lnTo>
                  <a:pt x="215" y="737"/>
                </a:lnTo>
                <a:lnTo>
                  <a:pt x="208" y="770"/>
                </a:lnTo>
                <a:lnTo>
                  <a:pt x="0" y="816"/>
                </a:lnTo>
                <a:lnTo>
                  <a:pt x="13" y="1125"/>
                </a:lnTo>
                <a:lnTo>
                  <a:pt x="225" y="1152"/>
                </a:lnTo>
                <a:lnTo>
                  <a:pt x="236" y="1184"/>
                </a:lnTo>
                <a:lnTo>
                  <a:pt x="248" y="1214"/>
                </a:lnTo>
                <a:lnTo>
                  <a:pt x="262" y="1244"/>
                </a:lnTo>
                <a:lnTo>
                  <a:pt x="278" y="1274"/>
                </a:lnTo>
                <a:lnTo>
                  <a:pt x="295" y="1303"/>
                </a:lnTo>
                <a:lnTo>
                  <a:pt x="312" y="1332"/>
                </a:lnTo>
                <a:lnTo>
                  <a:pt x="332" y="1359"/>
                </a:lnTo>
                <a:lnTo>
                  <a:pt x="354" y="1386"/>
                </a:lnTo>
                <a:close/>
                <a:moveTo>
                  <a:pt x="565" y="530"/>
                </a:moveTo>
                <a:lnTo>
                  <a:pt x="565" y="530"/>
                </a:lnTo>
                <a:lnTo>
                  <a:pt x="586" y="513"/>
                </a:lnTo>
                <a:lnTo>
                  <a:pt x="608" y="497"/>
                </a:lnTo>
                <a:lnTo>
                  <a:pt x="629" y="482"/>
                </a:lnTo>
                <a:lnTo>
                  <a:pt x="652" y="469"/>
                </a:lnTo>
                <a:lnTo>
                  <a:pt x="675" y="456"/>
                </a:lnTo>
                <a:lnTo>
                  <a:pt x="698" y="446"/>
                </a:lnTo>
                <a:lnTo>
                  <a:pt x="722" y="436"/>
                </a:lnTo>
                <a:lnTo>
                  <a:pt x="745" y="427"/>
                </a:lnTo>
                <a:lnTo>
                  <a:pt x="771" y="420"/>
                </a:lnTo>
                <a:lnTo>
                  <a:pt x="795" y="414"/>
                </a:lnTo>
                <a:lnTo>
                  <a:pt x="820" y="409"/>
                </a:lnTo>
                <a:lnTo>
                  <a:pt x="846" y="406"/>
                </a:lnTo>
                <a:lnTo>
                  <a:pt x="870" y="403"/>
                </a:lnTo>
                <a:lnTo>
                  <a:pt x="896" y="401"/>
                </a:lnTo>
                <a:lnTo>
                  <a:pt x="920" y="401"/>
                </a:lnTo>
                <a:lnTo>
                  <a:pt x="946" y="403"/>
                </a:lnTo>
                <a:lnTo>
                  <a:pt x="970" y="404"/>
                </a:lnTo>
                <a:lnTo>
                  <a:pt x="996" y="409"/>
                </a:lnTo>
                <a:lnTo>
                  <a:pt x="1020" y="413"/>
                </a:lnTo>
                <a:lnTo>
                  <a:pt x="1045" y="419"/>
                </a:lnTo>
                <a:lnTo>
                  <a:pt x="1069" y="426"/>
                </a:lnTo>
                <a:lnTo>
                  <a:pt x="1093" y="434"/>
                </a:lnTo>
                <a:lnTo>
                  <a:pt x="1116" y="444"/>
                </a:lnTo>
                <a:lnTo>
                  <a:pt x="1139" y="454"/>
                </a:lnTo>
                <a:lnTo>
                  <a:pt x="1162" y="466"/>
                </a:lnTo>
                <a:lnTo>
                  <a:pt x="1185" y="479"/>
                </a:lnTo>
                <a:lnTo>
                  <a:pt x="1207" y="493"/>
                </a:lnTo>
                <a:lnTo>
                  <a:pt x="1228" y="509"/>
                </a:lnTo>
                <a:lnTo>
                  <a:pt x="1248" y="525"/>
                </a:lnTo>
                <a:lnTo>
                  <a:pt x="1268" y="543"/>
                </a:lnTo>
                <a:lnTo>
                  <a:pt x="1287" y="562"/>
                </a:lnTo>
                <a:lnTo>
                  <a:pt x="1306" y="582"/>
                </a:lnTo>
                <a:lnTo>
                  <a:pt x="1323" y="602"/>
                </a:lnTo>
                <a:lnTo>
                  <a:pt x="1339" y="624"/>
                </a:lnTo>
                <a:lnTo>
                  <a:pt x="1353" y="646"/>
                </a:lnTo>
                <a:lnTo>
                  <a:pt x="1366" y="668"/>
                </a:lnTo>
                <a:lnTo>
                  <a:pt x="1379" y="691"/>
                </a:lnTo>
                <a:lnTo>
                  <a:pt x="1390" y="715"/>
                </a:lnTo>
                <a:lnTo>
                  <a:pt x="1399" y="738"/>
                </a:lnTo>
                <a:lnTo>
                  <a:pt x="1407" y="763"/>
                </a:lnTo>
                <a:lnTo>
                  <a:pt x="1415" y="787"/>
                </a:lnTo>
                <a:lnTo>
                  <a:pt x="1422" y="811"/>
                </a:lnTo>
                <a:lnTo>
                  <a:pt x="1426" y="837"/>
                </a:lnTo>
                <a:lnTo>
                  <a:pt x="1430" y="861"/>
                </a:lnTo>
                <a:lnTo>
                  <a:pt x="1432" y="887"/>
                </a:lnTo>
                <a:lnTo>
                  <a:pt x="1433" y="912"/>
                </a:lnTo>
                <a:lnTo>
                  <a:pt x="1433" y="937"/>
                </a:lnTo>
                <a:lnTo>
                  <a:pt x="1432" y="962"/>
                </a:lnTo>
                <a:lnTo>
                  <a:pt x="1430" y="988"/>
                </a:lnTo>
                <a:lnTo>
                  <a:pt x="1426" y="1012"/>
                </a:lnTo>
                <a:lnTo>
                  <a:pt x="1422" y="1038"/>
                </a:lnTo>
                <a:lnTo>
                  <a:pt x="1416" y="1062"/>
                </a:lnTo>
                <a:lnTo>
                  <a:pt x="1409" y="1086"/>
                </a:lnTo>
                <a:lnTo>
                  <a:pt x="1400" y="1109"/>
                </a:lnTo>
                <a:lnTo>
                  <a:pt x="1392" y="1134"/>
                </a:lnTo>
                <a:lnTo>
                  <a:pt x="1380" y="1157"/>
                </a:lnTo>
                <a:lnTo>
                  <a:pt x="1369" y="1180"/>
                </a:lnTo>
                <a:lnTo>
                  <a:pt x="1356" y="1201"/>
                </a:lnTo>
                <a:lnTo>
                  <a:pt x="1341" y="1223"/>
                </a:lnTo>
                <a:lnTo>
                  <a:pt x="1326" y="1244"/>
                </a:lnTo>
                <a:lnTo>
                  <a:pt x="1310" y="1264"/>
                </a:lnTo>
                <a:lnTo>
                  <a:pt x="1291" y="1284"/>
                </a:lnTo>
                <a:lnTo>
                  <a:pt x="1273" y="1303"/>
                </a:lnTo>
                <a:lnTo>
                  <a:pt x="1253" y="1322"/>
                </a:lnTo>
                <a:lnTo>
                  <a:pt x="1232" y="1339"/>
                </a:lnTo>
                <a:lnTo>
                  <a:pt x="1211" y="1355"/>
                </a:lnTo>
                <a:lnTo>
                  <a:pt x="1190" y="1370"/>
                </a:lnTo>
                <a:lnTo>
                  <a:pt x="1167" y="1383"/>
                </a:lnTo>
                <a:lnTo>
                  <a:pt x="1144" y="1396"/>
                </a:lnTo>
                <a:lnTo>
                  <a:pt x="1121" y="1406"/>
                </a:lnTo>
                <a:lnTo>
                  <a:pt x="1096" y="1416"/>
                </a:lnTo>
                <a:lnTo>
                  <a:pt x="1072" y="1425"/>
                </a:lnTo>
                <a:lnTo>
                  <a:pt x="1048" y="1432"/>
                </a:lnTo>
                <a:lnTo>
                  <a:pt x="1023" y="1438"/>
                </a:lnTo>
                <a:lnTo>
                  <a:pt x="997" y="1443"/>
                </a:lnTo>
                <a:lnTo>
                  <a:pt x="973" y="1446"/>
                </a:lnTo>
                <a:lnTo>
                  <a:pt x="947" y="1449"/>
                </a:lnTo>
                <a:lnTo>
                  <a:pt x="923" y="1451"/>
                </a:lnTo>
                <a:lnTo>
                  <a:pt x="897" y="1451"/>
                </a:lnTo>
                <a:lnTo>
                  <a:pt x="873" y="1449"/>
                </a:lnTo>
                <a:lnTo>
                  <a:pt x="847" y="1446"/>
                </a:lnTo>
                <a:lnTo>
                  <a:pt x="823" y="1443"/>
                </a:lnTo>
                <a:lnTo>
                  <a:pt x="798" y="1439"/>
                </a:lnTo>
                <a:lnTo>
                  <a:pt x="772" y="1433"/>
                </a:lnTo>
                <a:lnTo>
                  <a:pt x="750" y="1426"/>
                </a:lnTo>
                <a:lnTo>
                  <a:pt x="725" y="1418"/>
                </a:lnTo>
                <a:lnTo>
                  <a:pt x="701" y="1408"/>
                </a:lnTo>
                <a:lnTo>
                  <a:pt x="678" y="1398"/>
                </a:lnTo>
                <a:lnTo>
                  <a:pt x="655" y="1386"/>
                </a:lnTo>
                <a:lnTo>
                  <a:pt x="633" y="1372"/>
                </a:lnTo>
                <a:lnTo>
                  <a:pt x="612" y="1359"/>
                </a:lnTo>
                <a:lnTo>
                  <a:pt x="590" y="1343"/>
                </a:lnTo>
                <a:lnTo>
                  <a:pt x="570" y="1326"/>
                </a:lnTo>
                <a:lnTo>
                  <a:pt x="550" y="1309"/>
                </a:lnTo>
                <a:lnTo>
                  <a:pt x="532" y="1290"/>
                </a:lnTo>
                <a:lnTo>
                  <a:pt x="513" y="1270"/>
                </a:lnTo>
                <a:lnTo>
                  <a:pt x="496" y="1250"/>
                </a:lnTo>
                <a:lnTo>
                  <a:pt x="480" y="1228"/>
                </a:lnTo>
                <a:lnTo>
                  <a:pt x="466" y="1205"/>
                </a:lnTo>
                <a:lnTo>
                  <a:pt x="451" y="1184"/>
                </a:lnTo>
                <a:lnTo>
                  <a:pt x="440" y="1161"/>
                </a:lnTo>
                <a:lnTo>
                  <a:pt x="429" y="1137"/>
                </a:lnTo>
                <a:lnTo>
                  <a:pt x="418" y="1114"/>
                </a:lnTo>
                <a:lnTo>
                  <a:pt x="410" y="1089"/>
                </a:lnTo>
                <a:lnTo>
                  <a:pt x="403" y="1065"/>
                </a:lnTo>
                <a:lnTo>
                  <a:pt x="397" y="1039"/>
                </a:lnTo>
                <a:lnTo>
                  <a:pt x="391" y="1015"/>
                </a:lnTo>
                <a:lnTo>
                  <a:pt x="388" y="990"/>
                </a:lnTo>
                <a:lnTo>
                  <a:pt x="386" y="965"/>
                </a:lnTo>
                <a:lnTo>
                  <a:pt x="384" y="940"/>
                </a:lnTo>
                <a:lnTo>
                  <a:pt x="384" y="914"/>
                </a:lnTo>
                <a:lnTo>
                  <a:pt x="386" y="889"/>
                </a:lnTo>
                <a:lnTo>
                  <a:pt x="388" y="864"/>
                </a:lnTo>
                <a:lnTo>
                  <a:pt x="391" y="840"/>
                </a:lnTo>
                <a:lnTo>
                  <a:pt x="396" y="814"/>
                </a:lnTo>
                <a:lnTo>
                  <a:pt x="403" y="790"/>
                </a:lnTo>
                <a:lnTo>
                  <a:pt x="410" y="765"/>
                </a:lnTo>
                <a:lnTo>
                  <a:pt x="417" y="742"/>
                </a:lnTo>
                <a:lnTo>
                  <a:pt x="427" y="718"/>
                </a:lnTo>
                <a:lnTo>
                  <a:pt x="437" y="695"/>
                </a:lnTo>
                <a:lnTo>
                  <a:pt x="450" y="672"/>
                </a:lnTo>
                <a:lnTo>
                  <a:pt x="463" y="651"/>
                </a:lnTo>
                <a:lnTo>
                  <a:pt x="477" y="628"/>
                </a:lnTo>
                <a:lnTo>
                  <a:pt x="492" y="608"/>
                </a:lnTo>
                <a:lnTo>
                  <a:pt x="509" y="586"/>
                </a:lnTo>
                <a:lnTo>
                  <a:pt x="526" y="568"/>
                </a:lnTo>
                <a:lnTo>
                  <a:pt x="545" y="548"/>
                </a:lnTo>
                <a:lnTo>
                  <a:pt x="565" y="530"/>
                </a:lnTo>
                <a:close/>
                <a:moveTo>
                  <a:pt x="1102" y="1148"/>
                </a:moveTo>
                <a:lnTo>
                  <a:pt x="1102" y="1148"/>
                </a:lnTo>
                <a:lnTo>
                  <a:pt x="1125" y="1128"/>
                </a:lnTo>
                <a:lnTo>
                  <a:pt x="1144" y="1105"/>
                </a:lnTo>
                <a:lnTo>
                  <a:pt x="1161" y="1081"/>
                </a:lnTo>
                <a:lnTo>
                  <a:pt x="1174" y="1056"/>
                </a:lnTo>
                <a:lnTo>
                  <a:pt x="1185" y="1029"/>
                </a:lnTo>
                <a:lnTo>
                  <a:pt x="1194" y="1002"/>
                </a:lnTo>
                <a:lnTo>
                  <a:pt x="1201" y="975"/>
                </a:lnTo>
                <a:lnTo>
                  <a:pt x="1204" y="946"/>
                </a:lnTo>
                <a:lnTo>
                  <a:pt x="1204" y="919"/>
                </a:lnTo>
                <a:lnTo>
                  <a:pt x="1202" y="890"/>
                </a:lnTo>
                <a:lnTo>
                  <a:pt x="1197" y="861"/>
                </a:lnTo>
                <a:lnTo>
                  <a:pt x="1190" y="834"/>
                </a:lnTo>
                <a:lnTo>
                  <a:pt x="1179" y="807"/>
                </a:lnTo>
                <a:lnTo>
                  <a:pt x="1167" y="781"/>
                </a:lnTo>
                <a:lnTo>
                  <a:pt x="1151" y="755"/>
                </a:lnTo>
                <a:lnTo>
                  <a:pt x="1132" y="732"/>
                </a:lnTo>
                <a:lnTo>
                  <a:pt x="1111" y="711"/>
                </a:lnTo>
                <a:lnTo>
                  <a:pt x="1088" y="691"/>
                </a:lnTo>
                <a:lnTo>
                  <a:pt x="1065" y="675"/>
                </a:lnTo>
                <a:lnTo>
                  <a:pt x="1039" y="661"/>
                </a:lnTo>
                <a:lnTo>
                  <a:pt x="1013" y="649"/>
                </a:lnTo>
                <a:lnTo>
                  <a:pt x="986" y="641"/>
                </a:lnTo>
                <a:lnTo>
                  <a:pt x="957" y="635"/>
                </a:lnTo>
                <a:lnTo>
                  <a:pt x="930" y="631"/>
                </a:lnTo>
                <a:lnTo>
                  <a:pt x="901" y="631"/>
                </a:lnTo>
                <a:lnTo>
                  <a:pt x="873" y="632"/>
                </a:lnTo>
                <a:lnTo>
                  <a:pt x="844" y="638"/>
                </a:lnTo>
                <a:lnTo>
                  <a:pt x="817" y="645"/>
                </a:lnTo>
                <a:lnTo>
                  <a:pt x="790" y="655"/>
                </a:lnTo>
                <a:lnTo>
                  <a:pt x="764" y="668"/>
                </a:lnTo>
                <a:lnTo>
                  <a:pt x="739" y="684"/>
                </a:lnTo>
                <a:lnTo>
                  <a:pt x="715" y="702"/>
                </a:lnTo>
                <a:lnTo>
                  <a:pt x="694" y="724"/>
                </a:lnTo>
                <a:lnTo>
                  <a:pt x="674" y="747"/>
                </a:lnTo>
                <a:lnTo>
                  <a:pt x="658" y="771"/>
                </a:lnTo>
                <a:lnTo>
                  <a:pt x="643" y="796"/>
                </a:lnTo>
                <a:lnTo>
                  <a:pt x="632" y="823"/>
                </a:lnTo>
                <a:lnTo>
                  <a:pt x="623" y="850"/>
                </a:lnTo>
                <a:lnTo>
                  <a:pt x="618" y="877"/>
                </a:lnTo>
                <a:lnTo>
                  <a:pt x="615" y="906"/>
                </a:lnTo>
                <a:lnTo>
                  <a:pt x="613" y="933"/>
                </a:lnTo>
                <a:lnTo>
                  <a:pt x="616" y="962"/>
                </a:lnTo>
                <a:lnTo>
                  <a:pt x="621" y="990"/>
                </a:lnTo>
                <a:lnTo>
                  <a:pt x="628" y="1018"/>
                </a:lnTo>
                <a:lnTo>
                  <a:pt x="639" y="1045"/>
                </a:lnTo>
                <a:lnTo>
                  <a:pt x="652" y="1071"/>
                </a:lnTo>
                <a:lnTo>
                  <a:pt x="668" y="1097"/>
                </a:lnTo>
                <a:lnTo>
                  <a:pt x="686" y="1119"/>
                </a:lnTo>
                <a:lnTo>
                  <a:pt x="707" y="1141"/>
                </a:lnTo>
                <a:lnTo>
                  <a:pt x="729" y="1161"/>
                </a:lnTo>
                <a:lnTo>
                  <a:pt x="754" y="1177"/>
                </a:lnTo>
                <a:lnTo>
                  <a:pt x="780" y="1191"/>
                </a:lnTo>
                <a:lnTo>
                  <a:pt x="805" y="1203"/>
                </a:lnTo>
                <a:lnTo>
                  <a:pt x="833" y="1211"/>
                </a:lnTo>
                <a:lnTo>
                  <a:pt x="860" y="1217"/>
                </a:lnTo>
                <a:lnTo>
                  <a:pt x="889" y="1221"/>
                </a:lnTo>
                <a:lnTo>
                  <a:pt x="917" y="1221"/>
                </a:lnTo>
                <a:lnTo>
                  <a:pt x="944" y="1218"/>
                </a:lnTo>
                <a:lnTo>
                  <a:pt x="973" y="1214"/>
                </a:lnTo>
                <a:lnTo>
                  <a:pt x="1000" y="1207"/>
                </a:lnTo>
                <a:lnTo>
                  <a:pt x="1028" y="1197"/>
                </a:lnTo>
                <a:lnTo>
                  <a:pt x="1053" y="1184"/>
                </a:lnTo>
                <a:lnTo>
                  <a:pt x="1079" y="1167"/>
                </a:lnTo>
                <a:lnTo>
                  <a:pt x="1102" y="1148"/>
                </a:lnTo>
                <a:close/>
                <a:moveTo>
                  <a:pt x="1595" y="2571"/>
                </a:moveTo>
                <a:lnTo>
                  <a:pt x="1595" y="2571"/>
                </a:lnTo>
                <a:lnTo>
                  <a:pt x="1559" y="2573"/>
                </a:lnTo>
                <a:lnTo>
                  <a:pt x="1523" y="2576"/>
                </a:lnTo>
                <a:lnTo>
                  <a:pt x="1489" y="2580"/>
                </a:lnTo>
                <a:lnTo>
                  <a:pt x="1455" y="2586"/>
                </a:lnTo>
                <a:lnTo>
                  <a:pt x="1420" y="2594"/>
                </a:lnTo>
                <a:lnTo>
                  <a:pt x="1387" y="2603"/>
                </a:lnTo>
                <a:lnTo>
                  <a:pt x="1356" y="2614"/>
                </a:lnTo>
                <a:lnTo>
                  <a:pt x="1324" y="2627"/>
                </a:lnTo>
                <a:lnTo>
                  <a:pt x="1293" y="2640"/>
                </a:lnTo>
                <a:lnTo>
                  <a:pt x="1263" y="2656"/>
                </a:lnTo>
                <a:lnTo>
                  <a:pt x="1234" y="2673"/>
                </a:lnTo>
                <a:lnTo>
                  <a:pt x="1205" y="2690"/>
                </a:lnTo>
                <a:lnTo>
                  <a:pt x="1178" y="2710"/>
                </a:lnTo>
                <a:lnTo>
                  <a:pt x="1152" y="2731"/>
                </a:lnTo>
                <a:lnTo>
                  <a:pt x="1126" y="2753"/>
                </a:lnTo>
                <a:lnTo>
                  <a:pt x="1102" y="2776"/>
                </a:lnTo>
                <a:lnTo>
                  <a:pt x="1079" y="2801"/>
                </a:lnTo>
                <a:lnTo>
                  <a:pt x="1058" y="2825"/>
                </a:lnTo>
                <a:lnTo>
                  <a:pt x="1038" y="2851"/>
                </a:lnTo>
                <a:lnTo>
                  <a:pt x="1018" y="2880"/>
                </a:lnTo>
                <a:lnTo>
                  <a:pt x="1000" y="2907"/>
                </a:lnTo>
                <a:lnTo>
                  <a:pt x="983" y="2937"/>
                </a:lnTo>
                <a:lnTo>
                  <a:pt x="967" y="2966"/>
                </a:lnTo>
                <a:lnTo>
                  <a:pt x="953" y="2997"/>
                </a:lnTo>
                <a:lnTo>
                  <a:pt x="942" y="3029"/>
                </a:lnTo>
                <a:lnTo>
                  <a:pt x="930" y="3062"/>
                </a:lnTo>
                <a:lnTo>
                  <a:pt x="922" y="3095"/>
                </a:lnTo>
                <a:lnTo>
                  <a:pt x="913" y="3128"/>
                </a:lnTo>
                <a:lnTo>
                  <a:pt x="907" y="3162"/>
                </a:lnTo>
                <a:lnTo>
                  <a:pt x="903" y="3196"/>
                </a:lnTo>
                <a:lnTo>
                  <a:pt x="900" y="3232"/>
                </a:lnTo>
                <a:lnTo>
                  <a:pt x="899" y="3268"/>
                </a:lnTo>
                <a:lnTo>
                  <a:pt x="900" y="3304"/>
                </a:lnTo>
                <a:lnTo>
                  <a:pt x="903" y="3340"/>
                </a:lnTo>
                <a:lnTo>
                  <a:pt x="907" y="3374"/>
                </a:lnTo>
                <a:lnTo>
                  <a:pt x="913" y="3408"/>
                </a:lnTo>
                <a:lnTo>
                  <a:pt x="922" y="3441"/>
                </a:lnTo>
                <a:lnTo>
                  <a:pt x="930" y="3474"/>
                </a:lnTo>
                <a:lnTo>
                  <a:pt x="942" y="3507"/>
                </a:lnTo>
                <a:lnTo>
                  <a:pt x="953" y="3539"/>
                </a:lnTo>
                <a:lnTo>
                  <a:pt x="967" y="3569"/>
                </a:lnTo>
                <a:lnTo>
                  <a:pt x="983" y="3599"/>
                </a:lnTo>
                <a:lnTo>
                  <a:pt x="1000" y="3629"/>
                </a:lnTo>
                <a:lnTo>
                  <a:pt x="1018" y="3656"/>
                </a:lnTo>
                <a:lnTo>
                  <a:pt x="1038" y="3684"/>
                </a:lnTo>
                <a:lnTo>
                  <a:pt x="1058" y="3711"/>
                </a:lnTo>
                <a:lnTo>
                  <a:pt x="1079" y="3735"/>
                </a:lnTo>
                <a:lnTo>
                  <a:pt x="1102" y="3760"/>
                </a:lnTo>
                <a:lnTo>
                  <a:pt x="1126" y="3783"/>
                </a:lnTo>
                <a:lnTo>
                  <a:pt x="1152" y="3806"/>
                </a:lnTo>
                <a:lnTo>
                  <a:pt x="1178" y="3826"/>
                </a:lnTo>
                <a:lnTo>
                  <a:pt x="1205" y="3846"/>
                </a:lnTo>
                <a:lnTo>
                  <a:pt x="1234" y="3863"/>
                </a:lnTo>
                <a:lnTo>
                  <a:pt x="1263" y="3880"/>
                </a:lnTo>
                <a:lnTo>
                  <a:pt x="1293" y="3896"/>
                </a:lnTo>
                <a:lnTo>
                  <a:pt x="1324" y="3909"/>
                </a:lnTo>
                <a:lnTo>
                  <a:pt x="1356" y="3922"/>
                </a:lnTo>
                <a:lnTo>
                  <a:pt x="1387" y="3933"/>
                </a:lnTo>
                <a:lnTo>
                  <a:pt x="1420" y="3942"/>
                </a:lnTo>
                <a:lnTo>
                  <a:pt x="1455" y="3950"/>
                </a:lnTo>
                <a:lnTo>
                  <a:pt x="1489" y="3956"/>
                </a:lnTo>
                <a:lnTo>
                  <a:pt x="1523" y="3960"/>
                </a:lnTo>
                <a:lnTo>
                  <a:pt x="1559" y="3963"/>
                </a:lnTo>
                <a:lnTo>
                  <a:pt x="1595" y="3965"/>
                </a:lnTo>
                <a:lnTo>
                  <a:pt x="1631" y="3963"/>
                </a:lnTo>
                <a:lnTo>
                  <a:pt x="1665" y="3960"/>
                </a:lnTo>
                <a:lnTo>
                  <a:pt x="1701" y="3956"/>
                </a:lnTo>
                <a:lnTo>
                  <a:pt x="1736" y="3950"/>
                </a:lnTo>
                <a:lnTo>
                  <a:pt x="1768" y="3942"/>
                </a:lnTo>
                <a:lnTo>
                  <a:pt x="1801" y="3933"/>
                </a:lnTo>
                <a:lnTo>
                  <a:pt x="1834" y="3922"/>
                </a:lnTo>
                <a:lnTo>
                  <a:pt x="1866" y="3909"/>
                </a:lnTo>
                <a:lnTo>
                  <a:pt x="1896" y="3896"/>
                </a:lnTo>
                <a:lnTo>
                  <a:pt x="1926" y="3880"/>
                </a:lnTo>
                <a:lnTo>
                  <a:pt x="1956" y="3863"/>
                </a:lnTo>
                <a:lnTo>
                  <a:pt x="1983" y="3846"/>
                </a:lnTo>
                <a:lnTo>
                  <a:pt x="2011" y="3826"/>
                </a:lnTo>
                <a:lnTo>
                  <a:pt x="2038" y="3806"/>
                </a:lnTo>
                <a:lnTo>
                  <a:pt x="2062" y="3783"/>
                </a:lnTo>
                <a:lnTo>
                  <a:pt x="2087" y="3760"/>
                </a:lnTo>
                <a:lnTo>
                  <a:pt x="2110" y="3735"/>
                </a:lnTo>
                <a:lnTo>
                  <a:pt x="2131" y="3711"/>
                </a:lnTo>
                <a:lnTo>
                  <a:pt x="2153" y="3684"/>
                </a:lnTo>
                <a:lnTo>
                  <a:pt x="2171" y="3656"/>
                </a:lnTo>
                <a:lnTo>
                  <a:pt x="2190" y="3629"/>
                </a:lnTo>
                <a:lnTo>
                  <a:pt x="2207" y="3599"/>
                </a:lnTo>
                <a:lnTo>
                  <a:pt x="2221" y="3569"/>
                </a:lnTo>
                <a:lnTo>
                  <a:pt x="2236" y="3539"/>
                </a:lnTo>
                <a:lnTo>
                  <a:pt x="2249" y="3507"/>
                </a:lnTo>
                <a:lnTo>
                  <a:pt x="2259" y="3474"/>
                </a:lnTo>
                <a:lnTo>
                  <a:pt x="2269" y="3441"/>
                </a:lnTo>
                <a:lnTo>
                  <a:pt x="2276" y="3408"/>
                </a:lnTo>
                <a:lnTo>
                  <a:pt x="2283" y="3374"/>
                </a:lnTo>
                <a:lnTo>
                  <a:pt x="2287" y="3340"/>
                </a:lnTo>
                <a:lnTo>
                  <a:pt x="2290" y="3304"/>
                </a:lnTo>
                <a:lnTo>
                  <a:pt x="2290" y="3268"/>
                </a:lnTo>
                <a:lnTo>
                  <a:pt x="2290" y="3232"/>
                </a:lnTo>
                <a:lnTo>
                  <a:pt x="2287" y="3196"/>
                </a:lnTo>
                <a:lnTo>
                  <a:pt x="2283" y="3162"/>
                </a:lnTo>
                <a:lnTo>
                  <a:pt x="2276" y="3128"/>
                </a:lnTo>
                <a:lnTo>
                  <a:pt x="2269" y="3095"/>
                </a:lnTo>
                <a:lnTo>
                  <a:pt x="2259" y="3062"/>
                </a:lnTo>
                <a:lnTo>
                  <a:pt x="2249" y="3029"/>
                </a:lnTo>
                <a:lnTo>
                  <a:pt x="2236" y="2997"/>
                </a:lnTo>
                <a:lnTo>
                  <a:pt x="2221" y="2966"/>
                </a:lnTo>
                <a:lnTo>
                  <a:pt x="2207" y="2937"/>
                </a:lnTo>
                <a:lnTo>
                  <a:pt x="2190" y="2907"/>
                </a:lnTo>
                <a:lnTo>
                  <a:pt x="2171" y="2880"/>
                </a:lnTo>
                <a:lnTo>
                  <a:pt x="2153" y="2851"/>
                </a:lnTo>
                <a:lnTo>
                  <a:pt x="2131" y="2825"/>
                </a:lnTo>
                <a:lnTo>
                  <a:pt x="2110" y="2801"/>
                </a:lnTo>
                <a:lnTo>
                  <a:pt x="2087" y="2776"/>
                </a:lnTo>
                <a:lnTo>
                  <a:pt x="2062" y="2753"/>
                </a:lnTo>
                <a:lnTo>
                  <a:pt x="2038" y="2731"/>
                </a:lnTo>
                <a:lnTo>
                  <a:pt x="2011" y="2710"/>
                </a:lnTo>
                <a:lnTo>
                  <a:pt x="1983" y="2690"/>
                </a:lnTo>
                <a:lnTo>
                  <a:pt x="1956" y="2673"/>
                </a:lnTo>
                <a:lnTo>
                  <a:pt x="1926" y="2656"/>
                </a:lnTo>
                <a:lnTo>
                  <a:pt x="1896" y="2640"/>
                </a:lnTo>
                <a:lnTo>
                  <a:pt x="1866" y="2627"/>
                </a:lnTo>
                <a:lnTo>
                  <a:pt x="1834" y="2614"/>
                </a:lnTo>
                <a:lnTo>
                  <a:pt x="1801" y="2603"/>
                </a:lnTo>
                <a:lnTo>
                  <a:pt x="1768" y="2594"/>
                </a:lnTo>
                <a:lnTo>
                  <a:pt x="1736" y="2586"/>
                </a:lnTo>
                <a:lnTo>
                  <a:pt x="1701" y="2580"/>
                </a:lnTo>
                <a:lnTo>
                  <a:pt x="1665" y="2576"/>
                </a:lnTo>
                <a:lnTo>
                  <a:pt x="1631" y="2573"/>
                </a:lnTo>
                <a:lnTo>
                  <a:pt x="1595" y="2571"/>
                </a:lnTo>
                <a:close/>
                <a:moveTo>
                  <a:pt x="1595" y="3761"/>
                </a:moveTo>
                <a:lnTo>
                  <a:pt x="1595" y="3761"/>
                </a:lnTo>
                <a:lnTo>
                  <a:pt x="1569" y="3761"/>
                </a:lnTo>
                <a:lnTo>
                  <a:pt x="1545" y="3758"/>
                </a:lnTo>
                <a:lnTo>
                  <a:pt x="1519" y="3755"/>
                </a:lnTo>
                <a:lnTo>
                  <a:pt x="1495" y="3751"/>
                </a:lnTo>
                <a:lnTo>
                  <a:pt x="1472" y="3745"/>
                </a:lnTo>
                <a:lnTo>
                  <a:pt x="1447" y="3740"/>
                </a:lnTo>
                <a:lnTo>
                  <a:pt x="1425" y="3731"/>
                </a:lnTo>
                <a:lnTo>
                  <a:pt x="1403" y="3722"/>
                </a:lnTo>
                <a:lnTo>
                  <a:pt x="1382" y="3712"/>
                </a:lnTo>
                <a:lnTo>
                  <a:pt x="1360" y="3701"/>
                </a:lnTo>
                <a:lnTo>
                  <a:pt x="1339" y="3689"/>
                </a:lnTo>
                <a:lnTo>
                  <a:pt x="1318" y="3677"/>
                </a:lnTo>
                <a:lnTo>
                  <a:pt x="1300" y="3664"/>
                </a:lnTo>
                <a:lnTo>
                  <a:pt x="1281" y="3648"/>
                </a:lnTo>
                <a:lnTo>
                  <a:pt x="1263" y="3634"/>
                </a:lnTo>
                <a:lnTo>
                  <a:pt x="1245" y="3616"/>
                </a:lnTo>
                <a:lnTo>
                  <a:pt x="1230" y="3599"/>
                </a:lnTo>
                <a:lnTo>
                  <a:pt x="1214" y="3582"/>
                </a:lnTo>
                <a:lnTo>
                  <a:pt x="1200" y="3563"/>
                </a:lnTo>
                <a:lnTo>
                  <a:pt x="1185" y="3543"/>
                </a:lnTo>
                <a:lnTo>
                  <a:pt x="1174" y="3523"/>
                </a:lnTo>
                <a:lnTo>
                  <a:pt x="1161" y="3503"/>
                </a:lnTo>
                <a:lnTo>
                  <a:pt x="1151" y="3482"/>
                </a:lnTo>
                <a:lnTo>
                  <a:pt x="1141" y="3460"/>
                </a:lnTo>
                <a:lnTo>
                  <a:pt x="1132" y="3437"/>
                </a:lnTo>
                <a:lnTo>
                  <a:pt x="1124" y="3414"/>
                </a:lnTo>
                <a:lnTo>
                  <a:pt x="1118" y="3391"/>
                </a:lnTo>
                <a:lnTo>
                  <a:pt x="1112" y="3367"/>
                </a:lnTo>
                <a:lnTo>
                  <a:pt x="1108" y="3343"/>
                </a:lnTo>
                <a:lnTo>
                  <a:pt x="1105" y="3318"/>
                </a:lnTo>
                <a:lnTo>
                  <a:pt x="1102" y="3294"/>
                </a:lnTo>
                <a:lnTo>
                  <a:pt x="1102" y="3268"/>
                </a:lnTo>
                <a:lnTo>
                  <a:pt x="1102" y="3242"/>
                </a:lnTo>
                <a:lnTo>
                  <a:pt x="1105" y="3218"/>
                </a:lnTo>
                <a:lnTo>
                  <a:pt x="1108" y="3193"/>
                </a:lnTo>
                <a:lnTo>
                  <a:pt x="1112" y="3169"/>
                </a:lnTo>
                <a:lnTo>
                  <a:pt x="1118" y="3145"/>
                </a:lnTo>
                <a:lnTo>
                  <a:pt x="1124" y="3122"/>
                </a:lnTo>
                <a:lnTo>
                  <a:pt x="1132" y="3099"/>
                </a:lnTo>
                <a:lnTo>
                  <a:pt x="1141" y="3076"/>
                </a:lnTo>
                <a:lnTo>
                  <a:pt x="1151" y="3054"/>
                </a:lnTo>
                <a:lnTo>
                  <a:pt x="1161" y="3033"/>
                </a:lnTo>
                <a:lnTo>
                  <a:pt x="1174" y="3013"/>
                </a:lnTo>
                <a:lnTo>
                  <a:pt x="1185" y="2993"/>
                </a:lnTo>
                <a:lnTo>
                  <a:pt x="1200" y="2973"/>
                </a:lnTo>
                <a:lnTo>
                  <a:pt x="1214" y="2954"/>
                </a:lnTo>
                <a:lnTo>
                  <a:pt x="1230" y="2937"/>
                </a:lnTo>
                <a:lnTo>
                  <a:pt x="1245" y="2920"/>
                </a:lnTo>
                <a:lnTo>
                  <a:pt x="1263" y="2903"/>
                </a:lnTo>
                <a:lnTo>
                  <a:pt x="1281" y="2888"/>
                </a:lnTo>
                <a:lnTo>
                  <a:pt x="1300" y="2872"/>
                </a:lnTo>
                <a:lnTo>
                  <a:pt x="1318" y="2860"/>
                </a:lnTo>
                <a:lnTo>
                  <a:pt x="1339" y="2847"/>
                </a:lnTo>
                <a:lnTo>
                  <a:pt x="1360" y="2834"/>
                </a:lnTo>
                <a:lnTo>
                  <a:pt x="1382" y="2824"/>
                </a:lnTo>
                <a:lnTo>
                  <a:pt x="1403" y="2814"/>
                </a:lnTo>
                <a:lnTo>
                  <a:pt x="1425" y="2805"/>
                </a:lnTo>
                <a:lnTo>
                  <a:pt x="1447" y="2796"/>
                </a:lnTo>
                <a:lnTo>
                  <a:pt x="1472" y="2791"/>
                </a:lnTo>
                <a:lnTo>
                  <a:pt x="1495" y="2785"/>
                </a:lnTo>
                <a:lnTo>
                  <a:pt x="1519" y="2781"/>
                </a:lnTo>
                <a:lnTo>
                  <a:pt x="1545" y="2778"/>
                </a:lnTo>
                <a:lnTo>
                  <a:pt x="1569" y="2775"/>
                </a:lnTo>
                <a:lnTo>
                  <a:pt x="1595" y="2775"/>
                </a:lnTo>
                <a:lnTo>
                  <a:pt x="1619" y="2775"/>
                </a:lnTo>
                <a:lnTo>
                  <a:pt x="1645" y="2778"/>
                </a:lnTo>
                <a:lnTo>
                  <a:pt x="1670" y="2781"/>
                </a:lnTo>
                <a:lnTo>
                  <a:pt x="1694" y="2785"/>
                </a:lnTo>
                <a:lnTo>
                  <a:pt x="1718" y="2791"/>
                </a:lnTo>
                <a:lnTo>
                  <a:pt x="1741" y="2796"/>
                </a:lnTo>
                <a:lnTo>
                  <a:pt x="1764" y="2805"/>
                </a:lnTo>
                <a:lnTo>
                  <a:pt x="1787" y="2814"/>
                </a:lnTo>
                <a:lnTo>
                  <a:pt x="1809" y="2824"/>
                </a:lnTo>
                <a:lnTo>
                  <a:pt x="1830" y="2834"/>
                </a:lnTo>
                <a:lnTo>
                  <a:pt x="1850" y="2847"/>
                </a:lnTo>
                <a:lnTo>
                  <a:pt x="1870" y="2860"/>
                </a:lnTo>
                <a:lnTo>
                  <a:pt x="1890" y="2872"/>
                </a:lnTo>
                <a:lnTo>
                  <a:pt x="1909" y="2888"/>
                </a:lnTo>
                <a:lnTo>
                  <a:pt x="1926" y="2903"/>
                </a:lnTo>
                <a:lnTo>
                  <a:pt x="1943" y="2920"/>
                </a:lnTo>
                <a:lnTo>
                  <a:pt x="1959" y="2937"/>
                </a:lnTo>
                <a:lnTo>
                  <a:pt x="1975" y="2954"/>
                </a:lnTo>
                <a:lnTo>
                  <a:pt x="1989" y="2973"/>
                </a:lnTo>
                <a:lnTo>
                  <a:pt x="2004" y="2993"/>
                </a:lnTo>
                <a:lnTo>
                  <a:pt x="2016" y="3013"/>
                </a:lnTo>
                <a:lnTo>
                  <a:pt x="2028" y="3033"/>
                </a:lnTo>
                <a:lnTo>
                  <a:pt x="2039" y="3054"/>
                </a:lnTo>
                <a:lnTo>
                  <a:pt x="2049" y="3076"/>
                </a:lnTo>
                <a:lnTo>
                  <a:pt x="2058" y="3099"/>
                </a:lnTo>
                <a:lnTo>
                  <a:pt x="2065" y="3122"/>
                </a:lnTo>
                <a:lnTo>
                  <a:pt x="2072" y="3145"/>
                </a:lnTo>
                <a:lnTo>
                  <a:pt x="2078" y="3169"/>
                </a:lnTo>
                <a:lnTo>
                  <a:pt x="2082" y="3193"/>
                </a:lnTo>
                <a:lnTo>
                  <a:pt x="2085" y="3218"/>
                </a:lnTo>
                <a:lnTo>
                  <a:pt x="2087" y="3242"/>
                </a:lnTo>
                <a:lnTo>
                  <a:pt x="2088" y="3268"/>
                </a:lnTo>
                <a:lnTo>
                  <a:pt x="2087" y="3294"/>
                </a:lnTo>
                <a:lnTo>
                  <a:pt x="2085" y="3318"/>
                </a:lnTo>
                <a:lnTo>
                  <a:pt x="2082" y="3343"/>
                </a:lnTo>
                <a:lnTo>
                  <a:pt x="2078" y="3367"/>
                </a:lnTo>
                <a:lnTo>
                  <a:pt x="2072" y="3391"/>
                </a:lnTo>
                <a:lnTo>
                  <a:pt x="2065" y="3414"/>
                </a:lnTo>
                <a:lnTo>
                  <a:pt x="2058" y="3437"/>
                </a:lnTo>
                <a:lnTo>
                  <a:pt x="2049" y="3460"/>
                </a:lnTo>
                <a:lnTo>
                  <a:pt x="2039" y="3482"/>
                </a:lnTo>
                <a:lnTo>
                  <a:pt x="2028" y="3503"/>
                </a:lnTo>
                <a:lnTo>
                  <a:pt x="2016" y="3523"/>
                </a:lnTo>
                <a:lnTo>
                  <a:pt x="2004" y="3543"/>
                </a:lnTo>
                <a:lnTo>
                  <a:pt x="1989" y="3563"/>
                </a:lnTo>
                <a:lnTo>
                  <a:pt x="1975" y="3582"/>
                </a:lnTo>
                <a:lnTo>
                  <a:pt x="1959" y="3599"/>
                </a:lnTo>
                <a:lnTo>
                  <a:pt x="1943" y="3616"/>
                </a:lnTo>
                <a:lnTo>
                  <a:pt x="1926" y="3634"/>
                </a:lnTo>
                <a:lnTo>
                  <a:pt x="1909" y="3648"/>
                </a:lnTo>
                <a:lnTo>
                  <a:pt x="1890" y="3664"/>
                </a:lnTo>
                <a:lnTo>
                  <a:pt x="1870" y="3677"/>
                </a:lnTo>
                <a:lnTo>
                  <a:pt x="1850" y="3689"/>
                </a:lnTo>
                <a:lnTo>
                  <a:pt x="1830" y="3701"/>
                </a:lnTo>
                <a:lnTo>
                  <a:pt x="1809" y="3712"/>
                </a:lnTo>
                <a:lnTo>
                  <a:pt x="1787" y="3722"/>
                </a:lnTo>
                <a:lnTo>
                  <a:pt x="1764" y="3731"/>
                </a:lnTo>
                <a:lnTo>
                  <a:pt x="1741" y="3740"/>
                </a:lnTo>
                <a:lnTo>
                  <a:pt x="1718" y="3745"/>
                </a:lnTo>
                <a:lnTo>
                  <a:pt x="1694" y="3751"/>
                </a:lnTo>
                <a:lnTo>
                  <a:pt x="1670" y="3755"/>
                </a:lnTo>
                <a:lnTo>
                  <a:pt x="1645" y="3758"/>
                </a:lnTo>
                <a:lnTo>
                  <a:pt x="1619" y="3761"/>
                </a:lnTo>
                <a:lnTo>
                  <a:pt x="1595" y="3761"/>
                </a:lnTo>
                <a:close/>
                <a:moveTo>
                  <a:pt x="2699" y="2845"/>
                </a:moveTo>
                <a:lnTo>
                  <a:pt x="2954" y="2632"/>
                </a:lnTo>
                <a:lnTo>
                  <a:pt x="2796" y="2359"/>
                </a:lnTo>
                <a:lnTo>
                  <a:pt x="2472" y="2477"/>
                </a:lnTo>
                <a:lnTo>
                  <a:pt x="2441" y="2444"/>
                </a:lnTo>
                <a:lnTo>
                  <a:pt x="2408" y="2411"/>
                </a:lnTo>
                <a:lnTo>
                  <a:pt x="2375" y="2379"/>
                </a:lnTo>
                <a:lnTo>
                  <a:pt x="2339" y="2351"/>
                </a:lnTo>
                <a:lnTo>
                  <a:pt x="2454" y="2037"/>
                </a:lnTo>
                <a:lnTo>
                  <a:pt x="2181" y="1881"/>
                </a:lnTo>
                <a:lnTo>
                  <a:pt x="1959" y="2144"/>
                </a:lnTo>
                <a:lnTo>
                  <a:pt x="1916" y="2130"/>
                </a:lnTo>
                <a:lnTo>
                  <a:pt x="1872" y="2118"/>
                </a:lnTo>
                <a:lnTo>
                  <a:pt x="1826" y="2108"/>
                </a:lnTo>
                <a:lnTo>
                  <a:pt x="1780" y="2101"/>
                </a:lnTo>
                <a:lnTo>
                  <a:pt x="1723" y="1773"/>
                </a:lnTo>
                <a:lnTo>
                  <a:pt x="1409" y="1773"/>
                </a:lnTo>
                <a:lnTo>
                  <a:pt x="1349" y="2113"/>
                </a:lnTo>
                <a:lnTo>
                  <a:pt x="1303" y="2123"/>
                </a:lnTo>
                <a:lnTo>
                  <a:pt x="1258" y="2134"/>
                </a:lnTo>
                <a:lnTo>
                  <a:pt x="1215" y="2149"/>
                </a:lnTo>
                <a:lnTo>
                  <a:pt x="1172" y="2164"/>
                </a:lnTo>
                <a:lnTo>
                  <a:pt x="957" y="1909"/>
                </a:lnTo>
                <a:lnTo>
                  <a:pt x="685" y="2067"/>
                </a:lnTo>
                <a:lnTo>
                  <a:pt x="804" y="2391"/>
                </a:lnTo>
                <a:lnTo>
                  <a:pt x="770" y="2422"/>
                </a:lnTo>
                <a:lnTo>
                  <a:pt x="738" y="2454"/>
                </a:lnTo>
                <a:lnTo>
                  <a:pt x="707" y="2488"/>
                </a:lnTo>
                <a:lnTo>
                  <a:pt x="676" y="2524"/>
                </a:lnTo>
                <a:lnTo>
                  <a:pt x="364" y="2409"/>
                </a:lnTo>
                <a:lnTo>
                  <a:pt x="206" y="2682"/>
                </a:lnTo>
                <a:lnTo>
                  <a:pt x="470" y="2904"/>
                </a:lnTo>
                <a:lnTo>
                  <a:pt x="457" y="2947"/>
                </a:lnTo>
                <a:lnTo>
                  <a:pt x="446" y="2991"/>
                </a:lnTo>
                <a:lnTo>
                  <a:pt x="436" y="3036"/>
                </a:lnTo>
                <a:lnTo>
                  <a:pt x="427" y="3082"/>
                </a:lnTo>
                <a:lnTo>
                  <a:pt x="100" y="3140"/>
                </a:lnTo>
                <a:lnTo>
                  <a:pt x="100" y="3454"/>
                </a:lnTo>
                <a:lnTo>
                  <a:pt x="439" y="3515"/>
                </a:lnTo>
                <a:lnTo>
                  <a:pt x="450" y="3559"/>
                </a:lnTo>
                <a:lnTo>
                  <a:pt x="461" y="3603"/>
                </a:lnTo>
                <a:lnTo>
                  <a:pt x="476" y="3648"/>
                </a:lnTo>
                <a:lnTo>
                  <a:pt x="492" y="3691"/>
                </a:lnTo>
                <a:lnTo>
                  <a:pt x="236" y="3904"/>
                </a:lnTo>
                <a:lnTo>
                  <a:pt x="393" y="4177"/>
                </a:lnTo>
                <a:lnTo>
                  <a:pt x="717" y="4059"/>
                </a:lnTo>
                <a:lnTo>
                  <a:pt x="748" y="4092"/>
                </a:lnTo>
                <a:lnTo>
                  <a:pt x="781" y="4125"/>
                </a:lnTo>
                <a:lnTo>
                  <a:pt x="815" y="4157"/>
                </a:lnTo>
                <a:lnTo>
                  <a:pt x="850" y="4185"/>
                </a:lnTo>
                <a:lnTo>
                  <a:pt x="737" y="4499"/>
                </a:lnTo>
                <a:lnTo>
                  <a:pt x="1009" y="4655"/>
                </a:lnTo>
                <a:lnTo>
                  <a:pt x="1230" y="4392"/>
                </a:lnTo>
                <a:lnTo>
                  <a:pt x="1274" y="4406"/>
                </a:lnTo>
                <a:lnTo>
                  <a:pt x="1318" y="4418"/>
                </a:lnTo>
                <a:lnTo>
                  <a:pt x="1363" y="4428"/>
                </a:lnTo>
                <a:lnTo>
                  <a:pt x="1409" y="4435"/>
                </a:lnTo>
                <a:lnTo>
                  <a:pt x="1466" y="4763"/>
                </a:lnTo>
                <a:lnTo>
                  <a:pt x="1781" y="4763"/>
                </a:lnTo>
                <a:lnTo>
                  <a:pt x="1842" y="4423"/>
                </a:lnTo>
                <a:lnTo>
                  <a:pt x="1886" y="4413"/>
                </a:lnTo>
                <a:lnTo>
                  <a:pt x="1930" y="4402"/>
                </a:lnTo>
                <a:lnTo>
                  <a:pt x="1975" y="4387"/>
                </a:lnTo>
                <a:lnTo>
                  <a:pt x="2018" y="4372"/>
                </a:lnTo>
                <a:lnTo>
                  <a:pt x="2231" y="4627"/>
                </a:lnTo>
                <a:lnTo>
                  <a:pt x="2504" y="4469"/>
                </a:lnTo>
                <a:lnTo>
                  <a:pt x="2386" y="4145"/>
                </a:lnTo>
                <a:lnTo>
                  <a:pt x="2419" y="4114"/>
                </a:lnTo>
                <a:lnTo>
                  <a:pt x="2452" y="4082"/>
                </a:lnTo>
                <a:lnTo>
                  <a:pt x="2482" y="4048"/>
                </a:lnTo>
                <a:lnTo>
                  <a:pt x="2512" y="4012"/>
                </a:lnTo>
                <a:lnTo>
                  <a:pt x="2826" y="4127"/>
                </a:lnTo>
                <a:lnTo>
                  <a:pt x="2982" y="3854"/>
                </a:lnTo>
                <a:lnTo>
                  <a:pt x="2719" y="3632"/>
                </a:lnTo>
                <a:lnTo>
                  <a:pt x="2732" y="3589"/>
                </a:lnTo>
                <a:lnTo>
                  <a:pt x="2743" y="3545"/>
                </a:lnTo>
                <a:lnTo>
                  <a:pt x="2753" y="3499"/>
                </a:lnTo>
                <a:lnTo>
                  <a:pt x="2762" y="3454"/>
                </a:lnTo>
                <a:lnTo>
                  <a:pt x="3090" y="3396"/>
                </a:lnTo>
                <a:lnTo>
                  <a:pt x="3090" y="3082"/>
                </a:lnTo>
                <a:lnTo>
                  <a:pt x="2750" y="3021"/>
                </a:lnTo>
                <a:lnTo>
                  <a:pt x="2740" y="2977"/>
                </a:lnTo>
                <a:lnTo>
                  <a:pt x="2727" y="2933"/>
                </a:lnTo>
                <a:lnTo>
                  <a:pt x="2714" y="2888"/>
                </a:lnTo>
                <a:lnTo>
                  <a:pt x="2699" y="2845"/>
                </a:lnTo>
                <a:close/>
                <a:moveTo>
                  <a:pt x="1595" y="4194"/>
                </a:moveTo>
                <a:lnTo>
                  <a:pt x="1595" y="4194"/>
                </a:lnTo>
                <a:lnTo>
                  <a:pt x="1548" y="4193"/>
                </a:lnTo>
                <a:lnTo>
                  <a:pt x="1500" y="4188"/>
                </a:lnTo>
                <a:lnTo>
                  <a:pt x="1453" y="4182"/>
                </a:lnTo>
                <a:lnTo>
                  <a:pt x="1409" y="4174"/>
                </a:lnTo>
                <a:lnTo>
                  <a:pt x="1363" y="4164"/>
                </a:lnTo>
                <a:lnTo>
                  <a:pt x="1320" y="4151"/>
                </a:lnTo>
                <a:lnTo>
                  <a:pt x="1277" y="4137"/>
                </a:lnTo>
                <a:lnTo>
                  <a:pt x="1234" y="4121"/>
                </a:lnTo>
                <a:lnTo>
                  <a:pt x="1194" y="4102"/>
                </a:lnTo>
                <a:lnTo>
                  <a:pt x="1154" y="4082"/>
                </a:lnTo>
                <a:lnTo>
                  <a:pt x="1115" y="4059"/>
                </a:lnTo>
                <a:lnTo>
                  <a:pt x="1078" y="4035"/>
                </a:lnTo>
                <a:lnTo>
                  <a:pt x="1042" y="4009"/>
                </a:lnTo>
                <a:lnTo>
                  <a:pt x="1006" y="3982"/>
                </a:lnTo>
                <a:lnTo>
                  <a:pt x="973" y="3953"/>
                </a:lnTo>
                <a:lnTo>
                  <a:pt x="940" y="3922"/>
                </a:lnTo>
                <a:lnTo>
                  <a:pt x="910" y="3890"/>
                </a:lnTo>
                <a:lnTo>
                  <a:pt x="881" y="3857"/>
                </a:lnTo>
                <a:lnTo>
                  <a:pt x="853" y="3821"/>
                </a:lnTo>
                <a:lnTo>
                  <a:pt x="827" y="3785"/>
                </a:lnTo>
                <a:lnTo>
                  <a:pt x="804" y="3748"/>
                </a:lnTo>
                <a:lnTo>
                  <a:pt x="781" y="3709"/>
                </a:lnTo>
                <a:lnTo>
                  <a:pt x="761" y="3669"/>
                </a:lnTo>
                <a:lnTo>
                  <a:pt x="742" y="3628"/>
                </a:lnTo>
                <a:lnTo>
                  <a:pt x="725" y="3586"/>
                </a:lnTo>
                <a:lnTo>
                  <a:pt x="711" y="3543"/>
                </a:lnTo>
                <a:lnTo>
                  <a:pt x="699" y="3499"/>
                </a:lnTo>
                <a:lnTo>
                  <a:pt x="688" y="3454"/>
                </a:lnTo>
                <a:lnTo>
                  <a:pt x="681" y="3408"/>
                </a:lnTo>
                <a:lnTo>
                  <a:pt x="675" y="3363"/>
                </a:lnTo>
                <a:lnTo>
                  <a:pt x="671" y="3315"/>
                </a:lnTo>
                <a:lnTo>
                  <a:pt x="669" y="3268"/>
                </a:lnTo>
                <a:lnTo>
                  <a:pt x="671" y="3221"/>
                </a:lnTo>
                <a:lnTo>
                  <a:pt x="675" y="3173"/>
                </a:lnTo>
                <a:lnTo>
                  <a:pt x="681" y="3128"/>
                </a:lnTo>
                <a:lnTo>
                  <a:pt x="688" y="3082"/>
                </a:lnTo>
                <a:lnTo>
                  <a:pt x="699" y="3037"/>
                </a:lnTo>
                <a:lnTo>
                  <a:pt x="711" y="2993"/>
                </a:lnTo>
                <a:lnTo>
                  <a:pt x="725" y="2950"/>
                </a:lnTo>
                <a:lnTo>
                  <a:pt x="742" y="2908"/>
                </a:lnTo>
                <a:lnTo>
                  <a:pt x="761" y="2867"/>
                </a:lnTo>
                <a:lnTo>
                  <a:pt x="781" y="2827"/>
                </a:lnTo>
                <a:lnTo>
                  <a:pt x="804" y="2788"/>
                </a:lnTo>
                <a:lnTo>
                  <a:pt x="827" y="2751"/>
                </a:lnTo>
                <a:lnTo>
                  <a:pt x="853" y="2715"/>
                </a:lnTo>
                <a:lnTo>
                  <a:pt x="881" y="2679"/>
                </a:lnTo>
                <a:lnTo>
                  <a:pt x="910" y="2646"/>
                </a:lnTo>
                <a:lnTo>
                  <a:pt x="940" y="2614"/>
                </a:lnTo>
                <a:lnTo>
                  <a:pt x="973" y="2583"/>
                </a:lnTo>
                <a:lnTo>
                  <a:pt x="1006" y="2554"/>
                </a:lnTo>
                <a:lnTo>
                  <a:pt x="1042" y="2527"/>
                </a:lnTo>
                <a:lnTo>
                  <a:pt x="1078" y="2501"/>
                </a:lnTo>
                <a:lnTo>
                  <a:pt x="1115" y="2477"/>
                </a:lnTo>
                <a:lnTo>
                  <a:pt x="1154" y="2454"/>
                </a:lnTo>
                <a:lnTo>
                  <a:pt x="1194" y="2434"/>
                </a:lnTo>
                <a:lnTo>
                  <a:pt x="1234" y="2415"/>
                </a:lnTo>
                <a:lnTo>
                  <a:pt x="1277" y="2399"/>
                </a:lnTo>
                <a:lnTo>
                  <a:pt x="1320" y="2384"/>
                </a:lnTo>
                <a:lnTo>
                  <a:pt x="1363" y="2372"/>
                </a:lnTo>
                <a:lnTo>
                  <a:pt x="1409" y="2362"/>
                </a:lnTo>
                <a:lnTo>
                  <a:pt x="1453" y="2354"/>
                </a:lnTo>
                <a:lnTo>
                  <a:pt x="1500" y="2348"/>
                </a:lnTo>
                <a:lnTo>
                  <a:pt x="1548" y="2344"/>
                </a:lnTo>
                <a:lnTo>
                  <a:pt x="1595" y="2342"/>
                </a:lnTo>
                <a:lnTo>
                  <a:pt x="1642" y="2344"/>
                </a:lnTo>
                <a:lnTo>
                  <a:pt x="1690" y="2348"/>
                </a:lnTo>
                <a:lnTo>
                  <a:pt x="1736" y="2354"/>
                </a:lnTo>
                <a:lnTo>
                  <a:pt x="1781" y="2362"/>
                </a:lnTo>
                <a:lnTo>
                  <a:pt x="1826" y="2372"/>
                </a:lnTo>
                <a:lnTo>
                  <a:pt x="1870" y="2384"/>
                </a:lnTo>
                <a:lnTo>
                  <a:pt x="1913" y="2399"/>
                </a:lnTo>
                <a:lnTo>
                  <a:pt x="1955" y="2415"/>
                </a:lnTo>
                <a:lnTo>
                  <a:pt x="1996" y="2434"/>
                </a:lnTo>
                <a:lnTo>
                  <a:pt x="2035" y="2454"/>
                </a:lnTo>
                <a:lnTo>
                  <a:pt x="2074" y="2477"/>
                </a:lnTo>
                <a:lnTo>
                  <a:pt x="2112" y="2501"/>
                </a:lnTo>
                <a:lnTo>
                  <a:pt x="2148" y="2527"/>
                </a:lnTo>
                <a:lnTo>
                  <a:pt x="2183" y="2554"/>
                </a:lnTo>
                <a:lnTo>
                  <a:pt x="2217" y="2583"/>
                </a:lnTo>
                <a:lnTo>
                  <a:pt x="2249" y="2614"/>
                </a:lnTo>
                <a:lnTo>
                  <a:pt x="2280" y="2646"/>
                </a:lnTo>
                <a:lnTo>
                  <a:pt x="2309" y="2679"/>
                </a:lnTo>
                <a:lnTo>
                  <a:pt x="2336" y="2715"/>
                </a:lnTo>
                <a:lnTo>
                  <a:pt x="2362" y="2751"/>
                </a:lnTo>
                <a:lnTo>
                  <a:pt x="2386" y="2788"/>
                </a:lnTo>
                <a:lnTo>
                  <a:pt x="2408" y="2827"/>
                </a:lnTo>
                <a:lnTo>
                  <a:pt x="2429" y="2867"/>
                </a:lnTo>
                <a:lnTo>
                  <a:pt x="2448" y="2908"/>
                </a:lnTo>
                <a:lnTo>
                  <a:pt x="2464" y="2950"/>
                </a:lnTo>
                <a:lnTo>
                  <a:pt x="2478" y="2993"/>
                </a:lnTo>
                <a:lnTo>
                  <a:pt x="2491" y="3037"/>
                </a:lnTo>
                <a:lnTo>
                  <a:pt x="2501" y="3082"/>
                </a:lnTo>
                <a:lnTo>
                  <a:pt x="2509" y="3128"/>
                </a:lnTo>
                <a:lnTo>
                  <a:pt x="2515" y="3173"/>
                </a:lnTo>
                <a:lnTo>
                  <a:pt x="2518" y="3221"/>
                </a:lnTo>
                <a:lnTo>
                  <a:pt x="2519" y="3268"/>
                </a:lnTo>
                <a:lnTo>
                  <a:pt x="2518" y="3315"/>
                </a:lnTo>
                <a:lnTo>
                  <a:pt x="2515" y="3363"/>
                </a:lnTo>
                <a:lnTo>
                  <a:pt x="2509" y="3408"/>
                </a:lnTo>
                <a:lnTo>
                  <a:pt x="2501" y="3454"/>
                </a:lnTo>
                <a:lnTo>
                  <a:pt x="2491" y="3499"/>
                </a:lnTo>
                <a:lnTo>
                  <a:pt x="2478" y="3543"/>
                </a:lnTo>
                <a:lnTo>
                  <a:pt x="2464" y="3586"/>
                </a:lnTo>
                <a:lnTo>
                  <a:pt x="2448" y="3628"/>
                </a:lnTo>
                <a:lnTo>
                  <a:pt x="2429" y="3669"/>
                </a:lnTo>
                <a:lnTo>
                  <a:pt x="2408" y="3709"/>
                </a:lnTo>
                <a:lnTo>
                  <a:pt x="2386" y="3748"/>
                </a:lnTo>
                <a:lnTo>
                  <a:pt x="2362" y="3785"/>
                </a:lnTo>
                <a:lnTo>
                  <a:pt x="2336" y="3821"/>
                </a:lnTo>
                <a:lnTo>
                  <a:pt x="2309" y="3857"/>
                </a:lnTo>
                <a:lnTo>
                  <a:pt x="2280" y="3890"/>
                </a:lnTo>
                <a:lnTo>
                  <a:pt x="2249" y="3922"/>
                </a:lnTo>
                <a:lnTo>
                  <a:pt x="2217" y="3953"/>
                </a:lnTo>
                <a:lnTo>
                  <a:pt x="2183" y="3982"/>
                </a:lnTo>
                <a:lnTo>
                  <a:pt x="2148" y="4009"/>
                </a:lnTo>
                <a:lnTo>
                  <a:pt x="2112" y="4035"/>
                </a:lnTo>
                <a:lnTo>
                  <a:pt x="2074" y="4059"/>
                </a:lnTo>
                <a:lnTo>
                  <a:pt x="2035" y="4082"/>
                </a:lnTo>
                <a:lnTo>
                  <a:pt x="1996" y="4102"/>
                </a:lnTo>
                <a:lnTo>
                  <a:pt x="1955" y="4121"/>
                </a:lnTo>
                <a:lnTo>
                  <a:pt x="1913" y="4137"/>
                </a:lnTo>
                <a:lnTo>
                  <a:pt x="1870" y="4151"/>
                </a:lnTo>
                <a:lnTo>
                  <a:pt x="1826" y="4164"/>
                </a:lnTo>
                <a:lnTo>
                  <a:pt x="1781" y="4174"/>
                </a:lnTo>
                <a:lnTo>
                  <a:pt x="1736" y="4182"/>
                </a:lnTo>
                <a:lnTo>
                  <a:pt x="1690" y="4188"/>
                </a:lnTo>
                <a:lnTo>
                  <a:pt x="1642" y="4193"/>
                </a:lnTo>
                <a:lnTo>
                  <a:pt x="1595" y="4194"/>
                </a:lnTo>
                <a:close/>
                <a:moveTo>
                  <a:pt x="4272" y="1428"/>
                </a:moveTo>
                <a:lnTo>
                  <a:pt x="4272" y="1428"/>
                </a:lnTo>
                <a:lnTo>
                  <a:pt x="4236" y="1429"/>
                </a:lnTo>
                <a:lnTo>
                  <a:pt x="4202" y="1432"/>
                </a:lnTo>
                <a:lnTo>
                  <a:pt x="4168" y="1436"/>
                </a:lnTo>
                <a:lnTo>
                  <a:pt x="4135" y="1442"/>
                </a:lnTo>
                <a:lnTo>
                  <a:pt x="4102" y="1449"/>
                </a:lnTo>
                <a:lnTo>
                  <a:pt x="4069" y="1459"/>
                </a:lnTo>
                <a:lnTo>
                  <a:pt x="4037" y="1469"/>
                </a:lnTo>
                <a:lnTo>
                  <a:pt x="4006" y="1482"/>
                </a:lnTo>
                <a:lnTo>
                  <a:pt x="3976" y="1495"/>
                </a:lnTo>
                <a:lnTo>
                  <a:pt x="3947" y="1511"/>
                </a:lnTo>
                <a:lnTo>
                  <a:pt x="3918" y="1527"/>
                </a:lnTo>
                <a:lnTo>
                  <a:pt x="3890" y="1545"/>
                </a:lnTo>
                <a:lnTo>
                  <a:pt x="3864" y="1564"/>
                </a:lnTo>
                <a:lnTo>
                  <a:pt x="3838" y="1584"/>
                </a:lnTo>
                <a:lnTo>
                  <a:pt x="3812" y="1605"/>
                </a:lnTo>
                <a:lnTo>
                  <a:pt x="3789" y="1628"/>
                </a:lnTo>
                <a:lnTo>
                  <a:pt x="3766" y="1651"/>
                </a:lnTo>
                <a:lnTo>
                  <a:pt x="3745" y="1677"/>
                </a:lnTo>
                <a:lnTo>
                  <a:pt x="3725" y="1703"/>
                </a:lnTo>
                <a:lnTo>
                  <a:pt x="3705" y="1729"/>
                </a:lnTo>
                <a:lnTo>
                  <a:pt x="3687" y="1757"/>
                </a:lnTo>
                <a:lnTo>
                  <a:pt x="3672" y="1786"/>
                </a:lnTo>
                <a:lnTo>
                  <a:pt x="3656" y="1815"/>
                </a:lnTo>
                <a:lnTo>
                  <a:pt x="3643" y="1845"/>
                </a:lnTo>
                <a:lnTo>
                  <a:pt x="3630" y="1876"/>
                </a:lnTo>
                <a:lnTo>
                  <a:pt x="3619" y="1908"/>
                </a:lnTo>
                <a:lnTo>
                  <a:pt x="3610" y="1941"/>
                </a:lnTo>
                <a:lnTo>
                  <a:pt x="3603" y="1974"/>
                </a:lnTo>
                <a:lnTo>
                  <a:pt x="3597" y="2007"/>
                </a:lnTo>
                <a:lnTo>
                  <a:pt x="3591" y="2041"/>
                </a:lnTo>
                <a:lnTo>
                  <a:pt x="3590" y="2077"/>
                </a:lnTo>
                <a:lnTo>
                  <a:pt x="3589" y="2111"/>
                </a:lnTo>
                <a:lnTo>
                  <a:pt x="3590" y="2147"/>
                </a:lnTo>
                <a:lnTo>
                  <a:pt x="3591" y="2182"/>
                </a:lnTo>
                <a:lnTo>
                  <a:pt x="3597" y="2216"/>
                </a:lnTo>
                <a:lnTo>
                  <a:pt x="3603" y="2249"/>
                </a:lnTo>
                <a:lnTo>
                  <a:pt x="3610" y="2282"/>
                </a:lnTo>
                <a:lnTo>
                  <a:pt x="3619" y="2315"/>
                </a:lnTo>
                <a:lnTo>
                  <a:pt x="3630" y="2346"/>
                </a:lnTo>
                <a:lnTo>
                  <a:pt x="3643" y="2378"/>
                </a:lnTo>
                <a:lnTo>
                  <a:pt x="3656" y="2408"/>
                </a:lnTo>
                <a:lnTo>
                  <a:pt x="3672" y="2437"/>
                </a:lnTo>
                <a:lnTo>
                  <a:pt x="3687" y="2465"/>
                </a:lnTo>
                <a:lnTo>
                  <a:pt x="3705" y="2494"/>
                </a:lnTo>
                <a:lnTo>
                  <a:pt x="3725" y="2520"/>
                </a:lnTo>
                <a:lnTo>
                  <a:pt x="3745" y="2546"/>
                </a:lnTo>
                <a:lnTo>
                  <a:pt x="3766" y="2571"/>
                </a:lnTo>
                <a:lnTo>
                  <a:pt x="3789" y="2594"/>
                </a:lnTo>
                <a:lnTo>
                  <a:pt x="3812" y="2617"/>
                </a:lnTo>
                <a:lnTo>
                  <a:pt x="3838" y="2639"/>
                </a:lnTo>
                <a:lnTo>
                  <a:pt x="3864" y="2659"/>
                </a:lnTo>
                <a:lnTo>
                  <a:pt x="3890" y="2679"/>
                </a:lnTo>
                <a:lnTo>
                  <a:pt x="3918" y="2696"/>
                </a:lnTo>
                <a:lnTo>
                  <a:pt x="3947" y="2712"/>
                </a:lnTo>
                <a:lnTo>
                  <a:pt x="3976" y="2728"/>
                </a:lnTo>
                <a:lnTo>
                  <a:pt x="4006" y="2742"/>
                </a:lnTo>
                <a:lnTo>
                  <a:pt x="4037" y="2753"/>
                </a:lnTo>
                <a:lnTo>
                  <a:pt x="4069" y="2765"/>
                </a:lnTo>
                <a:lnTo>
                  <a:pt x="4102" y="2774"/>
                </a:lnTo>
                <a:lnTo>
                  <a:pt x="4135" y="2781"/>
                </a:lnTo>
                <a:lnTo>
                  <a:pt x="4168" y="2786"/>
                </a:lnTo>
                <a:lnTo>
                  <a:pt x="4202" y="2792"/>
                </a:lnTo>
                <a:lnTo>
                  <a:pt x="4236" y="2794"/>
                </a:lnTo>
                <a:lnTo>
                  <a:pt x="4272" y="2795"/>
                </a:lnTo>
                <a:lnTo>
                  <a:pt x="4307" y="2794"/>
                </a:lnTo>
                <a:lnTo>
                  <a:pt x="4342" y="2792"/>
                </a:lnTo>
                <a:lnTo>
                  <a:pt x="4377" y="2786"/>
                </a:lnTo>
                <a:lnTo>
                  <a:pt x="4410" y="2781"/>
                </a:lnTo>
                <a:lnTo>
                  <a:pt x="4443" y="2774"/>
                </a:lnTo>
                <a:lnTo>
                  <a:pt x="4476" y="2765"/>
                </a:lnTo>
                <a:lnTo>
                  <a:pt x="4507" y="2753"/>
                </a:lnTo>
                <a:lnTo>
                  <a:pt x="4539" y="2742"/>
                </a:lnTo>
                <a:lnTo>
                  <a:pt x="4569" y="2728"/>
                </a:lnTo>
                <a:lnTo>
                  <a:pt x="4597" y="2712"/>
                </a:lnTo>
                <a:lnTo>
                  <a:pt x="4626" y="2696"/>
                </a:lnTo>
                <a:lnTo>
                  <a:pt x="4655" y="2679"/>
                </a:lnTo>
                <a:lnTo>
                  <a:pt x="4681" y="2659"/>
                </a:lnTo>
                <a:lnTo>
                  <a:pt x="4706" y="2639"/>
                </a:lnTo>
                <a:lnTo>
                  <a:pt x="4732" y="2617"/>
                </a:lnTo>
                <a:lnTo>
                  <a:pt x="4755" y="2594"/>
                </a:lnTo>
                <a:lnTo>
                  <a:pt x="4778" y="2571"/>
                </a:lnTo>
                <a:lnTo>
                  <a:pt x="4800" y="2546"/>
                </a:lnTo>
                <a:lnTo>
                  <a:pt x="4820" y="2520"/>
                </a:lnTo>
                <a:lnTo>
                  <a:pt x="4838" y="2494"/>
                </a:lnTo>
                <a:lnTo>
                  <a:pt x="4857" y="2465"/>
                </a:lnTo>
                <a:lnTo>
                  <a:pt x="4873" y="2437"/>
                </a:lnTo>
                <a:lnTo>
                  <a:pt x="4888" y="2408"/>
                </a:lnTo>
                <a:lnTo>
                  <a:pt x="4901" y="2378"/>
                </a:lnTo>
                <a:lnTo>
                  <a:pt x="4914" y="2346"/>
                </a:lnTo>
                <a:lnTo>
                  <a:pt x="4924" y="2315"/>
                </a:lnTo>
                <a:lnTo>
                  <a:pt x="4934" y="2282"/>
                </a:lnTo>
                <a:lnTo>
                  <a:pt x="4941" y="2249"/>
                </a:lnTo>
                <a:lnTo>
                  <a:pt x="4947" y="2216"/>
                </a:lnTo>
                <a:lnTo>
                  <a:pt x="4951" y="2182"/>
                </a:lnTo>
                <a:lnTo>
                  <a:pt x="4954" y="2147"/>
                </a:lnTo>
                <a:lnTo>
                  <a:pt x="4956" y="2111"/>
                </a:lnTo>
                <a:lnTo>
                  <a:pt x="4954" y="2077"/>
                </a:lnTo>
                <a:lnTo>
                  <a:pt x="4951" y="2041"/>
                </a:lnTo>
                <a:lnTo>
                  <a:pt x="4947" y="2007"/>
                </a:lnTo>
                <a:lnTo>
                  <a:pt x="4941" y="1974"/>
                </a:lnTo>
                <a:lnTo>
                  <a:pt x="4934" y="1941"/>
                </a:lnTo>
                <a:lnTo>
                  <a:pt x="4924" y="1908"/>
                </a:lnTo>
                <a:lnTo>
                  <a:pt x="4914" y="1876"/>
                </a:lnTo>
                <a:lnTo>
                  <a:pt x="4901" y="1845"/>
                </a:lnTo>
                <a:lnTo>
                  <a:pt x="4888" y="1815"/>
                </a:lnTo>
                <a:lnTo>
                  <a:pt x="4873" y="1786"/>
                </a:lnTo>
                <a:lnTo>
                  <a:pt x="4857" y="1757"/>
                </a:lnTo>
                <a:lnTo>
                  <a:pt x="4838" y="1729"/>
                </a:lnTo>
                <a:lnTo>
                  <a:pt x="4820" y="1703"/>
                </a:lnTo>
                <a:lnTo>
                  <a:pt x="4800" y="1677"/>
                </a:lnTo>
                <a:lnTo>
                  <a:pt x="4778" y="1651"/>
                </a:lnTo>
                <a:lnTo>
                  <a:pt x="4755" y="1628"/>
                </a:lnTo>
                <a:lnTo>
                  <a:pt x="4732" y="1605"/>
                </a:lnTo>
                <a:lnTo>
                  <a:pt x="4706" y="1584"/>
                </a:lnTo>
                <a:lnTo>
                  <a:pt x="4681" y="1564"/>
                </a:lnTo>
                <a:lnTo>
                  <a:pt x="4655" y="1545"/>
                </a:lnTo>
                <a:lnTo>
                  <a:pt x="4626" y="1527"/>
                </a:lnTo>
                <a:lnTo>
                  <a:pt x="4597" y="1511"/>
                </a:lnTo>
                <a:lnTo>
                  <a:pt x="4569" y="1495"/>
                </a:lnTo>
                <a:lnTo>
                  <a:pt x="4539" y="1482"/>
                </a:lnTo>
                <a:lnTo>
                  <a:pt x="4507" y="1469"/>
                </a:lnTo>
                <a:lnTo>
                  <a:pt x="4476" y="1459"/>
                </a:lnTo>
                <a:lnTo>
                  <a:pt x="4443" y="1449"/>
                </a:lnTo>
                <a:lnTo>
                  <a:pt x="4410" y="1442"/>
                </a:lnTo>
                <a:lnTo>
                  <a:pt x="4377" y="1436"/>
                </a:lnTo>
                <a:lnTo>
                  <a:pt x="4342" y="1432"/>
                </a:lnTo>
                <a:lnTo>
                  <a:pt x="4307" y="1429"/>
                </a:lnTo>
                <a:lnTo>
                  <a:pt x="4272" y="1428"/>
                </a:lnTo>
                <a:close/>
                <a:moveTo>
                  <a:pt x="4272" y="2597"/>
                </a:moveTo>
                <a:lnTo>
                  <a:pt x="4272" y="2597"/>
                </a:lnTo>
                <a:lnTo>
                  <a:pt x="4248" y="2596"/>
                </a:lnTo>
                <a:lnTo>
                  <a:pt x="4222" y="2594"/>
                </a:lnTo>
                <a:lnTo>
                  <a:pt x="4198" y="2591"/>
                </a:lnTo>
                <a:lnTo>
                  <a:pt x="4175" y="2587"/>
                </a:lnTo>
                <a:lnTo>
                  <a:pt x="4150" y="2581"/>
                </a:lnTo>
                <a:lnTo>
                  <a:pt x="4127" y="2576"/>
                </a:lnTo>
                <a:lnTo>
                  <a:pt x="4104" y="2567"/>
                </a:lnTo>
                <a:lnTo>
                  <a:pt x="4083" y="2559"/>
                </a:lnTo>
                <a:lnTo>
                  <a:pt x="4062" y="2548"/>
                </a:lnTo>
                <a:lnTo>
                  <a:pt x="4040" y="2538"/>
                </a:lnTo>
                <a:lnTo>
                  <a:pt x="4020" y="2527"/>
                </a:lnTo>
                <a:lnTo>
                  <a:pt x="4001" y="2514"/>
                </a:lnTo>
                <a:lnTo>
                  <a:pt x="3981" y="2501"/>
                </a:lnTo>
                <a:lnTo>
                  <a:pt x="3963" y="2485"/>
                </a:lnTo>
                <a:lnTo>
                  <a:pt x="3945" y="2471"/>
                </a:lnTo>
                <a:lnTo>
                  <a:pt x="3928" y="2455"/>
                </a:lnTo>
                <a:lnTo>
                  <a:pt x="3912" y="2438"/>
                </a:lnTo>
                <a:lnTo>
                  <a:pt x="3898" y="2421"/>
                </a:lnTo>
                <a:lnTo>
                  <a:pt x="3882" y="2402"/>
                </a:lnTo>
                <a:lnTo>
                  <a:pt x="3869" y="2382"/>
                </a:lnTo>
                <a:lnTo>
                  <a:pt x="3857" y="2364"/>
                </a:lnTo>
                <a:lnTo>
                  <a:pt x="3845" y="2344"/>
                </a:lnTo>
                <a:lnTo>
                  <a:pt x="3835" y="2322"/>
                </a:lnTo>
                <a:lnTo>
                  <a:pt x="3825" y="2301"/>
                </a:lnTo>
                <a:lnTo>
                  <a:pt x="3816" y="2279"/>
                </a:lnTo>
                <a:lnTo>
                  <a:pt x="3808" y="2256"/>
                </a:lnTo>
                <a:lnTo>
                  <a:pt x="3802" y="2233"/>
                </a:lnTo>
                <a:lnTo>
                  <a:pt x="3796" y="2209"/>
                </a:lnTo>
                <a:lnTo>
                  <a:pt x="3792" y="2186"/>
                </a:lnTo>
                <a:lnTo>
                  <a:pt x="3789" y="2161"/>
                </a:lnTo>
                <a:lnTo>
                  <a:pt x="3788" y="2137"/>
                </a:lnTo>
                <a:lnTo>
                  <a:pt x="3786" y="2111"/>
                </a:lnTo>
                <a:lnTo>
                  <a:pt x="3788" y="2087"/>
                </a:lnTo>
                <a:lnTo>
                  <a:pt x="3789" y="2061"/>
                </a:lnTo>
                <a:lnTo>
                  <a:pt x="3792" y="2037"/>
                </a:lnTo>
                <a:lnTo>
                  <a:pt x="3796" y="2014"/>
                </a:lnTo>
                <a:lnTo>
                  <a:pt x="3802" y="1989"/>
                </a:lnTo>
                <a:lnTo>
                  <a:pt x="3808" y="1967"/>
                </a:lnTo>
                <a:lnTo>
                  <a:pt x="3816" y="1945"/>
                </a:lnTo>
                <a:lnTo>
                  <a:pt x="3825" y="1922"/>
                </a:lnTo>
                <a:lnTo>
                  <a:pt x="3835" y="1901"/>
                </a:lnTo>
                <a:lnTo>
                  <a:pt x="3845" y="1881"/>
                </a:lnTo>
                <a:lnTo>
                  <a:pt x="3857" y="1859"/>
                </a:lnTo>
                <a:lnTo>
                  <a:pt x="3869" y="1840"/>
                </a:lnTo>
                <a:lnTo>
                  <a:pt x="3882" y="1820"/>
                </a:lnTo>
                <a:lnTo>
                  <a:pt x="3898" y="1803"/>
                </a:lnTo>
                <a:lnTo>
                  <a:pt x="3912" y="1785"/>
                </a:lnTo>
                <a:lnTo>
                  <a:pt x="3928" y="1769"/>
                </a:lnTo>
                <a:lnTo>
                  <a:pt x="3945" y="1752"/>
                </a:lnTo>
                <a:lnTo>
                  <a:pt x="3963" y="1737"/>
                </a:lnTo>
                <a:lnTo>
                  <a:pt x="3981" y="1723"/>
                </a:lnTo>
                <a:lnTo>
                  <a:pt x="4001" y="1709"/>
                </a:lnTo>
                <a:lnTo>
                  <a:pt x="4020" y="1696"/>
                </a:lnTo>
                <a:lnTo>
                  <a:pt x="4040" y="1684"/>
                </a:lnTo>
                <a:lnTo>
                  <a:pt x="4062" y="1674"/>
                </a:lnTo>
                <a:lnTo>
                  <a:pt x="4083" y="1664"/>
                </a:lnTo>
                <a:lnTo>
                  <a:pt x="4104" y="1656"/>
                </a:lnTo>
                <a:lnTo>
                  <a:pt x="4127" y="1648"/>
                </a:lnTo>
                <a:lnTo>
                  <a:pt x="4150" y="1641"/>
                </a:lnTo>
                <a:lnTo>
                  <a:pt x="4175" y="1635"/>
                </a:lnTo>
                <a:lnTo>
                  <a:pt x="4198" y="1631"/>
                </a:lnTo>
                <a:lnTo>
                  <a:pt x="4222" y="1628"/>
                </a:lnTo>
                <a:lnTo>
                  <a:pt x="4248" y="1627"/>
                </a:lnTo>
                <a:lnTo>
                  <a:pt x="4272" y="1625"/>
                </a:lnTo>
                <a:lnTo>
                  <a:pt x="4297" y="1627"/>
                </a:lnTo>
                <a:lnTo>
                  <a:pt x="4322" y="1628"/>
                </a:lnTo>
                <a:lnTo>
                  <a:pt x="4347" y="1631"/>
                </a:lnTo>
                <a:lnTo>
                  <a:pt x="4370" y="1635"/>
                </a:lnTo>
                <a:lnTo>
                  <a:pt x="4394" y="1641"/>
                </a:lnTo>
                <a:lnTo>
                  <a:pt x="4417" y="1648"/>
                </a:lnTo>
                <a:lnTo>
                  <a:pt x="4438" y="1656"/>
                </a:lnTo>
                <a:lnTo>
                  <a:pt x="4461" y="1664"/>
                </a:lnTo>
                <a:lnTo>
                  <a:pt x="4483" y="1674"/>
                </a:lnTo>
                <a:lnTo>
                  <a:pt x="4503" y="1684"/>
                </a:lnTo>
                <a:lnTo>
                  <a:pt x="4524" y="1696"/>
                </a:lnTo>
                <a:lnTo>
                  <a:pt x="4543" y="1709"/>
                </a:lnTo>
                <a:lnTo>
                  <a:pt x="4563" y="1723"/>
                </a:lnTo>
                <a:lnTo>
                  <a:pt x="4580" y="1737"/>
                </a:lnTo>
                <a:lnTo>
                  <a:pt x="4599" y="1752"/>
                </a:lnTo>
                <a:lnTo>
                  <a:pt x="4615" y="1769"/>
                </a:lnTo>
                <a:lnTo>
                  <a:pt x="4632" y="1785"/>
                </a:lnTo>
                <a:lnTo>
                  <a:pt x="4646" y="1803"/>
                </a:lnTo>
                <a:lnTo>
                  <a:pt x="4661" y="1820"/>
                </a:lnTo>
                <a:lnTo>
                  <a:pt x="4675" y="1840"/>
                </a:lnTo>
                <a:lnTo>
                  <a:pt x="4688" y="1859"/>
                </a:lnTo>
                <a:lnTo>
                  <a:pt x="4699" y="1881"/>
                </a:lnTo>
                <a:lnTo>
                  <a:pt x="4709" y="1901"/>
                </a:lnTo>
                <a:lnTo>
                  <a:pt x="4719" y="1922"/>
                </a:lnTo>
                <a:lnTo>
                  <a:pt x="4728" y="1945"/>
                </a:lnTo>
                <a:lnTo>
                  <a:pt x="4735" y="1967"/>
                </a:lnTo>
                <a:lnTo>
                  <a:pt x="4742" y="1989"/>
                </a:lnTo>
                <a:lnTo>
                  <a:pt x="4748" y="2014"/>
                </a:lnTo>
                <a:lnTo>
                  <a:pt x="4752" y="2037"/>
                </a:lnTo>
                <a:lnTo>
                  <a:pt x="4755" y="2061"/>
                </a:lnTo>
                <a:lnTo>
                  <a:pt x="4757" y="2087"/>
                </a:lnTo>
                <a:lnTo>
                  <a:pt x="4758" y="2111"/>
                </a:lnTo>
                <a:lnTo>
                  <a:pt x="4757" y="2137"/>
                </a:lnTo>
                <a:lnTo>
                  <a:pt x="4755" y="2161"/>
                </a:lnTo>
                <a:lnTo>
                  <a:pt x="4752" y="2186"/>
                </a:lnTo>
                <a:lnTo>
                  <a:pt x="4748" y="2209"/>
                </a:lnTo>
                <a:lnTo>
                  <a:pt x="4742" y="2233"/>
                </a:lnTo>
                <a:lnTo>
                  <a:pt x="4735" y="2256"/>
                </a:lnTo>
                <a:lnTo>
                  <a:pt x="4728" y="2279"/>
                </a:lnTo>
                <a:lnTo>
                  <a:pt x="4719" y="2301"/>
                </a:lnTo>
                <a:lnTo>
                  <a:pt x="4709" y="2322"/>
                </a:lnTo>
                <a:lnTo>
                  <a:pt x="4699" y="2344"/>
                </a:lnTo>
                <a:lnTo>
                  <a:pt x="4688" y="2364"/>
                </a:lnTo>
                <a:lnTo>
                  <a:pt x="4675" y="2382"/>
                </a:lnTo>
                <a:lnTo>
                  <a:pt x="4661" y="2402"/>
                </a:lnTo>
                <a:lnTo>
                  <a:pt x="4646" y="2421"/>
                </a:lnTo>
                <a:lnTo>
                  <a:pt x="4632" y="2438"/>
                </a:lnTo>
                <a:lnTo>
                  <a:pt x="4615" y="2455"/>
                </a:lnTo>
                <a:lnTo>
                  <a:pt x="4599" y="2471"/>
                </a:lnTo>
                <a:lnTo>
                  <a:pt x="4580" y="2485"/>
                </a:lnTo>
                <a:lnTo>
                  <a:pt x="4563" y="2501"/>
                </a:lnTo>
                <a:lnTo>
                  <a:pt x="4543" y="2514"/>
                </a:lnTo>
                <a:lnTo>
                  <a:pt x="4524" y="2527"/>
                </a:lnTo>
                <a:lnTo>
                  <a:pt x="4503" y="2538"/>
                </a:lnTo>
                <a:lnTo>
                  <a:pt x="4483" y="2548"/>
                </a:lnTo>
                <a:lnTo>
                  <a:pt x="4461" y="2559"/>
                </a:lnTo>
                <a:lnTo>
                  <a:pt x="4438" y="2567"/>
                </a:lnTo>
                <a:lnTo>
                  <a:pt x="4417" y="2576"/>
                </a:lnTo>
                <a:lnTo>
                  <a:pt x="4394" y="2581"/>
                </a:lnTo>
                <a:lnTo>
                  <a:pt x="4370" y="2587"/>
                </a:lnTo>
                <a:lnTo>
                  <a:pt x="4347" y="2591"/>
                </a:lnTo>
                <a:lnTo>
                  <a:pt x="4322" y="2594"/>
                </a:lnTo>
                <a:lnTo>
                  <a:pt x="4297" y="2596"/>
                </a:lnTo>
                <a:lnTo>
                  <a:pt x="4272" y="2597"/>
                </a:lnTo>
                <a:close/>
                <a:moveTo>
                  <a:pt x="5744" y="2237"/>
                </a:moveTo>
                <a:lnTo>
                  <a:pt x="5744" y="1928"/>
                </a:lnTo>
                <a:lnTo>
                  <a:pt x="5410" y="1869"/>
                </a:lnTo>
                <a:lnTo>
                  <a:pt x="5400" y="1825"/>
                </a:lnTo>
                <a:lnTo>
                  <a:pt x="5389" y="1780"/>
                </a:lnTo>
                <a:lnTo>
                  <a:pt x="5374" y="1737"/>
                </a:lnTo>
                <a:lnTo>
                  <a:pt x="5358" y="1696"/>
                </a:lnTo>
                <a:lnTo>
                  <a:pt x="5611" y="1485"/>
                </a:lnTo>
                <a:lnTo>
                  <a:pt x="5455" y="1215"/>
                </a:lnTo>
                <a:lnTo>
                  <a:pt x="5136" y="1332"/>
                </a:lnTo>
                <a:lnTo>
                  <a:pt x="5105" y="1299"/>
                </a:lnTo>
                <a:lnTo>
                  <a:pt x="5073" y="1267"/>
                </a:lnTo>
                <a:lnTo>
                  <a:pt x="5040" y="1237"/>
                </a:lnTo>
                <a:lnTo>
                  <a:pt x="5005" y="1208"/>
                </a:lnTo>
                <a:lnTo>
                  <a:pt x="5118" y="899"/>
                </a:lnTo>
                <a:lnTo>
                  <a:pt x="4850" y="744"/>
                </a:lnTo>
                <a:lnTo>
                  <a:pt x="4630" y="1005"/>
                </a:lnTo>
                <a:lnTo>
                  <a:pt x="4587" y="990"/>
                </a:lnTo>
                <a:lnTo>
                  <a:pt x="4544" y="980"/>
                </a:lnTo>
                <a:lnTo>
                  <a:pt x="4500" y="970"/>
                </a:lnTo>
                <a:lnTo>
                  <a:pt x="4456" y="962"/>
                </a:lnTo>
                <a:lnTo>
                  <a:pt x="4398" y="639"/>
                </a:lnTo>
                <a:lnTo>
                  <a:pt x="4089" y="639"/>
                </a:lnTo>
                <a:lnTo>
                  <a:pt x="4030" y="973"/>
                </a:lnTo>
                <a:lnTo>
                  <a:pt x="3986" y="983"/>
                </a:lnTo>
                <a:lnTo>
                  <a:pt x="3941" y="995"/>
                </a:lnTo>
                <a:lnTo>
                  <a:pt x="3898" y="1009"/>
                </a:lnTo>
                <a:lnTo>
                  <a:pt x="3855" y="1025"/>
                </a:lnTo>
                <a:lnTo>
                  <a:pt x="3644" y="773"/>
                </a:lnTo>
                <a:lnTo>
                  <a:pt x="3376" y="929"/>
                </a:lnTo>
                <a:lnTo>
                  <a:pt x="3493" y="1247"/>
                </a:lnTo>
                <a:lnTo>
                  <a:pt x="3460" y="1279"/>
                </a:lnTo>
                <a:lnTo>
                  <a:pt x="3428" y="1310"/>
                </a:lnTo>
                <a:lnTo>
                  <a:pt x="3398" y="1343"/>
                </a:lnTo>
                <a:lnTo>
                  <a:pt x="3368" y="1379"/>
                </a:lnTo>
                <a:lnTo>
                  <a:pt x="3060" y="1266"/>
                </a:lnTo>
                <a:lnTo>
                  <a:pt x="2905" y="1534"/>
                </a:lnTo>
                <a:lnTo>
                  <a:pt x="3164" y="1753"/>
                </a:lnTo>
                <a:lnTo>
                  <a:pt x="3151" y="1796"/>
                </a:lnTo>
                <a:lnTo>
                  <a:pt x="3140" y="1839"/>
                </a:lnTo>
                <a:lnTo>
                  <a:pt x="3131" y="1883"/>
                </a:lnTo>
                <a:lnTo>
                  <a:pt x="3123" y="1928"/>
                </a:lnTo>
                <a:lnTo>
                  <a:pt x="2800" y="1985"/>
                </a:lnTo>
                <a:lnTo>
                  <a:pt x="2800" y="2295"/>
                </a:lnTo>
                <a:lnTo>
                  <a:pt x="3134" y="2354"/>
                </a:lnTo>
                <a:lnTo>
                  <a:pt x="3144" y="2398"/>
                </a:lnTo>
                <a:lnTo>
                  <a:pt x="3156" y="2442"/>
                </a:lnTo>
                <a:lnTo>
                  <a:pt x="3170" y="2485"/>
                </a:lnTo>
                <a:lnTo>
                  <a:pt x="3186" y="2528"/>
                </a:lnTo>
                <a:lnTo>
                  <a:pt x="2934" y="2739"/>
                </a:lnTo>
                <a:lnTo>
                  <a:pt x="3088" y="3007"/>
                </a:lnTo>
                <a:lnTo>
                  <a:pt x="3408" y="2891"/>
                </a:lnTo>
                <a:lnTo>
                  <a:pt x="3440" y="2924"/>
                </a:lnTo>
                <a:lnTo>
                  <a:pt x="3471" y="2956"/>
                </a:lnTo>
                <a:lnTo>
                  <a:pt x="3504" y="2986"/>
                </a:lnTo>
                <a:lnTo>
                  <a:pt x="3538" y="3016"/>
                </a:lnTo>
                <a:lnTo>
                  <a:pt x="3427" y="3324"/>
                </a:lnTo>
                <a:lnTo>
                  <a:pt x="3695" y="3479"/>
                </a:lnTo>
                <a:lnTo>
                  <a:pt x="3912" y="3219"/>
                </a:lnTo>
                <a:lnTo>
                  <a:pt x="3955" y="3232"/>
                </a:lnTo>
                <a:lnTo>
                  <a:pt x="4000" y="3244"/>
                </a:lnTo>
                <a:lnTo>
                  <a:pt x="4044" y="3252"/>
                </a:lnTo>
                <a:lnTo>
                  <a:pt x="4089" y="3261"/>
                </a:lnTo>
                <a:lnTo>
                  <a:pt x="4146" y="3583"/>
                </a:lnTo>
                <a:lnTo>
                  <a:pt x="4456" y="3583"/>
                </a:lnTo>
                <a:lnTo>
                  <a:pt x="4514" y="3249"/>
                </a:lnTo>
                <a:lnTo>
                  <a:pt x="4559" y="3239"/>
                </a:lnTo>
                <a:lnTo>
                  <a:pt x="4603" y="3228"/>
                </a:lnTo>
                <a:lnTo>
                  <a:pt x="4646" y="3214"/>
                </a:lnTo>
                <a:lnTo>
                  <a:pt x="4688" y="3198"/>
                </a:lnTo>
                <a:lnTo>
                  <a:pt x="4898" y="3450"/>
                </a:lnTo>
                <a:lnTo>
                  <a:pt x="5168" y="3295"/>
                </a:lnTo>
                <a:lnTo>
                  <a:pt x="5052" y="2976"/>
                </a:lnTo>
                <a:lnTo>
                  <a:pt x="5085" y="2944"/>
                </a:lnTo>
                <a:lnTo>
                  <a:pt x="5116" y="2913"/>
                </a:lnTo>
                <a:lnTo>
                  <a:pt x="5146" y="2880"/>
                </a:lnTo>
                <a:lnTo>
                  <a:pt x="5175" y="2845"/>
                </a:lnTo>
                <a:lnTo>
                  <a:pt x="5485" y="2957"/>
                </a:lnTo>
                <a:lnTo>
                  <a:pt x="5639" y="2689"/>
                </a:lnTo>
                <a:lnTo>
                  <a:pt x="5379" y="2471"/>
                </a:lnTo>
                <a:lnTo>
                  <a:pt x="5393" y="2428"/>
                </a:lnTo>
                <a:lnTo>
                  <a:pt x="5403" y="2384"/>
                </a:lnTo>
                <a:lnTo>
                  <a:pt x="5413" y="2339"/>
                </a:lnTo>
                <a:lnTo>
                  <a:pt x="5422" y="2295"/>
                </a:lnTo>
                <a:lnTo>
                  <a:pt x="5744" y="2237"/>
                </a:lnTo>
                <a:close/>
                <a:moveTo>
                  <a:pt x="4272" y="3024"/>
                </a:moveTo>
                <a:lnTo>
                  <a:pt x="4272" y="3024"/>
                </a:lnTo>
                <a:lnTo>
                  <a:pt x="4225" y="3023"/>
                </a:lnTo>
                <a:lnTo>
                  <a:pt x="4179" y="3020"/>
                </a:lnTo>
                <a:lnTo>
                  <a:pt x="4133" y="3014"/>
                </a:lnTo>
                <a:lnTo>
                  <a:pt x="4089" y="3006"/>
                </a:lnTo>
                <a:lnTo>
                  <a:pt x="4044" y="2996"/>
                </a:lnTo>
                <a:lnTo>
                  <a:pt x="4001" y="2983"/>
                </a:lnTo>
                <a:lnTo>
                  <a:pt x="3958" y="2968"/>
                </a:lnTo>
                <a:lnTo>
                  <a:pt x="3917" y="2953"/>
                </a:lnTo>
                <a:lnTo>
                  <a:pt x="3877" y="2934"/>
                </a:lnTo>
                <a:lnTo>
                  <a:pt x="3836" y="2914"/>
                </a:lnTo>
                <a:lnTo>
                  <a:pt x="3799" y="2892"/>
                </a:lnTo>
                <a:lnTo>
                  <a:pt x="3762" y="2868"/>
                </a:lnTo>
                <a:lnTo>
                  <a:pt x="3726" y="2842"/>
                </a:lnTo>
                <a:lnTo>
                  <a:pt x="3692" y="2817"/>
                </a:lnTo>
                <a:lnTo>
                  <a:pt x="3659" y="2788"/>
                </a:lnTo>
                <a:lnTo>
                  <a:pt x="3627" y="2756"/>
                </a:lnTo>
                <a:lnTo>
                  <a:pt x="3596" y="2725"/>
                </a:lnTo>
                <a:lnTo>
                  <a:pt x="3567" y="2692"/>
                </a:lnTo>
                <a:lnTo>
                  <a:pt x="3541" y="2657"/>
                </a:lnTo>
                <a:lnTo>
                  <a:pt x="3515" y="2622"/>
                </a:lnTo>
                <a:lnTo>
                  <a:pt x="3491" y="2584"/>
                </a:lnTo>
                <a:lnTo>
                  <a:pt x="3470" y="2547"/>
                </a:lnTo>
                <a:lnTo>
                  <a:pt x="3450" y="2507"/>
                </a:lnTo>
                <a:lnTo>
                  <a:pt x="3431" y="2467"/>
                </a:lnTo>
                <a:lnTo>
                  <a:pt x="3415" y="2425"/>
                </a:lnTo>
                <a:lnTo>
                  <a:pt x="3401" y="2382"/>
                </a:lnTo>
                <a:lnTo>
                  <a:pt x="3388" y="2339"/>
                </a:lnTo>
                <a:lnTo>
                  <a:pt x="3378" y="2295"/>
                </a:lnTo>
                <a:lnTo>
                  <a:pt x="3369" y="2250"/>
                </a:lnTo>
                <a:lnTo>
                  <a:pt x="3364" y="2204"/>
                </a:lnTo>
                <a:lnTo>
                  <a:pt x="3361" y="2159"/>
                </a:lnTo>
                <a:lnTo>
                  <a:pt x="3359" y="2111"/>
                </a:lnTo>
                <a:lnTo>
                  <a:pt x="3361" y="2064"/>
                </a:lnTo>
                <a:lnTo>
                  <a:pt x="3364" y="2018"/>
                </a:lnTo>
                <a:lnTo>
                  <a:pt x="3369" y="1972"/>
                </a:lnTo>
                <a:lnTo>
                  <a:pt x="3378" y="1928"/>
                </a:lnTo>
                <a:lnTo>
                  <a:pt x="3388" y="1883"/>
                </a:lnTo>
                <a:lnTo>
                  <a:pt x="3401" y="1840"/>
                </a:lnTo>
                <a:lnTo>
                  <a:pt x="3415" y="1797"/>
                </a:lnTo>
                <a:lnTo>
                  <a:pt x="3431" y="1756"/>
                </a:lnTo>
                <a:lnTo>
                  <a:pt x="3450" y="1716"/>
                </a:lnTo>
                <a:lnTo>
                  <a:pt x="3470" y="1676"/>
                </a:lnTo>
                <a:lnTo>
                  <a:pt x="3491" y="1638"/>
                </a:lnTo>
                <a:lnTo>
                  <a:pt x="3515" y="1601"/>
                </a:lnTo>
                <a:lnTo>
                  <a:pt x="3541" y="1565"/>
                </a:lnTo>
                <a:lnTo>
                  <a:pt x="3567" y="1531"/>
                </a:lnTo>
                <a:lnTo>
                  <a:pt x="3596" y="1498"/>
                </a:lnTo>
                <a:lnTo>
                  <a:pt x="3627" y="1466"/>
                </a:lnTo>
                <a:lnTo>
                  <a:pt x="3659" y="1436"/>
                </a:lnTo>
                <a:lnTo>
                  <a:pt x="3692" y="1408"/>
                </a:lnTo>
                <a:lnTo>
                  <a:pt x="3726" y="1380"/>
                </a:lnTo>
                <a:lnTo>
                  <a:pt x="3762" y="1355"/>
                </a:lnTo>
                <a:lnTo>
                  <a:pt x="3799" y="1330"/>
                </a:lnTo>
                <a:lnTo>
                  <a:pt x="3836" y="1309"/>
                </a:lnTo>
                <a:lnTo>
                  <a:pt x="3877" y="1289"/>
                </a:lnTo>
                <a:lnTo>
                  <a:pt x="3917" y="1270"/>
                </a:lnTo>
                <a:lnTo>
                  <a:pt x="3958" y="1254"/>
                </a:lnTo>
                <a:lnTo>
                  <a:pt x="4001" y="1240"/>
                </a:lnTo>
                <a:lnTo>
                  <a:pt x="4044" y="1227"/>
                </a:lnTo>
                <a:lnTo>
                  <a:pt x="4089" y="1217"/>
                </a:lnTo>
                <a:lnTo>
                  <a:pt x="4133" y="1208"/>
                </a:lnTo>
                <a:lnTo>
                  <a:pt x="4179" y="1203"/>
                </a:lnTo>
                <a:lnTo>
                  <a:pt x="4225" y="1200"/>
                </a:lnTo>
                <a:lnTo>
                  <a:pt x="4272" y="1198"/>
                </a:lnTo>
                <a:lnTo>
                  <a:pt x="4319" y="1200"/>
                </a:lnTo>
                <a:lnTo>
                  <a:pt x="4365" y="1203"/>
                </a:lnTo>
                <a:lnTo>
                  <a:pt x="4411" y="1208"/>
                </a:lnTo>
                <a:lnTo>
                  <a:pt x="4456" y="1217"/>
                </a:lnTo>
                <a:lnTo>
                  <a:pt x="4500" y="1227"/>
                </a:lnTo>
                <a:lnTo>
                  <a:pt x="4543" y="1240"/>
                </a:lnTo>
                <a:lnTo>
                  <a:pt x="4586" y="1254"/>
                </a:lnTo>
                <a:lnTo>
                  <a:pt x="4628" y="1270"/>
                </a:lnTo>
                <a:lnTo>
                  <a:pt x="4668" y="1289"/>
                </a:lnTo>
                <a:lnTo>
                  <a:pt x="4708" y="1309"/>
                </a:lnTo>
                <a:lnTo>
                  <a:pt x="4745" y="1330"/>
                </a:lnTo>
                <a:lnTo>
                  <a:pt x="4782" y="1355"/>
                </a:lnTo>
                <a:lnTo>
                  <a:pt x="4818" y="1380"/>
                </a:lnTo>
                <a:lnTo>
                  <a:pt x="4853" y="1408"/>
                </a:lnTo>
                <a:lnTo>
                  <a:pt x="4886" y="1436"/>
                </a:lnTo>
                <a:lnTo>
                  <a:pt x="4917" y="1466"/>
                </a:lnTo>
                <a:lnTo>
                  <a:pt x="4947" y="1498"/>
                </a:lnTo>
                <a:lnTo>
                  <a:pt x="4976" y="1531"/>
                </a:lnTo>
                <a:lnTo>
                  <a:pt x="5003" y="1565"/>
                </a:lnTo>
                <a:lnTo>
                  <a:pt x="5029" y="1601"/>
                </a:lnTo>
                <a:lnTo>
                  <a:pt x="5053" y="1638"/>
                </a:lnTo>
                <a:lnTo>
                  <a:pt x="5075" y="1676"/>
                </a:lnTo>
                <a:lnTo>
                  <a:pt x="5095" y="1716"/>
                </a:lnTo>
                <a:lnTo>
                  <a:pt x="5113" y="1756"/>
                </a:lnTo>
                <a:lnTo>
                  <a:pt x="5129" y="1797"/>
                </a:lnTo>
                <a:lnTo>
                  <a:pt x="5144" y="1840"/>
                </a:lnTo>
                <a:lnTo>
                  <a:pt x="5156" y="1883"/>
                </a:lnTo>
                <a:lnTo>
                  <a:pt x="5166" y="1928"/>
                </a:lnTo>
                <a:lnTo>
                  <a:pt x="5175" y="1972"/>
                </a:lnTo>
                <a:lnTo>
                  <a:pt x="5181" y="2018"/>
                </a:lnTo>
                <a:lnTo>
                  <a:pt x="5184" y="2064"/>
                </a:lnTo>
                <a:lnTo>
                  <a:pt x="5185" y="2111"/>
                </a:lnTo>
                <a:lnTo>
                  <a:pt x="5184" y="2159"/>
                </a:lnTo>
                <a:lnTo>
                  <a:pt x="5181" y="2204"/>
                </a:lnTo>
                <a:lnTo>
                  <a:pt x="5175" y="2250"/>
                </a:lnTo>
                <a:lnTo>
                  <a:pt x="5166" y="2295"/>
                </a:lnTo>
                <a:lnTo>
                  <a:pt x="5156" y="2339"/>
                </a:lnTo>
                <a:lnTo>
                  <a:pt x="5144" y="2382"/>
                </a:lnTo>
                <a:lnTo>
                  <a:pt x="5129" y="2425"/>
                </a:lnTo>
                <a:lnTo>
                  <a:pt x="5113" y="2467"/>
                </a:lnTo>
                <a:lnTo>
                  <a:pt x="5095" y="2507"/>
                </a:lnTo>
                <a:lnTo>
                  <a:pt x="5075" y="2547"/>
                </a:lnTo>
                <a:lnTo>
                  <a:pt x="5053" y="2584"/>
                </a:lnTo>
                <a:lnTo>
                  <a:pt x="5029" y="2622"/>
                </a:lnTo>
                <a:lnTo>
                  <a:pt x="5003" y="2657"/>
                </a:lnTo>
                <a:lnTo>
                  <a:pt x="4976" y="2692"/>
                </a:lnTo>
                <a:lnTo>
                  <a:pt x="4947" y="2725"/>
                </a:lnTo>
                <a:lnTo>
                  <a:pt x="4917" y="2756"/>
                </a:lnTo>
                <a:lnTo>
                  <a:pt x="4886" y="2788"/>
                </a:lnTo>
                <a:lnTo>
                  <a:pt x="4853" y="2817"/>
                </a:lnTo>
                <a:lnTo>
                  <a:pt x="4818" y="2842"/>
                </a:lnTo>
                <a:lnTo>
                  <a:pt x="4782" y="2868"/>
                </a:lnTo>
                <a:lnTo>
                  <a:pt x="4745" y="2892"/>
                </a:lnTo>
                <a:lnTo>
                  <a:pt x="4708" y="2914"/>
                </a:lnTo>
                <a:lnTo>
                  <a:pt x="4668" y="2934"/>
                </a:lnTo>
                <a:lnTo>
                  <a:pt x="4628" y="2953"/>
                </a:lnTo>
                <a:lnTo>
                  <a:pt x="4586" y="2968"/>
                </a:lnTo>
                <a:lnTo>
                  <a:pt x="4543" y="2983"/>
                </a:lnTo>
                <a:lnTo>
                  <a:pt x="4500" y="2996"/>
                </a:lnTo>
                <a:lnTo>
                  <a:pt x="4456" y="3006"/>
                </a:lnTo>
                <a:lnTo>
                  <a:pt x="4411" y="3014"/>
                </a:lnTo>
                <a:lnTo>
                  <a:pt x="4365" y="3020"/>
                </a:lnTo>
                <a:lnTo>
                  <a:pt x="4319" y="3023"/>
                </a:lnTo>
                <a:lnTo>
                  <a:pt x="4272" y="3024"/>
                </a:lnTo>
                <a:close/>
              </a:path>
            </a:pathLst>
          </a:custGeom>
          <a:solidFill>
            <a:schemeClr val="bg1"/>
          </a:solidFill>
          <a:ln w="9525">
            <a:noFill/>
            <a:round/>
            <a:headEnd/>
            <a:tailEnd/>
          </a:ln>
        </p:spPr>
        <p:txBody>
          <a:bodyPr/>
          <a:lstStyle/>
          <a:p>
            <a:endParaRPr lang="en-GB" dirty="0"/>
          </a:p>
        </p:txBody>
      </p:sp>
      <p:sp>
        <p:nvSpPr>
          <p:cNvPr id="365" name="Freeform 92">
            <a:extLst>
              <a:ext uri="{FF2B5EF4-FFF2-40B4-BE49-F238E27FC236}">
                <a16:creationId xmlns:a16="http://schemas.microsoft.com/office/drawing/2014/main" id="{188C79B5-42D6-4EBD-B1E4-3F00FDA07BE6}"/>
              </a:ext>
            </a:extLst>
          </p:cNvPr>
          <p:cNvSpPr>
            <a:spLocks noChangeAspect="1" noEditPoints="1"/>
          </p:cNvSpPr>
          <p:nvPr>
            <p:custDataLst>
              <p:tags r:id="rId10"/>
            </p:custDataLst>
          </p:nvPr>
        </p:nvSpPr>
        <p:spPr bwMode="gray">
          <a:xfrm>
            <a:off x="1631153" y="2618683"/>
            <a:ext cx="304893" cy="360000"/>
          </a:xfrm>
          <a:custGeom>
            <a:avLst/>
            <a:gdLst>
              <a:gd name="T0" fmla="*/ 2147483647 w 3994"/>
              <a:gd name="T1" fmla="*/ 2147483647 h 4711"/>
              <a:gd name="T2" fmla="*/ 2147483647 w 3994"/>
              <a:gd name="T3" fmla="*/ 2147483647 h 4711"/>
              <a:gd name="T4" fmla="*/ 2147483647 w 3994"/>
              <a:gd name="T5" fmla="*/ 2147483647 h 4711"/>
              <a:gd name="T6" fmla="*/ 2147483647 w 3994"/>
              <a:gd name="T7" fmla="*/ 2147483647 h 4711"/>
              <a:gd name="T8" fmla="*/ 2147483647 w 3994"/>
              <a:gd name="T9" fmla="*/ 2147483647 h 4711"/>
              <a:gd name="T10" fmla="*/ 2147483647 w 3994"/>
              <a:gd name="T11" fmla="*/ 2147483647 h 4711"/>
              <a:gd name="T12" fmla="*/ 2147483647 w 3994"/>
              <a:gd name="T13" fmla="*/ 2147483647 h 4711"/>
              <a:gd name="T14" fmla="*/ 2147483647 w 3994"/>
              <a:gd name="T15" fmla="*/ 2147483647 h 4711"/>
              <a:gd name="T16" fmla="*/ 2147483647 w 3994"/>
              <a:gd name="T17" fmla="*/ 2147483647 h 4711"/>
              <a:gd name="T18" fmla="*/ 2147483647 w 3994"/>
              <a:gd name="T19" fmla="*/ 2147483647 h 4711"/>
              <a:gd name="T20" fmla="*/ 2147483647 w 3994"/>
              <a:gd name="T21" fmla="*/ 2147483647 h 4711"/>
              <a:gd name="T22" fmla="*/ 2147483647 w 3994"/>
              <a:gd name="T23" fmla="*/ 2147483647 h 4711"/>
              <a:gd name="T24" fmla="*/ 2147483647 w 3994"/>
              <a:gd name="T25" fmla="*/ 2147483647 h 4711"/>
              <a:gd name="T26" fmla="*/ 2147483647 w 3994"/>
              <a:gd name="T27" fmla="*/ 2147483647 h 4711"/>
              <a:gd name="T28" fmla="*/ 2147483647 w 3994"/>
              <a:gd name="T29" fmla="*/ 2147483647 h 4711"/>
              <a:gd name="T30" fmla="*/ 2147483647 w 3994"/>
              <a:gd name="T31" fmla="*/ 2147483647 h 4711"/>
              <a:gd name="T32" fmla="*/ 2147483647 w 3994"/>
              <a:gd name="T33" fmla="*/ 2147483647 h 4711"/>
              <a:gd name="T34" fmla="*/ 2147483647 w 3994"/>
              <a:gd name="T35" fmla="*/ 2147483647 h 4711"/>
              <a:gd name="T36" fmla="*/ 2147483647 w 3994"/>
              <a:gd name="T37" fmla="*/ 2147483647 h 4711"/>
              <a:gd name="T38" fmla="*/ 2147483647 w 3994"/>
              <a:gd name="T39" fmla="*/ 2147483647 h 4711"/>
              <a:gd name="T40" fmla="*/ 2147483647 w 3994"/>
              <a:gd name="T41" fmla="*/ 2147483647 h 4711"/>
              <a:gd name="T42" fmla="*/ 2147483647 w 3994"/>
              <a:gd name="T43" fmla="*/ 2147483647 h 4711"/>
              <a:gd name="T44" fmla="*/ 2147483647 w 3994"/>
              <a:gd name="T45" fmla="*/ 2147483647 h 4711"/>
              <a:gd name="T46" fmla="*/ 2147483647 w 3994"/>
              <a:gd name="T47" fmla="*/ 2147483647 h 4711"/>
              <a:gd name="T48" fmla="*/ 2147483647 w 3994"/>
              <a:gd name="T49" fmla="*/ 2147483647 h 4711"/>
              <a:gd name="T50" fmla="*/ 2147483647 w 3994"/>
              <a:gd name="T51" fmla="*/ 2147483647 h 4711"/>
              <a:gd name="T52" fmla="*/ 2147483647 w 3994"/>
              <a:gd name="T53" fmla="*/ 2147483647 h 4711"/>
              <a:gd name="T54" fmla="*/ 2147483647 w 3994"/>
              <a:gd name="T55" fmla="*/ 2147483647 h 4711"/>
              <a:gd name="T56" fmla="*/ 2147483647 w 3994"/>
              <a:gd name="T57" fmla="*/ 2147483647 h 4711"/>
              <a:gd name="T58" fmla="*/ 2147483647 w 3994"/>
              <a:gd name="T59" fmla="*/ 2147483647 h 4711"/>
              <a:gd name="T60" fmla="*/ 2147483647 w 3994"/>
              <a:gd name="T61" fmla="*/ 2147483647 h 4711"/>
              <a:gd name="T62" fmla="*/ 2147483647 w 3994"/>
              <a:gd name="T63" fmla="*/ 2147483647 h 4711"/>
              <a:gd name="T64" fmla="*/ 2147483647 w 3994"/>
              <a:gd name="T65" fmla="*/ 2147483647 h 4711"/>
              <a:gd name="T66" fmla="*/ 2147483647 w 3994"/>
              <a:gd name="T67" fmla="*/ 2147483647 h 4711"/>
              <a:gd name="T68" fmla="*/ 2147483647 w 3994"/>
              <a:gd name="T69" fmla="*/ 2147483647 h 4711"/>
              <a:gd name="T70" fmla="*/ 2147483647 w 3994"/>
              <a:gd name="T71" fmla="*/ 2147483647 h 4711"/>
              <a:gd name="T72" fmla="*/ 2147483647 w 3994"/>
              <a:gd name="T73" fmla="*/ 2147483647 h 4711"/>
              <a:gd name="T74" fmla="*/ 2147483647 w 3994"/>
              <a:gd name="T75" fmla="*/ 2147483647 h 4711"/>
              <a:gd name="T76" fmla="*/ 2147483647 w 3994"/>
              <a:gd name="T77" fmla="*/ 2147483647 h 4711"/>
              <a:gd name="T78" fmla="*/ 2147483647 w 3994"/>
              <a:gd name="T79" fmla="*/ 2147483647 h 4711"/>
              <a:gd name="T80" fmla="*/ 2147483647 w 3994"/>
              <a:gd name="T81" fmla="*/ 2147483647 h 4711"/>
              <a:gd name="T82" fmla="*/ 2147483647 w 3994"/>
              <a:gd name="T83" fmla="*/ 2147483647 h 4711"/>
              <a:gd name="T84" fmla="*/ 2147483647 w 3994"/>
              <a:gd name="T85" fmla="*/ 2147483647 h 4711"/>
              <a:gd name="T86" fmla="*/ 2147483647 w 3994"/>
              <a:gd name="T87" fmla="*/ 2147483647 h 4711"/>
              <a:gd name="T88" fmla="*/ 2147483647 w 3994"/>
              <a:gd name="T89" fmla="*/ 2147483647 h 4711"/>
              <a:gd name="T90" fmla="*/ 2147483647 w 3994"/>
              <a:gd name="T91" fmla="*/ 2147483647 h 4711"/>
              <a:gd name="T92" fmla="*/ 2147483647 w 3994"/>
              <a:gd name="T93" fmla="*/ 2147483647 h 4711"/>
              <a:gd name="T94" fmla="*/ 2147483647 w 3994"/>
              <a:gd name="T95" fmla="*/ 2147483647 h 4711"/>
              <a:gd name="T96" fmla="*/ 2147483647 w 3994"/>
              <a:gd name="T97" fmla="*/ 2147483647 h 4711"/>
              <a:gd name="T98" fmla="*/ 2147483647 w 3994"/>
              <a:gd name="T99" fmla="*/ 2147483647 h 4711"/>
              <a:gd name="T100" fmla="*/ 2147483647 w 3994"/>
              <a:gd name="T101" fmla="*/ 2147483647 h 4711"/>
              <a:gd name="T102" fmla="*/ 2147483647 w 3994"/>
              <a:gd name="T103" fmla="*/ 2147483647 h 4711"/>
              <a:gd name="T104" fmla="*/ 2147483647 w 3994"/>
              <a:gd name="T105" fmla="*/ 2147483647 h 4711"/>
              <a:gd name="T106" fmla="*/ 2147483647 w 3994"/>
              <a:gd name="T107" fmla="*/ 2147483647 h 4711"/>
              <a:gd name="T108" fmla="*/ 2147483647 w 3994"/>
              <a:gd name="T109" fmla="*/ 2147483647 h 4711"/>
              <a:gd name="T110" fmla="*/ 2147483647 w 3994"/>
              <a:gd name="T111" fmla="*/ 2147483647 h 4711"/>
              <a:gd name="T112" fmla="*/ 2147483647 w 3994"/>
              <a:gd name="T113" fmla="*/ 2147483647 h 4711"/>
              <a:gd name="T114" fmla="*/ 2147483647 w 3994"/>
              <a:gd name="T115" fmla="*/ 2147483647 h 4711"/>
              <a:gd name="T116" fmla="*/ 2147483647 w 3994"/>
              <a:gd name="T117" fmla="*/ 2147483647 h 4711"/>
              <a:gd name="T118" fmla="*/ 2147483647 w 3994"/>
              <a:gd name="T119" fmla="*/ 2147483647 h 4711"/>
              <a:gd name="T120" fmla="*/ 2147483647 w 3994"/>
              <a:gd name="T121" fmla="*/ 2147483647 h 4711"/>
              <a:gd name="T122" fmla="*/ 2147483647 w 3994"/>
              <a:gd name="T123" fmla="*/ 2147483647 h 4711"/>
              <a:gd name="T124" fmla="*/ 2147483647 w 3994"/>
              <a:gd name="T125" fmla="*/ 2147483647 h 471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994"/>
              <a:gd name="T190" fmla="*/ 0 h 4711"/>
              <a:gd name="T191" fmla="*/ 3994 w 3994"/>
              <a:gd name="T192" fmla="*/ 4711 h 471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994" h="4711">
                <a:moveTo>
                  <a:pt x="1052" y="492"/>
                </a:moveTo>
                <a:lnTo>
                  <a:pt x="1052" y="563"/>
                </a:lnTo>
                <a:lnTo>
                  <a:pt x="1050" y="588"/>
                </a:lnTo>
                <a:lnTo>
                  <a:pt x="1048" y="613"/>
                </a:lnTo>
                <a:lnTo>
                  <a:pt x="1042" y="638"/>
                </a:lnTo>
                <a:lnTo>
                  <a:pt x="1035" y="660"/>
                </a:lnTo>
                <a:lnTo>
                  <a:pt x="1026" y="682"/>
                </a:lnTo>
                <a:lnTo>
                  <a:pt x="1015" y="701"/>
                </a:lnTo>
                <a:lnTo>
                  <a:pt x="1002" y="720"/>
                </a:lnTo>
                <a:lnTo>
                  <a:pt x="989" y="738"/>
                </a:lnTo>
                <a:lnTo>
                  <a:pt x="973" y="753"/>
                </a:lnTo>
                <a:lnTo>
                  <a:pt x="957" y="767"/>
                </a:lnTo>
                <a:lnTo>
                  <a:pt x="939" y="779"/>
                </a:lnTo>
                <a:lnTo>
                  <a:pt x="920" y="789"/>
                </a:lnTo>
                <a:lnTo>
                  <a:pt x="900" y="797"/>
                </a:lnTo>
                <a:lnTo>
                  <a:pt x="880" y="804"/>
                </a:lnTo>
                <a:lnTo>
                  <a:pt x="859" y="807"/>
                </a:lnTo>
                <a:lnTo>
                  <a:pt x="837" y="808"/>
                </a:lnTo>
                <a:lnTo>
                  <a:pt x="816" y="807"/>
                </a:lnTo>
                <a:lnTo>
                  <a:pt x="796" y="804"/>
                </a:lnTo>
                <a:lnTo>
                  <a:pt x="775" y="797"/>
                </a:lnTo>
                <a:lnTo>
                  <a:pt x="754" y="789"/>
                </a:lnTo>
                <a:lnTo>
                  <a:pt x="737" y="779"/>
                </a:lnTo>
                <a:lnTo>
                  <a:pt x="719" y="767"/>
                </a:lnTo>
                <a:lnTo>
                  <a:pt x="702" y="753"/>
                </a:lnTo>
                <a:lnTo>
                  <a:pt x="687" y="738"/>
                </a:lnTo>
                <a:lnTo>
                  <a:pt x="672" y="720"/>
                </a:lnTo>
                <a:lnTo>
                  <a:pt x="659" y="701"/>
                </a:lnTo>
                <a:lnTo>
                  <a:pt x="648" y="682"/>
                </a:lnTo>
                <a:lnTo>
                  <a:pt x="640" y="660"/>
                </a:lnTo>
                <a:lnTo>
                  <a:pt x="632" y="638"/>
                </a:lnTo>
                <a:lnTo>
                  <a:pt x="628" y="613"/>
                </a:lnTo>
                <a:lnTo>
                  <a:pt x="624" y="588"/>
                </a:lnTo>
                <a:lnTo>
                  <a:pt x="622" y="563"/>
                </a:lnTo>
                <a:lnTo>
                  <a:pt x="624" y="449"/>
                </a:lnTo>
                <a:lnTo>
                  <a:pt x="646" y="454"/>
                </a:lnTo>
                <a:lnTo>
                  <a:pt x="670" y="459"/>
                </a:lnTo>
                <a:lnTo>
                  <a:pt x="694" y="460"/>
                </a:lnTo>
                <a:lnTo>
                  <a:pt x="719" y="461"/>
                </a:lnTo>
                <a:lnTo>
                  <a:pt x="738" y="461"/>
                </a:lnTo>
                <a:lnTo>
                  <a:pt x="756" y="459"/>
                </a:lnTo>
                <a:lnTo>
                  <a:pt x="775" y="457"/>
                </a:lnTo>
                <a:lnTo>
                  <a:pt x="793" y="453"/>
                </a:lnTo>
                <a:lnTo>
                  <a:pt x="811" y="449"/>
                </a:lnTo>
                <a:lnTo>
                  <a:pt x="829" y="443"/>
                </a:lnTo>
                <a:lnTo>
                  <a:pt x="847" y="438"/>
                </a:lnTo>
                <a:lnTo>
                  <a:pt x="863" y="431"/>
                </a:lnTo>
                <a:lnTo>
                  <a:pt x="880" y="423"/>
                </a:lnTo>
                <a:lnTo>
                  <a:pt x="896" y="414"/>
                </a:lnTo>
                <a:lnTo>
                  <a:pt x="911" y="405"/>
                </a:lnTo>
                <a:lnTo>
                  <a:pt x="927" y="395"/>
                </a:lnTo>
                <a:lnTo>
                  <a:pt x="940" y="384"/>
                </a:lnTo>
                <a:lnTo>
                  <a:pt x="954" y="373"/>
                </a:lnTo>
                <a:lnTo>
                  <a:pt x="968" y="361"/>
                </a:lnTo>
                <a:lnTo>
                  <a:pt x="980" y="348"/>
                </a:lnTo>
                <a:lnTo>
                  <a:pt x="990" y="354"/>
                </a:lnTo>
                <a:lnTo>
                  <a:pt x="1001" y="361"/>
                </a:lnTo>
                <a:lnTo>
                  <a:pt x="1013" y="370"/>
                </a:lnTo>
                <a:lnTo>
                  <a:pt x="1019" y="376"/>
                </a:lnTo>
                <a:lnTo>
                  <a:pt x="1024" y="383"/>
                </a:lnTo>
                <a:lnTo>
                  <a:pt x="1030" y="391"/>
                </a:lnTo>
                <a:lnTo>
                  <a:pt x="1035" y="401"/>
                </a:lnTo>
                <a:lnTo>
                  <a:pt x="1039" y="412"/>
                </a:lnTo>
                <a:lnTo>
                  <a:pt x="1044" y="424"/>
                </a:lnTo>
                <a:lnTo>
                  <a:pt x="1048" y="438"/>
                </a:lnTo>
                <a:lnTo>
                  <a:pt x="1050" y="454"/>
                </a:lnTo>
                <a:lnTo>
                  <a:pt x="1052" y="471"/>
                </a:lnTo>
                <a:lnTo>
                  <a:pt x="1052" y="492"/>
                </a:lnTo>
                <a:close/>
                <a:moveTo>
                  <a:pt x="570" y="598"/>
                </a:moveTo>
                <a:lnTo>
                  <a:pt x="505" y="403"/>
                </a:lnTo>
                <a:lnTo>
                  <a:pt x="501" y="384"/>
                </a:lnTo>
                <a:lnTo>
                  <a:pt x="500" y="365"/>
                </a:lnTo>
                <a:lnTo>
                  <a:pt x="501" y="347"/>
                </a:lnTo>
                <a:lnTo>
                  <a:pt x="505" y="329"/>
                </a:lnTo>
                <a:lnTo>
                  <a:pt x="512" y="313"/>
                </a:lnTo>
                <a:lnTo>
                  <a:pt x="522" y="296"/>
                </a:lnTo>
                <a:lnTo>
                  <a:pt x="534" y="280"/>
                </a:lnTo>
                <a:lnTo>
                  <a:pt x="548" y="264"/>
                </a:lnTo>
                <a:lnTo>
                  <a:pt x="564" y="251"/>
                </a:lnTo>
                <a:lnTo>
                  <a:pt x="582" y="237"/>
                </a:lnTo>
                <a:lnTo>
                  <a:pt x="600" y="223"/>
                </a:lnTo>
                <a:lnTo>
                  <a:pt x="621" y="211"/>
                </a:lnTo>
                <a:lnTo>
                  <a:pt x="643" y="200"/>
                </a:lnTo>
                <a:lnTo>
                  <a:pt x="665" y="189"/>
                </a:lnTo>
                <a:lnTo>
                  <a:pt x="688" y="178"/>
                </a:lnTo>
                <a:lnTo>
                  <a:pt x="712" y="169"/>
                </a:lnTo>
                <a:lnTo>
                  <a:pt x="735" y="161"/>
                </a:lnTo>
                <a:lnTo>
                  <a:pt x="760" y="153"/>
                </a:lnTo>
                <a:lnTo>
                  <a:pt x="783" y="146"/>
                </a:lnTo>
                <a:lnTo>
                  <a:pt x="807" y="140"/>
                </a:lnTo>
                <a:lnTo>
                  <a:pt x="830" y="136"/>
                </a:lnTo>
                <a:lnTo>
                  <a:pt x="854" y="132"/>
                </a:lnTo>
                <a:lnTo>
                  <a:pt x="874" y="129"/>
                </a:lnTo>
                <a:lnTo>
                  <a:pt x="895" y="128"/>
                </a:lnTo>
                <a:lnTo>
                  <a:pt x="914" y="127"/>
                </a:lnTo>
                <a:lnTo>
                  <a:pt x="932" y="128"/>
                </a:lnTo>
                <a:lnTo>
                  <a:pt x="949" y="129"/>
                </a:lnTo>
                <a:lnTo>
                  <a:pt x="962" y="132"/>
                </a:lnTo>
                <a:lnTo>
                  <a:pt x="975" y="136"/>
                </a:lnTo>
                <a:lnTo>
                  <a:pt x="986" y="140"/>
                </a:lnTo>
                <a:lnTo>
                  <a:pt x="993" y="147"/>
                </a:lnTo>
                <a:lnTo>
                  <a:pt x="998" y="154"/>
                </a:lnTo>
                <a:lnTo>
                  <a:pt x="1013" y="187"/>
                </a:lnTo>
                <a:lnTo>
                  <a:pt x="1073" y="209"/>
                </a:lnTo>
                <a:lnTo>
                  <a:pt x="1082" y="215"/>
                </a:lnTo>
                <a:lnTo>
                  <a:pt x="1092" y="220"/>
                </a:lnTo>
                <a:lnTo>
                  <a:pt x="1100" y="227"/>
                </a:lnTo>
                <a:lnTo>
                  <a:pt x="1108" y="235"/>
                </a:lnTo>
                <a:lnTo>
                  <a:pt x="1117" y="245"/>
                </a:lnTo>
                <a:lnTo>
                  <a:pt x="1123" y="255"/>
                </a:lnTo>
                <a:lnTo>
                  <a:pt x="1129" y="267"/>
                </a:lnTo>
                <a:lnTo>
                  <a:pt x="1136" y="278"/>
                </a:lnTo>
                <a:lnTo>
                  <a:pt x="1140" y="292"/>
                </a:lnTo>
                <a:lnTo>
                  <a:pt x="1144" y="306"/>
                </a:lnTo>
                <a:lnTo>
                  <a:pt x="1147" y="319"/>
                </a:lnTo>
                <a:lnTo>
                  <a:pt x="1150" y="333"/>
                </a:lnTo>
                <a:lnTo>
                  <a:pt x="1150" y="348"/>
                </a:lnTo>
                <a:lnTo>
                  <a:pt x="1150" y="364"/>
                </a:lnTo>
                <a:lnTo>
                  <a:pt x="1148" y="379"/>
                </a:lnTo>
                <a:lnTo>
                  <a:pt x="1147" y="394"/>
                </a:lnTo>
                <a:lnTo>
                  <a:pt x="1107" y="587"/>
                </a:lnTo>
                <a:lnTo>
                  <a:pt x="1103" y="614"/>
                </a:lnTo>
                <a:lnTo>
                  <a:pt x="1097" y="642"/>
                </a:lnTo>
                <a:lnTo>
                  <a:pt x="1090" y="669"/>
                </a:lnTo>
                <a:lnTo>
                  <a:pt x="1081" y="694"/>
                </a:lnTo>
                <a:lnTo>
                  <a:pt x="1068" y="719"/>
                </a:lnTo>
                <a:lnTo>
                  <a:pt x="1055" y="741"/>
                </a:lnTo>
                <a:lnTo>
                  <a:pt x="1039" y="763"/>
                </a:lnTo>
                <a:lnTo>
                  <a:pt x="1022" y="782"/>
                </a:lnTo>
                <a:lnTo>
                  <a:pt x="1004" y="800"/>
                </a:lnTo>
                <a:lnTo>
                  <a:pt x="983" y="817"/>
                </a:lnTo>
                <a:lnTo>
                  <a:pt x="962" y="830"/>
                </a:lnTo>
                <a:lnTo>
                  <a:pt x="939" y="841"/>
                </a:lnTo>
                <a:lnTo>
                  <a:pt x="916" y="851"/>
                </a:lnTo>
                <a:lnTo>
                  <a:pt x="891" y="858"/>
                </a:lnTo>
                <a:lnTo>
                  <a:pt x="865" y="862"/>
                </a:lnTo>
                <a:lnTo>
                  <a:pt x="837" y="863"/>
                </a:lnTo>
                <a:lnTo>
                  <a:pt x="811" y="862"/>
                </a:lnTo>
                <a:lnTo>
                  <a:pt x="786" y="858"/>
                </a:lnTo>
                <a:lnTo>
                  <a:pt x="761" y="851"/>
                </a:lnTo>
                <a:lnTo>
                  <a:pt x="738" y="843"/>
                </a:lnTo>
                <a:lnTo>
                  <a:pt x="716" y="832"/>
                </a:lnTo>
                <a:lnTo>
                  <a:pt x="695" y="818"/>
                </a:lnTo>
                <a:lnTo>
                  <a:pt x="675" y="803"/>
                </a:lnTo>
                <a:lnTo>
                  <a:pt x="657" y="786"/>
                </a:lnTo>
                <a:lnTo>
                  <a:pt x="639" y="767"/>
                </a:lnTo>
                <a:lnTo>
                  <a:pt x="624" y="746"/>
                </a:lnTo>
                <a:lnTo>
                  <a:pt x="610" y="724"/>
                </a:lnTo>
                <a:lnTo>
                  <a:pt x="598" y="701"/>
                </a:lnTo>
                <a:lnTo>
                  <a:pt x="588" y="676"/>
                </a:lnTo>
                <a:lnTo>
                  <a:pt x="580" y="651"/>
                </a:lnTo>
                <a:lnTo>
                  <a:pt x="574" y="625"/>
                </a:lnTo>
                <a:lnTo>
                  <a:pt x="570" y="598"/>
                </a:lnTo>
                <a:close/>
                <a:moveTo>
                  <a:pt x="2740" y="2532"/>
                </a:moveTo>
                <a:lnTo>
                  <a:pt x="2740" y="2532"/>
                </a:lnTo>
                <a:lnTo>
                  <a:pt x="2748" y="2534"/>
                </a:lnTo>
                <a:lnTo>
                  <a:pt x="2755" y="2535"/>
                </a:lnTo>
                <a:lnTo>
                  <a:pt x="2760" y="2539"/>
                </a:lnTo>
                <a:lnTo>
                  <a:pt x="2767" y="2543"/>
                </a:lnTo>
                <a:lnTo>
                  <a:pt x="2771" y="2549"/>
                </a:lnTo>
                <a:lnTo>
                  <a:pt x="2774" y="2556"/>
                </a:lnTo>
                <a:lnTo>
                  <a:pt x="2777" y="2563"/>
                </a:lnTo>
                <a:lnTo>
                  <a:pt x="2777" y="2571"/>
                </a:lnTo>
                <a:lnTo>
                  <a:pt x="2777" y="2578"/>
                </a:lnTo>
                <a:lnTo>
                  <a:pt x="2774" y="2585"/>
                </a:lnTo>
                <a:lnTo>
                  <a:pt x="2771" y="2591"/>
                </a:lnTo>
                <a:lnTo>
                  <a:pt x="2767" y="2597"/>
                </a:lnTo>
                <a:lnTo>
                  <a:pt x="2760" y="2601"/>
                </a:lnTo>
                <a:lnTo>
                  <a:pt x="2755" y="2605"/>
                </a:lnTo>
                <a:lnTo>
                  <a:pt x="2748" y="2607"/>
                </a:lnTo>
                <a:lnTo>
                  <a:pt x="2740" y="2608"/>
                </a:lnTo>
                <a:lnTo>
                  <a:pt x="2733" y="2607"/>
                </a:lnTo>
                <a:lnTo>
                  <a:pt x="2726" y="2605"/>
                </a:lnTo>
                <a:lnTo>
                  <a:pt x="2719" y="2601"/>
                </a:lnTo>
                <a:lnTo>
                  <a:pt x="2714" y="2597"/>
                </a:lnTo>
                <a:lnTo>
                  <a:pt x="2709" y="2591"/>
                </a:lnTo>
                <a:lnTo>
                  <a:pt x="2705" y="2585"/>
                </a:lnTo>
                <a:lnTo>
                  <a:pt x="2703" y="2578"/>
                </a:lnTo>
                <a:lnTo>
                  <a:pt x="2703" y="2571"/>
                </a:lnTo>
                <a:lnTo>
                  <a:pt x="2703" y="2563"/>
                </a:lnTo>
                <a:lnTo>
                  <a:pt x="2705" y="2556"/>
                </a:lnTo>
                <a:lnTo>
                  <a:pt x="2709" y="2549"/>
                </a:lnTo>
                <a:lnTo>
                  <a:pt x="2714" y="2543"/>
                </a:lnTo>
                <a:lnTo>
                  <a:pt x="2719" y="2539"/>
                </a:lnTo>
                <a:lnTo>
                  <a:pt x="2726" y="2535"/>
                </a:lnTo>
                <a:lnTo>
                  <a:pt x="2733" y="2534"/>
                </a:lnTo>
                <a:lnTo>
                  <a:pt x="2740" y="2532"/>
                </a:lnTo>
                <a:close/>
                <a:moveTo>
                  <a:pt x="1256" y="2571"/>
                </a:moveTo>
                <a:lnTo>
                  <a:pt x="1256" y="2571"/>
                </a:lnTo>
                <a:lnTo>
                  <a:pt x="1256" y="2578"/>
                </a:lnTo>
                <a:lnTo>
                  <a:pt x="1258" y="2585"/>
                </a:lnTo>
                <a:lnTo>
                  <a:pt x="1261" y="2591"/>
                </a:lnTo>
                <a:lnTo>
                  <a:pt x="1267" y="2597"/>
                </a:lnTo>
                <a:lnTo>
                  <a:pt x="1272" y="2601"/>
                </a:lnTo>
                <a:lnTo>
                  <a:pt x="1278" y="2605"/>
                </a:lnTo>
                <a:lnTo>
                  <a:pt x="1285" y="2607"/>
                </a:lnTo>
                <a:lnTo>
                  <a:pt x="1293" y="2608"/>
                </a:lnTo>
                <a:lnTo>
                  <a:pt x="1300" y="2607"/>
                </a:lnTo>
                <a:lnTo>
                  <a:pt x="1308" y="2605"/>
                </a:lnTo>
                <a:lnTo>
                  <a:pt x="1313" y="2601"/>
                </a:lnTo>
                <a:lnTo>
                  <a:pt x="1319" y="2597"/>
                </a:lnTo>
                <a:lnTo>
                  <a:pt x="1324" y="2591"/>
                </a:lnTo>
                <a:lnTo>
                  <a:pt x="1327" y="2585"/>
                </a:lnTo>
                <a:lnTo>
                  <a:pt x="1330" y="2578"/>
                </a:lnTo>
                <a:lnTo>
                  <a:pt x="1330" y="2571"/>
                </a:lnTo>
                <a:lnTo>
                  <a:pt x="1330" y="2563"/>
                </a:lnTo>
                <a:lnTo>
                  <a:pt x="1327" y="2556"/>
                </a:lnTo>
                <a:lnTo>
                  <a:pt x="1324" y="2549"/>
                </a:lnTo>
                <a:lnTo>
                  <a:pt x="1319" y="2543"/>
                </a:lnTo>
                <a:lnTo>
                  <a:pt x="1313" y="2539"/>
                </a:lnTo>
                <a:lnTo>
                  <a:pt x="1308" y="2535"/>
                </a:lnTo>
                <a:lnTo>
                  <a:pt x="1300" y="2534"/>
                </a:lnTo>
                <a:lnTo>
                  <a:pt x="1293" y="2532"/>
                </a:lnTo>
                <a:lnTo>
                  <a:pt x="1285" y="2534"/>
                </a:lnTo>
                <a:lnTo>
                  <a:pt x="1278" y="2535"/>
                </a:lnTo>
                <a:lnTo>
                  <a:pt x="1272" y="2539"/>
                </a:lnTo>
                <a:lnTo>
                  <a:pt x="1267" y="2543"/>
                </a:lnTo>
                <a:lnTo>
                  <a:pt x="1261" y="2549"/>
                </a:lnTo>
                <a:lnTo>
                  <a:pt x="1258" y="2556"/>
                </a:lnTo>
                <a:lnTo>
                  <a:pt x="1256" y="2563"/>
                </a:lnTo>
                <a:lnTo>
                  <a:pt x="1256" y="2571"/>
                </a:lnTo>
                <a:close/>
                <a:moveTo>
                  <a:pt x="1251" y="2704"/>
                </a:moveTo>
                <a:lnTo>
                  <a:pt x="1505" y="3027"/>
                </a:lnTo>
                <a:lnTo>
                  <a:pt x="1486" y="2704"/>
                </a:lnTo>
                <a:lnTo>
                  <a:pt x="1251" y="2704"/>
                </a:lnTo>
                <a:close/>
                <a:moveTo>
                  <a:pt x="2785" y="2704"/>
                </a:moveTo>
                <a:lnTo>
                  <a:pt x="2546" y="2704"/>
                </a:lnTo>
                <a:lnTo>
                  <a:pt x="2526" y="3034"/>
                </a:lnTo>
                <a:lnTo>
                  <a:pt x="2785" y="2704"/>
                </a:lnTo>
                <a:close/>
                <a:moveTo>
                  <a:pt x="3814" y="2411"/>
                </a:moveTo>
                <a:lnTo>
                  <a:pt x="3636" y="2411"/>
                </a:lnTo>
                <a:lnTo>
                  <a:pt x="3704" y="2710"/>
                </a:lnTo>
                <a:lnTo>
                  <a:pt x="3814" y="2412"/>
                </a:lnTo>
                <a:lnTo>
                  <a:pt x="3814" y="2411"/>
                </a:lnTo>
                <a:close/>
                <a:moveTo>
                  <a:pt x="3072" y="1142"/>
                </a:moveTo>
                <a:lnTo>
                  <a:pt x="2858" y="1197"/>
                </a:lnTo>
                <a:lnTo>
                  <a:pt x="2858" y="2601"/>
                </a:lnTo>
                <a:lnTo>
                  <a:pt x="2939" y="2200"/>
                </a:lnTo>
                <a:lnTo>
                  <a:pt x="3552" y="2200"/>
                </a:lnTo>
                <a:lnTo>
                  <a:pt x="3552" y="1625"/>
                </a:lnTo>
                <a:lnTo>
                  <a:pt x="3581" y="1462"/>
                </a:lnTo>
                <a:lnTo>
                  <a:pt x="3635" y="1472"/>
                </a:lnTo>
                <a:lnTo>
                  <a:pt x="3607" y="1630"/>
                </a:lnTo>
                <a:lnTo>
                  <a:pt x="3607" y="2278"/>
                </a:lnTo>
                <a:lnTo>
                  <a:pt x="3624" y="2356"/>
                </a:lnTo>
                <a:lnTo>
                  <a:pt x="3811" y="2356"/>
                </a:lnTo>
                <a:lnTo>
                  <a:pt x="3750" y="1301"/>
                </a:lnTo>
                <a:lnTo>
                  <a:pt x="3749" y="1287"/>
                </a:lnTo>
                <a:lnTo>
                  <a:pt x="3743" y="1275"/>
                </a:lnTo>
                <a:lnTo>
                  <a:pt x="3737" y="1263"/>
                </a:lnTo>
                <a:lnTo>
                  <a:pt x="3727" y="1250"/>
                </a:lnTo>
                <a:lnTo>
                  <a:pt x="3715" y="1239"/>
                </a:lnTo>
                <a:lnTo>
                  <a:pt x="3701" y="1230"/>
                </a:lnTo>
                <a:lnTo>
                  <a:pt x="3686" y="1220"/>
                </a:lnTo>
                <a:lnTo>
                  <a:pt x="3668" y="1213"/>
                </a:lnTo>
                <a:lnTo>
                  <a:pt x="3471" y="1142"/>
                </a:lnTo>
                <a:lnTo>
                  <a:pt x="3388" y="1471"/>
                </a:lnTo>
                <a:lnTo>
                  <a:pt x="3385" y="1483"/>
                </a:lnTo>
                <a:lnTo>
                  <a:pt x="3381" y="1494"/>
                </a:lnTo>
                <a:lnTo>
                  <a:pt x="3376" y="1504"/>
                </a:lnTo>
                <a:lnTo>
                  <a:pt x="3370" y="1513"/>
                </a:lnTo>
                <a:lnTo>
                  <a:pt x="3363" y="1522"/>
                </a:lnTo>
                <a:lnTo>
                  <a:pt x="3357" y="1530"/>
                </a:lnTo>
                <a:lnTo>
                  <a:pt x="3350" y="1537"/>
                </a:lnTo>
                <a:lnTo>
                  <a:pt x="3341" y="1542"/>
                </a:lnTo>
                <a:lnTo>
                  <a:pt x="3333" y="1548"/>
                </a:lnTo>
                <a:lnTo>
                  <a:pt x="3325" y="1552"/>
                </a:lnTo>
                <a:lnTo>
                  <a:pt x="3307" y="1559"/>
                </a:lnTo>
                <a:lnTo>
                  <a:pt x="3289" y="1562"/>
                </a:lnTo>
                <a:lnTo>
                  <a:pt x="3270" y="1562"/>
                </a:lnTo>
                <a:lnTo>
                  <a:pt x="3251" y="1560"/>
                </a:lnTo>
                <a:lnTo>
                  <a:pt x="3233" y="1555"/>
                </a:lnTo>
                <a:lnTo>
                  <a:pt x="3215" y="1546"/>
                </a:lnTo>
                <a:lnTo>
                  <a:pt x="3198" y="1537"/>
                </a:lnTo>
                <a:lnTo>
                  <a:pt x="3183" y="1523"/>
                </a:lnTo>
                <a:lnTo>
                  <a:pt x="3178" y="1516"/>
                </a:lnTo>
                <a:lnTo>
                  <a:pt x="3171" y="1508"/>
                </a:lnTo>
                <a:lnTo>
                  <a:pt x="3165" y="1500"/>
                </a:lnTo>
                <a:lnTo>
                  <a:pt x="3161" y="1491"/>
                </a:lnTo>
                <a:lnTo>
                  <a:pt x="3157" y="1482"/>
                </a:lnTo>
                <a:lnTo>
                  <a:pt x="3154" y="1471"/>
                </a:lnTo>
                <a:lnTo>
                  <a:pt x="3072" y="1142"/>
                </a:lnTo>
                <a:close/>
                <a:moveTo>
                  <a:pt x="114" y="2687"/>
                </a:moveTo>
                <a:lnTo>
                  <a:pt x="179" y="2687"/>
                </a:lnTo>
                <a:lnTo>
                  <a:pt x="346" y="2687"/>
                </a:lnTo>
                <a:lnTo>
                  <a:pt x="295" y="1435"/>
                </a:lnTo>
                <a:lnTo>
                  <a:pt x="350" y="1433"/>
                </a:lnTo>
                <a:lnTo>
                  <a:pt x="392" y="2458"/>
                </a:lnTo>
                <a:lnTo>
                  <a:pt x="1179" y="2458"/>
                </a:lnTo>
                <a:lnTo>
                  <a:pt x="1179" y="1078"/>
                </a:lnTo>
                <a:lnTo>
                  <a:pt x="1035" y="1040"/>
                </a:lnTo>
                <a:lnTo>
                  <a:pt x="1082" y="938"/>
                </a:lnTo>
                <a:lnTo>
                  <a:pt x="1212" y="975"/>
                </a:lnTo>
                <a:lnTo>
                  <a:pt x="1227" y="958"/>
                </a:lnTo>
                <a:lnTo>
                  <a:pt x="1243" y="945"/>
                </a:lnTo>
                <a:lnTo>
                  <a:pt x="1261" y="932"/>
                </a:lnTo>
                <a:lnTo>
                  <a:pt x="1282" y="920"/>
                </a:lnTo>
                <a:lnTo>
                  <a:pt x="1304" y="909"/>
                </a:lnTo>
                <a:lnTo>
                  <a:pt x="1327" y="899"/>
                </a:lnTo>
                <a:lnTo>
                  <a:pt x="1378" y="880"/>
                </a:lnTo>
                <a:lnTo>
                  <a:pt x="1777" y="735"/>
                </a:lnTo>
                <a:lnTo>
                  <a:pt x="1907" y="1502"/>
                </a:lnTo>
                <a:lnTo>
                  <a:pt x="1973" y="949"/>
                </a:lnTo>
                <a:lnTo>
                  <a:pt x="1956" y="940"/>
                </a:lnTo>
                <a:lnTo>
                  <a:pt x="1941" y="931"/>
                </a:lnTo>
                <a:lnTo>
                  <a:pt x="1929" y="918"/>
                </a:lnTo>
                <a:lnTo>
                  <a:pt x="1919" y="905"/>
                </a:lnTo>
                <a:lnTo>
                  <a:pt x="2018" y="810"/>
                </a:lnTo>
                <a:lnTo>
                  <a:pt x="2117" y="905"/>
                </a:lnTo>
                <a:lnTo>
                  <a:pt x="2108" y="918"/>
                </a:lnTo>
                <a:lnTo>
                  <a:pt x="2094" y="931"/>
                </a:lnTo>
                <a:lnTo>
                  <a:pt x="2080" y="940"/>
                </a:lnTo>
                <a:lnTo>
                  <a:pt x="2064" y="949"/>
                </a:lnTo>
                <a:lnTo>
                  <a:pt x="2130" y="1502"/>
                </a:lnTo>
                <a:lnTo>
                  <a:pt x="2259" y="735"/>
                </a:lnTo>
                <a:lnTo>
                  <a:pt x="2659" y="880"/>
                </a:lnTo>
                <a:lnTo>
                  <a:pt x="2698" y="895"/>
                </a:lnTo>
                <a:lnTo>
                  <a:pt x="2736" y="910"/>
                </a:lnTo>
                <a:lnTo>
                  <a:pt x="2754" y="920"/>
                </a:lnTo>
                <a:lnTo>
                  <a:pt x="2770" y="928"/>
                </a:lnTo>
                <a:lnTo>
                  <a:pt x="2785" y="938"/>
                </a:lnTo>
                <a:lnTo>
                  <a:pt x="2799" y="949"/>
                </a:lnTo>
                <a:lnTo>
                  <a:pt x="2811" y="960"/>
                </a:lnTo>
                <a:lnTo>
                  <a:pt x="2824" y="972"/>
                </a:lnTo>
                <a:lnTo>
                  <a:pt x="2833" y="986"/>
                </a:lnTo>
                <a:lnTo>
                  <a:pt x="2842" y="1001"/>
                </a:lnTo>
                <a:lnTo>
                  <a:pt x="2849" y="1018"/>
                </a:lnTo>
                <a:lnTo>
                  <a:pt x="2854" y="1034"/>
                </a:lnTo>
                <a:lnTo>
                  <a:pt x="2857" y="1053"/>
                </a:lnTo>
                <a:lnTo>
                  <a:pt x="2858" y="1074"/>
                </a:lnTo>
                <a:lnTo>
                  <a:pt x="2858" y="1084"/>
                </a:lnTo>
                <a:lnTo>
                  <a:pt x="3098" y="1022"/>
                </a:lnTo>
                <a:lnTo>
                  <a:pt x="3208" y="1458"/>
                </a:lnTo>
                <a:lnTo>
                  <a:pt x="3212" y="1468"/>
                </a:lnTo>
                <a:lnTo>
                  <a:pt x="3218" y="1478"/>
                </a:lnTo>
                <a:lnTo>
                  <a:pt x="3224" y="1484"/>
                </a:lnTo>
                <a:lnTo>
                  <a:pt x="3231" y="1491"/>
                </a:lnTo>
                <a:lnTo>
                  <a:pt x="3241" y="1495"/>
                </a:lnTo>
                <a:lnTo>
                  <a:pt x="3251" y="1500"/>
                </a:lnTo>
                <a:lnTo>
                  <a:pt x="3262" y="1501"/>
                </a:lnTo>
                <a:lnTo>
                  <a:pt x="3271" y="1502"/>
                </a:lnTo>
                <a:lnTo>
                  <a:pt x="3282" y="1501"/>
                </a:lnTo>
                <a:lnTo>
                  <a:pt x="3292" y="1500"/>
                </a:lnTo>
                <a:lnTo>
                  <a:pt x="3301" y="1495"/>
                </a:lnTo>
                <a:lnTo>
                  <a:pt x="3311" y="1491"/>
                </a:lnTo>
                <a:lnTo>
                  <a:pt x="3319" y="1484"/>
                </a:lnTo>
                <a:lnTo>
                  <a:pt x="3326" y="1478"/>
                </a:lnTo>
                <a:lnTo>
                  <a:pt x="3332" y="1468"/>
                </a:lnTo>
                <a:lnTo>
                  <a:pt x="3335" y="1458"/>
                </a:lnTo>
                <a:lnTo>
                  <a:pt x="3446" y="1016"/>
                </a:lnTo>
                <a:lnTo>
                  <a:pt x="3719" y="1115"/>
                </a:lnTo>
                <a:lnTo>
                  <a:pt x="3732" y="1121"/>
                </a:lnTo>
                <a:lnTo>
                  <a:pt x="3748" y="1128"/>
                </a:lnTo>
                <a:lnTo>
                  <a:pt x="3761" y="1136"/>
                </a:lnTo>
                <a:lnTo>
                  <a:pt x="3774" y="1144"/>
                </a:lnTo>
                <a:lnTo>
                  <a:pt x="3786" y="1154"/>
                </a:lnTo>
                <a:lnTo>
                  <a:pt x="3797" y="1164"/>
                </a:lnTo>
                <a:lnTo>
                  <a:pt x="3808" y="1173"/>
                </a:lnTo>
                <a:lnTo>
                  <a:pt x="3818" y="1186"/>
                </a:lnTo>
                <a:lnTo>
                  <a:pt x="3826" y="1197"/>
                </a:lnTo>
                <a:lnTo>
                  <a:pt x="3834" y="1209"/>
                </a:lnTo>
                <a:lnTo>
                  <a:pt x="3841" y="1223"/>
                </a:lnTo>
                <a:lnTo>
                  <a:pt x="3848" y="1235"/>
                </a:lnTo>
                <a:lnTo>
                  <a:pt x="3852" y="1250"/>
                </a:lnTo>
                <a:lnTo>
                  <a:pt x="3856" y="1264"/>
                </a:lnTo>
                <a:lnTo>
                  <a:pt x="3859" y="1279"/>
                </a:lnTo>
                <a:lnTo>
                  <a:pt x="3860" y="1294"/>
                </a:lnTo>
                <a:lnTo>
                  <a:pt x="3925" y="2429"/>
                </a:lnTo>
                <a:lnTo>
                  <a:pt x="3796" y="2777"/>
                </a:lnTo>
                <a:lnTo>
                  <a:pt x="3994" y="3791"/>
                </a:lnTo>
                <a:lnTo>
                  <a:pt x="3943" y="3791"/>
                </a:lnTo>
                <a:lnTo>
                  <a:pt x="3657" y="3791"/>
                </a:lnTo>
                <a:lnTo>
                  <a:pt x="3529" y="4711"/>
                </a:lnTo>
                <a:lnTo>
                  <a:pt x="3417" y="4711"/>
                </a:lnTo>
                <a:lnTo>
                  <a:pt x="3545" y="3791"/>
                </a:lnTo>
                <a:lnTo>
                  <a:pt x="3304" y="3791"/>
                </a:lnTo>
                <a:lnTo>
                  <a:pt x="3299" y="4711"/>
                </a:lnTo>
                <a:lnTo>
                  <a:pt x="3244" y="4711"/>
                </a:lnTo>
                <a:lnTo>
                  <a:pt x="3249" y="3791"/>
                </a:lnTo>
                <a:lnTo>
                  <a:pt x="2970" y="3791"/>
                </a:lnTo>
                <a:lnTo>
                  <a:pt x="3098" y="4711"/>
                </a:lnTo>
                <a:lnTo>
                  <a:pt x="3043" y="4711"/>
                </a:lnTo>
                <a:lnTo>
                  <a:pt x="2915" y="3791"/>
                </a:lnTo>
                <a:lnTo>
                  <a:pt x="2613" y="3791"/>
                </a:lnTo>
                <a:lnTo>
                  <a:pt x="2829" y="2740"/>
                </a:lnTo>
                <a:lnTo>
                  <a:pt x="2519" y="3130"/>
                </a:lnTo>
                <a:lnTo>
                  <a:pt x="2424" y="4704"/>
                </a:lnTo>
                <a:lnTo>
                  <a:pt x="2043" y="4704"/>
                </a:lnTo>
                <a:lnTo>
                  <a:pt x="2043" y="2839"/>
                </a:lnTo>
                <a:lnTo>
                  <a:pt x="1988" y="2839"/>
                </a:lnTo>
                <a:lnTo>
                  <a:pt x="1988" y="4704"/>
                </a:lnTo>
                <a:lnTo>
                  <a:pt x="1607" y="4704"/>
                </a:lnTo>
                <a:lnTo>
                  <a:pt x="1512" y="3123"/>
                </a:lnTo>
                <a:lnTo>
                  <a:pt x="1348" y="2916"/>
                </a:lnTo>
                <a:lnTo>
                  <a:pt x="1231" y="4700"/>
                </a:lnTo>
                <a:lnTo>
                  <a:pt x="865" y="4700"/>
                </a:lnTo>
                <a:lnTo>
                  <a:pt x="865" y="2839"/>
                </a:lnTo>
                <a:lnTo>
                  <a:pt x="810" y="2839"/>
                </a:lnTo>
                <a:lnTo>
                  <a:pt x="810" y="4700"/>
                </a:lnTo>
                <a:lnTo>
                  <a:pt x="423" y="4700"/>
                </a:lnTo>
                <a:lnTo>
                  <a:pt x="304" y="3207"/>
                </a:lnTo>
                <a:lnTo>
                  <a:pt x="112" y="2797"/>
                </a:lnTo>
                <a:lnTo>
                  <a:pt x="0" y="2797"/>
                </a:lnTo>
                <a:lnTo>
                  <a:pt x="52" y="1274"/>
                </a:lnTo>
                <a:lnTo>
                  <a:pt x="54" y="1257"/>
                </a:lnTo>
                <a:lnTo>
                  <a:pt x="56" y="1242"/>
                </a:lnTo>
                <a:lnTo>
                  <a:pt x="59" y="1227"/>
                </a:lnTo>
                <a:lnTo>
                  <a:pt x="65" y="1212"/>
                </a:lnTo>
                <a:lnTo>
                  <a:pt x="70" y="1197"/>
                </a:lnTo>
                <a:lnTo>
                  <a:pt x="78" y="1183"/>
                </a:lnTo>
                <a:lnTo>
                  <a:pt x="87" y="1169"/>
                </a:lnTo>
                <a:lnTo>
                  <a:pt x="95" y="1157"/>
                </a:lnTo>
                <a:lnTo>
                  <a:pt x="106" y="1144"/>
                </a:lnTo>
                <a:lnTo>
                  <a:pt x="117" y="1133"/>
                </a:lnTo>
                <a:lnTo>
                  <a:pt x="128" y="1122"/>
                </a:lnTo>
                <a:lnTo>
                  <a:pt x="140" y="1113"/>
                </a:lnTo>
                <a:lnTo>
                  <a:pt x="154" y="1103"/>
                </a:lnTo>
                <a:lnTo>
                  <a:pt x="168" y="1096"/>
                </a:lnTo>
                <a:lnTo>
                  <a:pt x="183" y="1089"/>
                </a:lnTo>
                <a:lnTo>
                  <a:pt x="198" y="1084"/>
                </a:lnTo>
                <a:lnTo>
                  <a:pt x="596" y="951"/>
                </a:lnTo>
                <a:lnTo>
                  <a:pt x="643" y="1052"/>
                </a:lnTo>
                <a:lnTo>
                  <a:pt x="233" y="1188"/>
                </a:lnTo>
                <a:lnTo>
                  <a:pt x="218" y="1194"/>
                </a:lnTo>
                <a:lnTo>
                  <a:pt x="205" y="1202"/>
                </a:lnTo>
                <a:lnTo>
                  <a:pt x="193" y="1212"/>
                </a:lnTo>
                <a:lnTo>
                  <a:pt x="183" y="1224"/>
                </a:lnTo>
                <a:lnTo>
                  <a:pt x="175" y="1237"/>
                </a:lnTo>
                <a:lnTo>
                  <a:pt x="168" y="1249"/>
                </a:lnTo>
                <a:lnTo>
                  <a:pt x="164" y="1263"/>
                </a:lnTo>
                <a:lnTo>
                  <a:pt x="162" y="1278"/>
                </a:lnTo>
                <a:lnTo>
                  <a:pt x="114" y="2687"/>
                </a:lnTo>
                <a:close/>
                <a:moveTo>
                  <a:pt x="348" y="2742"/>
                </a:moveTo>
                <a:lnTo>
                  <a:pt x="205" y="2742"/>
                </a:lnTo>
                <a:lnTo>
                  <a:pt x="362" y="3069"/>
                </a:lnTo>
                <a:lnTo>
                  <a:pt x="348" y="2742"/>
                </a:lnTo>
                <a:close/>
                <a:moveTo>
                  <a:pt x="2211" y="209"/>
                </a:moveTo>
                <a:lnTo>
                  <a:pt x="2211" y="209"/>
                </a:lnTo>
                <a:lnTo>
                  <a:pt x="2206" y="194"/>
                </a:lnTo>
                <a:lnTo>
                  <a:pt x="2197" y="180"/>
                </a:lnTo>
                <a:lnTo>
                  <a:pt x="2188" y="167"/>
                </a:lnTo>
                <a:lnTo>
                  <a:pt x="2178" y="154"/>
                </a:lnTo>
                <a:lnTo>
                  <a:pt x="2168" y="143"/>
                </a:lnTo>
                <a:lnTo>
                  <a:pt x="2156" y="134"/>
                </a:lnTo>
                <a:lnTo>
                  <a:pt x="2145" y="125"/>
                </a:lnTo>
                <a:lnTo>
                  <a:pt x="2133" y="117"/>
                </a:lnTo>
                <a:lnTo>
                  <a:pt x="2122" y="132"/>
                </a:lnTo>
                <a:lnTo>
                  <a:pt x="2108" y="146"/>
                </a:lnTo>
                <a:lnTo>
                  <a:pt x="2094" y="158"/>
                </a:lnTo>
                <a:lnTo>
                  <a:pt x="2079" y="168"/>
                </a:lnTo>
                <a:lnTo>
                  <a:pt x="2064" y="176"/>
                </a:lnTo>
                <a:lnTo>
                  <a:pt x="2046" y="183"/>
                </a:lnTo>
                <a:lnTo>
                  <a:pt x="2029" y="186"/>
                </a:lnTo>
                <a:lnTo>
                  <a:pt x="2010" y="187"/>
                </a:lnTo>
                <a:lnTo>
                  <a:pt x="1992" y="186"/>
                </a:lnTo>
                <a:lnTo>
                  <a:pt x="1976" y="183"/>
                </a:lnTo>
                <a:lnTo>
                  <a:pt x="1959" y="178"/>
                </a:lnTo>
                <a:lnTo>
                  <a:pt x="1944" y="169"/>
                </a:lnTo>
                <a:lnTo>
                  <a:pt x="1929" y="160"/>
                </a:lnTo>
                <a:lnTo>
                  <a:pt x="1915" y="149"/>
                </a:lnTo>
                <a:lnTo>
                  <a:pt x="1903" y="136"/>
                </a:lnTo>
                <a:lnTo>
                  <a:pt x="1892" y="123"/>
                </a:lnTo>
                <a:lnTo>
                  <a:pt x="1881" y="129"/>
                </a:lnTo>
                <a:lnTo>
                  <a:pt x="1870" y="138"/>
                </a:lnTo>
                <a:lnTo>
                  <a:pt x="1859" y="147"/>
                </a:lnTo>
                <a:lnTo>
                  <a:pt x="1849" y="158"/>
                </a:lnTo>
                <a:lnTo>
                  <a:pt x="1841" y="171"/>
                </a:lnTo>
                <a:lnTo>
                  <a:pt x="1832" y="183"/>
                </a:lnTo>
                <a:lnTo>
                  <a:pt x="1826" y="197"/>
                </a:lnTo>
                <a:lnTo>
                  <a:pt x="1819" y="211"/>
                </a:lnTo>
                <a:lnTo>
                  <a:pt x="1815" y="227"/>
                </a:lnTo>
                <a:lnTo>
                  <a:pt x="1810" y="242"/>
                </a:lnTo>
                <a:lnTo>
                  <a:pt x="1808" y="259"/>
                </a:lnTo>
                <a:lnTo>
                  <a:pt x="1806" y="277"/>
                </a:lnTo>
                <a:lnTo>
                  <a:pt x="1806" y="365"/>
                </a:lnTo>
                <a:lnTo>
                  <a:pt x="1808" y="390"/>
                </a:lnTo>
                <a:lnTo>
                  <a:pt x="1810" y="414"/>
                </a:lnTo>
                <a:lnTo>
                  <a:pt x="1816" y="437"/>
                </a:lnTo>
                <a:lnTo>
                  <a:pt x="1823" y="460"/>
                </a:lnTo>
                <a:lnTo>
                  <a:pt x="1832" y="481"/>
                </a:lnTo>
                <a:lnTo>
                  <a:pt x="1842" y="500"/>
                </a:lnTo>
                <a:lnTo>
                  <a:pt x="1855" y="519"/>
                </a:lnTo>
                <a:lnTo>
                  <a:pt x="1868" y="536"/>
                </a:lnTo>
                <a:lnTo>
                  <a:pt x="1883" y="551"/>
                </a:lnTo>
                <a:lnTo>
                  <a:pt x="1900" y="565"/>
                </a:lnTo>
                <a:lnTo>
                  <a:pt x="1916" y="576"/>
                </a:lnTo>
                <a:lnTo>
                  <a:pt x="1936" y="587"/>
                </a:lnTo>
                <a:lnTo>
                  <a:pt x="1955" y="593"/>
                </a:lnTo>
                <a:lnTo>
                  <a:pt x="1974" y="599"/>
                </a:lnTo>
                <a:lnTo>
                  <a:pt x="1995" y="603"/>
                </a:lnTo>
                <a:lnTo>
                  <a:pt x="2016" y="604"/>
                </a:lnTo>
                <a:lnTo>
                  <a:pt x="2036" y="603"/>
                </a:lnTo>
                <a:lnTo>
                  <a:pt x="2057" y="599"/>
                </a:lnTo>
                <a:lnTo>
                  <a:pt x="2076" y="593"/>
                </a:lnTo>
                <a:lnTo>
                  <a:pt x="2095" y="587"/>
                </a:lnTo>
                <a:lnTo>
                  <a:pt x="2115" y="576"/>
                </a:lnTo>
                <a:lnTo>
                  <a:pt x="2131" y="565"/>
                </a:lnTo>
                <a:lnTo>
                  <a:pt x="2148" y="551"/>
                </a:lnTo>
                <a:lnTo>
                  <a:pt x="2163" y="536"/>
                </a:lnTo>
                <a:lnTo>
                  <a:pt x="2177" y="519"/>
                </a:lnTo>
                <a:lnTo>
                  <a:pt x="2189" y="500"/>
                </a:lnTo>
                <a:lnTo>
                  <a:pt x="2199" y="481"/>
                </a:lnTo>
                <a:lnTo>
                  <a:pt x="2208" y="460"/>
                </a:lnTo>
                <a:lnTo>
                  <a:pt x="2215" y="437"/>
                </a:lnTo>
                <a:lnTo>
                  <a:pt x="2221" y="414"/>
                </a:lnTo>
                <a:lnTo>
                  <a:pt x="2223" y="390"/>
                </a:lnTo>
                <a:lnTo>
                  <a:pt x="2225" y="365"/>
                </a:lnTo>
                <a:lnTo>
                  <a:pt x="2225" y="281"/>
                </a:lnTo>
                <a:lnTo>
                  <a:pt x="2223" y="262"/>
                </a:lnTo>
                <a:lnTo>
                  <a:pt x="2221" y="244"/>
                </a:lnTo>
                <a:lnTo>
                  <a:pt x="2217" y="226"/>
                </a:lnTo>
                <a:lnTo>
                  <a:pt x="2211" y="209"/>
                </a:lnTo>
                <a:close/>
                <a:moveTo>
                  <a:pt x="2016" y="0"/>
                </a:moveTo>
                <a:lnTo>
                  <a:pt x="2016" y="0"/>
                </a:lnTo>
                <a:lnTo>
                  <a:pt x="2043" y="1"/>
                </a:lnTo>
                <a:lnTo>
                  <a:pt x="2069" y="6"/>
                </a:lnTo>
                <a:lnTo>
                  <a:pt x="2095" y="14"/>
                </a:lnTo>
                <a:lnTo>
                  <a:pt x="2120" y="23"/>
                </a:lnTo>
                <a:lnTo>
                  <a:pt x="2144" y="36"/>
                </a:lnTo>
                <a:lnTo>
                  <a:pt x="2164" y="51"/>
                </a:lnTo>
                <a:lnTo>
                  <a:pt x="2185" y="67"/>
                </a:lnTo>
                <a:lnTo>
                  <a:pt x="2204" y="87"/>
                </a:lnTo>
                <a:lnTo>
                  <a:pt x="2221" y="109"/>
                </a:lnTo>
                <a:lnTo>
                  <a:pt x="2236" y="131"/>
                </a:lnTo>
                <a:lnTo>
                  <a:pt x="2248" y="156"/>
                </a:lnTo>
                <a:lnTo>
                  <a:pt x="2259" y="182"/>
                </a:lnTo>
                <a:lnTo>
                  <a:pt x="2269" y="208"/>
                </a:lnTo>
                <a:lnTo>
                  <a:pt x="2274" y="235"/>
                </a:lnTo>
                <a:lnTo>
                  <a:pt x="2279" y="264"/>
                </a:lnTo>
                <a:lnTo>
                  <a:pt x="2280" y="295"/>
                </a:lnTo>
                <a:lnTo>
                  <a:pt x="2280" y="365"/>
                </a:lnTo>
                <a:lnTo>
                  <a:pt x="2279" y="394"/>
                </a:lnTo>
                <a:lnTo>
                  <a:pt x="2274" y="423"/>
                </a:lnTo>
                <a:lnTo>
                  <a:pt x="2269" y="452"/>
                </a:lnTo>
                <a:lnTo>
                  <a:pt x="2259" y="478"/>
                </a:lnTo>
                <a:lnTo>
                  <a:pt x="2248" y="504"/>
                </a:lnTo>
                <a:lnTo>
                  <a:pt x="2236" y="527"/>
                </a:lnTo>
                <a:lnTo>
                  <a:pt x="2221" y="551"/>
                </a:lnTo>
                <a:lnTo>
                  <a:pt x="2204" y="571"/>
                </a:lnTo>
                <a:lnTo>
                  <a:pt x="2185" y="591"/>
                </a:lnTo>
                <a:lnTo>
                  <a:pt x="2164" y="609"/>
                </a:lnTo>
                <a:lnTo>
                  <a:pt x="2144" y="624"/>
                </a:lnTo>
                <a:lnTo>
                  <a:pt x="2120" y="636"/>
                </a:lnTo>
                <a:lnTo>
                  <a:pt x="2095" y="646"/>
                </a:lnTo>
                <a:lnTo>
                  <a:pt x="2069" y="653"/>
                </a:lnTo>
                <a:lnTo>
                  <a:pt x="2043" y="658"/>
                </a:lnTo>
                <a:lnTo>
                  <a:pt x="2016" y="660"/>
                </a:lnTo>
                <a:lnTo>
                  <a:pt x="1988" y="658"/>
                </a:lnTo>
                <a:lnTo>
                  <a:pt x="1962" y="653"/>
                </a:lnTo>
                <a:lnTo>
                  <a:pt x="1936" y="646"/>
                </a:lnTo>
                <a:lnTo>
                  <a:pt x="1911" y="636"/>
                </a:lnTo>
                <a:lnTo>
                  <a:pt x="1888" y="624"/>
                </a:lnTo>
                <a:lnTo>
                  <a:pt x="1867" y="609"/>
                </a:lnTo>
                <a:lnTo>
                  <a:pt x="1846" y="591"/>
                </a:lnTo>
                <a:lnTo>
                  <a:pt x="1827" y="571"/>
                </a:lnTo>
                <a:lnTo>
                  <a:pt x="1810" y="551"/>
                </a:lnTo>
                <a:lnTo>
                  <a:pt x="1795" y="527"/>
                </a:lnTo>
                <a:lnTo>
                  <a:pt x="1783" y="504"/>
                </a:lnTo>
                <a:lnTo>
                  <a:pt x="1772" y="478"/>
                </a:lnTo>
                <a:lnTo>
                  <a:pt x="1762" y="452"/>
                </a:lnTo>
                <a:lnTo>
                  <a:pt x="1757" y="423"/>
                </a:lnTo>
                <a:lnTo>
                  <a:pt x="1753" y="394"/>
                </a:lnTo>
                <a:lnTo>
                  <a:pt x="1751" y="365"/>
                </a:lnTo>
                <a:lnTo>
                  <a:pt x="1751" y="295"/>
                </a:lnTo>
                <a:lnTo>
                  <a:pt x="1753" y="264"/>
                </a:lnTo>
                <a:lnTo>
                  <a:pt x="1757" y="235"/>
                </a:lnTo>
                <a:lnTo>
                  <a:pt x="1762" y="208"/>
                </a:lnTo>
                <a:lnTo>
                  <a:pt x="1772" y="182"/>
                </a:lnTo>
                <a:lnTo>
                  <a:pt x="1783" y="156"/>
                </a:lnTo>
                <a:lnTo>
                  <a:pt x="1795" y="131"/>
                </a:lnTo>
                <a:lnTo>
                  <a:pt x="1810" y="109"/>
                </a:lnTo>
                <a:lnTo>
                  <a:pt x="1827" y="87"/>
                </a:lnTo>
                <a:lnTo>
                  <a:pt x="1846" y="67"/>
                </a:lnTo>
                <a:lnTo>
                  <a:pt x="1867" y="51"/>
                </a:lnTo>
                <a:lnTo>
                  <a:pt x="1888" y="36"/>
                </a:lnTo>
                <a:lnTo>
                  <a:pt x="1911" y="23"/>
                </a:lnTo>
                <a:lnTo>
                  <a:pt x="1936" y="14"/>
                </a:lnTo>
                <a:lnTo>
                  <a:pt x="1962" y="6"/>
                </a:lnTo>
                <a:lnTo>
                  <a:pt x="1988" y="1"/>
                </a:lnTo>
                <a:lnTo>
                  <a:pt x="2016" y="0"/>
                </a:lnTo>
                <a:close/>
                <a:moveTo>
                  <a:pt x="3508" y="792"/>
                </a:moveTo>
                <a:lnTo>
                  <a:pt x="3508" y="792"/>
                </a:lnTo>
                <a:lnTo>
                  <a:pt x="3526" y="800"/>
                </a:lnTo>
                <a:lnTo>
                  <a:pt x="3547" y="806"/>
                </a:lnTo>
                <a:lnTo>
                  <a:pt x="3567" y="808"/>
                </a:lnTo>
                <a:lnTo>
                  <a:pt x="3588" y="808"/>
                </a:lnTo>
                <a:lnTo>
                  <a:pt x="3591" y="807"/>
                </a:lnTo>
                <a:lnTo>
                  <a:pt x="3588" y="819"/>
                </a:lnTo>
                <a:lnTo>
                  <a:pt x="3585" y="830"/>
                </a:lnTo>
                <a:lnTo>
                  <a:pt x="3581" y="841"/>
                </a:lnTo>
                <a:lnTo>
                  <a:pt x="3577" y="852"/>
                </a:lnTo>
                <a:lnTo>
                  <a:pt x="3571" y="862"/>
                </a:lnTo>
                <a:lnTo>
                  <a:pt x="3564" y="872"/>
                </a:lnTo>
                <a:lnTo>
                  <a:pt x="3558" y="881"/>
                </a:lnTo>
                <a:lnTo>
                  <a:pt x="3549" y="890"/>
                </a:lnTo>
                <a:lnTo>
                  <a:pt x="3541" y="896"/>
                </a:lnTo>
                <a:lnTo>
                  <a:pt x="3533" y="903"/>
                </a:lnTo>
                <a:lnTo>
                  <a:pt x="3523" y="910"/>
                </a:lnTo>
                <a:lnTo>
                  <a:pt x="3512" y="914"/>
                </a:lnTo>
                <a:lnTo>
                  <a:pt x="3501" y="920"/>
                </a:lnTo>
                <a:lnTo>
                  <a:pt x="3490" y="923"/>
                </a:lnTo>
                <a:lnTo>
                  <a:pt x="3479" y="925"/>
                </a:lnTo>
                <a:lnTo>
                  <a:pt x="3467" y="927"/>
                </a:lnTo>
                <a:lnTo>
                  <a:pt x="3446" y="927"/>
                </a:lnTo>
                <a:lnTo>
                  <a:pt x="3425" y="924"/>
                </a:lnTo>
                <a:lnTo>
                  <a:pt x="3406" y="920"/>
                </a:lnTo>
                <a:lnTo>
                  <a:pt x="3388" y="912"/>
                </a:lnTo>
                <a:lnTo>
                  <a:pt x="3374" y="920"/>
                </a:lnTo>
                <a:lnTo>
                  <a:pt x="3359" y="927"/>
                </a:lnTo>
                <a:lnTo>
                  <a:pt x="3346" y="934"/>
                </a:lnTo>
                <a:lnTo>
                  <a:pt x="3329" y="938"/>
                </a:lnTo>
                <a:lnTo>
                  <a:pt x="3314" y="942"/>
                </a:lnTo>
                <a:lnTo>
                  <a:pt x="3297" y="945"/>
                </a:lnTo>
                <a:lnTo>
                  <a:pt x="3281" y="947"/>
                </a:lnTo>
                <a:lnTo>
                  <a:pt x="3264" y="947"/>
                </a:lnTo>
                <a:lnTo>
                  <a:pt x="3248" y="947"/>
                </a:lnTo>
                <a:lnTo>
                  <a:pt x="3231" y="945"/>
                </a:lnTo>
                <a:lnTo>
                  <a:pt x="3215" y="942"/>
                </a:lnTo>
                <a:lnTo>
                  <a:pt x="3200" y="938"/>
                </a:lnTo>
                <a:lnTo>
                  <a:pt x="3184" y="934"/>
                </a:lnTo>
                <a:lnTo>
                  <a:pt x="3169" y="927"/>
                </a:lnTo>
                <a:lnTo>
                  <a:pt x="3154" y="920"/>
                </a:lnTo>
                <a:lnTo>
                  <a:pt x="3140" y="912"/>
                </a:lnTo>
                <a:lnTo>
                  <a:pt x="3123" y="920"/>
                </a:lnTo>
                <a:lnTo>
                  <a:pt x="3103" y="924"/>
                </a:lnTo>
                <a:lnTo>
                  <a:pt x="3083" y="927"/>
                </a:lnTo>
                <a:lnTo>
                  <a:pt x="3063" y="927"/>
                </a:lnTo>
                <a:lnTo>
                  <a:pt x="3051" y="925"/>
                </a:lnTo>
                <a:lnTo>
                  <a:pt x="3039" y="923"/>
                </a:lnTo>
                <a:lnTo>
                  <a:pt x="3028" y="920"/>
                </a:lnTo>
                <a:lnTo>
                  <a:pt x="3016" y="914"/>
                </a:lnTo>
                <a:lnTo>
                  <a:pt x="3007" y="910"/>
                </a:lnTo>
                <a:lnTo>
                  <a:pt x="2997" y="903"/>
                </a:lnTo>
                <a:lnTo>
                  <a:pt x="2988" y="896"/>
                </a:lnTo>
                <a:lnTo>
                  <a:pt x="2979" y="890"/>
                </a:lnTo>
                <a:lnTo>
                  <a:pt x="2971" y="881"/>
                </a:lnTo>
                <a:lnTo>
                  <a:pt x="2964" y="872"/>
                </a:lnTo>
                <a:lnTo>
                  <a:pt x="2957" y="862"/>
                </a:lnTo>
                <a:lnTo>
                  <a:pt x="2952" y="852"/>
                </a:lnTo>
                <a:lnTo>
                  <a:pt x="2948" y="841"/>
                </a:lnTo>
                <a:lnTo>
                  <a:pt x="2944" y="830"/>
                </a:lnTo>
                <a:lnTo>
                  <a:pt x="2941" y="819"/>
                </a:lnTo>
                <a:lnTo>
                  <a:pt x="2939" y="807"/>
                </a:lnTo>
                <a:lnTo>
                  <a:pt x="2941" y="808"/>
                </a:lnTo>
                <a:lnTo>
                  <a:pt x="2963" y="808"/>
                </a:lnTo>
                <a:lnTo>
                  <a:pt x="2982" y="806"/>
                </a:lnTo>
                <a:lnTo>
                  <a:pt x="3003" y="800"/>
                </a:lnTo>
                <a:lnTo>
                  <a:pt x="3022" y="792"/>
                </a:lnTo>
                <a:lnTo>
                  <a:pt x="3012" y="777"/>
                </a:lnTo>
                <a:lnTo>
                  <a:pt x="3004" y="761"/>
                </a:lnTo>
                <a:lnTo>
                  <a:pt x="2997" y="745"/>
                </a:lnTo>
                <a:lnTo>
                  <a:pt x="2992" y="726"/>
                </a:lnTo>
                <a:lnTo>
                  <a:pt x="2988" y="706"/>
                </a:lnTo>
                <a:lnTo>
                  <a:pt x="2983" y="687"/>
                </a:lnTo>
                <a:lnTo>
                  <a:pt x="2982" y="665"/>
                </a:lnTo>
                <a:lnTo>
                  <a:pt x="2981" y="642"/>
                </a:lnTo>
                <a:lnTo>
                  <a:pt x="2981" y="574"/>
                </a:lnTo>
                <a:lnTo>
                  <a:pt x="2982" y="541"/>
                </a:lnTo>
                <a:lnTo>
                  <a:pt x="2986" y="508"/>
                </a:lnTo>
                <a:lnTo>
                  <a:pt x="2993" y="475"/>
                </a:lnTo>
                <a:lnTo>
                  <a:pt x="3003" y="445"/>
                </a:lnTo>
                <a:lnTo>
                  <a:pt x="3014" y="414"/>
                </a:lnTo>
                <a:lnTo>
                  <a:pt x="3028" y="387"/>
                </a:lnTo>
                <a:lnTo>
                  <a:pt x="3044" y="361"/>
                </a:lnTo>
                <a:lnTo>
                  <a:pt x="3062" y="336"/>
                </a:lnTo>
                <a:lnTo>
                  <a:pt x="3083" y="314"/>
                </a:lnTo>
                <a:lnTo>
                  <a:pt x="3103" y="293"/>
                </a:lnTo>
                <a:lnTo>
                  <a:pt x="3127" y="275"/>
                </a:lnTo>
                <a:lnTo>
                  <a:pt x="3151" y="262"/>
                </a:lnTo>
                <a:lnTo>
                  <a:pt x="3165" y="255"/>
                </a:lnTo>
                <a:lnTo>
                  <a:pt x="3178" y="249"/>
                </a:lnTo>
                <a:lnTo>
                  <a:pt x="3191" y="245"/>
                </a:lnTo>
                <a:lnTo>
                  <a:pt x="3205" y="241"/>
                </a:lnTo>
                <a:lnTo>
                  <a:pt x="3220" y="237"/>
                </a:lnTo>
                <a:lnTo>
                  <a:pt x="3234" y="235"/>
                </a:lnTo>
                <a:lnTo>
                  <a:pt x="3249" y="234"/>
                </a:lnTo>
                <a:lnTo>
                  <a:pt x="3264" y="233"/>
                </a:lnTo>
                <a:lnTo>
                  <a:pt x="3279" y="234"/>
                </a:lnTo>
                <a:lnTo>
                  <a:pt x="3295" y="235"/>
                </a:lnTo>
                <a:lnTo>
                  <a:pt x="3308" y="237"/>
                </a:lnTo>
                <a:lnTo>
                  <a:pt x="3324" y="241"/>
                </a:lnTo>
                <a:lnTo>
                  <a:pt x="3337" y="245"/>
                </a:lnTo>
                <a:lnTo>
                  <a:pt x="3351" y="249"/>
                </a:lnTo>
                <a:lnTo>
                  <a:pt x="3365" y="255"/>
                </a:lnTo>
                <a:lnTo>
                  <a:pt x="3377" y="262"/>
                </a:lnTo>
                <a:lnTo>
                  <a:pt x="3402" y="275"/>
                </a:lnTo>
                <a:lnTo>
                  <a:pt x="3425" y="293"/>
                </a:lnTo>
                <a:lnTo>
                  <a:pt x="3447" y="314"/>
                </a:lnTo>
                <a:lnTo>
                  <a:pt x="3467" y="336"/>
                </a:lnTo>
                <a:lnTo>
                  <a:pt x="3485" y="361"/>
                </a:lnTo>
                <a:lnTo>
                  <a:pt x="3501" y="387"/>
                </a:lnTo>
                <a:lnTo>
                  <a:pt x="3515" y="414"/>
                </a:lnTo>
                <a:lnTo>
                  <a:pt x="3526" y="445"/>
                </a:lnTo>
                <a:lnTo>
                  <a:pt x="3536" y="475"/>
                </a:lnTo>
                <a:lnTo>
                  <a:pt x="3542" y="508"/>
                </a:lnTo>
                <a:lnTo>
                  <a:pt x="3547" y="541"/>
                </a:lnTo>
                <a:lnTo>
                  <a:pt x="3548" y="574"/>
                </a:lnTo>
                <a:lnTo>
                  <a:pt x="3548" y="642"/>
                </a:lnTo>
                <a:lnTo>
                  <a:pt x="3547" y="665"/>
                </a:lnTo>
                <a:lnTo>
                  <a:pt x="3545" y="687"/>
                </a:lnTo>
                <a:lnTo>
                  <a:pt x="3541" y="706"/>
                </a:lnTo>
                <a:lnTo>
                  <a:pt x="3537" y="726"/>
                </a:lnTo>
                <a:lnTo>
                  <a:pt x="3531" y="745"/>
                </a:lnTo>
                <a:lnTo>
                  <a:pt x="3525" y="761"/>
                </a:lnTo>
                <a:lnTo>
                  <a:pt x="3516" y="777"/>
                </a:lnTo>
                <a:lnTo>
                  <a:pt x="3508" y="792"/>
                </a:lnTo>
                <a:close/>
                <a:moveTo>
                  <a:pt x="3385" y="406"/>
                </a:moveTo>
                <a:lnTo>
                  <a:pt x="3385" y="406"/>
                </a:lnTo>
                <a:lnTo>
                  <a:pt x="3376" y="424"/>
                </a:lnTo>
                <a:lnTo>
                  <a:pt x="3365" y="441"/>
                </a:lnTo>
                <a:lnTo>
                  <a:pt x="3352" y="456"/>
                </a:lnTo>
                <a:lnTo>
                  <a:pt x="3340" y="471"/>
                </a:lnTo>
                <a:lnTo>
                  <a:pt x="3326" y="486"/>
                </a:lnTo>
                <a:lnTo>
                  <a:pt x="3311" y="498"/>
                </a:lnTo>
                <a:lnTo>
                  <a:pt x="3295" y="511"/>
                </a:lnTo>
                <a:lnTo>
                  <a:pt x="3278" y="522"/>
                </a:lnTo>
                <a:lnTo>
                  <a:pt x="3260" y="532"/>
                </a:lnTo>
                <a:lnTo>
                  <a:pt x="3242" y="541"/>
                </a:lnTo>
                <a:lnTo>
                  <a:pt x="3224" y="548"/>
                </a:lnTo>
                <a:lnTo>
                  <a:pt x="3205" y="555"/>
                </a:lnTo>
                <a:lnTo>
                  <a:pt x="3184" y="559"/>
                </a:lnTo>
                <a:lnTo>
                  <a:pt x="3164" y="563"/>
                </a:lnTo>
                <a:lnTo>
                  <a:pt x="3143" y="566"/>
                </a:lnTo>
                <a:lnTo>
                  <a:pt x="3123" y="566"/>
                </a:lnTo>
                <a:lnTo>
                  <a:pt x="3095" y="565"/>
                </a:lnTo>
                <a:lnTo>
                  <a:pt x="3067" y="562"/>
                </a:lnTo>
                <a:lnTo>
                  <a:pt x="3066" y="585"/>
                </a:lnTo>
                <a:lnTo>
                  <a:pt x="3066" y="665"/>
                </a:lnTo>
                <a:lnTo>
                  <a:pt x="3067" y="690"/>
                </a:lnTo>
                <a:lnTo>
                  <a:pt x="3070" y="712"/>
                </a:lnTo>
                <a:lnTo>
                  <a:pt x="3076" y="734"/>
                </a:lnTo>
                <a:lnTo>
                  <a:pt x="3083" y="755"/>
                </a:lnTo>
                <a:lnTo>
                  <a:pt x="3091" y="775"/>
                </a:lnTo>
                <a:lnTo>
                  <a:pt x="3100" y="793"/>
                </a:lnTo>
                <a:lnTo>
                  <a:pt x="3113" y="811"/>
                </a:lnTo>
                <a:lnTo>
                  <a:pt x="3125" y="828"/>
                </a:lnTo>
                <a:lnTo>
                  <a:pt x="3139" y="841"/>
                </a:lnTo>
                <a:lnTo>
                  <a:pt x="3156" y="855"/>
                </a:lnTo>
                <a:lnTo>
                  <a:pt x="3171" y="866"/>
                </a:lnTo>
                <a:lnTo>
                  <a:pt x="3189" y="874"/>
                </a:lnTo>
                <a:lnTo>
                  <a:pt x="3206" y="883"/>
                </a:lnTo>
                <a:lnTo>
                  <a:pt x="3226" y="888"/>
                </a:lnTo>
                <a:lnTo>
                  <a:pt x="3245" y="891"/>
                </a:lnTo>
                <a:lnTo>
                  <a:pt x="3264" y="892"/>
                </a:lnTo>
                <a:lnTo>
                  <a:pt x="3284" y="891"/>
                </a:lnTo>
                <a:lnTo>
                  <a:pt x="3303" y="888"/>
                </a:lnTo>
                <a:lnTo>
                  <a:pt x="3322" y="883"/>
                </a:lnTo>
                <a:lnTo>
                  <a:pt x="3340" y="874"/>
                </a:lnTo>
                <a:lnTo>
                  <a:pt x="3358" y="866"/>
                </a:lnTo>
                <a:lnTo>
                  <a:pt x="3374" y="855"/>
                </a:lnTo>
                <a:lnTo>
                  <a:pt x="3390" y="841"/>
                </a:lnTo>
                <a:lnTo>
                  <a:pt x="3403" y="828"/>
                </a:lnTo>
                <a:lnTo>
                  <a:pt x="3416" y="811"/>
                </a:lnTo>
                <a:lnTo>
                  <a:pt x="3428" y="793"/>
                </a:lnTo>
                <a:lnTo>
                  <a:pt x="3438" y="775"/>
                </a:lnTo>
                <a:lnTo>
                  <a:pt x="3446" y="755"/>
                </a:lnTo>
                <a:lnTo>
                  <a:pt x="3453" y="734"/>
                </a:lnTo>
                <a:lnTo>
                  <a:pt x="3458" y="712"/>
                </a:lnTo>
                <a:lnTo>
                  <a:pt x="3461" y="690"/>
                </a:lnTo>
                <a:lnTo>
                  <a:pt x="3463" y="665"/>
                </a:lnTo>
                <a:lnTo>
                  <a:pt x="3463" y="585"/>
                </a:lnTo>
                <a:lnTo>
                  <a:pt x="3461" y="558"/>
                </a:lnTo>
                <a:lnTo>
                  <a:pt x="3457" y="532"/>
                </a:lnTo>
                <a:lnTo>
                  <a:pt x="3450" y="507"/>
                </a:lnTo>
                <a:lnTo>
                  <a:pt x="3442" y="483"/>
                </a:lnTo>
                <a:lnTo>
                  <a:pt x="3431" y="461"/>
                </a:lnTo>
                <a:lnTo>
                  <a:pt x="3417" y="441"/>
                </a:lnTo>
                <a:lnTo>
                  <a:pt x="3402" y="423"/>
                </a:lnTo>
                <a:lnTo>
                  <a:pt x="3385" y="406"/>
                </a:lnTo>
                <a:close/>
                <a:moveTo>
                  <a:pt x="186" y="2587"/>
                </a:moveTo>
                <a:lnTo>
                  <a:pt x="186" y="2587"/>
                </a:lnTo>
                <a:lnTo>
                  <a:pt x="186" y="2579"/>
                </a:lnTo>
                <a:lnTo>
                  <a:pt x="189" y="2572"/>
                </a:lnTo>
                <a:lnTo>
                  <a:pt x="193" y="2565"/>
                </a:lnTo>
                <a:lnTo>
                  <a:pt x="197" y="2560"/>
                </a:lnTo>
                <a:lnTo>
                  <a:pt x="202" y="2556"/>
                </a:lnTo>
                <a:lnTo>
                  <a:pt x="209" y="2552"/>
                </a:lnTo>
                <a:lnTo>
                  <a:pt x="216" y="2550"/>
                </a:lnTo>
                <a:lnTo>
                  <a:pt x="223" y="2549"/>
                </a:lnTo>
                <a:lnTo>
                  <a:pt x="231" y="2550"/>
                </a:lnTo>
                <a:lnTo>
                  <a:pt x="238" y="2552"/>
                </a:lnTo>
                <a:lnTo>
                  <a:pt x="244" y="2556"/>
                </a:lnTo>
                <a:lnTo>
                  <a:pt x="249" y="2560"/>
                </a:lnTo>
                <a:lnTo>
                  <a:pt x="255" y="2565"/>
                </a:lnTo>
                <a:lnTo>
                  <a:pt x="257" y="2572"/>
                </a:lnTo>
                <a:lnTo>
                  <a:pt x="260" y="2579"/>
                </a:lnTo>
                <a:lnTo>
                  <a:pt x="260" y="2587"/>
                </a:lnTo>
                <a:lnTo>
                  <a:pt x="260" y="2594"/>
                </a:lnTo>
                <a:lnTo>
                  <a:pt x="257" y="2601"/>
                </a:lnTo>
                <a:lnTo>
                  <a:pt x="255" y="2608"/>
                </a:lnTo>
                <a:lnTo>
                  <a:pt x="249" y="2614"/>
                </a:lnTo>
                <a:lnTo>
                  <a:pt x="244" y="2618"/>
                </a:lnTo>
                <a:lnTo>
                  <a:pt x="238" y="2622"/>
                </a:lnTo>
                <a:lnTo>
                  <a:pt x="231" y="2623"/>
                </a:lnTo>
                <a:lnTo>
                  <a:pt x="223" y="2625"/>
                </a:lnTo>
                <a:lnTo>
                  <a:pt x="216" y="2623"/>
                </a:lnTo>
                <a:lnTo>
                  <a:pt x="209" y="2622"/>
                </a:lnTo>
                <a:lnTo>
                  <a:pt x="202" y="2618"/>
                </a:lnTo>
                <a:lnTo>
                  <a:pt x="197" y="2614"/>
                </a:lnTo>
                <a:lnTo>
                  <a:pt x="193" y="2608"/>
                </a:lnTo>
                <a:lnTo>
                  <a:pt x="189" y="2601"/>
                </a:lnTo>
                <a:lnTo>
                  <a:pt x="186" y="2594"/>
                </a:lnTo>
                <a:lnTo>
                  <a:pt x="186" y="2587"/>
                </a:lnTo>
                <a:close/>
                <a:moveTo>
                  <a:pt x="720" y="2260"/>
                </a:moveTo>
                <a:lnTo>
                  <a:pt x="792" y="1121"/>
                </a:lnTo>
                <a:lnTo>
                  <a:pt x="783" y="1115"/>
                </a:lnTo>
                <a:lnTo>
                  <a:pt x="776" y="1108"/>
                </a:lnTo>
                <a:lnTo>
                  <a:pt x="770" y="1102"/>
                </a:lnTo>
                <a:lnTo>
                  <a:pt x="764" y="1095"/>
                </a:lnTo>
                <a:lnTo>
                  <a:pt x="760" y="1086"/>
                </a:lnTo>
                <a:lnTo>
                  <a:pt x="756" y="1078"/>
                </a:lnTo>
                <a:lnTo>
                  <a:pt x="753" y="1069"/>
                </a:lnTo>
                <a:lnTo>
                  <a:pt x="752" y="1059"/>
                </a:lnTo>
                <a:lnTo>
                  <a:pt x="837" y="980"/>
                </a:lnTo>
                <a:lnTo>
                  <a:pt x="924" y="1059"/>
                </a:lnTo>
                <a:lnTo>
                  <a:pt x="922" y="1069"/>
                </a:lnTo>
                <a:lnTo>
                  <a:pt x="920" y="1078"/>
                </a:lnTo>
                <a:lnTo>
                  <a:pt x="916" y="1086"/>
                </a:lnTo>
                <a:lnTo>
                  <a:pt x="910" y="1095"/>
                </a:lnTo>
                <a:lnTo>
                  <a:pt x="905" y="1102"/>
                </a:lnTo>
                <a:lnTo>
                  <a:pt x="899" y="1108"/>
                </a:lnTo>
                <a:lnTo>
                  <a:pt x="892" y="1115"/>
                </a:lnTo>
                <a:lnTo>
                  <a:pt x="884" y="1121"/>
                </a:lnTo>
                <a:lnTo>
                  <a:pt x="955" y="2260"/>
                </a:lnTo>
                <a:lnTo>
                  <a:pt x="837" y="2397"/>
                </a:lnTo>
                <a:lnTo>
                  <a:pt x="720" y="2260"/>
                </a:lnTo>
                <a:close/>
              </a:path>
            </a:pathLst>
          </a:custGeom>
          <a:solidFill>
            <a:schemeClr val="bg1"/>
          </a:solidFill>
          <a:ln w="9525">
            <a:noFill/>
            <a:round/>
            <a:headEnd/>
            <a:tailEnd/>
          </a:ln>
        </p:spPr>
        <p:txBody>
          <a:bodyPr/>
          <a:lstStyle/>
          <a:p>
            <a:endParaRPr lang="en-GB" dirty="0"/>
          </a:p>
        </p:txBody>
      </p:sp>
      <p:sp>
        <p:nvSpPr>
          <p:cNvPr id="12" name="Rectangle 11"/>
          <p:cNvSpPr/>
          <p:nvPr/>
        </p:nvSpPr>
        <p:spPr>
          <a:xfrm>
            <a:off x="1397398" y="2956971"/>
            <a:ext cx="846904" cy="184666"/>
          </a:xfrm>
          <a:prstGeom prst="rect">
            <a:avLst/>
          </a:prstGeom>
        </p:spPr>
        <p:txBody>
          <a:bodyPr wrap="square">
            <a:spAutoFit/>
          </a:bodyPr>
          <a:lstStyle/>
          <a:p>
            <a:r>
              <a:rPr lang="en-GB" sz="600" b="1" dirty="0">
                <a:solidFill>
                  <a:srgbClr val="FFFFFF"/>
                </a:solidFill>
              </a:rPr>
              <a:t>Customer-centric</a:t>
            </a:r>
          </a:p>
        </p:txBody>
      </p:sp>
      <p:sp>
        <p:nvSpPr>
          <p:cNvPr id="13" name="Rectangle 12"/>
          <p:cNvSpPr/>
          <p:nvPr/>
        </p:nvSpPr>
        <p:spPr>
          <a:xfrm>
            <a:off x="669794" y="3341843"/>
            <a:ext cx="587020" cy="184666"/>
          </a:xfrm>
          <a:prstGeom prst="rect">
            <a:avLst/>
          </a:prstGeom>
        </p:spPr>
        <p:txBody>
          <a:bodyPr wrap="none">
            <a:spAutoFit/>
          </a:bodyPr>
          <a:lstStyle/>
          <a:p>
            <a:r>
              <a:rPr lang="en-GB" sz="600" b="1" dirty="0">
                <a:solidFill>
                  <a:srgbClr val="FFFFFF"/>
                </a:solidFill>
              </a:rPr>
              <a:t>Automated</a:t>
            </a:r>
          </a:p>
        </p:txBody>
      </p:sp>
      <p:sp>
        <p:nvSpPr>
          <p:cNvPr id="14" name="Rectangle 13"/>
          <p:cNvSpPr/>
          <p:nvPr/>
        </p:nvSpPr>
        <p:spPr>
          <a:xfrm>
            <a:off x="2234288" y="2511975"/>
            <a:ext cx="553357" cy="184666"/>
          </a:xfrm>
          <a:prstGeom prst="rect">
            <a:avLst/>
          </a:prstGeom>
        </p:spPr>
        <p:txBody>
          <a:bodyPr wrap="none">
            <a:spAutoFit/>
          </a:bodyPr>
          <a:lstStyle/>
          <a:p>
            <a:r>
              <a:rPr lang="en-GB" sz="600" b="1">
                <a:solidFill>
                  <a:srgbClr val="FFFFFF"/>
                </a:solidFill>
              </a:rPr>
              <a:t>Predictive</a:t>
            </a:r>
            <a:endParaRPr lang="en-GB" sz="600" b="1" dirty="0">
              <a:solidFill>
                <a:srgbClr val="FFFFFF"/>
              </a:solidFill>
            </a:endParaRPr>
          </a:p>
        </p:txBody>
      </p:sp>
      <p:grpSp>
        <p:nvGrpSpPr>
          <p:cNvPr id="16" name="Group 15"/>
          <p:cNvGrpSpPr/>
          <p:nvPr/>
        </p:nvGrpSpPr>
        <p:grpSpPr>
          <a:xfrm>
            <a:off x="2434764" y="2932211"/>
            <a:ext cx="649801" cy="589310"/>
            <a:chOff x="2339397" y="2355396"/>
            <a:chExt cx="649801" cy="589310"/>
          </a:xfrm>
        </p:grpSpPr>
        <p:sp>
          <p:nvSpPr>
            <p:cNvPr id="377" name="Freeform 75">
              <a:extLst>
                <a:ext uri="{FF2B5EF4-FFF2-40B4-BE49-F238E27FC236}">
                  <a16:creationId xmlns:a16="http://schemas.microsoft.com/office/drawing/2014/main" id="{05BD7134-AC70-44F0-B5AE-D159D5316F64}"/>
                </a:ext>
              </a:extLst>
            </p:cNvPr>
            <p:cNvSpPr>
              <a:spLocks noChangeAspect="1" noEditPoints="1"/>
            </p:cNvSpPr>
            <p:nvPr>
              <p:custDataLst>
                <p:tags r:id="rId19"/>
              </p:custDataLst>
            </p:nvPr>
          </p:nvSpPr>
          <p:spPr bwMode="gray">
            <a:xfrm>
              <a:off x="2444052" y="2355396"/>
              <a:ext cx="360000" cy="340715"/>
            </a:xfrm>
            <a:custGeom>
              <a:avLst/>
              <a:gdLst>
                <a:gd name="T0" fmla="*/ 2147483647 w 5040"/>
                <a:gd name="T1" fmla="*/ 0 h 4763"/>
                <a:gd name="T2" fmla="*/ 2147483647 w 5040"/>
                <a:gd name="T3" fmla="*/ 0 h 4763"/>
                <a:gd name="T4" fmla="*/ 2147483647 w 5040"/>
                <a:gd name="T5" fmla="*/ 2147483647 h 4763"/>
                <a:gd name="T6" fmla="*/ 0 w 5040"/>
                <a:gd name="T7" fmla="*/ 2147483647 h 4763"/>
                <a:gd name="T8" fmla="*/ 0 w 5040"/>
                <a:gd name="T9" fmla="*/ 2147483647 h 4763"/>
                <a:gd name="T10" fmla="*/ 2147483647 w 5040"/>
                <a:gd name="T11" fmla="*/ 2147483647 h 4763"/>
                <a:gd name="T12" fmla="*/ 2147483647 w 5040"/>
                <a:gd name="T13" fmla="*/ 2147483647 h 4763"/>
                <a:gd name="T14" fmla="*/ 2147483647 w 5040"/>
                <a:gd name="T15" fmla="*/ 2147483647 h 4763"/>
                <a:gd name="T16" fmla="*/ 2147483647 w 5040"/>
                <a:gd name="T17" fmla="*/ 2147483647 h 4763"/>
                <a:gd name="T18" fmla="*/ 2147483647 w 5040"/>
                <a:gd name="T19" fmla="*/ 2147483647 h 4763"/>
                <a:gd name="T20" fmla="*/ 2147483647 w 5040"/>
                <a:gd name="T21" fmla="*/ 2147483647 h 4763"/>
                <a:gd name="T22" fmla="*/ 2147483647 w 5040"/>
                <a:gd name="T23" fmla="*/ 2147483647 h 4763"/>
                <a:gd name="T24" fmla="*/ 2147483647 w 5040"/>
                <a:gd name="T25" fmla="*/ 0 h 4763"/>
                <a:gd name="T26" fmla="*/ 2147483647 w 5040"/>
                <a:gd name="T27" fmla="*/ 2147483647 h 4763"/>
                <a:gd name="T28" fmla="*/ 2147483647 w 5040"/>
                <a:gd name="T29" fmla="*/ 2147483647 h 4763"/>
                <a:gd name="T30" fmla="*/ 2147483647 w 5040"/>
                <a:gd name="T31" fmla="*/ 2147483647 h 4763"/>
                <a:gd name="T32" fmla="*/ 2147483647 w 5040"/>
                <a:gd name="T33" fmla="*/ 2147483647 h 4763"/>
                <a:gd name="T34" fmla="*/ 2147483647 w 5040"/>
                <a:gd name="T35" fmla="*/ 2147483647 h 4763"/>
                <a:gd name="T36" fmla="*/ 2147483647 w 5040"/>
                <a:gd name="T37" fmla="*/ 2147483647 h 4763"/>
                <a:gd name="T38" fmla="*/ 2147483647 w 5040"/>
                <a:gd name="T39" fmla="*/ 2147483647 h 4763"/>
                <a:gd name="T40" fmla="*/ 2147483647 w 5040"/>
                <a:gd name="T41" fmla="*/ 2147483647 h 4763"/>
                <a:gd name="T42" fmla="*/ 2147483647 w 5040"/>
                <a:gd name="T43" fmla="*/ 2147483647 h 4763"/>
                <a:gd name="T44" fmla="*/ 2147483647 w 5040"/>
                <a:gd name="T45" fmla="*/ 2147483647 h 4763"/>
                <a:gd name="T46" fmla="*/ 2147483647 w 5040"/>
                <a:gd name="T47" fmla="*/ 2147483647 h 4763"/>
                <a:gd name="T48" fmla="*/ 2147483647 w 5040"/>
                <a:gd name="T49" fmla="*/ 2147483647 h 4763"/>
                <a:gd name="T50" fmla="*/ 2147483647 w 5040"/>
                <a:gd name="T51" fmla="*/ 2147483647 h 4763"/>
                <a:gd name="T52" fmla="*/ 2147483647 w 5040"/>
                <a:gd name="T53" fmla="*/ 2147483647 h 4763"/>
                <a:gd name="T54" fmla="*/ 2147483647 w 5040"/>
                <a:gd name="T55" fmla="*/ 2147483647 h 4763"/>
                <a:gd name="T56" fmla="*/ 2147483647 w 5040"/>
                <a:gd name="T57" fmla="*/ 2147483647 h 476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040"/>
                <a:gd name="T88" fmla="*/ 0 h 4763"/>
                <a:gd name="T89" fmla="*/ 5040 w 5040"/>
                <a:gd name="T90" fmla="*/ 4763 h 476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040" h="4763">
                  <a:moveTo>
                    <a:pt x="479" y="0"/>
                  </a:moveTo>
                  <a:lnTo>
                    <a:pt x="266" y="0"/>
                  </a:lnTo>
                  <a:lnTo>
                    <a:pt x="266" y="4270"/>
                  </a:lnTo>
                  <a:lnTo>
                    <a:pt x="0" y="4270"/>
                  </a:lnTo>
                  <a:lnTo>
                    <a:pt x="0" y="4484"/>
                  </a:lnTo>
                  <a:lnTo>
                    <a:pt x="266" y="4484"/>
                  </a:lnTo>
                  <a:lnTo>
                    <a:pt x="266" y="4763"/>
                  </a:lnTo>
                  <a:lnTo>
                    <a:pt x="479" y="4763"/>
                  </a:lnTo>
                  <a:lnTo>
                    <a:pt x="479" y="4484"/>
                  </a:lnTo>
                  <a:lnTo>
                    <a:pt x="4750" y="4484"/>
                  </a:lnTo>
                  <a:lnTo>
                    <a:pt x="4750" y="4270"/>
                  </a:lnTo>
                  <a:lnTo>
                    <a:pt x="479" y="4270"/>
                  </a:lnTo>
                  <a:lnTo>
                    <a:pt x="479" y="0"/>
                  </a:lnTo>
                  <a:close/>
                  <a:moveTo>
                    <a:pt x="1971" y="2765"/>
                  </a:moveTo>
                  <a:lnTo>
                    <a:pt x="2407" y="3214"/>
                  </a:lnTo>
                  <a:lnTo>
                    <a:pt x="3112" y="2062"/>
                  </a:lnTo>
                  <a:lnTo>
                    <a:pt x="3999" y="2851"/>
                  </a:lnTo>
                  <a:lnTo>
                    <a:pt x="5040" y="1486"/>
                  </a:lnTo>
                  <a:lnTo>
                    <a:pt x="4983" y="1080"/>
                  </a:lnTo>
                  <a:lnTo>
                    <a:pt x="4578" y="1137"/>
                  </a:lnTo>
                  <a:lnTo>
                    <a:pt x="3692" y="2288"/>
                  </a:lnTo>
                  <a:lnTo>
                    <a:pt x="3063" y="1733"/>
                  </a:lnTo>
                  <a:lnTo>
                    <a:pt x="2368" y="2867"/>
                  </a:lnTo>
                  <a:lnTo>
                    <a:pt x="1933" y="2419"/>
                  </a:lnTo>
                  <a:lnTo>
                    <a:pt x="1327" y="3407"/>
                  </a:lnTo>
                  <a:lnTo>
                    <a:pt x="860" y="2881"/>
                  </a:lnTo>
                  <a:lnTo>
                    <a:pt x="700" y="3022"/>
                  </a:lnTo>
                  <a:lnTo>
                    <a:pt x="1359" y="3764"/>
                  </a:lnTo>
                  <a:lnTo>
                    <a:pt x="1971" y="2765"/>
                  </a:lnTo>
                  <a:close/>
                </a:path>
              </a:pathLst>
            </a:custGeom>
            <a:solidFill>
              <a:schemeClr val="bg1"/>
            </a:solidFill>
            <a:ln w="9525">
              <a:noFill/>
              <a:round/>
              <a:headEnd/>
              <a:tailEnd/>
            </a:ln>
          </p:spPr>
          <p:txBody>
            <a:bodyPr/>
            <a:lstStyle/>
            <a:p>
              <a:endParaRPr lang="en-GB" dirty="0"/>
            </a:p>
          </p:txBody>
        </p:sp>
        <p:sp>
          <p:nvSpPr>
            <p:cNvPr id="15" name="Rectangle 14"/>
            <p:cNvSpPr/>
            <p:nvPr/>
          </p:nvSpPr>
          <p:spPr>
            <a:xfrm>
              <a:off x="2339397" y="2667707"/>
              <a:ext cx="649801" cy="276999"/>
            </a:xfrm>
            <a:prstGeom prst="rect">
              <a:avLst/>
            </a:prstGeom>
          </p:spPr>
          <p:txBody>
            <a:bodyPr wrap="square">
              <a:spAutoFit/>
            </a:bodyPr>
            <a:lstStyle/>
            <a:p>
              <a:pPr algn="ctr"/>
              <a:r>
                <a:rPr lang="en-GB" sz="600" b="1" dirty="0">
                  <a:solidFill>
                    <a:srgbClr val="FFFFFF"/>
                  </a:solidFill>
                </a:rPr>
                <a:t>Performance-focused</a:t>
              </a:r>
            </a:p>
          </p:txBody>
        </p:sp>
      </p:grpSp>
      <p:sp>
        <p:nvSpPr>
          <p:cNvPr id="17" name="Rectangle 16"/>
          <p:cNvSpPr/>
          <p:nvPr/>
        </p:nvSpPr>
        <p:spPr>
          <a:xfrm>
            <a:off x="744967" y="2510828"/>
            <a:ext cx="697060" cy="276999"/>
          </a:xfrm>
          <a:prstGeom prst="rect">
            <a:avLst/>
          </a:prstGeom>
        </p:spPr>
        <p:txBody>
          <a:bodyPr wrap="square">
            <a:spAutoFit/>
          </a:bodyPr>
          <a:lstStyle/>
          <a:p>
            <a:pPr algn="ctr"/>
            <a:r>
              <a:rPr lang="en-GB" sz="600" b="1" dirty="0">
                <a:solidFill>
                  <a:srgbClr val="FFFFFF"/>
                </a:solidFill>
              </a:rPr>
              <a:t>Adaptive and innovative</a:t>
            </a:r>
          </a:p>
        </p:txBody>
      </p:sp>
      <p:sp>
        <p:nvSpPr>
          <p:cNvPr id="19" name="Rectangle 18"/>
          <p:cNvSpPr/>
          <p:nvPr/>
        </p:nvSpPr>
        <p:spPr>
          <a:xfrm>
            <a:off x="4006636" y="5686422"/>
            <a:ext cx="6096000" cy="757130"/>
          </a:xfrm>
          <a:prstGeom prst="rect">
            <a:avLst/>
          </a:prstGeom>
        </p:spPr>
        <p:txBody>
          <a:bodyPr>
            <a:spAutoFit/>
          </a:bodyPr>
          <a:lstStyle/>
          <a:p>
            <a:pPr marL="0" lvl="1">
              <a:lnSpc>
                <a:spcPct val="90000"/>
              </a:lnSpc>
              <a:spcBef>
                <a:spcPts val="250"/>
              </a:spcBef>
              <a:buClr>
                <a:srgbClr val="FFD200"/>
              </a:buClr>
              <a:buSzPct val="75000"/>
              <a:defRPr/>
            </a:pPr>
            <a:r>
              <a:rPr lang="en-US" sz="1600" dirty="0">
                <a:solidFill>
                  <a:schemeClr val="accent4"/>
                </a:solidFill>
                <a:latin typeface="EYInterstate"/>
              </a:rPr>
              <a:t>Provide recommendations based on disruptive technologies, leading trends and changes that can impact the business and technological landscape</a:t>
            </a:r>
          </a:p>
        </p:txBody>
      </p:sp>
      <p:grpSp>
        <p:nvGrpSpPr>
          <p:cNvPr id="378" name="Gruppieren 3">
            <a:extLst>
              <a:ext uri="{FF2B5EF4-FFF2-40B4-BE49-F238E27FC236}">
                <a16:creationId xmlns:a16="http://schemas.microsoft.com/office/drawing/2014/main" id="{0DCCD37D-5631-478F-89C4-AAAAC7C9F324}"/>
              </a:ext>
            </a:extLst>
          </p:cNvPr>
          <p:cNvGrpSpPr>
            <a:grpSpLocks noChangeAspect="1"/>
          </p:cNvGrpSpPr>
          <p:nvPr>
            <p:custDataLst>
              <p:tags r:id="rId11"/>
            </p:custDataLst>
          </p:nvPr>
        </p:nvGrpSpPr>
        <p:grpSpPr bwMode="gray">
          <a:xfrm>
            <a:off x="3331067" y="5808079"/>
            <a:ext cx="304406" cy="504000"/>
            <a:chOff x="7936110" y="3644896"/>
            <a:chExt cx="233867" cy="387208"/>
          </a:xfrm>
          <a:solidFill>
            <a:schemeClr val="accent2"/>
          </a:solidFill>
        </p:grpSpPr>
        <p:sp>
          <p:nvSpPr>
            <p:cNvPr id="379" name="Ellipse 1">
              <a:extLst>
                <a:ext uri="{FF2B5EF4-FFF2-40B4-BE49-F238E27FC236}">
                  <a16:creationId xmlns:a16="http://schemas.microsoft.com/office/drawing/2014/main" id="{04DBA7C4-46E9-42C5-828D-708ED445F910}"/>
                </a:ext>
              </a:extLst>
            </p:cNvPr>
            <p:cNvSpPr/>
            <p:nvPr>
              <p:custDataLst>
                <p:tags r:id="rId14"/>
              </p:custDataLst>
            </p:nvPr>
          </p:nvSpPr>
          <p:spPr bwMode="gray">
            <a:xfrm>
              <a:off x="7936110" y="3644896"/>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80" name="Ellipse 181">
              <a:extLst>
                <a:ext uri="{FF2B5EF4-FFF2-40B4-BE49-F238E27FC236}">
                  <a16:creationId xmlns:a16="http://schemas.microsoft.com/office/drawing/2014/main" id="{ED59ED85-7E0E-4326-944E-D39D265C6162}"/>
                </a:ext>
              </a:extLst>
            </p:cNvPr>
            <p:cNvSpPr/>
            <p:nvPr>
              <p:custDataLst>
                <p:tags r:id="rId15"/>
              </p:custDataLst>
            </p:nvPr>
          </p:nvSpPr>
          <p:spPr bwMode="gray">
            <a:xfrm>
              <a:off x="8017043" y="372328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81" name="Ellipse 182">
              <a:extLst>
                <a:ext uri="{FF2B5EF4-FFF2-40B4-BE49-F238E27FC236}">
                  <a16:creationId xmlns:a16="http://schemas.microsoft.com/office/drawing/2014/main" id="{1D25B1FB-724E-4BF6-96E9-D4FF17CB02E6}"/>
                </a:ext>
              </a:extLst>
            </p:cNvPr>
            <p:cNvSpPr/>
            <p:nvPr>
              <p:custDataLst>
                <p:tags r:id="rId16"/>
              </p:custDataLst>
            </p:nvPr>
          </p:nvSpPr>
          <p:spPr bwMode="gray">
            <a:xfrm>
              <a:off x="8097977" y="380167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82" name="Ellipse 191">
              <a:extLst>
                <a:ext uri="{FF2B5EF4-FFF2-40B4-BE49-F238E27FC236}">
                  <a16:creationId xmlns:a16="http://schemas.microsoft.com/office/drawing/2014/main" id="{FD9A90B9-BD7D-4A91-8546-7CBD75D9D387}"/>
                </a:ext>
              </a:extLst>
            </p:cNvPr>
            <p:cNvSpPr/>
            <p:nvPr>
              <p:custDataLst>
                <p:tags r:id="rId17"/>
              </p:custDataLst>
            </p:nvPr>
          </p:nvSpPr>
          <p:spPr bwMode="gray">
            <a:xfrm flipV="1">
              <a:off x="7936110" y="3960104"/>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sp>
          <p:nvSpPr>
            <p:cNvPr id="383" name="Ellipse 192">
              <a:extLst>
                <a:ext uri="{FF2B5EF4-FFF2-40B4-BE49-F238E27FC236}">
                  <a16:creationId xmlns:a16="http://schemas.microsoft.com/office/drawing/2014/main" id="{68BE7CBD-2122-4A17-90E4-6831E5C18F3D}"/>
                </a:ext>
              </a:extLst>
            </p:cNvPr>
            <p:cNvSpPr/>
            <p:nvPr>
              <p:custDataLst>
                <p:tags r:id="rId18"/>
              </p:custDataLst>
            </p:nvPr>
          </p:nvSpPr>
          <p:spPr bwMode="gray">
            <a:xfrm flipV="1">
              <a:off x="8017043" y="3881715"/>
              <a:ext cx="72000" cy="72000"/>
            </a:xfrm>
            <a:prstGeom prst="ellipse">
              <a:avLst/>
            </a:prstGeom>
            <a:grp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dirty="0">
                <a:ln>
                  <a:noFill/>
                </a:ln>
                <a:solidFill>
                  <a:srgbClr val="FFFFFF"/>
                </a:solidFill>
                <a:effectLst/>
                <a:uLnTx/>
                <a:uFillTx/>
                <a:latin typeface="Arial"/>
                <a:ea typeface="+mn-ea"/>
                <a:cs typeface="+mn-cs"/>
              </a:endParaRPr>
            </a:p>
          </p:txBody>
        </p:sp>
      </p:grpSp>
      <p:cxnSp>
        <p:nvCxnSpPr>
          <p:cNvPr id="384" name="Gerader Verbinder 86">
            <a:extLst>
              <a:ext uri="{FF2B5EF4-FFF2-40B4-BE49-F238E27FC236}">
                <a16:creationId xmlns:a16="http://schemas.microsoft.com/office/drawing/2014/main" id="{87AB1560-77D1-4C32-8012-3D1A42629D9B}"/>
              </a:ext>
            </a:extLst>
          </p:cNvPr>
          <p:cNvCxnSpPr>
            <a:cxnSpLocks/>
          </p:cNvCxnSpPr>
          <p:nvPr>
            <p:custDataLst>
              <p:tags r:id="rId12"/>
            </p:custDataLst>
          </p:nvPr>
        </p:nvCxnSpPr>
        <p:spPr bwMode="gray">
          <a:xfrm>
            <a:off x="3084565" y="4437395"/>
            <a:ext cx="7680960" cy="0"/>
          </a:xfrm>
          <a:prstGeom prst="line">
            <a:avLst/>
          </a:prstGeom>
          <a:ln w="9525">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385" name="Gerader Verbinder 86">
            <a:extLst>
              <a:ext uri="{FF2B5EF4-FFF2-40B4-BE49-F238E27FC236}">
                <a16:creationId xmlns:a16="http://schemas.microsoft.com/office/drawing/2014/main" id="{87AB1560-77D1-4C32-8012-3D1A42629D9B}"/>
              </a:ext>
            </a:extLst>
          </p:cNvPr>
          <p:cNvCxnSpPr>
            <a:cxnSpLocks/>
          </p:cNvCxnSpPr>
          <p:nvPr>
            <p:custDataLst>
              <p:tags r:id="rId13"/>
            </p:custDataLst>
          </p:nvPr>
        </p:nvCxnSpPr>
        <p:spPr bwMode="gray">
          <a:xfrm>
            <a:off x="3084565" y="5506738"/>
            <a:ext cx="7680960" cy="0"/>
          </a:xfrm>
          <a:prstGeom prst="line">
            <a:avLst/>
          </a:prstGeom>
          <a:ln w="9525">
            <a:solidFill>
              <a:schemeClr val="accent2"/>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802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effectiveness review assessment</a:t>
            </a:r>
          </a:p>
        </p:txBody>
      </p:sp>
      <p:sp>
        <p:nvSpPr>
          <p:cNvPr id="42" name="Rectangle 41"/>
          <p:cNvSpPr/>
          <p:nvPr/>
        </p:nvSpPr>
        <p:spPr>
          <a:xfrm>
            <a:off x="663228" y="827861"/>
            <a:ext cx="6404317" cy="369332"/>
          </a:xfrm>
          <a:prstGeom prst="rect">
            <a:avLst/>
          </a:prstGeom>
        </p:spPr>
        <p:txBody>
          <a:bodyPr wrap="none">
            <a:spAutoFit/>
          </a:bodyPr>
          <a:lstStyle/>
          <a:p>
            <a:r>
              <a:rPr lang="en-US" b="1" dirty="0">
                <a:solidFill>
                  <a:schemeClr val="accent5">
                    <a:lumMod val="50000"/>
                  </a:schemeClr>
                </a:solidFill>
              </a:rPr>
              <a:t>Immediate focus to uplift ITD key capabilities &amp; priorities</a:t>
            </a:r>
          </a:p>
        </p:txBody>
      </p:sp>
      <p:grpSp>
        <p:nvGrpSpPr>
          <p:cNvPr id="6" name="Group 5"/>
          <p:cNvGrpSpPr/>
          <p:nvPr/>
        </p:nvGrpSpPr>
        <p:grpSpPr>
          <a:xfrm>
            <a:off x="434851" y="1495112"/>
            <a:ext cx="10289943" cy="5168752"/>
            <a:chOff x="1016296" y="1759271"/>
            <a:chExt cx="7764268" cy="4996334"/>
          </a:xfrm>
        </p:grpSpPr>
        <p:grpSp>
          <p:nvGrpSpPr>
            <p:cNvPr id="50" name="Group 49"/>
            <p:cNvGrpSpPr/>
            <p:nvPr/>
          </p:nvGrpSpPr>
          <p:grpSpPr>
            <a:xfrm>
              <a:off x="1533898" y="1759272"/>
              <a:ext cx="7239000" cy="4637313"/>
              <a:chOff x="903515" y="1774372"/>
              <a:chExt cx="7239000" cy="4452257"/>
            </a:xfrm>
          </p:grpSpPr>
          <p:sp>
            <p:nvSpPr>
              <p:cNvPr id="51" name="Rectangle 50"/>
              <p:cNvSpPr/>
              <p:nvPr/>
            </p:nvSpPr>
            <p:spPr>
              <a:xfrm>
                <a:off x="903515" y="1774372"/>
                <a:ext cx="7239000" cy="4452257"/>
              </a:xfrm>
              <a:prstGeom prst="rect">
                <a:avLst/>
              </a:prstGeom>
              <a:solidFill>
                <a:schemeClr val="bg1">
                  <a:lumMod val="95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2" name="Straight Connector 51"/>
              <p:cNvCxnSpPr>
                <a:stCxn id="51" idx="0"/>
                <a:endCxn id="51" idx="2"/>
              </p:cNvCxnSpPr>
              <p:nvPr/>
            </p:nvCxnSpPr>
            <p:spPr>
              <a:xfrm>
                <a:off x="4523015" y="1774372"/>
                <a:ext cx="0" cy="445225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51" idx="1"/>
                <a:endCxn id="51" idx="3"/>
              </p:cNvCxnSpPr>
              <p:nvPr/>
            </p:nvCxnSpPr>
            <p:spPr>
              <a:xfrm>
                <a:off x="903515" y="4000501"/>
                <a:ext cx="723900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4" name="Rectangle 10"/>
            <p:cNvSpPr>
              <a:spLocks noChangeArrowheads="1"/>
            </p:cNvSpPr>
            <p:nvPr/>
          </p:nvSpPr>
          <p:spPr bwMode="auto">
            <a:xfrm>
              <a:off x="5161064" y="1761301"/>
              <a:ext cx="3619500" cy="2312219"/>
            </a:xfrm>
            <a:prstGeom prst="rect">
              <a:avLst/>
            </a:prstGeom>
            <a:solidFill>
              <a:schemeClr val="bg1">
                <a:lumMod val="85000"/>
              </a:schemeClr>
            </a:solidFill>
            <a:ln w="9525">
              <a:solidFill>
                <a:schemeClr val="bg1">
                  <a:lumMod val="50000"/>
                </a:schemeClr>
              </a:solidFill>
              <a:miter lim="800000"/>
              <a:headEnd/>
              <a:tailEnd/>
            </a:ln>
            <a:effectLst/>
          </p:spPr>
          <p:txBody>
            <a:bodyPr anchor="ctr"/>
            <a:lstStyle/>
            <a:p>
              <a:pPr algn="ctr" defTabSz="914260">
                <a:spcBef>
                  <a:spcPct val="20000"/>
                </a:spcBef>
                <a:defRPr/>
              </a:pPr>
              <a:endParaRPr lang="en-US" sz="900" kern="0" dirty="0">
                <a:solidFill>
                  <a:sysClr val="windowText" lastClr="000000"/>
                </a:solidFill>
              </a:endParaRPr>
            </a:p>
          </p:txBody>
        </p:sp>
        <p:grpSp>
          <p:nvGrpSpPr>
            <p:cNvPr id="55" name="Group 54"/>
            <p:cNvGrpSpPr/>
            <p:nvPr/>
          </p:nvGrpSpPr>
          <p:grpSpPr>
            <a:xfrm>
              <a:off x="1533899" y="6502721"/>
              <a:ext cx="7239000" cy="252884"/>
              <a:chOff x="4397495" y="6356350"/>
              <a:chExt cx="4757699" cy="252884"/>
            </a:xfrm>
          </p:grpSpPr>
          <p:sp>
            <p:nvSpPr>
              <p:cNvPr id="56" name="Rectangle 55"/>
              <p:cNvSpPr>
                <a:spLocks noChangeArrowheads="1"/>
              </p:cNvSpPr>
              <p:nvPr/>
            </p:nvSpPr>
            <p:spPr bwMode="gray">
              <a:xfrm>
                <a:off x="4397495" y="6394147"/>
                <a:ext cx="440720" cy="127390"/>
              </a:xfrm>
              <a:prstGeom prst="rect">
                <a:avLst/>
              </a:prstGeom>
              <a:noFill/>
              <a:ln w="9525">
                <a:noFill/>
                <a:miter lim="800000"/>
                <a:headEnd/>
                <a:tailEnd/>
              </a:ln>
              <a:effectLst/>
            </p:spPr>
            <p:txBody>
              <a:bodyPr lIns="0" tIns="0" rIns="0" bIns="0"/>
              <a:lstStyle/>
              <a:p>
                <a:pPr algn="ctr" defTabSz="895350">
                  <a:spcBef>
                    <a:spcPct val="20000"/>
                  </a:spcBef>
                  <a:defRPr/>
                </a:pPr>
                <a:r>
                  <a:rPr lang="en-US" sz="1000" i="1" kern="0" dirty="0"/>
                  <a:t>Low</a:t>
                </a:r>
              </a:p>
            </p:txBody>
          </p:sp>
          <p:sp>
            <p:nvSpPr>
              <p:cNvPr id="64" name="Rectangle 57"/>
              <p:cNvSpPr>
                <a:spLocks noChangeArrowheads="1"/>
              </p:cNvSpPr>
              <p:nvPr/>
            </p:nvSpPr>
            <p:spPr bwMode="gray">
              <a:xfrm>
                <a:off x="8736658" y="6381556"/>
                <a:ext cx="418536" cy="152587"/>
              </a:xfrm>
              <a:prstGeom prst="rect">
                <a:avLst/>
              </a:prstGeom>
              <a:noFill/>
              <a:ln w="9525">
                <a:noFill/>
                <a:miter lim="800000"/>
                <a:headEnd/>
                <a:tailEnd/>
              </a:ln>
              <a:effectLst/>
            </p:spPr>
            <p:txBody>
              <a:bodyPr lIns="0" tIns="0" rIns="0" bIns="0"/>
              <a:lstStyle/>
              <a:p>
                <a:pPr algn="ctr" defTabSz="895350">
                  <a:spcBef>
                    <a:spcPct val="20000"/>
                  </a:spcBef>
                  <a:defRPr/>
                </a:pPr>
                <a:r>
                  <a:rPr lang="en-US" sz="1000" i="1" kern="0" dirty="0"/>
                  <a:t>High</a:t>
                </a:r>
              </a:p>
            </p:txBody>
          </p:sp>
          <p:cxnSp>
            <p:nvCxnSpPr>
              <p:cNvPr id="65" name="Straight Arrow Connector 64"/>
              <p:cNvCxnSpPr/>
              <p:nvPr/>
            </p:nvCxnSpPr>
            <p:spPr>
              <a:xfrm>
                <a:off x="4838211" y="6457842"/>
                <a:ext cx="3908796" cy="0"/>
              </a:xfrm>
              <a:prstGeom prst="straightConnector1">
                <a:avLst/>
              </a:prstGeom>
              <a:noFill/>
              <a:ln w="9525" cap="flat" cmpd="sng" algn="ctr">
                <a:solidFill>
                  <a:schemeClr val="bg1">
                    <a:lumMod val="50000"/>
                  </a:schemeClr>
                </a:solidFill>
                <a:prstDash val="solid"/>
                <a:headEnd type="none" w="med" len="med"/>
                <a:tailEnd type="triangle" w="med" len="med"/>
              </a:ln>
              <a:effectLst/>
            </p:spPr>
          </p:cxnSp>
          <p:sp>
            <p:nvSpPr>
              <p:cNvPr id="66" name="Text Box 59"/>
              <p:cNvSpPr txBox="1">
                <a:spLocks noChangeArrowheads="1"/>
              </p:cNvSpPr>
              <p:nvPr/>
            </p:nvSpPr>
            <p:spPr bwMode="auto">
              <a:xfrm>
                <a:off x="6502197" y="6356350"/>
                <a:ext cx="861923" cy="252884"/>
              </a:xfrm>
              <a:prstGeom prst="rect">
                <a:avLst/>
              </a:prstGeom>
              <a:solidFill>
                <a:schemeClr val="bg1">
                  <a:lumMod val="95000"/>
                </a:schemeClr>
              </a:solidFill>
              <a:ln w="9525" algn="ctr">
                <a:noFill/>
                <a:miter lim="800000"/>
                <a:headEnd/>
                <a:tailEnd/>
              </a:ln>
              <a:effectLst/>
            </p:spPr>
            <p:txBody>
              <a:bodyPr wrap="square">
                <a:spAutoFit/>
              </a:bodyPr>
              <a:lstStyle/>
              <a:p>
                <a:pPr marL="0" marR="0" lvl="0" indent="0" algn="ctr" defTabSz="91426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rPr>
                  <a:t>IT </a:t>
                </a:r>
                <a:r>
                  <a:rPr lang="en-US" sz="1100" b="1" kern="0" noProof="0" dirty="0"/>
                  <a:t>C</a:t>
                </a:r>
                <a:r>
                  <a:rPr lang="en-US" sz="1100" b="1" kern="0" dirty="0" err="1"/>
                  <a:t>apability</a:t>
                </a:r>
                <a:r>
                  <a:rPr kumimoji="0" lang="en-US" sz="1100" b="1" i="0" u="none" strike="noStrike" kern="0" cap="none" spc="0" normalizeH="0" baseline="0" noProof="0" dirty="0">
                    <a:ln>
                      <a:noFill/>
                    </a:ln>
                    <a:effectLst/>
                    <a:uLnTx/>
                    <a:uFillTx/>
                  </a:rPr>
                  <a:t> Gap</a:t>
                </a:r>
              </a:p>
            </p:txBody>
          </p:sp>
        </p:grpSp>
        <p:grpSp>
          <p:nvGrpSpPr>
            <p:cNvPr id="68" name="Group 67"/>
            <p:cNvGrpSpPr/>
            <p:nvPr/>
          </p:nvGrpSpPr>
          <p:grpSpPr>
            <a:xfrm>
              <a:off x="1016296" y="1759271"/>
              <a:ext cx="425116" cy="4640120"/>
              <a:chOff x="3561766" y="1524001"/>
              <a:chExt cx="425116" cy="4106941"/>
            </a:xfrm>
          </p:grpSpPr>
          <p:sp>
            <p:nvSpPr>
              <p:cNvPr id="69" name="Rectangle 27"/>
              <p:cNvSpPr>
                <a:spLocks noChangeArrowheads="1"/>
              </p:cNvSpPr>
              <p:nvPr/>
            </p:nvSpPr>
            <p:spPr bwMode="auto">
              <a:xfrm>
                <a:off x="3578676" y="5413013"/>
                <a:ext cx="396262" cy="217929"/>
              </a:xfrm>
              <a:prstGeom prst="rect">
                <a:avLst/>
              </a:prstGeom>
              <a:noFill/>
              <a:ln w="9525">
                <a:noFill/>
                <a:miter lim="800000"/>
                <a:headEnd/>
                <a:tailEnd/>
              </a:ln>
              <a:effectLst/>
            </p:spPr>
            <p:txBody>
              <a:bodyPr wrap="none">
                <a:spAutoFit/>
              </a:bodyPr>
              <a:lstStyle/>
              <a:p>
                <a:pPr algn="r" defTabSz="914260">
                  <a:spcBef>
                    <a:spcPct val="50000"/>
                  </a:spcBef>
                  <a:defRPr/>
                </a:pPr>
                <a:r>
                  <a:rPr lang="en-US" sz="1000" i="1" kern="0" dirty="0"/>
                  <a:t>Low</a:t>
                </a:r>
              </a:p>
            </p:txBody>
          </p:sp>
          <p:sp>
            <p:nvSpPr>
              <p:cNvPr id="77" name="Rectangle 29"/>
              <p:cNvSpPr>
                <a:spLocks noChangeArrowheads="1"/>
              </p:cNvSpPr>
              <p:nvPr/>
            </p:nvSpPr>
            <p:spPr bwMode="auto">
              <a:xfrm>
                <a:off x="3561766" y="1524001"/>
                <a:ext cx="425116" cy="217929"/>
              </a:xfrm>
              <a:prstGeom prst="rect">
                <a:avLst/>
              </a:prstGeom>
              <a:noFill/>
              <a:ln w="9525">
                <a:noFill/>
                <a:miter lim="800000"/>
                <a:headEnd/>
                <a:tailEnd/>
              </a:ln>
              <a:effectLst/>
            </p:spPr>
            <p:txBody>
              <a:bodyPr wrap="none">
                <a:spAutoFit/>
              </a:bodyPr>
              <a:lstStyle/>
              <a:p>
                <a:pPr algn="r" defTabSz="914260">
                  <a:defRPr/>
                </a:pPr>
                <a:r>
                  <a:rPr lang="en-US" sz="1000" i="1" kern="0" dirty="0">
                    <a:solidFill>
                      <a:sysClr val="windowText" lastClr="000000"/>
                    </a:solidFill>
                  </a:rPr>
                  <a:t>High</a:t>
                </a:r>
              </a:p>
            </p:txBody>
          </p:sp>
          <p:cxnSp>
            <p:nvCxnSpPr>
              <p:cNvPr id="78" name="Straight Arrow Connector 77"/>
              <p:cNvCxnSpPr>
                <a:stCxn id="69" idx="0"/>
                <a:endCxn id="77" idx="2"/>
              </p:cNvCxnSpPr>
              <p:nvPr/>
            </p:nvCxnSpPr>
            <p:spPr>
              <a:xfrm flipH="1" flipV="1">
                <a:off x="3774324" y="1741930"/>
                <a:ext cx="2483" cy="3671084"/>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9" name="Text Box 51"/>
              <p:cNvSpPr txBox="1">
                <a:spLocks noChangeArrowheads="1"/>
              </p:cNvSpPr>
              <p:nvPr/>
            </p:nvSpPr>
            <p:spPr bwMode="auto">
              <a:xfrm>
                <a:off x="3650804" y="2889745"/>
                <a:ext cx="246221" cy="1372598"/>
              </a:xfrm>
              <a:prstGeom prst="rect">
                <a:avLst/>
              </a:prstGeom>
              <a:solidFill>
                <a:schemeClr val="bg1">
                  <a:lumMod val="95000"/>
                </a:schemeClr>
              </a:solidFill>
              <a:ln w="9525" algn="ctr">
                <a:noFill/>
                <a:miter lim="800000"/>
                <a:headEnd/>
                <a:tailEnd/>
              </a:ln>
              <a:effectLst/>
            </p:spPr>
            <p:txBody>
              <a:bodyPr vert="vert270" wrap="square" lIns="45720" rIns="45720">
                <a:spAutoFit/>
              </a:bodyPr>
              <a:lstStyle/>
              <a:p>
                <a:pPr algn="ctr" defTabSz="914260">
                  <a:defRPr/>
                </a:pPr>
                <a:r>
                  <a:rPr lang="en-US" sz="1000" b="1" kern="0" dirty="0"/>
                  <a:t>Importance to IT Strategy</a:t>
                </a:r>
              </a:p>
            </p:txBody>
          </p:sp>
        </p:grpSp>
        <p:sp>
          <p:nvSpPr>
            <p:cNvPr id="89" name="Rounded Rectangle 88"/>
            <p:cNvSpPr/>
            <p:nvPr/>
          </p:nvSpPr>
          <p:spPr>
            <a:xfrm>
              <a:off x="7519362" y="1957049"/>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Governance</a:t>
              </a:r>
            </a:p>
          </p:txBody>
        </p:sp>
        <p:sp>
          <p:nvSpPr>
            <p:cNvPr id="93" name="Rounded Rectangle 92"/>
            <p:cNvSpPr/>
            <p:nvPr/>
          </p:nvSpPr>
          <p:spPr>
            <a:xfrm>
              <a:off x="7360011" y="2312162"/>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Strategic Planning</a:t>
              </a:r>
            </a:p>
          </p:txBody>
        </p:sp>
        <p:sp>
          <p:nvSpPr>
            <p:cNvPr id="94" name="Rounded Rectangle 93"/>
            <p:cNvSpPr/>
            <p:nvPr/>
          </p:nvSpPr>
          <p:spPr>
            <a:xfrm>
              <a:off x="7327508" y="3391167"/>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Portfolio Management</a:t>
              </a:r>
            </a:p>
          </p:txBody>
        </p:sp>
        <p:sp>
          <p:nvSpPr>
            <p:cNvPr id="95" name="Rounded Rectangle 94"/>
            <p:cNvSpPr/>
            <p:nvPr/>
          </p:nvSpPr>
          <p:spPr>
            <a:xfrm>
              <a:off x="5719196" y="2644428"/>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Enterprise Architecture</a:t>
              </a:r>
            </a:p>
          </p:txBody>
        </p:sp>
        <p:sp>
          <p:nvSpPr>
            <p:cNvPr id="96" name="Rounded Rectangle 95"/>
            <p:cNvSpPr/>
            <p:nvPr/>
          </p:nvSpPr>
          <p:spPr>
            <a:xfrm>
              <a:off x="6600631" y="3014619"/>
              <a:ext cx="1079141" cy="331176"/>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Business Delivery Management (Business Champions)</a:t>
              </a:r>
            </a:p>
          </p:txBody>
        </p:sp>
        <p:sp>
          <p:nvSpPr>
            <p:cNvPr id="97" name="Rounded Rectangle 96"/>
            <p:cNvSpPr/>
            <p:nvPr/>
          </p:nvSpPr>
          <p:spPr>
            <a:xfrm>
              <a:off x="7155145" y="2699004"/>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Innovation Management</a:t>
              </a:r>
            </a:p>
          </p:txBody>
        </p:sp>
        <p:sp>
          <p:nvSpPr>
            <p:cNvPr id="98" name="Rounded Rectangle 97"/>
            <p:cNvSpPr/>
            <p:nvPr/>
          </p:nvSpPr>
          <p:spPr>
            <a:xfrm>
              <a:off x="5032202" y="4351179"/>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Project Management Office</a:t>
              </a:r>
            </a:p>
          </p:txBody>
        </p:sp>
        <p:sp>
          <p:nvSpPr>
            <p:cNvPr id="99" name="Rounded Rectangle 98"/>
            <p:cNvSpPr/>
            <p:nvPr/>
          </p:nvSpPr>
          <p:spPr>
            <a:xfrm>
              <a:off x="6238252" y="1957049"/>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Sourcing</a:t>
              </a:r>
            </a:p>
          </p:txBody>
        </p:sp>
        <p:sp>
          <p:nvSpPr>
            <p:cNvPr id="100" name="Rounded Rectangle 99"/>
            <p:cNvSpPr/>
            <p:nvPr/>
          </p:nvSpPr>
          <p:spPr>
            <a:xfrm>
              <a:off x="3421777" y="4583990"/>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Service Catalog Management</a:t>
              </a:r>
            </a:p>
          </p:txBody>
        </p:sp>
        <p:sp>
          <p:nvSpPr>
            <p:cNvPr id="101" name="Rounded Rectangle 100"/>
            <p:cNvSpPr/>
            <p:nvPr/>
          </p:nvSpPr>
          <p:spPr>
            <a:xfrm>
              <a:off x="4863541" y="3109271"/>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Business Analysis</a:t>
              </a:r>
            </a:p>
          </p:txBody>
        </p:sp>
        <p:sp>
          <p:nvSpPr>
            <p:cNvPr id="102" name="Rounded Rectangle 101"/>
            <p:cNvSpPr/>
            <p:nvPr/>
          </p:nvSpPr>
          <p:spPr>
            <a:xfrm>
              <a:off x="7230520" y="4960489"/>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Dev. &amp; Testing</a:t>
              </a:r>
            </a:p>
          </p:txBody>
        </p:sp>
        <p:sp>
          <p:nvSpPr>
            <p:cNvPr id="103" name="Rounded Rectangle 102"/>
            <p:cNvSpPr/>
            <p:nvPr/>
          </p:nvSpPr>
          <p:spPr>
            <a:xfrm>
              <a:off x="1849506" y="5123416"/>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Network &amp; Communication</a:t>
              </a:r>
            </a:p>
          </p:txBody>
        </p:sp>
        <p:sp>
          <p:nvSpPr>
            <p:cNvPr id="104" name="Rounded Rectangle 103"/>
            <p:cNvSpPr/>
            <p:nvPr/>
          </p:nvSpPr>
          <p:spPr>
            <a:xfrm>
              <a:off x="1731608" y="4672786"/>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Infrastructure &amp; Datacentre Mgmt.</a:t>
              </a:r>
            </a:p>
          </p:txBody>
        </p:sp>
        <p:sp>
          <p:nvSpPr>
            <p:cNvPr id="105" name="Rounded Rectangle 104"/>
            <p:cNvSpPr/>
            <p:nvPr/>
          </p:nvSpPr>
          <p:spPr>
            <a:xfrm>
              <a:off x="2469605" y="5434057"/>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Incidents Mgmt.</a:t>
              </a:r>
            </a:p>
          </p:txBody>
        </p:sp>
        <p:sp>
          <p:nvSpPr>
            <p:cNvPr id="106" name="Rounded Rectangle 105"/>
            <p:cNvSpPr/>
            <p:nvPr/>
          </p:nvSpPr>
          <p:spPr>
            <a:xfrm>
              <a:off x="2006783" y="4331063"/>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Request fulfilment</a:t>
              </a:r>
            </a:p>
          </p:txBody>
        </p:sp>
        <p:sp>
          <p:nvSpPr>
            <p:cNvPr id="107" name="Rounded Rectangle 106"/>
            <p:cNvSpPr/>
            <p:nvPr/>
          </p:nvSpPr>
          <p:spPr>
            <a:xfrm>
              <a:off x="5231646" y="2301488"/>
              <a:ext cx="1097280" cy="244800"/>
            </a:xfrm>
            <a:prstGeom prst="roundRect">
              <a:avLst/>
            </a:prstGeom>
            <a:solidFill>
              <a:srgbClr val="FAA22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Financial Management</a:t>
              </a:r>
            </a:p>
          </p:txBody>
        </p:sp>
        <p:sp>
          <p:nvSpPr>
            <p:cNvPr id="109" name="Rounded Rectangle 108"/>
            <p:cNvSpPr/>
            <p:nvPr/>
          </p:nvSpPr>
          <p:spPr>
            <a:xfrm>
              <a:off x="6311825" y="4137215"/>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Resource Management</a:t>
              </a:r>
            </a:p>
          </p:txBody>
        </p:sp>
        <p:sp>
          <p:nvSpPr>
            <p:cNvPr id="110" name="Rounded Rectangle 109"/>
            <p:cNvSpPr/>
            <p:nvPr/>
          </p:nvSpPr>
          <p:spPr>
            <a:xfrm>
              <a:off x="7144998" y="4461590"/>
              <a:ext cx="1097280" cy="244800"/>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Vendor Management</a:t>
              </a:r>
            </a:p>
          </p:txBody>
        </p:sp>
        <p:sp>
          <p:nvSpPr>
            <p:cNvPr id="111" name="Rounded Rectangle 110"/>
            <p:cNvSpPr/>
            <p:nvPr/>
          </p:nvSpPr>
          <p:spPr>
            <a:xfrm>
              <a:off x="1769752" y="3959697"/>
              <a:ext cx="1097280" cy="244800"/>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Application Support</a:t>
              </a:r>
            </a:p>
          </p:txBody>
        </p:sp>
        <p:sp>
          <p:nvSpPr>
            <p:cNvPr id="112" name="Rounded Rectangle 111"/>
            <p:cNvSpPr/>
            <p:nvPr/>
          </p:nvSpPr>
          <p:spPr>
            <a:xfrm>
              <a:off x="4717646" y="4673436"/>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Solution Integration &amp; Deployment</a:t>
              </a:r>
            </a:p>
          </p:txBody>
        </p:sp>
        <p:sp>
          <p:nvSpPr>
            <p:cNvPr id="113" name="Rounded Rectangle 112"/>
            <p:cNvSpPr/>
            <p:nvPr/>
          </p:nvSpPr>
          <p:spPr>
            <a:xfrm>
              <a:off x="6047719" y="5402187"/>
              <a:ext cx="1097280" cy="244800"/>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Knowledge Management </a:t>
              </a:r>
            </a:p>
          </p:txBody>
        </p:sp>
      </p:grpSp>
      <p:sp>
        <p:nvSpPr>
          <p:cNvPr id="12" name="Rectangle 11"/>
          <p:cNvSpPr/>
          <p:nvPr/>
        </p:nvSpPr>
        <p:spPr>
          <a:xfrm>
            <a:off x="1433402" y="1753015"/>
            <a:ext cx="3174621" cy="1600438"/>
          </a:xfrm>
          <a:prstGeom prst="rect">
            <a:avLst/>
          </a:prstGeom>
        </p:spPr>
        <p:txBody>
          <a:bodyPr wrap="square">
            <a:spAutoFit/>
          </a:bodyPr>
          <a:lstStyle/>
          <a:p>
            <a:pPr>
              <a:defRPr/>
            </a:pPr>
            <a:r>
              <a:rPr lang="en-US" sz="1400" kern="0" dirty="0">
                <a:solidFill>
                  <a:schemeClr val="accent5"/>
                </a:solidFill>
              </a:rPr>
              <a:t>A gap assessment indicates the need for ITD to significantly uplift capabilities in areas of high importance particularly IT governance, planning, resource capabilities, sourcing and service delivery </a:t>
            </a:r>
          </a:p>
        </p:txBody>
      </p:sp>
      <p:sp>
        <p:nvSpPr>
          <p:cNvPr id="114" name="Rounded Rectangle 113"/>
          <p:cNvSpPr/>
          <p:nvPr/>
        </p:nvSpPr>
        <p:spPr>
          <a:xfrm>
            <a:off x="10808685" y="5608429"/>
            <a:ext cx="1098735" cy="313211"/>
          </a:xfrm>
          <a:prstGeom prst="roundRect">
            <a:avLst/>
          </a:prstGeom>
          <a:solidFill>
            <a:srgbClr val="FAA22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Improvement needed</a:t>
            </a:r>
          </a:p>
        </p:txBody>
      </p:sp>
      <p:sp>
        <p:nvSpPr>
          <p:cNvPr id="115" name="Rounded Rectangle 114"/>
          <p:cNvSpPr/>
          <p:nvPr/>
        </p:nvSpPr>
        <p:spPr>
          <a:xfrm>
            <a:off x="10799179" y="5957719"/>
            <a:ext cx="1098735" cy="313211"/>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Not a current capability</a:t>
            </a:r>
          </a:p>
        </p:txBody>
      </p:sp>
      <p:sp>
        <p:nvSpPr>
          <p:cNvPr id="117" name="Rounded Rectangle 116"/>
          <p:cNvSpPr/>
          <p:nvPr/>
        </p:nvSpPr>
        <p:spPr>
          <a:xfrm>
            <a:off x="10799178" y="5228598"/>
            <a:ext cx="1098735" cy="313211"/>
          </a:xfrm>
          <a:prstGeom prst="roundRect">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Established capability</a:t>
            </a:r>
          </a:p>
        </p:txBody>
      </p:sp>
      <p:sp>
        <p:nvSpPr>
          <p:cNvPr id="119" name="Rounded Rectangle 118"/>
          <p:cNvSpPr/>
          <p:nvPr/>
        </p:nvSpPr>
        <p:spPr>
          <a:xfrm>
            <a:off x="5294322" y="3364008"/>
            <a:ext cx="1454219" cy="253248"/>
          </a:xfrm>
          <a:prstGeom prst="round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Solution Design</a:t>
            </a:r>
          </a:p>
        </p:txBody>
      </p:sp>
      <p:sp>
        <p:nvSpPr>
          <p:cNvPr id="120" name="Rounded Rectangle 119"/>
          <p:cNvSpPr/>
          <p:nvPr/>
        </p:nvSpPr>
        <p:spPr>
          <a:xfrm>
            <a:off x="1946820" y="5685204"/>
            <a:ext cx="1454219" cy="253248"/>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b="1" dirty="0">
                <a:solidFill>
                  <a:srgbClr val="FFFFFF"/>
                </a:solidFill>
              </a:rPr>
              <a:t>IT Assets &amp; </a:t>
            </a:r>
            <a:r>
              <a:rPr lang="en-AU" sz="800" b="1" dirty="0" err="1">
                <a:solidFill>
                  <a:srgbClr val="FFFFFF"/>
                </a:solidFill>
              </a:rPr>
              <a:t>Config</a:t>
            </a:r>
            <a:r>
              <a:rPr lang="en-AU" sz="800" b="1" dirty="0">
                <a:solidFill>
                  <a:srgbClr val="FFFFFF"/>
                </a:solidFill>
              </a:rPr>
              <a:t> Mgmt.</a:t>
            </a:r>
          </a:p>
        </p:txBody>
      </p:sp>
    </p:spTree>
    <p:extLst>
      <p:ext uri="{BB962C8B-B14F-4D97-AF65-F5344CB8AC3E}">
        <p14:creationId xmlns:p14="http://schemas.microsoft.com/office/powerpoint/2010/main" val="446481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extLst>
              <p:ext uri="{D42A27DB-BD31-4B8C-83A1-F6EECF244321}">
                <p14:modId xmlns:p14="http://schemas.microsoft.com/office/powerpoint/2010/main" val="2663419907"/>
              </p:ext>
            </p:extLst>
          </p:nvPr>
        </p:nvGraphicFramePr>
        <p:xfrm>
          <a:off x="1525191" y="859780"/>
          <a:ext cx="1190" cy="1190"/>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25191" y="859780"/>
                        <a:ext cx="1190" cy="1190"/>
                      </a:xfrm>
                      <a:prstGeom prst="rect">
                        <a:avLst/>
                      </a:prstGeom>
                    </p:spPr>
                  </p:pic>
                </p:oleObj>
              </mc:Fallback>
            </mc:AlternateContent>
          </a:graphicData>
        </a:graphic>
      </p:graphicFrame>
      <p:sp>
        <p:nvSpPr>
          <p:cNvPr id="8" name="Rectangle 7"/>
          <p:cNvSpPr/>
          <p:nvPr/>
        </p:nvSpPr>
        <p:spPr>
          <a:xfrm>
            <a:off x="983432" y="908720"/>
            <a:ext cx="5764673" cy="5178689"/>
          </a:xfrm>
          <a:prstGeom prst="rect">
            <a:avLst/>
          </a:prstGeom>
          <a:solidFill>
            <a:srgbClr val="646464">
              <a:alpha val="5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5" name="Oval 4"/>
          <p:cNvSpPr/>
          <p:nvPr/>
        </p:nvSpPr>
        <p:spPr>
          <a:xfrm>
            <a:off x="624412" y="1288603"/>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26" name="Oval 25"/>
          <p:cNvSpPr/>
          <p:nvPr/>
        </p:nvSpPr>
        <p:spPr>
          <a:xfrm>
            <a:off x="624412" y="2208392"/>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6" name="Oval 5"/>
          <p:cNvSpPr/>
          <p:nvPr/>
        </p:nvSpPr>
        <p:spPr>
          <a:xfrm>
            <a:off x="624412" y="3128181"/>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17" name="Oval 16"/>
          <p:cNvSpPr/>
          <p:nvPr/>
        </p:nvSpPr>
        <p:spPr>
          <a:xfrm>
            <a:off x="624412" y="4047970"/>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sp>
        <p:nvSpPr>
          <p:cNvPr id="7" name="Oval 6"/>
          <p:cNvSpPr/>
          <p:nvPr/>
        </p:nvSpPr>
        <p:spPr>
          <a:xfrm>
            <a:off x="624412" y="4967759"/>
            <a:ext cx="725502" cy="725503"/>
          </a:xfrm>
          <a:prstGeom prst="ellipse">
            <a:avLst/>
          </a:prstGeom>
          <a:solidFill>
            <a:srgbClr val="1859A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000000"/>
              </a:solidFill>
            </a:endParaRPr>
          </a:p>
        </p:txBody>
      </p:sp>
      <p:grpSp>
        <p:nvGrpSpPr>
          <p:cNvPr id="4" name="Group 3"/>
          <p:cNvGrpSpPr/>
          <p:nvPr/>
        </p:nvGrpSpPr>
        <p:grpSpPr>
          <a:xfrm>
            <a:off x="2363215" y="1368001"/>
            <a:ext cx="107944" cy="566705"/>
            <a:chOff x="6348787" y="589394"/>
            <a:chExt cx="144000" cy="756000"/>
          </a:xfrm>
          <a:solidFill>
            <a:srgbClr val="1859A9"/>
          </a:solidFill>
        </p:grpSpPr>
        <p:cxnSp>
          <p:nvCxnSpPr>
            <p:cNvPr id="18" name="Straight Connector 17"/>
            <p:cNvCxnSpPr/>
            <p:nvPr/>
          </p:nvCxnSpPr>
          <p:spPr>
            <a:xfrm>
              <a:off x="6420787" y="589394"/>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348787" y="895394"/>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2" name="Group 11"/>
          <p:cNvGrpSpPr/>
          <p:nvPr/>
        </p:nvGrpSpPr>
        <p:grpSpPr>
          <a:xfrm>
            <a:off x="2363215" y="2287790"/>
            <a:ext cx="107944" cy="566705"/>
            <a:chOff x="6348787" y="1804920"/>
            <a:chExt cx="144000" cy="756000"/>
          </a:xfrm>
          <a:solidFill>
            <a:srgbClr val="1859A9"/>
          </a:solidFill>
        </p:grpSpPr>
        <p:cxnSp>
          <p:nvCxnSpPr>
            <p:cNvPr id="49" name="Straight Connector 48"/>
            <p:cNvCxnSpPr/>
            <p:nvPr/>
          </p:nvCxnSpPr>
          <p:spPr>
            <a:xfrm>
              <a:off x="6420787" y="180492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6348787" y="211092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3" name="Group 12"/>
          <p:cNvGrpSpPr/>
          <p:nvPr/>
        </p:nvGrpSpPr>
        <p:grpSpPr>
          <a:xfrm>
            <a:off x="2363215" y="3207579"/>
            <a:ext cx="107944" cy="566705"/>
            <a:chOff x="6348787" y="2943916"/>
            <a:chExt cx="144000" cy="756000"/>
          </a:xfrm>
          <a:solidFill>
            <a:srgbClr val="1859A9"/>
          </a:solidFill>
        </p:grpSpPr>
        <p:cxnSp>
          <p:nvCxnSpPr>
            <p:cNvPr id="52" name="Straight Connector 51"/>
            <p:cNvCxnSpPr/>
            <p:nvPr/>
          </p:nvCxnSpPr>
          <p:spPr>
            <a:xfrm>
              <a:off x="6420787" y="2943916"/>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6348787" y="3249916"/>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4" name="Group 13"/>
          <p:cNvGrpSpPr/>
          <p:nvPr/>
        </p:nvGrpSpPr>
        <p:grpSpPr>
          <a:xfrm>
            <a:off x="2363215" y="4127368"/>
            <a:ext cx="107944" cy="566705"/>
            <a:chOff x="6348787" y="4243830"/>
            <a:chExt cx="144000" cy="756000"/>
          </a:xfrm>
          <a:solidFill>
            <a:srgbClr val="1859A9"/>
          </a:solidFill>
        </p:grpSpPr>
        <p:cxnSp>
          <p:nvCxnSpPr>
            <p:cNvPr id="55" name="Straight Connector 54"/>
            <p:cNvCxnSpPr/>
            <p:nvPr/>
          </p:nvCxnSpPr>
          <p:spPr>
            <a:xfrm>
              <a:off x="6420787" y="4243830"/>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6348787" y="4549830"/>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pSp>
        <p:nvGrpSpPr>
          <p:cNvPr id="15" name="Group 14"/>
          <p:cNvGrpSpPr/>
          <p:nvPr/>
        </p:nvGrpSpPr>
        <p:grpSpPr>
          <a:xfrm>
            <a:off x="2363215" y="5047157"/>
            <a:ext cx="107944" cy="566705"/>
            <a:chOff x="6348787" y="5496138"/>
            <a:chExt cx="144000" cy="756000"/>
          </a:xfrm>
          <a:solidFill>
            <a:srgbClr val="1859A9"/>
          </a:solidFill>
        </p:grpSpPr>
        <p:cxnSp>
          <p:nvCxnSpPr>
            <p:cNvPr id="58" name="Straight Connector 57"/>
            <p:cNvCxnSpPr/>
            <p:nvPr/>
          </p:nvCxnSpPr>
          <p:spPr>
            <a:xfrm>
              <a:off x="6420787" y="5496138"/>
              <a:ext cx="0" cy="756000"/>
            </a:xfrm>
            <a:prstGeom prst="line">
              <a:avLst/>
            </a:prstGeom>
            <a:grpFill/>
            <a:ln w="28575">
              <a:solidFill>
                <a:srgbClr val="1859A9"/>
              </a:solidFill>
              <a:tailEnd type="none"/>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6348787" y="5802138"/>
              <a:ext cx="144000" cy="144000"/>
            </a:xfrm>
            <a:prstGeom prst="ellipse">
              <a:avLst/>
            </a:prstGeom>
            <a:grpFill/>
            <a:ln w="9525">
              <a:solidFill>
                <a:srgbClr val="1859A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899" dirty="0">
                <a:solidFill>
                  <a:srgbClr val="404040"/>
                </a:solidFill>
              </a:endParaRPr>
            </a:p>
          </p:txBody>
        </p:sp>
      </p:grpSp>
      <p:graphicFrame>
        <p:nvGraphicFramePr>
          <p:cNvPr id="44" name="AgendaTable"/>
          <p:cNvGraphicFramePr>
            <a:graphicFrameLocks noGrp="1"/>
          </p:cNvGraphicFramePr>
          <p:nvPr>
            <p:extLst>
              <p:ext uri="{D42A27DB-BD31-4B8C-83A1-F6EECF244321}">
                <p14:modId xmlns:p14="http://schemas.microsoft.com/office/powerpoint/2010/main" val="2111972389"/>
              </p:ext>
            </p:extLst>
          </p:nvPr>
        </p:nvGraphicFramePr>
        <p:xfrm>
          <a:off x="1564665" y="1199166"/>
          <a:ext cx="4524401" cy="4606965"/>
        </p:xfrm>
        <a:graphic>
          <a:graphicData uri="http://schemas.openxmlformats.org/drawingml/2006/table">
            <a:tbl>
              <a:tblPr bandRow="1">
                <a:tableStyleId>{5C22544A-7EE6-4342-B048-85BDC9FD1C3A}</a:tableStyleId>
              </a:tblPr>
              <a:tblGrid>
                <a:gridCol w="767425">
                  <a:extLst>
                    <a:ext uri="{9D8B030D-6E8A-4147-A177-3AD203B41FA5}">
                      <a16:colId xmlns:a16="http://schemas.microsoft.com/office/drawing/2014/main" val="20000"/>
                    </a:ext>
                  </a:extLst>
                </a:gridCol>
                <a:gridCol w="3756976">
                  <a:extLst>
                    <a:ext uri="{9D8B030D-6E8A-4147-A177-3AD203B41FA5}">
                      <a16:colId xmlns:a16="http://schemas.microsoft.com/office/drawing/2014/main" val="20001"/>
                    </a:ext>
                  </a:extLst>
                </a:gridCol>
              </a:tblGrid>
              <a:tr h="921393">
                <a:tc>
                  <a:txBody>
                    <a:bodyPr/>
                    <a:lstStyle/>
                    <a:p>
                      <a:pPr algn="ctr"/>
                      <a:r>
                        <a:rPr lang="en-US" sz="2700" b="1" kern="1200" dirty="0">
                          <a:solidFill>
                            <a:srgbClr val="FFFFFF"/>
                          </a:solidFill>
                          <a:latin typeface="+mn-lt"/>
                          <a:ea typeface="+mn-ea"/>
                          <a:cs typeface="+mn-cs"/>
                        </a:rPr>
                        <a:t>01</a:t>
                      </a:r>
                    </a:p>
                  </a:txBody>
                  <a:tcPr marL="68580" marR="68580" marT="34290" marB="3429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Executive</a:t>
                      </a:r>
                      <a:r>
                        <a:rPr lang="en-US" sz="1300" b="1" kern="1200" baseline="0" dirty="0">
                          <a:solidFill>
                            <a:srgbClr val="FFFFFF"/>
                          </a:solidFill>
                          <a:latin typeface="+mn-lt"/>
                          <a:ea typeface="+mn-ea"/>
                          <a:cs typeface="+mn-cs"/>
                        </a:rPr>
                        <a:t> Summary</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21393">
                <a:tc>
                  <a:txBody>
                    <a:bodyPr/>
                    <a:lstStyle/>
                    <a:p>
                      <a:pPr algn="ctr"/>
                      <a:r>
                        <a:rPr lang="en-US" sz="2700" b="1" kern="1200" dirty="0">
                          <a:solidFill>
                            <a:srgbClr val="FFFFFF"/>
                          </a:solidFill>
                          <a:latin typeface="+mn-lt"/>
                          <a:ea typeface="+mn-ea"/>
                          <a:cs typeface="+mn-cs"/>
                        </a:rPr>
                        <a:t>02</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Ou</a:t>
                      </a:r>
                      <a:r>
                        <a:rPr lang="en-US" sz="1300" b="1" kern="1200" baseline="0" dirty="0">
                          <a:solidFill>
                            <a:srgbClr val="FFFFFF"/>
                          </a:solidFill>
                          <a:latin typeface="+mn-lt"/>
                          <a:ea typeface="+mn-ea"/>
                          <a:cs typeface="+mn-cs"/>
                        </a:rPr>
                        <a:t>r Approach</a:t>
                      </a:r>
                      <a:endParaRPr lang="en-US" sz="1300" b="1" kern="1200" dirty="0">
                        <a:solidFill>
                          <a:srgbClr val="FFFFFF"/>
                        </a:solidFill>
                        <a:latin typeface="+mn-lt"/>
                        <a:ea typeface="+mn-ea"/>
                        <a:cs typeface="+mn-cs"/>
                      </a:endParaRP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21393">
                <a:tc>
                  <a:txBody>
                    <a:bodyPr/>
                    <a:lstStyle/>
                    <a:p>
                      <a:pPr algn="ctr"/>
                      <a:r>
                        <a:rPr lang="en-US" sz="2700" b="1" kern="1200" dirty="0">
                          <a:solidFill>
                            <a:srgbClr val="FFFFFF"/>
                          </a:solidFill>
                          <a:latin typeface="+mn-lt"/>
                          <a:ea typeface="+mn-ea"/>
                          <a:cs typeface="+mn-cs"/>
                        </a:rPr>
                        <a:t>03</a:t>
                      </a:r>
                    </a:p>
                  </a:txBody>
                  <a:tcPr marL="68580" marR="68580" marT="34290" marB="3429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Vision &amp; Mission</a:t>
                      </a: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21393">
                <a:tc>
                  <a:txBody>
                    <a:bodyPr/>
                    <a:lstStyle/>
                    <a:p>
                      <a:pPr algn="ctr"/>
                      <a:r>
                        <a:rPr lang="en-US" sz="2700" b="1" kern="1200" dirty="0">
                          <a:solidFill>
                            <a:srgbClr val="FFFFFF"/>
                          </a:solidFill>
                          <a:latin typeface="+mn-lt"/>
                          <a:ea typeface="+mn-ea"/>
                          <a:cs typeface="+mn-cs"/>
                        </a:rPr>
                        <a:t>04</a:t>
                      </a:r>
                    </a:p>
                  </a:txBody>
                  <a:tcPr marL="68580" marR="68580" marT="34290" marB="3429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marR="0" lvl="1" indent="0" algn="l" defTabSz="914400" rtl="0" eaLnBrk="1" fontAlgn="auto" latinLnBrk="0" hangingPunct="1">
                        <a:lnSpc>
                          <a:spcPct val="85000"/>
                        </a:lnSpc>
                        <a:spcBef>
                          <a:spcPts val="0"/>
                        </a:spcBef>
                        <a:spcAft>
                          <a:spcPts val="600"/>
                        </a:spcAft>
                        <a:buClr>
                          <a:schemeClr val="accent2"/>
                        </a:buClr>
                        <a:buSzPct val="70000"/>
                        <a:buFontTx/>
                        <a:buNone/>
                        <a:tabLst/>
                        <a:defRPr/>
                      </a:pPr>
                      <a:r>
                        <a:rPr lang="en-US" sz="1300" b="1" kern="1200" dirty="0">
                          <a:solidFill>
                            <a:srgbClr val="FFFFFF"/>
                          </a:solidFill>
                          <a:latin typeface="+mn-lt"/>
                          <a:ea typeface="+mn-ea"/>
                          <a:cs typeface="+mn-cs"/>
                        </a:rPr>
                        <a:t>Our Takeaway from Surveys &amp; Interviews</a:t>
                      </a:r>
                    </a:p>
                  </a:txBody>
                  <a:tcPr marL="68580" marR="68580" marT="34290" marB="3429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21393">
                <a:tc>
                  <a:txBody>
                    <a:bodyPr/>
                    <a:lstStyle/>
                    <a:p>
                      <a:pPr marL="0" algn="ctr" defTabSz="914400" rtl="0" eaLnBrk="1" latinLnBrk="0" hangingPunct="1">
                        <a:lnSpc>
                          <a:spcPct val="85000"/>
                        </a:lnSpc>
                        <a:spcAft>
                          <a:spcPts val="600"/>
                        </a:spcAft>
                        <a:buClr>
                          <a:schemeClr val="accent2"/>
                        </a:buClr>
                        <a:buSzPct val="70000"/>
                      </a:pPr>
                      <a:r>
                        <a:rPr lang="en-US" sz="2700" b="1" kern="1200" dirty="0">
                          <a:solidFill>
                            <a:srgbClr val="FFFFFF"/>
                          </a:solidFill>
                          <a:latin typeface="+mn-lt"/>
                          <a:ea typeface="+mn-ea"/>
                          <a:cs typeface="+mn-cs"/>
                        </a:rPr>
                        <a:t>05</a:t>
                      </a:r>
                    </a:p>
                  </a:txBody>
                  <a:tcPr marL="68580" marR="68580" marT="34290" marB="34290" anchor="ctr">
                    <a:lnL w="12700" cap="flat" cmpd="sng" algn="ctr">
                      <a:solidFill>
                        <a:schemeClr val="accent2"/>
                      </a:solidFill>
                      <a:prstDash val="solid"/>
                      <a:round/>
                      <a:headEnd type="none" w="med" len="med"/>
                      <a:tailEnd type="none" w="med" len="med"/>
                    </a:lnL>
                    <a:lnR w="12700" cmpd="sng">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6971" lvl="1" algn="l" defTabSz="914400" rtl="0" eaLnBrk="1" latinLnBrk="0" hangingPunct="1">
                        <a:lnSpc>
                          <a:spcPct val="85000"/>
                        </a:lnSpc>
                        <a:spcAft>
                          <a:spcPts val="600"/>
                        </a:spcAft>
                        <a:buClr>
                          <a:schemeClr val="accent2"/>
                        </a:buClr>
                        <a:buSzPct val="70000"/>
                      </a:pPr>
                      <a:r>
                        <a:rPr lang="en-US" sz="1300" b="1" kern="1200" dirty="0">
                          <a:solidFill>
                            <a:srgbClr val="FFFFFF"/>
                          </a:solidFill>
                          <a:latin typeface="+mn-lt"/>
                          <a:ea typeface="+mn-ea"/>
                          <a:cs typeface="+mn-cs"/>
                        </a:rPr>
                        <a:t>Key Initiatives</a:t>
                      </a:r>
                      <a:r>
                        <a:rPr lang="en-US" sz="1300" b="1" kern="1200" baseline="0" dirty="0">
                          <a:solidFill>
                            <a:srgbClr val="FFFFFF"/>
                          </a:solidFill>
                          <a:latin typeface="+mn-lt"/>
                          <a:ea typeface="+mn-ea"/>
                          <a:cs typeface="+mn-cs"/>
                        </a:rPr>
                        <a:t> &amp; </a:t>
                      </a:r>
                      <a:r>
                        <a:rPr lang="en-US" sz="1300" b="1" kern="1200" dirty="0">
                          <a:solidFill>
                            <a:srgbClr val="FFFFFF"/>
                          </a:solidFill>
                          <a:latin typeface="+mn-lt"/>
                          <a:ea typeface="+mn-ea"/>
                          <a:cs typeface="+mn-cs"/>
                        </a:rPr>
                        <a:t>Roadmap</a:t>
                      </a:r>
                    </a:p>
                  </a:txBody>
                  <a:tcPr marL="68580" marR="68580" marT="34290" marB="34290" anchor="ctr">
                    <a:lnL w="12700" cmpd="sng">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 name="SlideType:Agenda" hidden="1"/>
          <p:cNvSpPr/>
          <p:nvPr/>
        </p:nvSpPr>
        <p:spPr>
          <a:xfrm>
            <a:off x="1524000" y="857250"/>
            <a:ext cx="0" cy="0"/>
          </a:xfrm>
          <a:prstGeom prst="rect">
            <a:avLst/>
          </a:prstGeom>
          <a:pattFill prst="pct5">
            <a:fgClr>
              <a:srgbClr val="FFFFFF">
                <a:alpha val="0"/>
              </a:srgbClr>
            </a:fgClr>
            <a:bgClr>
              <a:srgbClr val="FFFFFF">
                <a:alpha val="0"/>
              </a:srgbClr>
            </a:bgClr>
          </a:pattFill>
          <a:ln w="9525" cap="flat" cmpd="sng" algn="ctr">
            <a:solidFill>
              <a:srgbClr val="FFFFFF">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900" dirty="0">
              <a:solidFill>
                <a:srgbClr val="646464"/>
              </a:solidFill>
            </a:endParaRPr>
          </a:p>
        </p:txBody>
      </p:sp>
    </p:spTree>
    <p:extLst>
      <p:ext uri="{BB962C8B-B14F-4D97-AF65-F5344CB8AC3E}">
        <p14:creationId xmlns:p14="http://schemas.microsoft.com/office/powerpoint/2010/main" val="2078930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We shall achieve the strategic objectives through three key initiatives</a:t>
            </a:r>
            <a:endParaRPr lang="en-GB" sz="3200" dirty="0"/>
          </a:p>
        </p:txBody>
      </p:sp>
      <p:sp>
        <p:nvSpPr>
          <p:cNvPr id="319" name="Trapezoid 318"/>
          <p:cNvSpPr/>
          <p:nvPr/>
        </p:nvSpPr>
        <p:spPr>
          <a:xfrm rot="16200000" flipH="1">
            <a:off x="235595" y="1886324"/>
            <a:ext cx="3952360" cy="2986711"/>
          </a:xfrm>
          <a:prstGeom prst="trapezoid">
            <a:avLst/>
          </a:prstGeom>
          <a:ln/>
        </p:spPr>
        <p:style>
          <a:lnRef idx="0">
            <a:schemeClr val="accent2"/>
          </a:lnRef>
          <a:fillRef idx="3">
            <a:schemeClr val="accent2"/>
          </a:fillRef>
          <a:effectRef idx="3">
            <a:schemeClr val="accent2"/>
          </a:effectRef>
          <a:fontRef idx="minor">
            <a:schemeClr val="lt1"/>
          </a:fontRef>
        </p:style>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chemeClr val="bg1"/>
              </a:solidFill>
              <a:effectLst/>
              <a:uLnTx/>
              <a:uFillTx/>
              <a:latin typeface="Arial"/>
              <a:ea typeface="+mn-ea"/>
              <a:cs typeface="+mn-cs"/>
            </a:endParaRPr>
          </a:p>
        </p:txBody>
      </p:sp>
      <p:sp>
        <p:nvSpPr>
          <p:cNvPr id="321" name="Rectangle 320"/>
          <p:cNvSpPr/>
          <p:nvPr/>
        </p:nvSpPr>
        <p:spPr>
          <a:xfrm>
            <a:off x="645640" y="4587335"/>
            <a:ext cx="698400" cy="120032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7200" b="1" i="0" u="none" strike="noStrike" kern="0" cap="none" spc="0" normalizeH="0" baseline="0" noProof="0" dirty="0">
                <a:ln>
                  <a:noFill/>
                </a:ln>
                <a:solidFill>
                  <a:schemeClr val="accent4"/>
                </a:solidFill>
                <a:effectLst/>
                <a:uLnTx/>
                <a:uFillTx/>
                <a:latin typeface="Arial"/>
              </a:rPr>
              <a:t>1</a:t>
            </a:r>
          </a:p>
        </p:txBody>
      </p:sp>
      <p:sp>
        <p:nvSpPr>
          <p:cNvPr id="332" name="Rectangle 331"/>
          <p:cNvSpPr/>
          <p:nvPr/>
        </p:nvSpPr>
        <p:spPr>
          <a:xfrm>
            <a:off x="557064" y="2234496"/>
            <a:ext cx="3148067" cy="2271391"/>
          </a:xfrm>
          <a:prstGeom prst="rect">
            <a:avLst/>
          </a:prstGeom>
        </p:spPr>
        <p:txBody>
          <a:bodyPr wrap="square" lIns="234000" rIns="126000">
            <a:spAutoFit/>
          </a:bodyPr>
          <a:lstStyle/>
          <a:p>
            <a:pPr lvl="0">
              <a:lnSpc>
                <a:spcPct val="95000"/>
              </a:lnSpc>
              <a:spcAft>
                <a:spcPts val="800"/>
              </a:spcAft>
              <a:buClr>
                <a:schemeClr val="bg1"/>
              </a:buClr>
              <a:defRPr/>
            </a:pPr>
            <a:r>
              <a:rPr lang="en-IN" sz="1600" b="1" kern="0" dirty="0">
                <a:solidFill>
                  <a:schemeClr val="bg1"/>
                </a:solidFill>
                <a:cs typeface="Arial" charset="0"/>
              </a:rPr>
              <a:t>Enable The Business Transformation</a:t>
            </a:r>
          </a:p>
          <a:p>
            <a:pPr lvl="0">
              <a:lnSpc>
                <a:spcPct val="95000"/>
              </a:lnSpc>
              <a:spcAft>
                <a:spcPts val="800"/>
              </a:spcAft>
              <a:buClr>
                <a:schemeClr val="bg1"/>
              </a:buClr>
              <a:defRPr/>
            </a:pPr>
            <a:endParaRPr lang="en-IN" sz="1600" b="1" kern="0" dirty="0">
              <a:solidFill>
                <a:schemeClr val="bg1"/>
              </a:solidFill>
              <a:cs typeface="Arial" charset="0"/>
            </a:endParaRPr>
          </a:p>
          <a:p>
            <a:pPr marL="285750" indent="-285750">
              <a:lnSpc>
                <a:spcPct val="95000"/>
              </a:lnSpc>
              <a:spcAft>
                <a:spcPts val="800"/>
              </a:spcAft>
              <a:buClr>
                <a:schemeClr val="bg1"/>
              </a:buClr>
              <a:buFont typeface="Arial" panose="020B0604020202020204" pitchFamily="34" charset="0"/>
              <a:buChar char="•"/>
              <a:defRPr/>
            </a:pPr>
            <a:r>
              <a:rPr lang="en-US" sz="1600" kern="0" dirty="0">
                <a:solidFill>
                  <a:schemeClr val="bg1"/>
                </a:solidFill>
                <a:cs typeface="Arial" charset="0"/>
              </a:rPr>
              <a:t>Digital &amp; Customer Journey technology enrichments</a:t>
            </a:r>
          </a:p>
          <a:p>
            <a:pPr marL="285750" indent="-285750">
              <a:lnSpc>
                <a:spcPct val="95000"/>
              </a:lnSpc>
              <a:spcAft>
                <a:spcPts val="800"/>
              </a:spcAft>
              <a:buClr>
                <a:schemeClr val="bg1"/>
              </a:buClr>
              <a:buFont typeface="Arial" panose="020B0604020202020204" pitchFamily="34" charset="0"/>
              <a:buChar char="•"/>
              <a:defRPr/>
            </a:pPr>
            <a:r>
              <a:rPr lang="en-US" sz="1600" kern="0" dirty="0">
                <a:solidFill>
                  <a:schemeClr val="bg1"/>
                </a:solidFill>
                <a:cs typeface="Arial" charset="0"/>
              </a:rPr>
              <a:t>Automation enhancements to Business solutions &amp; services</a:t>
            </a:r>
          </a:p>
        </p:txBody>
      </p:sp>
      <p:graphicFrame>
        <p:nvGraphicFramePr>
          <p:cNvPr id="352" name="Table 351"/>
          <p:cNvGraphicFramePr>
            <a:graphicFrameLocks noGrp="1"/>
          </p:cNvGraphicFramePr>
          <p:nvPr>
            <p:extLst>
              <p:ext uri="{D42A27DB-BD31-4B8C-83A1-F6EECF244321}">
                <p14:modId xmlns:p14="http://schemas.microsoft.com/office/powerpoint/2010/main" val="484159194"/>
              </p:ext>
            </p:extLst>
          </p:nvPr>
        </p:nvGraphicFramePr>
        <p:xfrm>
          <a:off x="962972" y="5700707"/>
          <a:ext cx="2351606" cy="709146"/>
        </p:xfrm>
        <a:graphic>
          <a:graphicData uri="http://schemas.openxmlformats.org/drawingml/2006/table">
            <a:tbl>
              <a:tblPr firstRow="1" bandRow="1">
                <a:tableStyleId>{5940675A-B579-460E-94D1-54222C63F5DA}</a:tableStyleId>
              </a:tblPr>
              <a:tblGrid>
                <a:gridCol w="1175803">
                  <a:extLst>
                    <a:ext uri="{9D8B030D-6E8A-4147-A177-3AD203B41FA5}">
                      <a16:colId xmlns:a16="http://schemas.microsoft.com/office/drawing/2014/main" val="20000"/>
                    </a:ext>
                  </a:extLst>
                </a:gridCol>
                <a:gridCol w="1175803">
                  <a:extLst>
                    <a:ext uri="{9D8B030D-6E8A-4147-A177-3AD203B41FA5}">
                      <a16:colId xmlns:a16="http://schemas.microsoft.com/office/drawing/2014/main" val="20001"/>
                    </a:ext>
                  </a:extLst>
                </a:gridCol>
              </a:tblGrid>
              <a:tr h="347384">
                <a:tc>
                  <a:txBody>
                    <a:bodyPr/>
                    <a:lstStyle/>
                    <a:p>
                      <a:pPr algn="l"/>
                      <a:r>
                        <a:rPr lang="en-US" sz="1000" b="1" dirty="0">
                          <a:solidFill>
                            <a:schemeClr val="bg1"/>
                          </a:solidFill>
                        </a:rPr>
                        <a:t>Technology </a:t>
                      </a:r>
                      <a:r>
                        <a:rPr lang="en-US" sz="1000" b="1" baseline="0" dirty="0">
                          <a:solidFill>
                            <a:schemeClr val="bg1"/>
                          </a:solidFill>
                        </a:rPr>
                        <a:t>complexity</a:t>
                      </a:r>
                      <a:endParaRPr lang="en-US" sz="1000" b="1" dirty="0">
                        <a:solidFill>
                          <a:schemeClr val="bg1"/>
                        </a:solidFill>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l"/>
                      <a:r>
                        <a:rPr lang="en-US" sz="1000" b="1" dirty="0">
                          <a:solidFill>
                            <a:schemeClr val="bg1"/>
                          </a:solidFill>
                        </a:rPr>
                        <a:t>People complexity</a:t>
                      </a:r>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12906">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
        <p:nvSpPr>
          <p:cNvPr id="354" name="Rectangle 18"/>
          <p:cNvSpPr>
            <a:spLocks noChangeAspect="1" noChangeArrowheads="1"/>
          </p:cNvSpPr>
          <p:nvPr/>
        </p:nvSpPr>
        <p:spPr bwMode="auto">
          <a:xfrm>
            <a:off x="2605978" y="6176527"/>
            <a:ext cx="237244" cy="138499"/>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High</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3" name="Group 2">
            <a:extLst>
              <a:ext uri="{FF2B5EF4-FFF2-40B4-BE49-F238E27FC236}">
                <a16:creationId xmlns:a16="http://schemas.microsoft.com/office/drawing/2014/main" id="{A96D6BB8-EA8F-403C-83CA-5C951ADDF210}"/>
              </a:ext>
            </a:extLst>
          </p:cNvPr>
          <p:cNvGrpSpPr/>
          <p:nvPr/>
        </p:nvGrpSpPr>
        <p:grpSpPr>
          <a:xfrm>
            <a:off x="2334832" y="6144702"/>
            <a:ext cx="222950" cy="224066"/>
            <a:chOff x="1792570" y="6144702"/>
            <a:chExt cx="222950" cy="224066"/>
          </a:xfrm>
        </p:grpSpPr>
        <p:sp>
          <p:nvSpPr>
            <p:cNvPr id="55" name="Oval 16"/>
            <p:cNvSpPr>
              <a:spLocks noChangeArrowheads="1"/>
            </p:cNvSpPr>
            <p:nvPr/>
          </p:nvSpPr>
          <p:spPr bwMode="auto">
            <a:xfrm>
              <a:off x="1792570" y="6144702"/>
              <a:ext cx="222950" cy="22295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56" name="Arc 13"/>
            <p:cNvSpPr>
              <a:spLocks/>
            </p:cNvSpPr>
            <p:nvPr/>
          </p:nvSpPr>
          <p:spPr bwMode="auto">
            <a:xfrm>
              <a:off x="1792570" y="6144702"/>
              <a:ext cx="222774" cy="224066"/>
            </a:xfrm>
            <a:custGeom>
              <a:avLst/>
              <a:gdLst>
                <a:gd name="T0" fmla="*/ 0 w 43199"/>
                <a:gd name="T1" fmla="*/ 0 h 43200"/>
                <a:gd name="T2" fmla="*/ 0 w 43199"/>
                <a:gd name="T3" fmla="*/ 0 h 43200"/>
                <a:gd name="T4" fmla="*/ 0 w 43199"/>
                <a:gd name="T5" fmla="*/ 0 h 43200"/>
                <a:gd name="T6" fmla="*/ 0 60000 65536"/>
                <a:gd name="T7" fmla="*/ 0 60000 65536"/>
                <a:gd name="T8" fmla="*/ 0 60000 65536"/>
                <a:gd name="T9" fmla="*/ 0 w 43199"/>
                <a:gd name="T10" fmla="*/ 0 h 43200"/>
                <a:gd name="T11" fmla="*/ 43199 w 43199"/>
                <a:gd name="T12" fmla="*/ 43200 h 43200"/>
              </a:gdLst>
              <a:ahLst/>
              <a:cxnLst>
                <a:cxn ang="T6">
                  <a:pos x="T0" y="T1"/>
                </a:cxn>
                <a:cxn ang="T7">
                  <a:pos x="T2" y="T3"/>
                </a:cxn>
                <a:cxn ang="T8">
                  <a:pos x="T4" y="T5"/>
                </a:cxn>
              </a:cxnLst>
              <a:rect l="T9" t="T10" r="T11" b="T12"/>
              <a:pathLst>
                <a:path w="43199" h="43200" fill="none" extrusionOk="0">
                  <a:moveTo>
                    <a:pt x="21598" y="0"/>
                  </a:moveTo>
                  <a:cubicBezTo>
                    <a:pt x="33528" y="0"/>
                    <a:pt x="43199" y="9670"/>
                    <a:pt x="43199" y="21600"/>
                  </a:cubicBezTo>
                  <a:cubicBezTo>
                    <a:pt x="43199" y="33529"/>
                    <a:pt x="33528" y="43200"/>
                    <a:pt x="21599" y="43200"/>
                  </a:cubicBezTo>
                  <a:cubicBezTo>
                    <a:pt x="9731" y="43200"/>
                    <a:pt x="86" y="33625"/>
                    <a:pt x="-1" y="21758"/>
                  </a:cubicBezTo>
                </a:path>
                <a:path w="43199" h="43200" stroke="0" extrusionOk="0">
                  <a:moveTo>
                    <a:pt x="21598" y="0"/>
                  </a:moveTo>
                  <a:cubicBezTo>
                    <a:pt x="33528" y="0"/>
                    <a:pt x="43199" y="9670"/>
                    <a:pt x="43199" y="21600"/>
                  </a:cubicBezTo>
                  <a:cubicBezTo>
                    <a:pt x="43199" y="33529"/>
                    <a:pt x="33528" y="43200"/>
                    <a:pt x="21599" y="43200"/>
                  </a:cubicBezTo>
                  <a:cubicBezTo>
                    <a:pt x="9731" y="43200"/>
                    <a:pt x="86" y="33625"/>
                    <a:pt x="-1" y="21758"/>
                  </a:cubicBezTo>
                  <a:lnTo>
                    <a:pt x="21599" y="21600"/>
                  </a:lnTo>
                  <a:close/>
                </a:path>
              </a:pathLst>
            </a:custGeom>
            <a:solidFill>
              <a:schemeClr val="accent2"/>
            </a:solidFill>
            <a:ln w="6350">
              <a:solidFill>
                <a:schemeClr val="tx1"/>
              </a:solid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grpSp>
        <p:nvGrpSpPr>
          <p:cNvPr id="4" name="Group 3">
            <a:extLst>
              <a:ext uri="{FF2B5EF4-FFF2-40B4-BE49-F238E27FC236}">
                <a16:creationId xmlns:a16="http://schemas.microsoft.com/office/drawing/2014/main" id="{3A2F5B6E-74CC-4824-B4ED-CBF63CCCDFD1}"/>
              </a:ext>
            </a:extLst>
          </p:cNvPr>
          <p:cNvGrpSpPr/>
          <p:nvPr/>
        </p:nvGrpSpPr>
        <p:grpSpPr>
          <a:xfrm>
            <a:off x="1048034" y="6145754"/>
            <a:ext cx="797668" cy="224066"/>
            <a:chOff x="803481" y="6145754"/>
            <a:chExt cx="797668" cy="224066"/>
          </a:xfrm>
        </p:grpSpPr>
        <p:sp>
          <p:nvSpPr>
            <p:cNvPr id="62" name="Rectangle 23"/>
            <p:cNvSpPr>
              <a:spLocks noChangeAspect="1" noChangeArrowheads="1"/>
            </p:cNvSpPr>
            <p:nvPr/>
          </p:nvSpPr>
          <p:spPr bwMode="auto">
            <a:xfrm>
              <a:off x="1113836" y="6189680"/>
              <a:ext cx="487313" cy="138500"/>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schemeClr val="tx1">
                      <a:lumMod val="65000"/>
                      <a:lumOff val="35000"/>
                    </a:schemeClr>
                  </a:solidFill>
                  <a:latin typeface="Arial" panose="020B0604020202020204" pitchFamily="34" charset="0"/>
                  <a:ea typeface="EYInterstate" charset="0"/>
                  <a:cs typeface="Arial" panose="020B0604020202020204" pitchFamily="34" charset="0"/>
                </a:rPr>
                <a:t>Very high</a:t>
              </a:r>
            </a:p>
          </p:txBody>
        </p:sp>
        <p:sp>
          <p:nvSpPr>
            <p:cNvPr id="63" name="Oval 24"/>
            <p:cNvSpPr>
              <a:spLocks noChangeArrowheads="1"/>
            </p:cNvSpPr>
            <p:nvPr/>
          </p:nvSpPr>
          <p:spPr bwMode="auto">
            <a:xfrm>
              <a:off x="803481" y="6145754"/>
              <a:ext cx="223794" cy="224066"/>
            </a:xfrm>
            <a:prstGeom prst="ellipse">
              <a:avLst/>
            </a:prstGeom>
            <a:solidFill>
              <a:schemeClr val="accent2"/>
            </a:solidFill>
            <a:ln w="6350">
              <a:solidFill>
                <a:schemeClr val="tx1"/>
              </a:solidFill>
              <a:round/>
              <a:headEnd/>
              <a:tailEnd/>
            </a:ln>
          </p:spPr>
          <p:txBody>
            <a:bodyPr anchor="ctr">
              <a:spAutoFit/>
            </a:bodyPr>
            <a:lstStyle/>
            <a:p>
              <a:pPr algn="ctr" fontAlgn="base">
                <a:spcBef>
                  <a:spcPct val="0"/>
                </a:spcBef>
                <a:spcAft>
                  <a:spcPct val="0"/>
                </a:spcAft>
              </a:pPr>
              <a:endParaRPr lang="en-GB">
                <a:solidFill>
                  <a:srgbClr val="FFFFFF"/>
                </a:solidFill>
              </a:endParaRPr>
            </a:p>
          </p:txBody>
        </p:sp>
      </p:grpSp>
      <p:sp>
        <p:nvSpPr>
          <p:cNvPr id="42" name="Trapezoid 41">
            <a:extLst>
              <a:ext uri="{FF2B5EF4-FFF2-40B4-BE49-F238E27FC236}">
                <a16:creationId xmlns:a16="http://schemas.microsoft.com/office/drawing/2014/main" id="{F08A984B-D6D8-42CD-87DE-98A204BFC8E8}"/>
              </a:ext>
            </a:extLst>
          </p:cNvPr>
          <p:cNvSpPr/>
          <p:nvPr/>
        </p:nvSpPr>
        <p:spPr>
          <a:xfrm rot="16200000" flipH="1">
            <a:off x="3863148" y="1886324"/>
            <a:ext cx="3952360" cy="2986711"/>
          </a:xfrm>
          <a:prstGeom prst="trapezoid">
            <a:avLst/>
          </a:prstGeom>
          <a:ln/>
        </p:spPr>
        <p:style>
          <a:lnRef idx="0">
            <a:schemeClr val="accent2"/>
          </a:lnRef>
          <a:fillRef idx="3">
            <a:schemeClr val="accent2"/>
          </a:fillRef>
          <a:effectRef idx="3">
            <a:schemeClr val="accent2"/>
          </a:effectRef>
          <a:fontRef idx="minor">
            <a:schemeClr val="lt1"/>
          </a:fontRef>
        </p:style>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chemeClr val="bg1"/>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76D07F1E-DD5E-4A06-B345-BF10206D08CA}"/>
              </a:ext>
            </a:extLst>
          </p:cNvPr>
          <p:cNvSpPr/>
          <p:nvPr/>
        </p:nvSpPr>
        <p:spPr>
          <a:xfrm>
            <a:off x="4273193" y="4587335"/>
            <a:ext cx="698400" cy="120032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de-DE" sz="7200" b="1" kern="0" dirty="0">
                <a:solidFill>
                  <a:schemeClr val="accent4"/>
                </a:solidFill>
                <a:latin typeface="Arial"/>
              </a:rPr>
              <a:t>2</a:t>
            </a:r>
            <a:endParaRPr kumimoji="0" lang="de-DE" sz="7200" b="1" i="0" u="none" strike="noStrike" kern="0" cap="none" spc="0" normalizeH="0" baseline="0" noProof="0" dirty="0">
              <a:ln>
                <a:noFill/>
              </a:ln>
              <a:solidFill>
                <a:schemeClr val="accent4"/>
              </a:solidFill>
              <a:effectLst/>
              <a:uLnTx/>
              <a:uFillTx/>
              <a:latin typeface="Arial"/>
            </a:endParaRPr>
          </a:p>
        </p:txBody>
      </p:sp>
      <p:sp>
        <p:nvSpPr>
          <p:cNvPr id="44" name="Rectangle 43">
            <a:extLst>
              <a:ext uri="{FF2B5EF4-FFF2-40B4-BE49-F238E27FC236}">
                <a16:creationId xmlns:a16="http://schemas.microsoft.com/office/drawing/2014/main" id="{EEC753EF-30CA-4EE4-BABB-F4336B134111}"/>
              </a:ext>
            </a:extLst>
          </p:cNvPr>
          <p:cNvSpPr/>
          <p:nvPr/>
        </p:nvSpPr>
        <p:spPr>
          <a:xfrm>
            <a:off x="4184617" y="2234496"/>
            <a:ext cx="3148067" cy="2373983"/>
          </a:xfrm>
          <a:prstGeom prst="rect">
            <a:avLst/>
          </a:prstGeom>
        </p:spPr>
        <p:txBody>
          <a:bodyPr wrap="square" lIns="234000" rIns="126000">
            <a:spAutoFit/>
          </a:bodyPr>
          <a:lstStyle/>
          <a:p>
            <a:pPr lvl="0">
              <a:lnSpc>
                <a:spcPct val="95000"/>
              </a:lnSpc>
              <a:spcAft>
                <a:spcPts val="800"/>
              </a:spcAft>
              <a:buClr>
                <a:schemeClr val="bg1"/>
              </a:buClr>
              <a:defRPr/>
            </a:pPr>
            <a:r>
              <a:rPr lang="en-IN" sz="1600" b="1" kern="0" dirty="0">
                <a:solidFill>
                  <a:schemeClr val="bg1"/>
                </a:solidFill>
                <a:cs typeface="Arial" charset="0"/>
              </a:rPr>
              <a:t>Fix the Basics</a:t>
            </a:r>
          </a:p>
          <a:p>
            <a:pPr lvl="0">
              <a:lnSpc>
                <a:spcPct val="95000"/>
              </a:lnSpc>
              <a:spcAft>
                <a:spcPts val="800"/>
              </a:spcAft>
              <a:buClr>
                <a:schemeClr val="bg1"/>
              </a:buClr>
              <a:defRPr/>
            </a:pPr>
            <a:endParaRPr lang="en-IN" sz="1600" b="1" kern="0" dirty="0">
              <a:solidFill>
                <a:schemeClr val="bg1"/>
              </a:solidFill>
              <a:cs typeface="Arial" charset="0"/>
            </a:endParaRPr>
          </a:p>
          <a:p>
            <a:pPr marL="285750" indent="-285750">
              <a:lnSpc>
                <a:spcPct val="95000"/>
              </a:lnSpc>
              <a:spcAft>
                <a:spcPts val="800"/>
              </a:spcAft>
              <a:buClr>
                <a:schemeClr val="bg1"/>
              </a:buClr>
              <a:buFont typeface="Arial" panose="020B0604020202020204" pitchFamily="34" charset="0"/>
              <a:buChar char="•"/>
              <a:defRPr/>
            </a:pPr>
            <a:r>
              <a:rPr lang="en-US" sz="1600" kern="0" dirty="0">
                <a:solidFill>
                  <a:schemeClr val="bg1"/>
                </a:solidFill>
                <a:cs typeface="Arial" charset="0"/>
              </a:rPr>
              <a:t>Automation enhancements to Support Functions</a:t>
            </a:r>
          </a:p>
          <a:p>
            <a:pPr marL="285750" indent="-285750">
              <a:lnSpc>
                <a:spcPct val="95000"/>
              </a:lnSpc>
              <a:spcAft>
                <a:spcPts val="800"/>
              </a:spcAft>
              <a:buClr>
                <a:schemeClr val="bg1"/>
              </a:buClr>
              <a:buFont typeface="Arial" panose="020B0604020202020204" pitchFamily="34" charset="0"/>
              <a:buChar char="•"/>
              <a:defRPr/>
            </a:pPr>
            <a:r>
              <a:rPr lang="en-US" sz="1600" kern="0" dirty="0">
                <a:solidFill>
                  <a:schemeClr val="bg1"/>
                </a:solidFill>
                <a:cs typeface="Arial" charset="0"/>
              </a:rPr>
              <a:t>Fix the IT: Build value generating capabilities and structured governance </a:t>
            </a:r>
          </a:p>
          <a:p>
            <a:pPr marL="285750" indent="-285750">
              <a:lnSpc>
                <a:spcPct val="95000"/>
              </a:lnSpc>
              <a:spcAft>
                <a:spcPts val="800"/>
              </a:spcAft>
              <a:buClr>
                <a:schemeClr val="bg1"/>
              </a:buClr>
              <a:buFont typeface="Arial" panose="020B0604020202020204" pitchFamily="34" charset="0"/>
              <a:buChar char="•"/>
              <a:defRPr/>
            </a:pPr>
            <a:endParaRPr lang="en-US" sz="1600" kern="0" dirty="0">
              <a:solidFill>
                <a:schemeClr val="bg1"/>
              </a:solidFill>
              <a:cs typeface="Arial" charset="0"/>
            </a:endParaRPr>
          </a:p>
        </p:txBody>
      </p:sp>
      <p:graphicFrame>
        <p:nvGraphicFramePr>
          <p:cNvPr id="45" name="Table 44">
            <a:extLst>
              <a:ext uri="{FF2B5EF4-FFF2-40B4-BE49-F238E27FC236}">
                <a16:creationId xmlns:a16="http://schemas.microsoft.com/office/drawing/2014/main" id="{BE6D0BD9-A0C5-448D-B567-387970EB7BCC}"/>
              </a:ext>
            </a:extLst>
          </p:cNvPr>
          <p:cNvGraphicFramePr>
            <a:graphicFrameLocks noGrp="1"/>
          </p:cNvGraphicFramePr>
          <p:nvPr>
            <p:extLst>
              <p:ext uri="{D42A27DB-BD31-4B8C-83A1-F6EECF244321}">
                <p14:modId xmlns:p14="http://schemas.microsoft.com/office/powerpoint/2010/main" val="2060932815"/>
              </p:ext>
            </p:extLst>
          </p:nvPr>
        </p:nvGraphicFramePr>
        <p:xfrm>
          <a:off x="4590525" y="5700707"/>
          <a:ext cx="2351606" cy="709146"/>
        </p:xfrm>
        <a:graphic>
          <a:graphicData uri="http://schemas.openxmlformats.org/drawingml/2006/table">
            <a:tbl>
              <a:tblPr firstRow="1" bandRow="1">
                <a:tableStyleId>{5940675A-B579-460E-94D1-54222C63F5DA}</a:tableStyleId>
              </a:tblPr>
              <a:tblGrid>
                <a:gridCol w="1175803">
                  <a:extLst>
                    <a:ext uri="{9D8B030D-6E8A-4147-A177-3AD203B41FA5}">
                      <a16:colId xmlns:a16="http://schemas.microsoft.com/office/drawing/2014/main" val="20000"/>
                    </a:ext>
                  </a:extLst>
                </a:gridCol>
                <a:gridCol w="1175803">
                  <a:extLst>
                    <a:ext uri="{9D8B030D-6E8A-4147-A177-3AD203B41FA5}">
                      <a16:colId xmlns:a16="http://schemas.microsoft.com/office/drawing/2014/main" val="20001"/>
                    </a:ext>
                  </a:extLst>
                </a:gridCol>
              </a:tblGrid>
              <a:tr h="347384">
                <a:tc>
                  <a:txBody>
                    <a:bodyPr/>
                    <a:lstStyle/>
                    <a:p>
                      <a:pPr algn="l"/>
                      <a:r>
                        <a:rPr lang="en-US" sz="1000" b="1" dirty="0">
                          <a:solidFill>
                            <a:schemeClr val="bg1"/>
                          </a:solidFill>
                        </a:rPr>
                        <a:t>Technology </a:t>
                      </a:r>
                      <a:r>
                        <a:rPr lang="en-US" sz="1000" b="1" baseline="0" dirty="0">
                          <a:solidFill>
                            <a:schemeClr val="bg1"/>
                          </a:solidFill>
                        </a:rPr>
                        <a:t>complexity</a:t>
                      </a:r>
                      <a:endParaRPr lang="en-US" sz="1000" b="1" dirty="0">
                        <a:solidFill>
                          <a:schemeClr val="bg1"/>
                        </a:solidFill>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l"/>
                      <a:r>
                        <a:rPr lang="en-US" sz="1000" b="1" dirty="0">
                          <a:solidFill>
                            <a:schemeClr val="bg1"/>
                          </a:solidFill>
                        </a:rPr>
                        <a:t>People complexity</a:t>
                      </a:r>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12906">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
        <p:nvSpPr>
          <p:cNvPr id="46" name="Rectangle 18">
            <a:extLst>
              <a:ext uri="{FF2B5EF4-FFF2-40B4-BE49-F238E27FC236}">
                <a16:creationId xmlns:a16="http://schemas.microsoft.com/office/drawing/2014/main" id="{E894A46F-A1CB-4CC1-8BF4-CA93AD78A757}"/>
              </a:ext>
            </a:extLst>
          </p:cNvPr>
          <p:cNvSpPr>
            <a:spLocks noChangeAspect="1" noChangeArrowheads="1"/>
          </p:cNvSpPr>
          <p:nvPr/>
        </p:nvSpPr>
        <p:spPr bwMode="auto">
          <a:xfrm>
            <a:off x="6244167" y="6176527"/>
            <a:ext cx="237244" cy="138499"/>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High</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47" name="Group 46">
            <a:extLst>
              <a:ext uri="{FF2B5EF4-FFF2-40B4-BE49-F238E27FC236}">
                <a16:creationId xmlns:a16="http://schemas.microsoft.com/office/drawing/2014/main" id="{B23541DB-E1E7-4208-8ABC-BCEC03082691}"/>
              </a:ext>
            </a:extLst>
          </p:cNvPr>
          <p:cNvGrpSpPr/>
          <p:nvPr/>
        </p:nvGrpSpPr>
        <p:grpSpPr>
          <a:xfrm>
            <a:off x="5973021" y="6144702"/>
            <a:ext cx="222950" cy="224066"/>
            <a:chOff x="1792570" y="6144702"/>
            <a:chExt cx="222950" cy="224066"/>
          </a:xfrm>
        </p:grpSpPr>
        <p:sp>
          <p:nvSpPr>
            <p:cNvPr id="48" name="Oval 16">
              <a:extLst>
                <a:ext uri="{FF2B5EF4-FFF2-40B4-BE49-F238E27FC236}">
                  <a16:creationId xmlns:a16="http://schemas.microsoft.com/office/drawing/2014/main" id="{213B9A3C-39A0-4116-842E-BC3D993D846E}"/>
                </a:ext>
              </a:extLst>
            </p:cNvPr>
            <p:cNvSpPr>
              <a:spLocks noChangeArrowheads="1"/>
            </p:cNvSpPr>
            <p:nvPr/>
          </p:nvSpPr>
          <p:spPr bwMode="auto">
            <a:xfrm>
              <a:off x="1792570" y="6144702"/>
              <a:ext cx="222950" cy="22295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49" name="Arc 13">
              <a:extLst>
                <a:ext uri="{FF2B5EF4-FFF2-40B4-BE49-F238E27FC236}">
                  <a16:creationId xmlns:a16="http://schemas.microsoft.com/office/drawing/2014/main" id="{AAEFCA83-1EB0-4E15-9FC2-7AFC15EE5F30}"/>
                </a:ext>
              </a:extLst>
            </p:cNvPr>
            <p:cNvSpPr>
              <a:spLocks/>
            </p:cNvSpPr>
            <p:nvPr/>
          </p:nvSpPr>
          <p:spPr bwMode="auto">
            <a:xfrm>
              <a:off x="1792570" y="6144702"/>
              <a:ext cx="222774" cy="224066"/>
            </a:xfrm>
            <a:custGeom>
              <a:avLst/>
              <a:gdLst>
                <a:gd name="T0" fmla="*/ 0 w 43199"/>
                <a:gd name="T1" fmla="*/ 0 h 43200"/>
                <a:gd name="T2" fmla="*/ 0 w 43199"/>
                <a:gd name="T3" fmla="*/ 0 h 43200"/>
                <a:gd name="T4" fmla="*/ 0 w 43199"/>
                <a:gd name="T5" fmla="*/ 0 h 43200"/>
                <a:gd name="T6" fmla="*/ 0 60000 65536"/>
                <a:gd name="T7" fmla="*/ 0 60000 65536"/>
                <a:gd name="T8" fmla="*/ 0 60000 65536"/>
                <a:gd name="T9" fmla="*/ 0 w 43199"/>
                <a:gd name="T10" fmla="*/ 0 h 43200"/>
                <a:gd name="T11" fmla="*/ 43199 w 43199"/>
                <a:gd name="T12" fmla="*/ 43200 h 43200"/>
              </a:gdLst>
              <a:ahLst/>
              <a:cxnLst>
                <a:cxn ang="T6">
                  <a:pos x="T0" y="T1"/>
                </a:cxn>
                <a:cxn ang="T7">
                  <a:pos x="T2" y="T3"/>
                </a:cxn>
                <a:cxn ang="T8">
                  <a:pos x="T4" y="T5"/>
                </a:cxn>
              </a:cxnLst>
              <a:rect l="T9" t="T10" r="T11" b="T12"/>
              <a:pathLst>
                <a:path w="43199" h="43200" fill="none" extrusionOk="0">
                  <a:moveTo>
                    <a:pt x="21598" y="0"/>
                  </a:moveTo>
                  <a:cubicBezTo>
                    <a:pt x="33528" y="0"/>
                    <a:pt x="43199" y="9670"/>
                    <a:pt x="43199" y="21600"/>
                  </a:cubicBezTo>
                  <a:cubicBezTo>
                    <a:pt x="43199" y="33529"/>
                    <a:pt x="33528" y="43200"/>
                    <a:pt x="21599" y="43200"/>
                  </a:cubicBezTo>
                  <a:cubicBezTo>
                    <a:pt x="9731" y="43200"/>
                    <a:pt x="86" y="33625"/>
                    <a:pt x="-1" y="21758"/>
                  </a:cubicBezTo>
                </a:path>
                <a:path w="43199" h="43200" stroke="0" extrusionOk="0">
                  <a:moveTo>
                    <a:pt x="21598" y="0"/>
                  </a:moveTo>
                  <a:cubicBezTo>
                    <a:pt x="33528" y="0"/>
                    <a:pt x="43199" y="9670"/>
                    <a:pt x="43199" y="21600"/>
                  </a:cubicBezTo>
                  <a:cubicBezTo>
                    <a:pt x="43199" y="33529"/>
                    <a:pt x="33528" y="43200"/>
                    <a:pt x="21599" y="43200"/>
                  </a:cubicBezTo>
                  <a:cubicBezTo>
                    <a:pt x="9731" y="43200"/>
                    <a:pt x="86" y="33625"/>
                    <a:pt x="-1" y="21758"/>
                  </a:cubicBezTo>
                  <a:lnTo>
                    <a:pt x="21599" y="21600"/>
                  </a:lnTo>
                  <a:close/>
                </a:path>
              </a:pathLst>
            </a:custGeom>
            <a:solidFill>
              <a:schemeClr val="accent2"/>
            </a:solidFill>
            <a:ln w="6350">
              <a:solidFill>
                <a:schemeClr val="tx1"/>
              </a:solid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sp>
        <p:nvSpPr>
          <p:cNvPr id="54" name="Trapezoid 53">
            <a:extLst>
              <a:ext uri="{FF2B5EF4-FFF2-40B4-BE49-F238E27FC236}">
                <a16:creationId xmlns:a16="http://schemas.microsoft.com/office/drawing/2014/main" id="{ABB0BF29-984F-4AD1-9967-C2631F0EABE8}"/>
              </a:ext>
            </a:extLst>
          </p:cNvPr>
          <p:cNvSpPr/>
          <p:nvPr/>
        </p:nvSpPr>
        <p:spPr>
          <a:xfrm rot="16200000" flipH="1">
            <a:off x="7490702" y="1886324"/>
            <a:ext cx="3952360" cy="2986711"/>
          </a:xfrm>
          <a:prstGeom prst="trapezoid">
            <a:avLst/>
          </a:prstGeom>
          <a:ln/>
        </p:spPr>
        <p:style>
          <a:lnRef idx="0">
            <a:schemeClr val="accent2"/>
          </a:lnRef>
          <a:fillRef idx="3">
            <a:schemeClr val="accent2"/>
          </a:fillRef>
          <a:effectRef idx="3">
            <a:schemeClr val="accent2"/>
          </a:effectRef>
          <a:fontRef idx="minor">
            <a:schemeClr val="lt1"/>
          </a:fontRef>
        </p:style>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chemeClr val="bg1"/>
              </a:solidFill>
              <a:effectLst/>
              <a:uLnTx/>
              <a:uFillTx/>
              <a:latin typeface="Arial"/>
              <a:ea typeface="+mn-ea"/>
              <a:cs typeface="+mn-cs"/>
            </a:endParaRPr>
          </a:p>
        </p:txBody>
      </p:sp>
      <p:sp>
        <p:nvSpPr>
          <p:cNvPr id="60" name="Rectangle 59">
            <a:extLst>
              <a:ext uri="{FF2B5EF4-FFF2-40B4-BE49-F238E27FC236}">
                <a16:creationId xmlns:a16="http://schemas.microsoft.com/office/drawing/2014/main" id="{FF27771B-2FA7-4202-981A-D0964B2A1FBC}"/>
              </a:ext>
            </a:extLst>
          </p:cNvPr>
          <p:cNvSpPr/>
          <p:nvPr/>
        </p:nvSpPr>
        <p:spPr>
          <a:xfrm>
            <a:off x="7900747" y="4587335"/>
            <a:ext cx="698400" cy="120032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de-DE" sz="7200" b="1" kern="0" dirty="0">
                <a:solidFill>
                  <a:schemeClr val="accent4"/>
                </a:solidFill>
                <a:latin typeface="Arial"/>
              </a:rPr>
              <a:t>3</a:t>
            </a:r>
            <a:endParaRPr kumimoji="0" lang="de-DE" sz="7200" b="1" i="0" u="none" strike="noStrike" kern="0" cap="none" spc="0" normalizeH="0" baseline="0" noProof="0" dirty="0">
              <a:ln>
                <a:noFill/>
              </a:ln>
              <a:solidFill>
                <a:schemeClr val="accent4"/>
              </a:solidFill>
              <a:effectLst/>
              <a:uLnTx/>
              <a:uFillTx/>
              <a:latin typeface="Arial"/>
            </a:endParaRPr>
          </a:p>
        </p:txBody>
      </p:sp>
      <p:sp>
        <p:nvSpPr>
          <p:cNvPr id="61" name="Rectangle 60">
            <a:extLst>
              <a:ext uri="{FF2B5EF4-FFF2-40B4-BE49-F238E27FC236}">
                <a16:creationId xmlns:a16="http://schemas.microsoft.com/office/drawing/2014/main" id="{BC06853F-EF6D-45BF-9BED-32B4256860E9}"/>
              </a:ext>
            </a:extLst>
          </p:cNvPr>
          <p:cNvSpPr/>
          <p:nvPr/>
        </p:nvSpPr>
        <p:spPr>
          <a:xfrm>
            <a:off x="7812171" y="2234496"/>
            <a:ext cx="3148067" cy="2431948"/>
          </a:xfrm>
          <a:prstGeom prst="rect">
            <a:avLst/>
          </a:prstGeom>
        </p:spPr>
        <p:txBody>
          <a:bodyPr wrap="square" lIns="234000" rIns="126000">
            <a:spAutoFit/>
          </a:bodyPr>
          <a:lstStyle/>
          <a:p>
            <a:pPr lvl="0">
              <a:lnSpc>
                <a:spcPct val="95000"/>
              </a:lnSpc>
              <a:spcAft>
                <a:spcPts val="800"/>
              </a:spcAft>
              <a:buClr>
                <a:schemeClr val="bg1"/>
              </a:buClr>
              <a:defRPr/>
            </a:pPr>
            <a:r>
              <a:rPr lang="en-IN" sz="1600" b="1" kern="0" dirty="0">
                <a:solidFill>
                  <a:schemeClr val="bg1"/>
                </a:solidFill>
                <a:cs typeface="Arial" charset="0"/>
              </a:rPr>
              <a:t>Leverage Client Group Initiatives</a:t>
            </a:r>
          </a:p>
          <a:p>
            <a:pPr lvl="0">
              <a:lnSpc>
                <a:spcPct val="95000"/>
              </a:lnSpc>
              <a:spcAft>
                <a:spcPts val="800"/>
              </a:spcAft>
              <a:buClr>
                <a:schemeClr val="bg1"/>
              </a:buClr>
              <a:defRPr/>
            </a:pPr>
            <a:endParaRPr lang="en-US" sz="200" kern="0" dirty="0">
              <a:solidFill>
                <a:schemeClr val="bg1"/>
              </a:solidFill>
              <a:cs typeface="Arial" charset="0"/>
            </a:endParaRPr>
          </a:p>
          <a:p>
            <a:pPr marL="285750" indent="-285750">
              <a:lnSpc>
                <a:spcPct val="95000"/>
              </a:lnSpc>
              <a:spcAft>
                <a:spcPts val="800"/>
              </a:spcAft>
              <a:buClr>
                <a:schemeClr val="bg1"/>
              </a:buClr>
              <a:buFont typeface="Arial" panose="020B0604020202020204" pitchFamily="34" charset="0"/>
              <a:buChar char="•"/>
              <a:defRPr/>
            </a:pPr>
            <a:r>
              <a:rPr lang="en-US" sz="1600" kern="0" dirty="0">
                <a:solidFill>
                  <a:schemeClr val="bg1"/>
                </a:solidFill>
                <a:cs typeface="Arial" charset="0"/>
              </a:rPr>
              <a:t>Introducing and implementing centralized solutions across Client Group of companies (GITI projects &amp; One ERP) while ensuring return on investment</a:t>
            </a:r>
          </a:p>
        </p:txBody>
      </p:sp>
      <p:graphicFrame>
        <p:nvGraphicFramePr>
          <p:cNvPr id="64" name="Table 63">
            <a:extLst>
              <a:ext uri="{FF2B5EF4-FFF2-40B4-BE49-F238E27FC236}">
                <a16:creationId xmlns:a16="http://schemas.microsoft.com/office/drawing/2014/main" id="{D98DDC2A-8051-457E-8828-99BD47F782C9}"/>
              </a:ext>
            </a:extLst>
          </p:cNvPr>
          <p:cNvGraphicFramePr>
            <a:graphicFrameLocks noGrp="1"/>
          </p:cNvGraphicFramePr>
          <p:nvPr>
            <p:extLst>
              <p:ext uri="{D42A27DB-BD31-4B8C-83A1-F6EECF244321}">
                <p14:modId xmlns:p14="http://schemas.microsoft.com/office/powerpoint/2010/main" val="2578662203"/>
              </p:ext>
            </p:extLst>
          </p:nvPr>
        </p:nvGraphicFramePr>
        <p:xfrm>
          <a:off x="8218079" y="5700707"/>
          <a:ext cx="2351606" cy="709146"/>
        </p:xfrm>
        <a:graphic>
          <a:graphicData uri="http://schemas.openxmlformats.org/drawingml/2006/table">
            <a:tbl>
              <a:tblPr firstRow="1" bandRow="1">
                <a:tableStyleId>{5940675A-B579-460E-94D1-54222C63F5DA}</a:tableStyleId>
              </a:tblPr>
              <a:tblGrid>
                <a:gridCol w="1175803">
                  <a:extLst>
                    <a:ext uri="{9D8B030D-6E8A-4147-A177-3AD203B41FA5}">
                      <a16:colId xmlns:a16="http://schemas.microsoft.com/office/drawing/2014/main" val="20000"/>
                    </a:ext>
                  </a:extLst>
                </a:gridCol>
                <a:gridCol w="1175803">
                  <a:extLst>
                    <a:ext uri="{9D8B030D-6E8A-4147-A177-3AD203B41FA5}">
                      <a16:colId xmlns:a16="http://schemas.microsoft.com/office/drawing/2014/main" val="20001"/>
                    </a:ext>
                  </a:extLst>
                </a:gridCol>
              </a:tblGrid>
              <a:tr h="347384">
                <a:tc>
                  <a:txBody>
                    <a:bodyPr/>
                    <a:lstStyle/>
                    <a:p>
                      <a:pPr algn="l"/>
                      <a:r>
                        <a:rPr lang="en-US" sz="1000" b="1" dirty="0">
                          <a:solidFill>
                            <a:schemeClr val="bg1"/>
                          </a:solidFill>
                        </a:rPr>
                        <a:t>Technology </a:t>
                      </a:r>
                      <a:r>
                        <a:rPr lang="en-US" sz="1000" b="1" baseline="0" dirty="0">
                          <a:solidFill>
                            <a:schemeClr val="bg1"/>
                          </a:solidFill>
                        </a:rPr>
                        <a:t>complexity</a:t>
                      </a:r>
                      <a:endParaRPr lang="en-US" sz="1000" b="1" dirty="0">
                        <a:solidFill>
                          <a:schemeClr val="bg1"/>
                        </a:solidFill>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l"/>
                      <a:r>
                        <a:rPr lang="en-US" sz="1000" b="1" dirty="0">
                          <a:solidFill>
                            <a:schemeClr val="bg1"/>
                          </a:solidFill>
                        </a:rPr>
                        <a:t>People complexity</a:t>
                      </a:r>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12906">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pSp>
        <p:nvGrpSpPr>
          <p:cNvPr id="69" name="Group 68">
            <a:extLst>
              <a:ext uri="{FF2B5EF4-FFF2-40B4-BE49-F238E27FC236}">
                <a16:creationId xmlns:a16="http://schemas.microsoft.com/office/drawing/2014/main" id="{ED01C2AE-637B-41F5-879F-92BB20DFA005}"/>
              </a:ext>
            </a:extLst>
          </p:cNvPr>
          <p:cNvGrpSpPr/>
          <p:nvPr/>
        </p:nvGrpSpPr>
        <p:grpSpPr>
          <a:xfrm>
            <a:off x="8303141" y="6135121"/>
            <a:ext cx="797668" cy="224066"/>
            <a:chOff x="803481" y="6135121"/>
            <a:chExt cx="797668" cy="224066"/>
          </a:xfrm>
        </p:grpSpPr>
        <p:sp>
          <p:nvSpPr>
            <p:cNvPr id="70" name="Rectangle 23">
              <a:extLst>
                <a:ext uri="{FF2B5EF4-FFF2-40B4-BE49-F238E27FC236}">
                  <a16:creationId xmlns:a16="http://schemas.microsoft.com/office/drawing/2014/main" id="{8F5384AE-D86A-4A64-96AC-F9B0DF049332}"/>
                </a:ext>
              </a:extLst>
            </p:cNvPr>
            <p:cNvSpPr>
              <a:spLocks noChangeAspect="1" noChangeArrowheads="1"/>
            </p:cNvSpPr>
            <p:nvPr/>
          </p:nvSpPr>
          <p:spPr bwMode="auto">
            <a:xfrm>
              <a:off x="1113836" y="6179047"/>
              <a:ext cx="487313" cy="138500"/>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schemeClr val="tx1">
                      <a:lumMod val="65000"/>
                      <a:lumOff val="35000"/>
                    </a:schemeClr>
                  </a:solidFill>
                  <a:latin typeface="Arial" panose="020B0604020202020204" pitchFamily="34" charset="0"/>
                  <a:ea typeface="EYInterstate" charset="0"/>
                  <a:cs typeface="Arial" panose="020B0604020202020204" pitchFamily="34" charset="0"/>
                </a:rPr>
                <a:t>Very high</a:t>
              </a:r>
            </a:p>
          </p:txBody>
        </p:sp>
        <p:sp>
          <p:nvSpPr>
            <p:cNvPr id="71" name="Oval 24">
              <a:extLst>
                <a:ext uri="{FF2B5EF4-FFF2-40B4-BE49-F238E27FC236}">
                  <a16:creationId xmlns:a16="http://schemas.microsoft.com/office/drawing/2014/main" id="{AB9E0F34-5FAA-461F-8C2F-66B5BD366D78}"/>
                </a:ext>
              </a:extLst>
            </p:cNvPr>
            <p:cNvSpPr>
              <a:spLocks noChangeArrowheads="1"/>
            </p:cNvSpPr>
            <p:nvPr/>
          </p:nvSpPr>
          <p:spPr bwMode="auto">
            <a:xfrm>
              <a:off x="803481" y="6135121"/>
              <a:ext cx="223794" cy="224066"/>
            </a:xfrm>
            <a:prstGeom prst="ellipse">
              <a:avLst/>
            </a:prstGeom>
            <a:solidFill>
              <a:schemeClr val="accent2"/>
            </a:solidFill>
            <a:ln w="6350">
              <a:solidFill>
                <a:schemeClr val="tx1"/>
              </a:solidFill>
              <a:round/>
              <a:headEnd/>
              <a:tailEnd/>
            </a:ln>
          </p:spPr>
          <p:txBody>
            <a:bodyPr anchor="ctr">
              <a:spAutoFit/>
            </a:bodyPr>
            <a:lstStyle/>
            <a:p>
              <a:pPr algn="ctr" fontAlgn="base">
                <a:spcBef>
                  <a:spcPct val="0"/>
                </a:spcBef>
                <a:spcAft>
                  <a:spcPct val="0"/>
                </a:spcAft>
              </a:pPr>
              <a:endParaRPr lang="en-GB">
                <a:solidFill>
                  <a:srgbClr val="FFFFFF"/>
                </a:solidFill>
              </a:endParaRPr>
            </a:p>
          </p:txBody>
        </p:sp>
      </p:grpSp>
      <p:grpSp>
        <p:nvGrpSpPr>
          <p:cNvPr id="72" name="Group 71">
            <a:extLst>
              <a:ext uri="{FF2B5EF4-FFF2-40B4-BE49-F238E27FC236}">
                <a16:creationId xmlns:a16="http://schemas.microsoft.com/office/drawing/2014/main" id="{912F0FBE-E39D-4F68-A0B8-70F23346FFC3}"/>
              </a:ext>
            </a:extLst>
          </p:cNvPr>
          <p:cNvGrpSpPr/>
          <p:nvPr/>
        </p:nvGrpSpPr>
        <p:grpSpPr>
          <a:xfrm>
            <a:off x="4661746" y="6144702"/>
            <a:ext cx="715614" cy="226353"/>
            <a:chOff x="4941338" y="2953112"/>
            <a:chExt cx="496869" cy="157163"/>
          </a:xfrm>
        </p:grpSpPr>
        <p:sp>
          <p:nvSpPr>
            <p:cNvPr id="73" name="Rectangle 5">
              <a:extLst>
                <a:ext uri="{FF2B5EF4-FFF2-40B4-BE49-F238E27FC236}">
                  <a16:creationId xmlns:a16="http://schemas.microsoft.com/office/drawing/2014/main" id="{D044EAB7-BA53-482E-80AC-F004D250CACE}"/>
                </a:ext>
              </a:extLst>
            </p:cNvPr>
            <p:cNvSpPr>
              <a:spLocks noChangeAspect="1" noChangeArrowheads="1"/>
            </p:cNvSpPr>
            <p:nvPr/>
          </p:nvSpPr>
          <p:spPr bwMode="auto">
            <a:xfrm>
              <a:off x="5153277" y="2982506"/>
              <a:ext cx="284930" cy="96164"/>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Medium</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74" name="Group 73">
              <a:extLst>
                <a:ext uri="{FF2B5EF4-FFF2-40B4-BE49-F238E27FC236}">
                  <a16:creationId xmlns:a16="http://schemas.microsoft.com/office/drawing/2014/main" id="{52301EF5-0410-49CB-BC31-A708459D0327}"/>
                </a:ext>
              </a:extLst>
            </p:cNvPr>
            <p:cNvGrpSpPr/>
            <p:nvPr/>
          </p:nvGrpSpPr>
          <p:grpSpPr>
            <a:xfrm>
              <a:off x="4941338" y="2953112"/>
              <a:ext cx="154800" cy="157163"/>
              <a:chOff x="4941338" y="2953112"/>
              <a:chExt cx="154800" cy="157163"/>
            </a:xfrm>
          </p:grpSpPr>
          <p:sp>
            <p:nvSpPr>
              <p:cNvPr id="75" name="Oval 16">
                <a:extLst>
                  <a:ext uri="{FF2B5EF4-FFF2-40B4-BE49-F238E27FC236}">
                    <a16:creationId xmlns:a16="http://schemas.microsoft.com/office/drawing/2014/main" id="{943D8ACB-3792-48AE-9566-CF6E2964515F}"/>
                  </a:ext>
                </a:extLst>
              </p:cNvPr>
              <p:cNvSpPr>
                <a:spLocks noChangeArrowheads="1"/>
              </p:cNvSpPr>
              <p:nvPr/>
            </p:nvSpPr>
            <p:spPr bwMode="auto">
              <a:xfrm>
                <a:off x="4941338" y="2955475"/>
                <a:ext cx="154800" cy="15480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76" name="Arc 8">
                <a:extLst>
                  <a:ext uri="{FF2B5EF4-FFF2-40B4-BE49-F238E27FC236}">
                    <a16:creationId xmlns:a16="http://schemas.microsoft.com/office/drawing/2014/main" id="{8218EC55-B102-47C7-B4EB-D5B907F34849}"/>
                  </a:ext>
                </a:extLst>
              </p:cNvPr>
              <p:cNvSpPr>
                <a:spLocks noChangeAspect="1"/>
              </p:cNvSpPr>
              <p:nvPr/>
            </p:nvSpPr>
            <p:spPr bwMode="auto">
              <a:xfrm>
                <a:off x="5017738" y="2953112"/>
                <a:ext cx="78400" cy="157163"/>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8"/>
                      <a:pt x="11930" y="43198"/>
                      <a:pt x="1" y="43199"/>
                    </a:cubicBezTo>
                  </a:path>
                  <a:path w="21600" h="43200" stroke="0" extrusionOk="0">
                    <a:moveTo>
                      <a:pt x="-1" y="0"/>
                    </a:moveTo>
                    <a:cubicBezTo>
                      <a:pt x="11929" y="0"/>
                      <a:pt x="21600" y="9670"/>
                      <a:pt x="21600" y="21600"/>
                    </a:cubicBezTo>
                    <a:cubicBezTo>
                      <a:pt x="21600" y="33528"/>
                      <a:pt x="11930" y="43198"/>
                      <a:pt x="1" y="43199"/>
                    </a:cubicBezTo>
                    <a:lnTo>
                      <a:pt x="0" y="21600"/>
                    </a:lnTo>
                    <a:close/>
                  </a:path>
                </a:pathLst>
              </a:custGeom>
              <a:solidFill>
                <a:schemeClr val="accent2"/>
              </a:solidFill>
              <a:ln w="6350">
                <a:no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grpSp>
      <p:grpSp>
        <p:nvGrpSpPr>
          <p:cNvPr id="77" name="Group 76">
            <a:extLst>
              <a:ext uri="{FF2B5EF4-FFF2-40B4-BE49-F238E27FC236}">
                <a16:creationId xmlns:a16="http://schemas.microsoft.com/office/drawing/2014/main" id="{CC8CC762-7324-4F1B-B608-362878CA9559}"/>
              </a:ext>
            </a:extLst>
          </p:cNvPr>
          <p:cNvGrpSpPr/>
          <p:nvPr/>
        </p:nvGrpSpPr>
        <p:grpSpPr>
          <a:xfrm>
            <a:off x="9570772" y="6134294"/>
            <a:ext cx="528950" cy="222963"/>
            <a:chOff x="6049666" y="2952196"/>
            <a:chExt cx="367264" cy="154809"/>
          </a:xfrm>
        </p:grpSpPr>
        <p:sp>
          <p:nvSpPr>
            <p:cNvPr id="78" name="Rectangle 18">
              <a:extLst>
                <a:ext uri="{FF2B5EF4-FFF2-40B4-BE49-F238E27FC236}">
                  <a16:creationId xmlns:a16="http://schemas.microsoft.com/office/drawing/2014/main" id="{D720C57E-75C2-404C-99E9-A749262446B2}"/>
                </a:ext>
              </a:extLst>
            </p:cNvPr>
            <p:cNvSpPr>
              <a:spLocks noChangeAspect="1" noChangeArrowheads="1"/>
            </p:cNvSpPr>
            <p:nvPr/>
          </p:nvSpPr>
          <p:spPr bwMode="auto">
            <a:xfrm>
              <a:off x="6270013" y="2985199"/>
              <a:ext cx="146917" cy="96163"/>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Low</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79" name="Group 78">
              <a:extLst>
                <a:ext uri="{FF2B5EF4-FFF2-40B4-BE49-F238E27FC236}">
                  <a16:creationId xmlns:a16="http://schemas.microsoft.com/office/drawing/2014/main" id="{996E8720-1250-4C5C-B4B7-2100C77270F4}"/>
                </a:ext>
              </a:extLst>
            </p:cNvPr>
            <p:cNvGrpSpPr/>
            <p:nvPr/>
          </p:nvGrpSpPr>
          <p:grpSpPr>
            <a:xfrm>
              <a:off x="6049666" y="2952196"/>
              <a:ext cx="154800" cy="154809"/>
              <a:chOff x="6049666" y="2952196"/>
              <a:chExt cx="154800" cy="154809"/>
            </a:xfrm>
          </p:grpSpPr>
          <p:sp>
            <p:nvSpPr>
              <p:cNvPr id="80" name="Oval 16">
                <a:extLst>
                  <a:ext uri="{FF2B5EF4-FFF2-40B4-BE49-F238E27FC236}">
                    <a16:creationId xmlns:a16="http://schemas.microsoft.com/office/drawing/2014/main" id="{280C858B-3E79-459A-89F5-5EC9D048CDF4}"/>
                  </a:ext>
                </a:extLst>
              </p:cNvPr>
              <p:cNvSpPr>
                <a:spLocks noChangeArrowheads="1"/>
              </p:cNvSpPr>
              <p:nvPr/>
            </p:nvSpPr>
            <p:spPr bwMode="auto">
              <a:xfrm>
                <a:off x="6049666" y="2952205"/>
                <a:ext cx="154800" cy="15480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81" name="Arc 21">
                <a:extLst>
                  <a:ext uri="{FF2B5EF4-FFF2-40B4-BE49-F238E27FC236}">
                    <a16:creationId xmlns:a16="http://schemas.microsoft.com/office/drawing/2014/main" id="{33526C07-3940-49CE-A3AB-08C35D88469F}"/>
                  </a:ext>
                </a:extLst>
              </p:cNvPr>
              <p:cNvSpPr>
                <a:spLocks noChangeAspect="1"/>
              </p:cNvSpPr>
              <p:nvPr/>
            </p:nvSpPr>
            <p:spPr bwMode="auto">
              <a:xfrm>
                <a:off x="6126066" y="2952196"/>
                <a:ext cx="78400" cy="7937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accent2"/>
              </a:solidFill>
              <a:ln w="6350">
                <a:no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grpSp>
    </p:spTree>
    <p:extLst>
      <p:ext uri="{BB962C8B-B14F-4D97-AF65-F5344CB8AC3E}">
        <p14:creationId xmlns:p14="http://schemas.microsoft.com/office/powerpoint/2010/main" val="2991825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1221296"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latin typeface="+mj-lt"/>
              </a:rPr>
              <a:t>Initiative 1: Enable The Business        				               Transformation</a:t>
            </a:r>
          </a:p>
        </p:txBody>
      </p:sp>
      <p:graphicFrame>
        <p:nvGraphicFramePr>
          <p:cNvPr id="20" name="Table 19"/>
          <p:cNvGraphicFramePr>
            <a:graphicFrameLocks noGrp="1"/>
          </p:cNvGraphicFramePr>
          <p:nvPr/>
        </p:nvGraphicFramePr>
        <p:xfrm>
          <a:off x="820382" y="5432994"/>
          <a:ext cx="2191632" cy="709146"/>
        </p:xfrm>
        <a:graphic>
          <a:graphicData uri="http://schemas.openxmlformats.org/drawingml/2006/table">
            <a:tbl>
              <a:tblPr firstRow="1" bandRow="1">
                <a:tableStyleId>{5940675A-B579-460E-94D1-54222C63F5DA}</a:tableStyleId>
              </a:tblPr>
              <a:tblGrid>
                <a:gridCol w="1095816">
                  <a:extLst>
                    <a:ext uri="{9D8B030D-6E8A-4147-A177-3AD203B41FA5}">
                      <a16:colId xmlns:a16="http://schemas.microsoft.com/office/drawing/2014/main" val="20000"/>
                    </a:ext>
                  </a:extLst>
                </a:gridCol>
                <a:gridCol w="1095816">
                  <a:extLst>
                    <a:ext uri="{9D8B030D-6E8A-4147-A177-3AD203B41FA5}">
                      <a16:colId xmlns:a16="http://schemas.microsoft.com/office/drawing/2014/main" val="20001"/>
                    </a:ext>
                  </a:extLst>
                </a:gridCol>
              </a:tblGrid>
              <a:tr h="347384">
                <a:tc>
                  <a:txBody>
                    <a:bodyPr/>
                    <a:lstStyle/>
                    <a:p>
                      <a:pPr algn="l"/>
                      <a:r>
                        <a:rPr lang="en-US" sz="1000" b="1" dirty="0">
                          <a:solidFill>
                            <a:schemeClr val="bg1"/>
                          </a:solidFill>
                        </a:rPr>
                        <a:t>Technology </a:t>
                      </a:r>
                      <a:r>
                        <a:rPr lang="en-US" sz="1000" b="1" baseline="0" dirty="0">
                          <a:solidFill>
                            <a:schemeClr val="bg1"/>
                          </a:solidFill>
                        </a:rPr>
                        <a:t>complexity</a:t>
                      </a:r>
                      <a:endParaRPr lang="en-US" sz="1000" b="1" dirty="0">
                        <a:solidFill>
                          <a:schemeClr val="bg1"/>
                        </a:solidFill>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l"/>
                      <a:r>
                        <a:rPr lang="en-US" sz="1000" b="1" dirty="0">
                          <a:solidFill>
                            <a:schemeClr val="bg1"/>
                          </a:solidFill>
                        </a:rPr>
                        <a:t>People complexity</a:t>
                      </a:r>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12906">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
        <p:nvSpPr>
          <p:cNvPr id="21" name="Content Placeholder 4"/>
          <p:cNvSpPr txBox="1">
            <a:spLocks/>
          </p:cNvSpPr>
          <p:nvPr/>
        </p:nvSpPr>
        <p:spPr>
          <a:xfrm>
            <a:off x="3229129" y="1517824"/>
            <a:ext cx="5174495" cy="4624316"/>
          </a:xfrm>
          <a:prstGeom prst="rect">
            <a:avLst/>
          </a:prstGeom>
        </p:spPr>
        <p:txBody>
          <a:bodyPr/>
          <a:lstStyle>
            <a:lvl1pPr marL="0" indent="0" algn="l" defTabSz="914400" rtl="0" eaLnBrk="1" latinLnBrk="0" hangingPunct="1">
              <a:lnSpc>
                <a:spcPct val="100000"/>
              </a:lnSpc>
              <a:spcBef>
                <a:spcPts val="800"/>
              </a:spcBef>
              <a:buFont typeface="Arial" panose="020B0604020202020204" pitchFamily="34" charset="0"/>
              <a:buNone/>
              <a:defRPr sz="1600" kern="1200">
                <a:solidFill>
                  <a:schemeClr val="accent4"/>
                </a:solidFill>
                <a:latin typeface="+mn-lt"/>
                <a:ea typeface="+mn-ea"/>
                <a:cs typeface="+mn-cs"/>
              </a:defRPr>
            </a:lvl1pPr>
            <a:lvl2pPr marL="1692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2pPr>
            <a:lvl3pPr marL="3384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3pPr>
            <a:lvl4pPr marL="5076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4pPr>
            <a:lvl5pPr marL="6768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b="1" dirty="0">
                <a:solidFill>
                  <a:schemeClr val="accent4">
                    <a:lumMod val="50000"/>
                  </a:schemeClr>
                </a:solidFill>
              </a:rPr>
              <a:t>Elements of the initiative</a:t>
            </a:r>
          </a:p>
          <a:p>
            <a:pPr>
              <a:spcBef>
                <a:spcPts val="0"/>
              </a:spcBef>
            </a:pPr>
            <a:endParaRPr lang="en-US" sz="1200" dirty="0">
              <a:solidFill>
                <a:schemeClr val="accent4">
                  <a:lumMod val="50000"/>
                </a:schemeClr>
              </a:solidFill>
            </a:endParaRPr>
          </a:p>
          <a:p>
            <a:pPr>
              <a:spcBef>
                <a:spcPts val="0"/>
              </a:spcBef>
            </a:pPr>
            <a:r>
              <a:rPr lang="en-US" sz="1200" b="1" i="1" dirty="0">
                <a:solidFill>
                  <a:schemeClr val="accent4">
                    <a:lumMod val="50000"/>
                  </a:schemeClr>
                </a:solidFill>
              </a:rPr>
              <a:t>Digital &amp; Customer Journey technology enrichments</a:t>
            </a:r>
          </a:p>
          <a:p>
            <a:pPr marL="285750" indent="-285750">
              <a:spcBef>
                <a:spcPts val="600"/>
              </a:spcBef>
              <a:buFont typeface="Arial" panose="020B0604020202020204" pitchFamily="34" charset="0"/>
              <a:buChar char="•"/>
            </a:pPr>
            <a:r>
              <a:rPr lang="en-US" sz="1200" dirty="0">
                <a:solidFill>
                  <a:schemeClr val="accent4">
                    <a:lumMod val="50000"/>
                  </a:schemeClr>
                </a:solidFill>
              </a:rPr>
              <a:t>Initial stages of a light-weight integration platform to de-block digital development and digital customer journey improvements</a:t>
            </a:r>
          </a:p>
          <a:p>
            <a:pPr marL="285750" indent="-285750">
              <a:spcBef>
                <a:spcPts val="600"/>
              </a:spcBef>
              <a:buFont typeface="Arial" panose="020B0604020202020204" pitchFamily="34" charset="0"/>
              <a:buChar char="•"/>
            </a:pPr>
            <a:r>
              <a:rPr lang="en-US" sz="1200" dirty="0">
                <a:solidFill>
                  <a:schemeClr val="bg2">
                    <a:lumMod val="10000"/>
                  </a:schemeClr>
                </a:solidFill>
              </a:rPr>
              <a:t>Setup Analytics </a:t>
            </a:r>
            <a:r>
              <a:rPr lang="en-US" sz="1200" dirty="0" err="1">
                <a:solidFill>
                  <a:schemeClr val="bg2">
                    <a:lumMod val="10000"/>
                  </a:schemeClr>
                </a:solidFill>
              </a:rPr>
              <a:t>CoE</a:t>
            </a:r>
            <a:r>
              <a:rPr lang="en-US" sz="1200" dirty="0">
                <a:solidFill>
                  <a:schemeClr val="bg2">
                    <a:lumMod val="10000"/>
                  </a:schemeClr>
                </a:solidFill>
              </a:rPr>
              <a:t> - Strong leverage of technologies and data to achieve optimal productivity in customer and business base</a:t>
            </a:r>
          </a:p>
          <a:p>
            <a:pPr marL="285750" indent="-285750">
              <a:spcBef>
                <a:spcPts val="600"/>
              </a:spcBef>
              <a:buFont typeface="Arial" panose="020B0604020202020204" pitchFamily="34" charset="0"/>
              <a:buChar char="•"/>
            </a:pPr>
            <a:r>
              <a:rPr lang="en-US" sz="1200" dirty="0">
                <a:solidFill>
                  <a:schemeClr val="bg2">
                    <a:lumMod val="10000"/>
                  </a:schemeClr>
                </a:solidFill>
              </a:rPr>
              <a:t>Implementation of new solutions to move towards management of customer experience instead of traditional IT mindset (i.e. Digital Strategy)</a:t>
            </a:r>
          </a:p>
          <a:p>
            <a:pPr marL="285750" indent="-285750">
              <a:spcBef>
                <a:spcPts val="600"/>
              </a:spcBef>
              <a:buFont typeface="Arial" panose="020B0604020202020204" pitchFamily="34" charset="0"/>
              <a:buChar char="•"/>
            </a:pPr>
            <a:r>
              <a:rPr lang="en-US" sz="1200" dirty="0">
                <a:solidFill>
                  <a:schemeClr val="bg2">
                    <a:lumMod val="10000"/>
                  </a:schemeClr>
                </a:solidFill>
              </a:rPr>
              <a:t>Adaptive and innovative - Look ahead to predict the unknown – to the best ability – and enable the business to innovate and adapt with agility</a:t>
            </a:r>
          </a:p>
          <a:p>
            <a:pPr>
              <a:spcBef>
                <a:spcPts val="0"/>
              </a:spcBef>
            </a:pPr>
            <a:endParaRPr lang="en-US" sz="1200" b="1" i="1" dirty="0">
              <a:solidFill>
                <a:schemeClr val="accent4">
                  <a:lumMod val="50000"/>
                </a:schemeClr>
              </a:solidFill>
            </a:endParaRPr>
          </a:p>
          <a:p>
            <a:pPr>
              <a:spcBef>
                <a:spcPts val="0"/>
              </a:spcBef>
            </a:pPr>
            <a:r>
              <a:rPr lang="en-US" sz="1200" b="1" i="1" dirty="0">
                <a:solidFill>
                  <a:schemeClr val="accent4">
                    <a:lumMod val="50000"/>
                  </a:schemeClr>
                </a:solidFill>
              </a:rPr>
              <a:t>Automation enhancements:</a:t>
            </a:r>
            <a:endParaRPr lang="en-US" sz="1200" b="1" dirty="0">
              <a:solidFill>
                <a:schemeClr val="accent4">
                  <a:lumMod val="50000"/>
                </a:schemeClr>
              </a:solidFill>
            </a:endParaRPr>
          </a:p>
          <a:p>
            <a:pPr marL="285750" indent="-285750">
              <a:spcBef>
                <a:spcPts val="600"/>
              </a:spcBef>
              <a:buFont typeface="Arial" panose="020B0604020202020204" pitchFamily="34" charset="0"/>
              <a:buChar char="•"/>
            </a:pPr>
            <a:r>
              <a:rPr lang="en-US" sz="1200" dirty="0">
                <a:solidFill>
                  <a:schemeClr val="accent4">
                    <a:lumMod val="50000"/>
                  </a:schemeClr>
                </a:solidFill>
              </a:rPr>
              <a:t>Support of automation of Business processes</a:t>
            </a:r>
          </a:p>
          <a:p>
            <a:pPr marL="285750" indent="-285750">
              <a:spcBef>
                <a:spcPts val="600"/>
              </a:spcBef>
              <a:buFont typeface="Arial" panose="020B0604020202020204" pitchFamily="34" charset="0"/>
              <a:buChar char="•"/>
            </a:pPr>
            <a:r>
              <a:rPr lang="en-US" sz="1200" dirty="0">
                <a:solidFill>
                  <a:schemeClr val="accent4">
                    <a:lumMod val="50000"/>
                  </a:schemeClr>
                </a:solidFill>
              </a:rPr>
              <a:t>Support of quick integrations for digital</a:t>
            </a:r>
          </a:p>
          <a:p>
            <a:pPr marL="285750" indent="-285750">
              <a:spcBef>
                <a:spcPts val="600"/>
              </a:spcBef>
              <a:buFont typeface="Arial" panose="020B0604020202020204" pitchFamily="34" charset="0"/>
              <a:buChar char="•"/>
            </a:pPr>
            <a:r>
              <a:rPr lang="en-US" sz="1200" dirty="0">
                <a:solidFill>
                  <a:schemeClr val="bg2">
                    <a:lumMod val="10000"/>
                  </a:schemeClr>
                </a:solidFill>
              </a:rPr>
              <a:t>Improvements of existing business solutions to improve service quality and limit the amounts of incidents</a:t>
            </a:r>
          </a:p>
          <a:p>
            <a:pPr marL="285750" indent="-285750">
              <a:spcBef>
                <a:spcPts val="600"/>
              </a:spcBef>
              <a:buFont typeface="Arial" panose="020B0604020202020204" pitchFamily="34" charset="0"/>
              <a:buChar char="•"/>
            </a:pPr>
            <a:r>
              <a:rPr lang="en-US" sz="1200" dirty="0">
                <a:solidFill>
                  <a:schemeClr val="bg2">
                    <a:lumMod val="10000"/>
                  </a:schemeClr>
                </a:solidFill>
              </a:rPr>
              <a:t>Build-up of an integration platform and lightweight solutions to enable exposing reusable and standardized services to third party vendors and digital development</a:t>
            </a:r>
          </a:p>
          <a:p>
            <a:pPr marL="285750" indent="-285750">
              <a:spcBef>
                <a:spcPts val="600"/>
              </a:spcBef>
              <a:buFont typeface="Arial" panose="020B0604020202020204" pitchFamily="34" charset="0"/>
              <a:buChar char="•"/>
            </a:pPr>
            <a:endParaRPr lang="en-US" sz="1200" dirty="0">
              <a:solidFill>
                <a:schemeClr val="accent4">
                  <a:lumMod val="50000"/>
                </a:schemeClr>
              </a:solidFill>
            </a:endParaRPr>
          </a:p>
          <a:p>
            <a:pPr marL="285750" indent="-285750">
              <a:spcBef>
                <a:spcPts val="600"/>
              </a:spcBef>
              <a:buFont typeface="Arial" panose="020B0604020202020204" pitchFamily="34" charset="0"/>
              <a:buChar char="•"/>
            </a:pPr>
            <a:endParaRPr lang="en-US" sz="1200" dirty="0">
              <a:solidFill>
                <a:schemeClr val="accent4">
                  <a:lumMod val="50000"/>
                </a:schemeClr>
              </a:solidFill>
            </a:endParaRPr>
          </a:p>
        </p:txBody>
      </p:sp>
      <p:sp>
        <p:nvSpPr>
          <p:cNvPr id="22" name="Content Placeholder 5"/>
          <p:cNvSpPr txBox="1">
            <a:spLocks/>
          </p:cNvSpPr>
          <p:nvPr/>
        </p:nvSpPr>
        <p:spPr>
          <a:xfrm>
            <a:off x="8403800" y="1541153"/>
            <a:ext cx="3162487" cy="4094103"/>
          </a:xfrm>
          <a:prstGeom prst="rect">
            <a:avLst/>
          </a:prstGeom>
        </p:spPr>
        <p:txBody>
          <a:bodyPr/>
          <a:lstStyle>
            <a:lvl1pPr marL="171450" indent="-171450" algn="l" defTabSz="914400" rtl="0" eaLnBrk="1" latinLnBrk="0" hangingPunct="1">
              <a:lnSpc>
                <a:spcPct val="90000"/>
              </a:lnSpc>
              <a:spcBef>
                <a:spcPts val="1000"/>
              </a:spcBef>
              <a:buFont typeface="Arial" panose="020B0604020202020204" pitchFamily="34" charset="0"/>
              <a:buChar char="•"/>
              <a:defRPr lang="en-US" sz="1200" kern="1200" dirty="0">
                <a:solidFill>
                  <a:schemeClr val="tx1"/>
                </a:solidFill>
                <a:latin typeface="+mn-lt"/>
                <a:ea typeface="+mn-ea"/>
                <a:cs typeface="+mn-cs"/>
              </a:defRPr>
            </a:lvl1pPr>
            <a:lvl2pPr marL="387450" indent="-17145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2pPr>
            <a:lvl3pPr marL="12847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3pPr>
            <a:lvl4pPr marL="16276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4pPr>
            <a:lvl5pPr marL="20848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sz="1400" b="1" dirty="0">
                <a:solidFill>
                  <a:schemeClr val="bg2">
                    <a:lumMod val="10000"/>
                  </a:schemeClr>
                </a:solidFill>
              </a:rPr>
              <a:t>Timeline</a:t>
            </a:r>
          </a:p>
          <a:p>
            <a:pPr marL="285750" indent="-285750">
              <a:lnSpc>
                <a:spcPct val="100000"/>
              </a:lnSpc>
              <a:spcBef>
                <a:spcPts val="600"/>
              </a:spcBef>
            </a:pPr>
            <a:r>
              <a:rPr lang="en-US" dirty="0">
                <a:solidFill>
                  <a:schemeClr val="bg2">
                    <a:lumMod val="10000"/>
                  </a:schemeClr>
                </a:solidFill>
              </a:rPr>
              <a:t>Setup of  Analytics center of excellence and internal capability: 12 – 24 months</a:t>
            </a:r>
          </a:p>
          <a:p>
            <a:pPr marL="285750" indent="-285750">
              <a:lnSpc>
                <a:spcPct val="100000"/>
              </a:lnSpc>
              <a:spcBef>
                <a:spcPts val="600"/>
              </a:spcBef>
            </a:pPr>
            <a:r>
              <a:rPr lang="en-US" dirty="0">
                <a:solidFill>
                  <a:schemeClr val="bg2">
                    <a:lumMod val="10000"/>
                  </a:schemeClr>
                </a:solidFill>
              </a:rPr>
              <a:t>Automation enhancements: 12-24 months</a:t>
            </a:r>
          </a:p>
          <a:p>
            <a:pPr marL="285750" indent="-285750">
              <a:spcBef>
                <a:spcPts val="600"/>
              </a:spcBef>
            </a:pPr>
            <a:r>
              <a:rPr lang="en-US" dirty="0">
                <a:solidFill>
                  <a:schemeClr val="accent4">
                    <a:lumMod val="50000"/>
                  </a:schemeClr>
                </a:solidFill>
              </a:rPr>
              <a:t>Documentation etc.: 12 – 24 months</a:t>
            </a:r>
          </a:p>
          <a:p>
            <a:pPr marL="0" indent="0">
              <a:lnSpc>
                <a:spcPct val="100000"/>
              </a:lnSpc>
              <a:spcBef>
                <a:spcPts val="600"/>
              </a:spcBef>
              <a:buNone/>
            </a:pPr>
            <a:r>
              <a:rPr lang="en-US" sz="1400" b="1" dirty="0">
                <a:solidFill>
                  <a:schemeClr val="bg2">
                    <a:lumMod val="10000"/>
                  </a:schemeClr>
                </a:solidFill>
              </a:rPr>
              <a:t>Underlying assumptions and business impacts</a:t>
            </a:r>
          </a:p>
          <a:p>
            <a:pPr marL="285750" indent="-285750">
              <a:lnSpc>
                <a:spcPct val="100000"/>
              </a:lnSpc>
              <a:spcBef>
                <a:spcPts val="600"/>
              </a:spcBef>
            </a:pPr>
            <a:r>
              <a:rPr lang="en-US" dirty="0">
                <a:solidFill>
                  <a:schemeClr val="bg2">
                    <a:lumMod val="10000"/>
                  </a:schemeClr>
                </a:solidFill>
              </a:rPr>
              <a:t>Business ownership and problem management of new business solutions and automated processes (business exceptions in processes automated via automation should not be handled by IT)</a:t>
            </a:r>
          </a:p>
          <a:p>
            <a:pPr marL="285750" indent="-285750">
              <a:lnSpc>
                <a:spcPct val="100000"/>
              </a:lnSpc>
              <a:spcBef>
                <a:spcPts val="600"/>
              </a:spcBef>
            </a:pPr>
            <a:r>
              <a:rPr lang="en-US" dirty="0">
                <a:solidFill>
                  <a:schemeClr val="bg2">
                    <a:lumMod val="10000"/>
                  </a:schemeClr>
                </a:solidFill>
              </a:rPr>
              <a:t>Support from business for simplifying processes to be aligned with new technology</a:t>
            </a:r>
          </a:p>
          <a:p>
            <a:pPr marL="285750" indent="-285750">
              <a:lnSpc>
                <a:spcPct val="100000"/>
              </a:lnSpc>
              <a:spcBef>
                <a:spcPts val="600"/>
              </a:spcBef>
            </a:pPr>
            <a:endParaRPr lang="en-US" dirty="0">
              <a:solidFill>
                <a:schemeClr val="bg2">
                  <a:lumMod val="10000"/>
                </a:schemeClr>
              </a:solidFill>
            </a:endParaRPr>
          </a:p>
          <a:p>
            <a:pPr marL="285750" indent="-285750">
              <a:spcBef>
                <a:spcPts val="600"/>
              </a:spcBef>
            </a:pPr>
            <a:endParaRPr lang="en-US" sz="1400" dirty="0">
              <a:solidFill>
                <a:schemeClr val="bg2">
                  <a:lumMod val="10000"/>
                </a:schemeClr>
              </a:solidFill>
            </a:endParaRPr>
          </a:p>
        </p:txBody>
      </p:sp>
      <p:grpSp>
        <p:nvGrpSpPr>
          <p:cNvPr id="33" name="Group 32"/>
          <p:cNvGrpSpPr/>
          <p:nvPr/>
        </p:nvGrpSpPr>
        <p:grpSpPr>
          <a:xfrm>
            <a:off x="499048" y="1554335"/>
            <a:ext cx="2512965" cy="4036104"/>
            <a:chOff x="499048" y="1664603"/>
            <a:chExt cx="2512965" cy="4036104"/>
          </a:xfrm>
        </p:grpSpPr>
        <p:sp>
          <p:nvSpPr>
            <p:cNvPr id="34" name="Trapezoid 33"/>
            <p:cNvSpPr/>
            <p:nvPr/>
          </p:nvSpPr>
          <p:spPr>
            <a:xfrm rot="16200000" flipH="1">
              <a:off x="-14808" y="2180181"/>
              <a:ext cx="3542400" cy="2511243"/>
            </a:xfrm>
            <a:prstGeom prst="trapezoid">
              <a:avLst/>
            </a:prstGeom>
            <a:ln/>
          </p:spPr>
          <p:style>
            <a:lnRef idx="0">
              <a:schemeClr val="accent2"/>
            </a:lnRef>
            <a:fillRef idx="3">
              <a:schemeClr val="accent2"/>
            </a:fillRef>
            <a:effectRef idx="3">
              <a:schemeClr val="accent2"/>
            </a:effectRef>
            <a:fontRef idx="minor">
              <a:schemeClr val="lt1"/>
            </a:fontRef>
          </p:style>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chemeClr val="bg1"/>
                </a:solidFill>
                <a:effectLst/>
                <a:uLnTx/>
                <a:uFillTx/>
                <a:latin typeface="Arial"/>
                <a:ea typeface="+mn-ea"/>
                <a:cs typeface="+mn-cs"/>
              </a:endParaRPr>
            </a:p>
          </p:txBody>
        </p:sp>
        <p:sp>
          <p:nvSpPr>
            <p:cNvPr id="35" name="Rectangle 34"/>
            <p:cNvSpPr/>
            <p:nvPr/>
          </p:nvSpPr>
          <p:spPr>
            <a:xfrm>
              <a:off x="499048" y="2366009"/>
              <a:ext cx="2512961" cy="1934889"/>
            </a:xfrm>
            <a:prstGeom prst="rect">
              <a:avLst/>
            </a:prstGeom>
          </p:spPr>
          <p:txBody>
            <a:bodyPr wrap="square" lIns="234000" rIns="126000">
              <a:spAutoFit/>
            </a:bodyPr>
            <a:lstStyle/>
            <a:p>
              <a:pPr lvl="0">
                <a:lnSpc>
                  <a:spcPct val="95000"/>
                </a:lnSpc>
                <a:spcAft>
                  <a:spcPts val="800"/>
                </a:spcAft>
                <a:buClr>
                  <a:schemeClr val="bg1"/>
                </a:buClr>
                <a:defRPr/>
              </a:pPr>
              <a:r>
                <a:rPr lang="en-IN" sz="1400" b="1" kern="0" dirty="0">
                  <a:solidFill>
                    <a:schemeClr val="bg1"/>
                  </a:solidFill>
                  <a:cs typeface="Arial" charset="0"/>
                </a:rPr>
                <a:t>Transform the Business</a:t>
              </a:r>
            </a:p>
            <a:p>
              <a:pPr marL="285750" indent="-285750">
                <a:lnSpc>
                  <a:spcPct val="95000"/>
                </a:lnSpc>
                <a:spcAft>
                  <a:spcPts val="800"/>
                </a:spcAft>
                <a:buClr>
                  <a:schemeClr val="bg1"/>
                </a:buClr>
                <a:buFont typeface="Arial" panose="020B0604020202020204" pitchFamily="34" charset="0"/>
                <a:buChar char="•"/>
                <a:defRPr/>
              </a:pPr>
              <a:r>
                <a:rPr lang="en-US" sz="1400" kern="0" dirty="0">
                  <a:solidFill>
                    <a:schemeClr val="bg1"/>
                  </a:solidFill>
                  <a:cs typeface="Arial" charset="0"/>
                </a:rPr>
                <a:t>Digital &amp; Customer Journey technology enrichments</a:t>
              </a:r>
            </a:p>
            <a:p>
              <a:pPr marL="285750" indent="-285750">
                <a:lnSpc>
                  <a:spcPct val="95000"/>
                </a:lnSpc>
                <a:spcAft>
                  <a:spcPts val="800"/>
                </a:spcAft>
                <a:buClr>
                  <a:schemeClr val="bg1"/>
                </a:buClr>
                <a:buFont typeface="Arial" panose="020B0604020202020204" pitchFamily="34" charset="0"/>
                <a:buChar char="•"/>
                <a:defRPr/>
              </a:pPr>
              <a:r>
                <a:rPr lang="en-US" sz="1400" kern="0" dirty="0">
                  <a:solidFill>
                    <a:schemeClr val="bg1"/>
                  </a:solidFill>
                  <a:cs typeface="Arial" charset="0"/>
                </a:rPr>
                <a:t>Automation enhancements to Business solutions &amp; services</a:t>
              </a:r>
            </a:p>
          </p:txBody>
        </p:sp>
        <p:sp>
          <p:nvSpPr>
            <p:cNvPr id="36" name="Rectangle 35"/>
            <p:cNvSpPr/>
            <p:nvPr/>
          </p:nvSpPr>
          <p:spPr>
            <a:xfrm>
              <a:off x="499049" y="4500378"/>
              <a:ext cx="698400" cy="120032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de-DE" sz="7200" b="1" kern="0" dirty="0">
                  <a:solidFill>
                    <a:schemeClr val="accent4"/>
                  </a:solidFill>
                  <a:latin typeface="Arial"/>
                </a:rPr>
                <a:t>1</a:t>
              </a:r>
              <a:endParaRPr kumimoji="0" lang="de-DE" sz="7200" b="1" i="0" u="none" strike="noStrike" kern="0" cap="none" spc="0" normalizeH="0" baseline="0" noProof="0" dirty="0">
                <a:ln>
                  <a:noFill/>
                </a:ln>
                <a:solidFill>
                  <a:schemeClr val="accent4"/>
                </a:solidFill>
                <a:effectLst/>
                <a:uLnTx/>
                <a:uFillTx/>
                <a:latin typeface="Arial"/>
              </a:endParaRPr>
            </a:p>
          </p:txBody>
        </p:sp>
      </p:grpSp>
      <p:sp>
        <p:nvSpPr>
          <p:cNvPr id="37" name="Rectangle 18"/>
          <p:cNvSpPr>
            <a:spLocks noChangeAspect="1" noChangeArrowheads="1"/>
          </p:cNvSpPr>
          <p:nvPr/>
        </p:nvSpPr>
        <p:spPr bwMode="auto">
          <a:xfrm>
            <a:off x="2287236" y="5886078"/>
            <a:ext cx="237244" cy="138499"/>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High</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38" name="Group 37"/>
          <p:cNvGrpSpPr/>
          <p:nvPr/>
        </p:nvGrpSpPr>
        <p:grpSpPr>
          <a:xfrm>
            <a:off x="2016090" y="5854253"/>
            <a:ext cx="222950" cy="224066"/>
            <a:chOff x="4254403" y="2954700"/>
            <a:chExt cx="154800" cy="155575"/>
          </a:xfrm>
        </p:grpSpPr>
        <p:sp>
          <p:nvSpPr>
            <p:cNvPr id="39" name="Oval 16"/>
            <p:cNvSpPr>
              <a:spLocks noChangeArrowheads="1"/>
            </p:cNvSpPr>
            <p:nvPr/>
          </p:nvSpPr>
          <p:spPr bwMode="auto">
            <a:xfrm>
              <a:off x="4254403" y="2954700"/>
              <a:ext cx="154800" cy="15480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40" name="Arc 13"/>
            <p:cNvSpPr>
              <a:spLocks/>
            </p:cNvSpPr>
            <p:nvPr/>
          </p:nvSpPr>
          <p:spPr bwMode="auto">
            <a:xfrm>
              <a:off x="4254403" y="2954700"/>
              <a:ext cx="154678" cy="155575"/>
            </a:xfrm>
            <a:custGeom>
              <a:avLst/>
              <a:gdLst>
                <a:gd name="T0" fmla="*/ 0 w 43199"/>
                <a:gd name="T1" fmla="*/ 0 h 43200"/>
                <a:gd name="T2" fmla="*/ 0 w 43199"/>
                <a:gd name="T3" fmla="*/ 0 h 43200"/>
                <a:gd name="T4" fmla="*/ 0 w 43199"/>
                <a:gd name="T5" fmla="*/ 0 h 43200"/>
                <a:gd name="T6" fmla="*/ 0 60000 65536"/>
                <a:gd name="T7" fmla="*/ 0 60000 65536"/>
                <a:gd name="T8" fmla="*/ 0 60000 65536"/>
                <a:gd name="T9" fmla="*/ 0 w 43199"/>
                <a:gd name="T10" fmla="*/ 0 h 43200"/>
                <a:gd name="T11" fmla="*/ 43199 w 43199"/>
                <a:gd name="T12" fmla="*/ 43200 h 43200"/>
              </a:gdLst>
              <a:ahLst/>
              <a:cxnLst>
                <a:cxn ang="T6">
                  <a:pos x="T0" y="T1"/>
                </a:cxn>
                <a:cxn ang="T7">
                  <a:pos x="T2" y="T3"/>
                </a:cxn>
                <a:cxn ang="T8">
                  <a:pos x="T4" y="T5"/>
                </a:cxn>
              </a:cxnLst>
              <a:rect l="T9" t="T10" r="T11" b="T12"/>
              <a:pathLst>
                <a:path w="43199" h="43200" fill="none" extrusionOk="0">
                  <a:moveTo>
                    <a:pt x="21598" y="0"/>
                  </a:moveTo>
                  <a:cubicBezTo>
                    <a:pt x="33528" y="0"/>
                    <a:pt x="43199" y="9670"/>
                    <a:pt x="43199" y="21600"/>
                  </a:cubicBezTo>
                  <a:cubicBezTo>
                    <a:pt x="43199" y="33529"/>
                    <a:pt x="33528" y="43200"/>
                    <a:pt x="21599" y="43200"/>
                  </a:cubicBezTo>
                  <a:cubicBezTo>
                    <a:pt x="9731" y="43200"/>
                    <a:pt x="86" y="33625"/>
                    <a:pt x="-1" y="21758"/>
                  </a:cubicBezTo>
                </a:path>
                <a:path w="43199" h="43200" stroke="0" extrusionOk="0">
                  <a:moveTo>
                    <a:pt x="21598" y="0"/>
                  </a:moveTo>
                  <a:cubicBezTo>
                    <a:pt x="33528" y="0"/>
                    <a:pt x="43199" y="9670"/>
                    <a:pt x="43199" y="21600"/>
                  </a:cubicBezTo>
                  <a:cubicBezTo>
                    <a:pt x="43199" y="33529"/>
                    <a:pt x="33528" y="43200"/>
                    <a:pt x="21599" y="43200"/>
                  </a:cubicBezTo>
                  <a:cubicBezTo>
                    <a:pt x="9731" y="43200"/>
                    <a:pt x="86" y="33625"/>
                    <a:pt x="-1" y="21758"/>
                  </a:cubicBezTo>
                  <a:lnTo>
                    <a:pt x="21599" y="21600"/>
                  </a:lnTo>
                  <a:close/>
                </a:path>
              </a:pathLst>
            </a:custGeom>
            <a:solidFill>
              <a:schemeClr val="accent2"/>
            </a:solidFill>
            <a:ln w="6350">
              <a:solidFill>
                <a:schemeClr val="tx1"/>
              </a:solid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grpSp>
        <p:nvGrpSpPr>
          <p:cNvPr id="41" name="Group 40"/>
          <p:cNvGrpSpPr/>
          <p:nvPr/>
        </p:nvGrpSpPr>
        <p:grpSpPr>
          <a:xfrm>
            <a:off x="941939" y="5855305"/>
            <a:ext cx="797668" cy="224066"/>
            <a:chOff x="3350347" y="2954704"/>
            <a:chExt cx="553842" cy="155575"/>
          </a:xfrm>
        </p:grpSpPr>
        <p:sp>
          <p:nvSpPr>
            <p:cNvPr id="42" name="Rectangle 23"/>
            <p:cNvSpPr>
              <a:spLocks noChangeAspect="1" noChangeArrowheads="1"/>
            </p:cNvSpPr>
            <p:nvPr/>
          </p:nvSpPr>
          <p:spPr bwMode="auto">
            <a:xfrm>
              <a:off x="3565835" y="2985203"/>
              <a:ext cx="338354" cy="96164"/>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schemeClr val="tx1">
                      <a:lumMod val="65000"/>
                      <a:lumOff val="35000"/>
                    </a:schemeClr>
                  </a:solidFill>
                  <a:latin typeface="Arial" panose="020B0604020202020204" pitchFamily="34" charset="0"/>
                  <a:ea typeface="EYInterstate" charset="0"/>
                  <a:cs typeface="Arial" panose="020B0604020202020204" pitchFamily="34" charset="0"/>
                </a:rPr>
                <a:t>Very high</a:t>
              </a:r>
            </a:p>
          </p:txBody>
        </p:sp>
        <p:sp>
          <p:nvSpPr>
            <p:cNvPr id="43" name="Oval 24"/>
            <p:cNvSpPr>
              <a:spLocks noChangeArrowheads="1"/>
            </p:cNvSpPr>
            <p:nvPr/>
          </p:nvSpPr>
          <p:spPr bwMode="auto">
            <a:xfrm>
              <a:off x="3350347" y="2954704"/>
              <a:ext cx="155386" cy="155575"/>
            </a:xfrm>
            <a:prstGeom prst="ellipse">
              <a:avLst/>
            </a:prstGeom>
            <a:solidFill>
              <a:schemeClr val="accent2"/>
            </a:solidFill>
            <a:ln w="6350">
              <a:solidFill>
                <a:schemeClr val="tx1"/>
              </a:solidFill>
              <a:round/>
              <a:headEnd/>
              <a:tailEnd/>
            </a:ln>
          </p:spPr>
          <p:txBody>
            <a:bodyPr anchor="ctr">
              <a:spAutoFit/>
            </a:bodyPr>
            <a:lstStyle/>
            <a:p>
              <a:pPr algn="ctr" fontAlgn="base">
                <a:spcBef>
                  <a:spcPct val="0"/>
                </a:spcBef>
                <a:spcAft>
                  <a:spcPct val="0"/>
                </a:spcAft>
              </a:pPr>
              <a:endParaRPr lang="en-GB">
                <a:solidFill>
                  <a:srgbClr val="FFFFFF"/>
                </a:solidFill>
              </a:endParaRPr>
            </a:p>
          </p:txBody>
        </p:sp>
      </p:grpSp>
    </p:spTree>
    <p:extLst>
      <p:ext uri="{BB962C8B-B14F-4D97-AF65-F5344CB8AC3E}">
        <p14:creationId xmlns:p14="http://schemas.microsoft.com/office/powerpoint/2010/main" val="20124318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latin typeface="+mj-lt"/>
              </a:rPr>
              <a:t>Initiative 2: Fix the Basics</a:t>
            </a:r>
          </a:p>
          <a:p>
            <a:endParaRPr lang="en-GB" sz="3200" dirty="0">
              <a:latin typeface="+mj-lt"/>
            </a:endParaRPr>
          </a:p>
        </p:txBody>
      </p:sp>
      <p:sp>
        <p:nvSpPr>
          <p:cNvPr id="14" name="Content Placeholder 4"/>
          <p:cNvSpPr txBox="1">
            <a:spLocks/>
          </p:cNvSpPr>
          <p:nvPr/>
        </p:nvSpPr>
        <p:spPr>
          <a:xfrm>
            <a:off x="3159555" y="969782"/>
            <a:ext cx="5648277" cy="5771260"/>
          </a:xfrm>
          <a:prstGeom prst="rect">
            <a:avLst/>
          </a:prstGeom>
        </p:spPr>
        <p:txBody>
          <a:bodyPr/>
          <a:lstStyle>
            <a:lvl1pPr marL="0" indent="0" algn="l" defTabSz="914400" rtl="0" eaLnBrk="1" latinLnBrk="0" hangingPunct="1">
              <a:lnSpc>
                <a:spcPct val="100000"/>
              </a:lnSpc>
              <a:spcBef>
                <a:spcPts val="800"/>
              </a:spcBef>
              <a:buFont typeface="Arial" panose="020B0604020202020204" pitchFamily="34" charset="0"/>
              <a:buNone/>
              <a:defRPr sz="1600" kern="1200">
                <a:solidFill>
                  <a:schemeClr val="accent4"/>
                </a:solidFill>
                <a:latin typeface="+mn-lt"/>
                <a:ea typeface="+mn-ea"/>
                <a:cs typeface="+mn-cs"/>
              </a:defRPr>
            </a:lvl1pPr>
            <a:lvl2pPr marL="1692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2pPr>
            <a:lvl3pPr marL="3384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3pPr>
            <a:lvl4pPr marL="5076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4pPr>
            <a:lvl5pPr marL="6768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2">
                    <a:lumMod val="10000"/>
                  </a:schemeClr>
                </a:solidFill>
              </a:rPr>
              <a:t>Elements of the initiative</a:t>
            </a:r>
          </a:p>
          <a:p>
            <a:pPr>
              <a:spcBef>
                <a:spcPts val="0"/>
              </a:spcBef>
            </a:pPr>
            <a:r>
              <a:rPr lang="en-US" sz="1200" b="1" i="1" dirty="0">
                <a:solidFill>
                  <a:schemeClr val="bg2">
                    <a:lumMod val="10000"/>
                  </a:schemeClr>
                </a:solidFill>
              </a:rPr>
              <a:t>Automation enhancements to Support Functions</a:t>
            </a:r>
          </a:p>
          <a:p>
            <a:pPr marL="285750" indent="-285750">
              <a:spcBef>
                <a:spcPts val="600"/>
              </a:spcBef>
              <a:buFont typeface="Arial" panose="020B0604020202020204" pitchFamily="34" charset="0"/>
              <a:buChar char="•"/>
            </a:pPr>
            <a:r>
              <a:rPr lang="en-US" sz="1200" dirty="0">
                <a:solidFill>
                  <a:schemeClr val="bg2">
                    <a:lumMod val="10000"/>
                  </a:schemeClr>
                </a:solidFill>
              </a:rPr>
              <a:t>Establish quick wins and long-term plan to support functions including which capabilities and associated solutions to improve, maintain and which to decommission</a:t>
            </a:r>
          </a:p>
          <a:p>
            <a:pPr marL="171450" indent="-171450">
              <a:spcBef>
                <a:spcPts val="0"/>
              </a:spcBef>
              <a:buFont typeface="Arial" panose="020B0604020202020204" pitchFamily="34" charset="0"/>
              <a:buChar char="•"/>
            </a:pPr>
            <a:endParaRPr lang="en-US" sz="1200" i="1" dirty="0">
              <a:solidFill>
                <a:schemeClr val="bg2">
                  <a:lumMod val="10000"/>
                </a:schemeClr>
              </a:solidFill>
            </a:endParaRPr>
          </a:p>
          <a:p>
            <a:pPr>
              <a:spcBef>
                <a:spcPts val="0"/>
              </a:spcBef>
            </a:pPr>
            <a:r>
              <a:rPr lang="en-US" sz="1200" b="1" i="1" dirty="0">
                <a:solidFill>
                  <a:schemeClr val="bg2">
                    <a:lumMod val="10000"/>
                  </a:schemeClr>
                </a:solidFill>
              </a:rPr>
              <a:t>Fix the IT: Build value generating capabilities and structured governance </a:t>
            </a:r>
          </a:p>
          <a:p>
            <a:pPr marL="169200" lvl="2" indent="0">
              <a:spcBef>
                <a:spcPts val="0"/>
              </a:spcBef>
              <a:buNone/>
            </a:pPr>
            <a:r>
              <a:rPr lang="en-US" sz="1200" i="1" u="sng" dirty="0">
                <a:solidFill>
                  <a:schemeClr val="bg2">
                    <a:lumMod val="10000"/>
                  </a:schemeClr>
                </a:solidFill>
              </a:rPr>
              <a:t>IT reorganization</a:t>
            </a:r>
            <a:r>
              <a:rPr lang="en-US" sz="1200" i="1" dirty="0">
                <a:solidFill>
                  <a:schemeClr val="bg2">
                    <a:lumMod val="10000"/>
                  </a:schemeClr>
                </a:solidFill>
              </a:rPr>
              <a:t>:</a:t>
            </a:r>
          </a:p>
          <a:p>
            <a:pPr marL="285750" indent="-285750">
              <a:spcBef>
                <a:spcPts val="600"/>
              </a:spcBef>
              <a:buFont typeface="Arial" panose="020B0604020202020204" pitchFamily="34" charset="0"/>
              <a:buChar char="•"/>
            </a:pPr>
            <a:r>
              <a:rPr lang="en-US" sz="1200" dirty="0">
                <a:solidFill>
                  <a:schemeClr val="bg2">
                    <a:lumMod val="10000"/>
                  </a:schemeClr>
                </a:solidFill>
              </a:rPr>
              <a:t>Performance focused - Align IT capabilities and processes around a clear business purpose to prioritize investments with a laser focus</a:t>
            </a:r>
          </a:p>
          <a:p>
            <a:pPr marL="285750" indent="-285750">
              <a:spcBef>
                <a:spcPts val="600"/>
              </a:spcBef>
              <a:buFont typeface="Arial" panose="020B0604020202020204" pitchFamily="34" charset="0"/>
              <a:buChar char="•"/>
            </a:pPr>
            <a:r>
              <a:rPr lang="en-US" sz="1200" dirty="0">
                <a:solidFill>
                  <a:schemeClr val="bg2">
                    <a:lumMod val="10000"/>
                  </a:schemeClr>
                </a:solidFill>
              </a:rPr>
              <a:t>Setup of missing governance roles (architecture, Data management, vendor management, Finance management, …)</a:t>
            </a:r>
          </a:p>
          <a:p>
            <a:pPr marL="285750" indent="-285750">
              <a:spcBef>
                <a:spcPts val="600"/>
              </a:spcBef>
              <a:buFont typeface="Arial" panose="020B0604020202020204" pitchFamily="34" charset="0"/>
              <a:buChar char="•"/>
            </a:pPr>
            <a:r>
              <a:rPr lang="en-US" sz="1200" dirty="0">
                <a:solidFill>
                  <a:schemeClr val="bg2">
                    <a:lumMod val="10000"/>
                  </a:schemeClr>
                </a:solidFill>
              </a:rPr>
              <a:t>Restructuring of Technology tea[NAME] to break down skill silos</a:t>
            </a:r>
          </a:p>
          <a:p>
            <a:pPr marL="285750" indent="-285750">
              <a:spcBef>
                <a:spcPts val="600"/>
              </a:spcBef>
              <a:buFont typeface="Arial" panose="020B0604020202020204" pitchFamily="34" charset="0"/>
              <a:buChar char="•"/>
            </a:pPr>
            <a:r>
              <a:rPr lang="en-US" sz="1200" dirty="0">
                <a:solidFill>
                  <a:schemeClr val="bg2">
                    <a:lumMod val="10000"/>
                  </a:schemeClr>
                </a:solidFill>
              </a:rPr>
              <a:t>Overall collection and later analysis of IT KPIs</a:t>
            </a:r>
          </a:p>
          <a:p>
            <a:pPr marL="285750" indent="-285750">
              <a:spcBef>
                <a:spcPts val="600"/>
              </a:spcBef>
              <a:buFont typeface="Arial" panose="020B0604020202020204" pitchFamily="34" charset="0"/>
              <a:buChar char="•"/>
            </a:pPr>
            <a:r>
              <a:rPr lang="en-US" sz="1200" dirty="0">
                <a:solidFill>
                  <a:schemeClr val="bg2">
                    <a:lumMod val="10000"/>
                  </a:schemeClr>
                </a:solidFill>
              </a:rPr>
              <a:t>People development and trainings</a:t>
            </a:r>
          </a:p>
          <a:p>
            <a:pPr marL="169200" lvl="2" indent="0">
              <a:spcBef>
                <a:spcPts val="0"/>
              </a:spcBef>
              <a:buNone/>
            </a:pPr>
            <a:r>
              <a:rPr lang="en-US" sz="1200" i="1" u="sng" dirty="0">
                <a:solidFill>
                  <a:schemeClr val="bg2">
                    <a:lumMod val="10000"/>
                  </a:schemeClr>
                </a:solidFill>
              </a:rPr>
              <a:t>Demand &amp; Supply Management setup:</a:t>
            </a:r>
          </a:p>
          <a:p>
            <a:pPr marL="285750" indent="-285750">
              <a:spcBef>
                <a:spcPts val="600"/>
              </a:spcBef>
              <a:buFont typeface="Arial" panose="020B0604020202020204" pitchFamily="34" charset="0"/>
              <a:buChar char="•"/>
            </a:pPr>
            <a:r>
              <a:rPr lang="en-US" sz="1200" dirty="0">
                <a:solidFill>
                  <a:schemeClr val="bg2">
                    <a:lumMod val="10000"/>
                  </a:schemeClr>
                </a:solidFill>
              </a:rPr>
              <a:t>Predictable delivery of IT changes, with a built-in reprioritization to support agile delivery </a:t>
            </a:r>
          </a:p>
          <a:p>
            <a:pPr marL="285750" indent="-285750">
              <a:spcBef>
                <a:spcPts val="600"/>
              </a:spcBef>
              <a:buFont typeface="Arial" panose="020B0604020202020204" pitchFamily="34" charset="0"/>
              <a:buChar char="•"/>
            </a:pPr>
            <a:r>
              <a:rPr lang="en-US" sz="1200" dirty="0">
                <a:solidFill>
                  <a:schemeClr val="bg2">
                    <a:lumMod val="10000"/>
                  </a:schemeClr>
                </a:solidFill>
              </a:rPr>
              <a:t>Business requirement documentation by architects and business partners (analysts) throughout the process</a:t>
            </a:r>
          </a:p>
          <a:p>
            <a:pPr marL="285750" indent="-285750">
              <a:spcBef>
                <a:spcPts val="600"/>
              </a:spcBef>
              <a:buFont typeface="Arial" panose="020B0604020202020204" pitchFamily="34" charset="0"/>
              <a:buChar char="•"/>
            </a:pPr>
            <a:r>
              <a:rPr lang="en-US" sz="1200" dirty="0">
                <a:solidFill>
                  <a:schemeClr val="bg2">
                    <a:lumMod val="10000"/>
                  </a:schemeClr>
                </a:solidFill>
              </a:rPr>
              <a:t>Optimize sourcing model for commodity services: Retain internally capabilities and functions that are value generating and provide direction to ITD and consider outsourcing / cloud-sourcing for commodity services</a:t>
            </a:r>
          </a:p>
          <a:p>
            <a:pPr marL="285750" indent="-285750">
              <a:spcBef>
                <a:spcPts val="600"/>
              </a:spcBef>
              <a:buFont typeface="Arial" panose="020B0604020202020204" pitchFamily="34" charset="0"/>
              <a:buChar char="•"/>
            </a:pPr>
            <a:r>
              <a:rPr lang="en-US" sz="1200" dirty="0">
                <a:solidFill>
                  <a:schemeClr val="bg2">
                    <a:lumMod val="10000"/>
                  </a:schemeClr>
                </a:solidFill>
              </a:rPr>
              <a:t> Consider Partnering with a strategic supplier(s) for capabilities and functions that involve specialized technology skills that are not core to [COMPANY] business</a:t>
            </a:r>
          </a:p>
        </p:txBody>
      </p:sp>
      <p:sp>
        <p:nvSpPr>
          <p:cNvPr id="15" name="Content Placeholder 5"/>
          <p:cNvSpPr txBox="1">
            <a:spLocks/>
          </p:cNvSpPr>
          <p:nvPr/>
        </p:nvSpPr>
        <p:spPr>
          <a:xfrm>
            <a:off x="8807838" y="1062684"/>
            <a:ext cx="3162487" cy="5221774"/>
          </a:xfrm>
          <a:prstGeom prst="rect">
            <a:avLst/>
          </a:prstGeom>
        </p:spPr>
        <p:txBody>
          <a:bodyPr/>
          <a:lstStyle>
            <a:lvl1pPr marL="171450" indent="-171450" algn="l" defTabSz="914400" rtl="0" eaLnBrk="1" latinLnBrk="0" hangingPunct="1">
              <a:lnSpc>
                <a:spcPct val="90000"/>
              </a:lnSpc>
              <a:spcBef>
                <a:spcPts val="1000"/>
              </a:spcBef>
              <a:buFont typeface="Arial" panose="020B0604020202020204" pitchFamily="34" charset="0"/>
              <a:buChar char="•"/>
              <a:defRPr lang="en-US" sz="1200" kern="1200" dirty="0">
                <a:solidFill>
                  <a:schemeClr val="tx1"/>
                </a:solidFill>
                <a:latin typeface="+mn-lt"/>
                <a:ea typeface="+mn-ea"/>
                <a:cs typeface="+mn-cs"/>
              </a:defRPr>
            </a:lvl1pPr>
            <a:lvl2pPr marL="387450" indent="-17145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2pPr>
            <a:lvl3pPr marL="12847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3pPr>
            <a:lvl4pPr marL="16276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4pPr>
            <a:lvl5pPr marL="20848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800"/>
              </a:spcBef>
              <a:buNone/>
            </a:pPr>
            <a:r>
              <a:rPr lang="en-US" sz="1400" b="1" dirty="0">
                <a:solidFill>
                  <a:schemeClr val="bg2">
                    <a:lumMod val="10000"/>
                  </a:schemeClr>
                </a:solidFill>
              </a:rPr>
              <a:t>Timeline</a:t>
            </a:r>
          </a:p>
          <a:p>
            <a:pPr marL="285750" indent="-285750">
              <a:lnSpc>
                <a:spcPct val="100000"/>
              </a:lnSpc>
              <a:spcBef>
                <a:spcPts val="600"/>
              </a:spcBef>
            </a:pPr>
            <a:r>
              <a:rPr lang="en-US" dirty="0">
                <a:solidFill>
                  <a:schemeClr val="bg2">
                    <a:lumMod val="10000"/>
                  </a:schemeClr>
                </a:solidFill>
              </a:rPr>
              <a:t>Setup of  Digital, Strategy &amp; Architecture Departments and internal capability: 12 – 24 months</a:t>
            </a:r>
          </a:p>
          <a:p>
            <a:pPr marL="0" indent="0">
              <a:lnSpc>
                <a:spcPct val="100000"/>
              </a:lnSpc>
              <a:spcBef>
                <a:spcPts val="800"/>
              </a:spcBef>
              <a:buNone/>
            </a:pPr>
            <a:r>
              <a:rPr lang="en-US" sz="1400" b="1" dirty="0">
                <a:solidFill>
                  <a:schemeClr val="bg2">
                    <a:lumMod val="10000"/>
                  </a:schemeClr>
                </a:solidFill>
              </a:rPr>
              <a:t>Underlying assumptions and business impacts</a:t>
            </a:r>
          </a:p>
          <a:p>
            <a:pPr marL="285750" indent="-285750">
              <a:lnSpc>
                <a:spcPct val="100000"/>
              </a:lnSpc>
              <a:spcBef>
                <a:spcPts val="600"/>
              </a:spcBef>
            </a:pPr>
            <a:r>
              <a:rPr lang="en-US" dirty="0">
                <a:solidFill>
                  <a:schemeClr val="bg2">
                    <a:lumMod val="10000"/>
                  </a:schemeClr>
                </a:solidFill>
              </a:rPr>
              <a:t>Acceptance of lower &amp; less efficient delivery to business before the new organization becomes fully established</a:t>
            </a:r>
          </a:p>
          <a:p>
            <a:pPr marL="285750" indent="-285750">
              <a:lnSpc>
                <a:spcPct val="100000"/>
              </a:lnSpc>
              <a:spcBef>
                <a:spcPts val="600"/>
              </a:spcBef>
            </a:pPr>
            <a:r>
              <a:rPr lang="en-US" dirty="0">
                <a:solidFill>
                  <a:schemeClr val="bg2">
                    <a:lumMod val="10000"/>
                  </a:schemeClr>
                </a:solidFill>
              </a:rPr>
              <a:t>Business participation in and self-discipline to follow the demand management process</a:t>
            </a:r>
          </a:p>
          <a:p>
            <a:pPr marL="285750" indent="-285750">
              <a:lnSpc>
                <a:spcPct val="100000"/>
              </a:lnSpc>
              <a:spcBef>
                <a:spcPts val="600"/>
              </a:spcBef>
            </a:pPr>
            <a:r>
              <a:rPr lang="en-US" dirty="0">
                <a:solidFill>
                  <a:schemeClr val="bg2">
                    <a:lumMod val="10000"/>
                  </a:schemeClr>
                </a:solidFill>
              </a:rPr>
              <a:t>Support of Management to enforce demand management rules</a:t>
            </a:r>
          </a:p>
          <a:p>
            <a:pPr marL="285750" indent="-285750">
              <a:lnSpc>
                <a:spcPct val="100000"/>
              </a:lnSpc>
              <a:spcBef>
                <a:spcPts val="600"/>
              </a:spcBef>
            </a:pPr>
            <a:r>
              <a:rPr lang="en-US" dirty="0">
                <a:solidFill>
                  <a:schemeClr val="bg2">
                    <a:lumMod val="10000"/>
                  </a:schemeClr>
                </a:solidFill>
              </a:rPr>
              <a:t>Follow-up of the reorganization with further investment to converge functionality siloes (effort for 18 – 24 months)</a:t>
            </a:r>
          </a:p>
          <a:p>
            <a:pPr marL="285750" indent="-285750">
              <a:lnSpc>
                <a:spcPct val="100000"/>
              </a:lnSpc>
              <a:spcBef>
                <a:spcPts val="600"/>
              </a:spcBef>
            </a:pPr>
            <a:r>
              <a:rPr lang="en-US" dirty="0">
                <a:solidFill>
                  <a:schemeClr val="accent4">
                    <a:lumMod val="50000"/>
                  </a:schemeClr>
                </a:solidFill>
              </a:rPr>
              <a:t>Open-minded and honest data inputs (for setting up IT KPIs)</a:t>
            </a:r>
            <a:endParaRPr lang="en-US" dirty="0">
              <a:solidFill>
                <a:schemeClr val="bg2">
                  <a:lumMod val="10000"/>
                </a:schemeClr>
              </a:solidFill>
            </a:endParaRPr>
          </a:p>
          <a:p>
            <a:pPr marL="285750" indent="-285750">
              <a:spcBef>
                <a:spcPts val="600"/>
              </a:spcBef>
            </a:pPr>
            <a:endParaRPr lang="en-US" sz="1300" dirty="0">
              <a:solidFill>
                <a:schemeClr val="bg2">
                  <a:lumMod val="10000"/>
                </a:schemeClr>
              </a:solidFill>
            </a:endParaRPr>
          </a:p>
        </p:txBody>
      </p:sp>
      <p:grpSp>
        <p:nvGrpSpPr>
          <p:cNvPr id="16" name="Group 15"/>
          <p:cNvGrpSpPr/>
          <p:nvPr/>
        </p:nvGrpSpPr>
        <p:grpSpPr>
          <a:xfrm>
            <a:off x="499048" y="1171559"/>
            <a:ext cx="2512965" cy="4036104"/>
            <a:chOff x="499048" y="1664603"/>
            <a:chExt cx="2512965" cy="4036104"/>
          </a:xfrm>
        </p:grpSpPr>
        <p:sp>
          <p:nvSpPr>
            <p:cNvPr id="17" name="Trapezoid 16"/>
            <p:cNvSpPr/>
            <p:nvPr/>
          </p:nvSpPr>
          <p:spPr>
            <a:xfrm rot="16200000" flipH="1">
              <a:off x="-14808" y="2180181"/>
              <a:ext cx="3542400" cy="2511243"/>
            </a:xfrm>
            <a:prstGeom prst="trapezoid">
              <a:avLst/>
            </a:prstGeom>
            <a:ln/>
          </p:spPr>
          <p:style>
            <a:lnRef idx="0">
              <a:schemeClr val="accent2"/>
            </a:lnRef>
            <a:fillRef idx="3">
              <a:schemeClr val="accent2"/>
            </a:fillRef>
            <a:effectRef idx="3">
              <a:schemeClr val="accent2"/>
            </a:effectRef>
            <a:fontRef idx="minor">
              <a:schemeClr val="lt1"/>
            </a:fontRef>
          </p:style>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chemeClr val="bg1"/>
                </a:solidFill>
                <a:effectLst/>
                <a:uLnTx/>
                <a:uFillTx/>
                <a:latin typeface="Arial"/>
                <a:ea typeface="+mn-ea"/>
                <a:cs typeface="+mn-cs"/>
              </a:endParaRPr>
            </a:p>
          </p:txBody>
        </p:sp>
        <p:sp>
          <p:nvSpPr>
            <p:cNvPr id="18" name="Rectangle 17"/>
            <p:cNvSpPr/>
            <p:nvPr/>
          </p:nvSpPr>
          <p:spPr>
            <a:xfrm>
              <a:off x="499048" y="2366009"/>
              <a:ext cx="2512961" cy="1934889"/>
            </a:xfrm>
            <a:prstGeom prst="rect">
              <a:avLst/>
            </a:prstGeom>
          </p:spPr>
          <p:txBody>
            <a:bodyPr wrap="square" lIns="234000" rIns="126000">
              <a:spAutoFit/>
            </a:bodyPr>
            <a:lstStyle/>
            <a:p>
              <a:pPr lvl="0">
                <a:lnSpc>
                  <a:spcPct val="95000"/>
                </a:lnSpc>
                <a:spcAft>
                  <a:spcPts val="800"/>
                </a:spcAft>
                <a:buClr>
                  <a:schemeClr val="bg1"/>
                </a:buClr>
                <a:defRPr/>
              </a:pPr>
              <a:r>
                <a:rPr lang="en-US" sz="1400" b="1" kern="0" dirty="0">
                  <a:solidFill>
                    <a:schemeClr val="bg1"/>
                  </a:solidFill>
                  <a:cs typeface="Arial" charset="0"/>
                </a:rPr>
                <a:t>Fix the basics</a:t>
              </a:r>
            </a:p>
            <a:p>
              <a:pPr marL="285750" lvl="0" indent="-285750">
                <a:lnSpc>
                  <a:spcPct val="95000"/>
                </a:lnSpc>
                <a:spcAft>
                  <a:spcPts val="800"/>
                </a:spcAft>
                <a:buClr>
                  <a:schemeClr val="bg1"/>
                </a:buClr>
                <a:buFont typeface="Arial" panose="020B0604020202020204" pitchFamily="34" charset="0"/>
                <a:buChar char="•"/>
                <a:defRPr/>
              </a:pPr>
              <a:r>
                <a:rPr lang="en-US" sz="1400" kern="0" dirty="0">
                  <a:solidFill>
                    <a:schemeClr val="bg1"/>
                  </a:solidFill>
                  <a:cs typeface="Arial" charset="0"/>
                </a:rPr>
                <a:t>Automation enhancements to Support Functions</a:t>
              </a:r>
            </a:p>
            <a:p>
              <a:pPr marL="285750" lvl="0" indent="-285750">
                <a:lnSpc>
                  <a:spcPct val="95000"/>
                </a:lnSpc>
                <a:spcAft>
                  <a:spcPts val="800"/>
                </a:spcAft>
                <a:buClr>
                  <a:schemeClr val="bg1"/>
                </a:buClr>
                <a:buFont typeface="Arial" panose="020B0604020202020204" pitchFamily="34" charset="0"/>
                <a:buChar char="•"/>
                <a:defRPr/>
              </a:pPr>
              <a:r>
                <a:rPr lang="en-US" sz="1400" kern="0" dirty="0">
                  <a:solidFill>
                    <a:schemeClr val="bg1"/>
                  </a:solidFill>
                  <a:cs typeface="Arial" charset="0"/>
                </a:rPr>
                <a:t>Fix the IT: Build value generating capabilities and structured governance </a:t>
              </a:r>
            </a:p>
          </p:txBody>
        </p:sp>
        <p:sp>
          <p:nvSpPr>
            <p:cNvPr id="19" name="Rectangle 18"/>
            <p:cNvSpPr/>
            <p:nvPr/>
          </p:nvSpPr>
          <p:spPr>
            <a:xfrm>
              <a:off x="499049" y="4500378"/>
              <a:ext cx="698400" cy="120032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7200" b="1" i="0" u="none" strike="noStrike" kern="0" cap="none" spc="0" normalizeH="0" baseline="0" dirty="0">
                  <a:ln>
                    <a:noFill/>
                  </a:ln>
                  <a:solidFill>
                    <a:schemeClr val="accent4"/>
                  </a:solidFill>
                  <a:effectLst/>
                  <a:uLnTx/>
                  <a:uFillTx/>
                  <a:latin typeface="Arial"/>
                </a:rPr>
                <a:t>2</a:t>
              </a:r>
              <a:endParaRPr kumimoji="0" lang="de-DE" sz="7200" b="1" i="0" u="none" strike="noStrike" kern="0" cap="none" spc="0" normalizeH="0" baseline="0" noProof="0" dirty="0">
                <a:ln>
                  <a:noFill/>
                </a:ln>
                <a:solidFill>
                  <a:schemeClr val="accent4"/>
                </a:solidFill>
                <a:effectLst/>
                <a:uLnTx/>
                <a:uFillTx/>
                <a:latin typeface="Arial"/>
              </a:endParaRPr>
            </a:p>
          </p:txBody>
        </p:sp>
      </p:grpSp>
      <p:graphicFrame>
        <p:nvGraphicFramePr>
          <p:cNvPr id="20" name="Table 19"/>
          <p:cNvGraphicFramePr>
            <a:graphicFrameLocks noGrp="1"/>
          </p:cNvGraphicFramePr>
          <p:nvPr/>
        </p:nvGraphicFramePr>
        <p:xfrm>
          <a:off x="642352" y="5575312"/>
          <a:ext cx="2191632" cy="709146"/>
        </p:xfrm>
        <a:graphic>
          <a:graphicData uri="http://schemas.openxmlformats.org/drawingml/2006/table">
            <a:tbl>
              <a:tblPr firstRow="1" bandRow="1">
                <a:tableStyleId>{5940675A-B579-460E-94D1-54222C63F5DA}</a:tableStyleId>
              </a:tblPr>
              <a:tblGrid>
                <a:gridCol w="1095816">
                  <a:extLst>
                    <a:ext uri="{9D8B030D-6E8A-4147-A177-3AD203B41FA5}">
                      <a16:colId xmlns:a16="http://schemas.microsoft.com/office/drawing/2014/main" val="20000"/>
                    </a:ext>
                  </a:extLst>
                </a:gridCol>
                <a:gridCol w="1095816">
                  <a:extLst>
                    <a:ext uri="{9D8B030D-6E8A-4147-A177-3AD203B41FA5}">
                      <a16:colId xmlns:a16="http://schemas.microsoft.com/office/drawing/2014/main" val="20001"/>
                    </a:ext>
                  </a:extLst>
                </a:gridCol>
              </a:tblGrid>
              <a:tr h="347384">
                <a:tc>
                  <a:txBody>
                    <a:bodyPr/>
                    <a:lstStyle/>
                    <a:p>
                      <a:pPr algn="l"/>
                      <a:r>
                        <a:rPr lang="en-US" sz="1000" b="1" dirty="0">
                          <a:solidFill>
                            <a:schemeClr val="bg1"/>
                          </a:solidFill>
                        </a:rPr>
                        <a:t>Technology </a:t>
                      </a:r>
                      <a:r>
                        <a:rPr lang="en-US" sz="1000" b="1" baseline="0" dirty="0">
                          <a:solidFill>
                            <a:schemeClr val="bg1"/>
                          </a:solidFill>
                        </a:rPr>
                        <a:t>complexity</a:t>
                      </a:r>
                      <a:endParaRPr lang="en-US" sz="1000" b="1" dirty="0">
                        <a:solidFill>
                          <a:schemeClr val="bg1"/>
                        </a:solidFill>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l"/>
                      <a:r>
                        <a:rPr lang="en-US" sz="1000" b="1" dirty="0">
                          <a:solidFill>
                            <a:schemeClr val="bg1"/>
                          </a:solidFill>
                        </a:rPr>
                        <a:t>People complexity</a:t>
                      </a:r>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12906">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pSp>
        <p:nvGrpSpPr>
          <p:cNvPr id="21" name="Group 20"/>
          <p:cNvGrpSpPr/>
          <p:nvPr/>
        </p:nvGrpSpPr>
        <p:grpSpPr>
          <a:xfrm>
            <a:off x="1746040" y="6005866"/>
            <a:ext cx="797668" cy="224066"/>
            <a:chOff x="3350347" y="2954704"/>
            <a:chExt cx="553842" cy="155575"/>
          </a:xfrm>
        </p:grpSpPr>
        <p:sp>
          <p:nvSpPr>
            <p:cNvPr id="22" name="Rectangle 23"/>
            <p:cNvSpPr>
              <a:spLocks noChangeAspect="1" noChangeArrowheads="1"/>
            </p:cNvSpPr>
            <p:nvPr/>
          </p:nvSpPr>
          <p:spPr bwMode="auto">
            <a:xfrm>
              <a:off x="3565835" y="2985203"/>
              <a:ext cx="338354" cy="96164"/>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schemeClr val="tx1">
                      <a:lumMod val="65000"/>
                      <a:lumOff val="35000"/>
                    </a:schemeClr>
                  </a:solidFill>
                  <a:latin typeface="Arial" panose="020B0604020202020204" pitchFamily="34" charset="0"/>
                  <a:ea typeface="EYInterstate" charset="0"/>
                  <a:cs typeface="Arial" panose="020B0604020202020204" pitchFamily="34" charset="0"/>
                </a:rPr>
                <a:t>Very high</a:t>
              </a:r>
            </a:p>
          </p:txBody>
        </p:sp>
        <p:sp>
          <p:nvSpPr>
            <p:cNvPr id="23" name="Oval 24"/>
            <p:cNvSpPr>
              <a:spLocks noChangeArrowheads="1"/>
            </p:cNvSpPr>
            <p:nvPr/>
          </p:nvSpPr>
          <p:spPr bwMode="auto">
            <a:xfrm>
              <a:off x="3350347" y="2954704"/>
              <a:ext cx="155386" cy="155575"/>
            </a:xfrm>
            <a:prstGeom prst="ellipse">
              <a:avLst/>
            </a:prstGeom>
            <a:solidFill>
              <a:schemeClr val="accent2"/>
            </a:solidFill>
            <a:ln w="6350">
              <a:solidFill>
                <a:schemeClr val="tx1"/>
              </a:solidFill>
              <a:round/>
              <a:headEnd/>
              <a:tailEnd/>
            </a:ln>
          </p:spPr>
          <p:txBody>
            <a:bodyPr anchor="ctr">
              <a:spAutoFit/>
            </a:bodyPr>
            <a:lstStyle/>
            <a:p>
              <a:pPr algn="ctr" fontAlgn="base">
                <a:spcBef>
                  <a:spcPct val="0"/>
                </a:spcBef>
                <a:spcAft>
                  <a:spcPct val="0"/>
                </a:spcAft>
              </a:pPr>
              <a:endParaRPr lang="en-GB">
                <a:solidFill>
                  <a:srgbClr val="FFFFFF"/>
                </a:solidFill>
              </a:endParaRPr>
            </a:p>
          </p:txBody>
        </p:sp>
      </p:grpSp>
      <p:grpSp>
        <p:nvGrpSpPr>
          <p:cNvPr id="24" name="Group 23"/>
          <p:cNvGrpSpPr/>
          <p:nvPr/>
        </p:nvGrpSpPr>
        <p:grpSpPr>
          <a:xfrm>
            <a:off x="740150" y="6005866"/>
            <a:ext cx="715614" cy="226353"/>
            <a:chOff x="4941338" y="2953112"/>
            <a:chExt cx="496869" cy="157163"/>
          </a:xfrm>
        </p:grpSpPr>
        <p:sp>
          <p:nvSpPr>
            <p:cNvPr id="25" name="Rectangle 5"/>
            <p:cNvSpPr>
              <a:spLocks noChangeAspect="1" noChangeArrowheads="1"/>
            </p:cNvSpPr>
            <p:nvPr/>
          </p:nvSpPr>
          <p:spPr bwMode="auto">
            <a:xfrm>
              <a:off x="5153277" y="2982506"/>
              <a:ext cx="284930" cy="96164"/>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Medium</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26" name="Group 25"/>
            <p:cNvGrpSpPr/>
            <p:nvPr/>
          </p:nvGrpSpPr>
          <p:grpSpPr>
            <a:xfrm>
              <a:off x="4941338" y="2953112"/>
              <a:ext cx="154800" cy="157163"/>
              <a:chOff x="4941338" y="2953112"/>
              <a:chExt cx="154800" cy="157163"/>
            </a:xfrm>
          </p:grpSpPr>
          <p:sp>
            <p:nvSpPr>
              <p:cNvPr id="27" name="Oval 16"/>
              <p:cNvSpPr>
                <a:spLocks noChangeArrowheads="1"/>
              </p:cNvSpPr>
              <p:nvPr/>
            </p:nvSpPr>
            <p:spPr bwMode="auto">
              <a:xfrm>
                <a:off x="4941338" y="2955475"/>
                <a:ext cx="154800" cy="15480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28" name="Arc 8"/>
              <p:cNvSpPr>
                <a:spLocks noChangeAspect="1"/>
              </p:cNvSpPr>
              <p:nvPr/>
            </p:nvSpPr>
            <p:spPr bwMode="auto">
              <a:xfrm>
                <a:off x="5017738" y="2953112"/>
                <a:ext cx="78400" cy="157163"/>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8"/>
                      <a:pt x="11930" y="43198"/>
                      <a:pt x="1" y="43199"/>
                    </a:cubicBezTo>
                  </a:path>
                  <a:path w="21600" h="43200" stroke="0" extrusionOk="0">
                    <a:moveTo>
                      <a:pt x="-1" y="0"/>
                    </a:moveTo>
                    <a:cubicBezTo>
                      <a:pt x="11929" y="0"/>
                      <a:pt x="21600" y="9670"/>
                      <a:pt x="21600" y="21600"/>
                    </a:cubicBezTo>
                    <a:cubicBezTo>
                      <a:pt x="21600" y="33528"/>
                      <a:pt x="11930" y="43198"/>
                      <a:pt x="1" y="43199"/>
                    </a:cubicBezTo>
                    <a:lnTo>
                      <a:pt x="0" y="21600"/>
                    </a:lnTo>
                    <a:close/>
                  </a:path>
                </a:pathLst>
              </a:custGeom>
              <a:solidFill>
                <a:schemeClr val="accent2"/>
              </a:solidFill>
              <a:ln w="6350">
                <a:no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grpSp>
    </p:spTree>
    <p:extLst>
      <p:ext uri="{BB962C8B-B14F-4D97-AF65-F5344CB8AC3E}">
        <p14:creationId xmlns:p14="http://schemas.microsoft.com/office/powerpoint/2010/main" val="2611728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7" y="346931"/>
            <a:ext cx="12380245"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latin typeface="+mj-lt"/>
              </a:rPr>
              <a:t>Initiative 3: Leverage Client Group</a:t>
            </a:r>
          </a:p>
          <a:p>
            <a:r>
              <a:rPr lang="en-US" sz="3200" dirty="0"/>
              <a:t>                       </a:t>
            </a:r>
            <a:r>
              <a:rPr lang="en-US" sz="3200" dirty="0">
                <a:latin typeface="+mj-lt"/>
              </a:rPr>
              <a:t>Initiatives</a:t>
            </a:r>
          </a:p>
          <a:p>
            <a:endParaRPr lang="en-US" sz="3200" dirty="0">
              <a:latin typeface="+mj-lt"/>
            </a:endParaRPr>
          </a:p>
        </p:txBody>
      </p:sp>
      <p:sp>
        <p:nvSpPr>
          <p:cNvPr id="14" name="Content Placeholder 4"/>
          <p:cNvSpPr txBox="1">
            <a:spLocks/>
          </p:cNvSpPr>
          <p:nvPr/>
        </p:nvSpPr>
        <p:spPr>
          <a:xfrm>
            <a:off x="3229129" y="1294544"/>
            <a:ext cx="5174495" cy="5303274"/>
          </a:xfrm>
          <a:prstGeom prst="rect">
            <a:avLst/>
          </a:prstGeom>
        </p:spPr>
        <p:txBody>
          <a:bodyPr/>
          <a:lstStyle>
            <a:lvl1pPr marL="0" indent="0" algn="l" defTabSz="914400" rtl="0" eaLnBrk="1" latinLnBrk="0" hangingPunct="1">
              <a:lnSpc>
                <a:spcPct val="100000"/>
              </a:lnSpc>
              <a:spcBef>
                <a:spcPts val="800"/>
              </a:spcBef>
              <a:buFont typeface="Arial" panose="020B0604020202020204" pitchFamily="34" charset="0"/>
              <a:buNone/>
              <a:defRPr sz="1600" kern="1200">
                <a:solidFill>
                  <a:schemeClr val="accent4"/>
                </a:solidFill>
                <a:latin typeface="+mn-lt"/>
                <a:ea typeface="+mn-ea"/>
                <a:cs typeface="+mn-cs"/>
              </a:defRPr>
            </a:lvl1pPr>
            <a:lvl2pPr marL="1692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2pPr>
            <a:lvl3pPr marL="3384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3pPr>
            <a:lvl4pPr marL="5076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4pPr>
            <a:lvl5pPr marL="676800" indent="-169200" algn="l" defTabSz="914400"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2">
                    <a:lumMod val="10000"/>
                  </a:schemeClr>
                </a:solidFill>
              </a:rPr>
              <a:t>Elements of the initiative</a:t>
            </a:r>
          </a:p>
          <a:p>
            <a:pPr>
              <a:spcBef>
                <a:spcPts val="0"/>
              </a:spcBef>
            </a:pPr>
            <a:endParaRPr lang="en-US" sz="1300" i="1" dirty="0">
              <a:solidFill>
                <a:schemeClr val="bg2">
                  <a:lumMod val="10000"/>
                </a:schemeClr>
              </a:solidFill>
            </a:endParaRPr>
          </a:p>
          <a:p>
            <a:pPr>
              <a:spcBef>
                <a:spcPts val="0"/>
              </a:spcBef>
            </a:pPr>
            <a:r>
              <a:rPr lang="en-US" sz="1400" b="1" i="1" dirty="0">
                <a:solidFill>
                  <a:schemeClr val="bg2">
                    <a:lumMod val="10000"/>
                  </a:schemeClr>
                </a:solidFill>
              </a:rPr>
              <a:t>Introducing and implementing centralized solutions across Client Group of companies (GITI projects &amp; One ERP) while ensuring return on investment</a:t>
            </a:r>
          </a:p>
          <a:p>
            <a:pPr marL="285750" indent="-285750">
              <a:spcBef>
                <a:spcPts val="600"/>
              </a:spcBef>
              <a:buFont typeface="Arial" panose="020B0604020202020204" pitchFamily="34" charset="0"/>
              <a:buChar char="•"/>
            </a:pPr>
            <a:endParaRPr lang="en-US" sz="1400" dirty="0">
              <a:solidFill>
                <a:schemeClr val="bg2">
                  <a:lumMod val="10000"/>
                </a:schemeClr>
              </a:solidFill>
            </a:endParaRPr>
          </a:p>
          <a:p>
            <a:pPr marL="285750" indent="-285750">
              <a:spcBef>
                <a:spcPts val="600"/>
              </a:spcBef>
              <a:buFont typeface="Arial" panose="020B0604020202020204" pitchFamily="34" charset="0"/>
              <a:buChar char="•"/>
            </a:pPr>
            <a:r>
              <a:rPr lang="en-US" sz="1400" dirty="0">
                <a:solidFill>
                  <a:schemeClr val="bg2">
                    <a:lumMod val="10000"/>
                  </a:schemeClr>
                </a:solidFill>
              </a:rPr>
              <a:t>Help running Client initiatives (GITI projects &amp; One ERP)</a:t>
            </a:r>
          </a:p>
          <a:p>
            <a:pPr marL="285750" indent="-285750">
              <a:spcBef>
                <a:spcPts val="600"/>
              </a:spcBef>
              <a:buFont typeface="Arial" panose="020B0604020202020204" pitchFamily="34" charset="0"/>
              <a:buChar char="•"/>
            </a:pPr>
            <a:r>
              <a:rPr lang="en-US" sz="1400" dirty="0">
                <a:solidFill>
                  <a:schemeClr val="bg2">
                    <a:lumMod val="10000"/>
                  </a:schemeClr>
                </a:solidFill>
              </a:rPr>
              <a:t>Build a research environment to explore and pilot the new technologies and centralized solutions across Client groups of companies against business issues (One ERP</a:t>
            </a:r>
          </a:p>
          <a:p>
            <a:pPr marL="285750" indent="-285750">
              <a:spcBef>
                <a:spcPts val="600"/>
              </a:spcBef>
              <a:buFont typeface="Arial" panose="020B0604020202020204" pitchFamily="34" charset="0"/>
              <a:buChar char="•"/>
            </a:pPr>
            <a:r>
              <a:rPr lang="en-US" sz="1400" dirty="0">
                <a:solidFill>
                  <a:schemeClr val="bg2">
                    <a:lumMod val="10000"/>
                  </a:schemeClr>
                </a:solidFill>
              </a:rPr>
              <a:t>Strong leverage of technologies and data to reduce operational costs and enhance employees productivity</a:t>
            </a:r>
          </a:p>
          <a:p>
            <a:pPr marL="285750" indent="-285750">
              <a:spcBef>
                <a:spcPts val="600"/>
              </a:spcBef>
              <a:buFont typeface="Arial" panose="020B0604020202020204" pitchFamily="34" charset="0"/>
              <a:buChar char="•"/>
            </a:pPr>
            <a:endParaRPr lang="en-US" sz="1400" dirty="0">
              <a:solidFill>
                <a:schemeClr val="bg2">
                  <a:lumMod val="10000"/>
                </a:schemeClr>
              </a:solidFill>
            </a:endParaRPr>
          </a:p>
          <a:p>
            <a:pPr marL="285750" indent="-285750">
              <a:spcBef>
                <a:spcPts val="600"/>
              </a:spcBef>
              <a:buFont typeface="Arial" panose="020B0604020202020204" pitchFamily="34" charset="0"/>
              <a:buChar char="•"/>
            </a:pPr>
            <a:endParaRPr lang="en-US" sz="1400" dirty="0">
              <a:solidFill>
                <a:schemeClr val="bg2">
                  <a:lumMod val="10000"/>
                </a:schemeClr>
              </a:solidFill>
            </a:endParaRPr>
          </a:p>
          <a:p>
            <a:pPr>
              <a:spcBef>
                <a:spcPts val="0"/>
              </a:spcBef>
            </a:pPr>
            <a:endParaRPr lang="en-US" sz="1300" dirty="0">
              <a:solidFill>
                <a:schemeClr val="bg2">
                  <a:lumMod val="10000"/>
                </a:schemeClr>
              </a:solidFill>
            </a:endParaRPr>
          </a:p>
        </p:txBody>
      </p:sp>
      <p:sp>
        <p:nvSpPr>
          <p:cNvPr id="15" name="Content Placeholder 5"/>
          <p:cNvSpPr txBox="1">
            <a:spLocks/>
          </p:cNvSpPr>
          <p:nvPr/>
        </p:nvSpPr>
        <p:spPr>
          <a:xfrm>
            <a:off x="8403800" y="1232809"/>
            <a:ext cx="3162487" cy="4789475"/>
          </a:xfrm>
          <a:prstGeom prst="rect">
            <a:avLst/>
          </a:prstGeom>
        </p:spPr>
        <p:txBody>
          <a:bodyPr/>
          <a:lstStyle>
            <a:lvl1pPr marL="171450" indent="-171450" algn="l" defTabSz="914400" rtl="0" eaLnBrk="1" latinLnBrk="0" hangingPunct="1">
              <a:lnSpc>
                <a:spcPct val="90000"/>
              </a:lnSpc>
              <a:spcBef>
                <a:spcPts val="1000"/>
              </a:spcBef>
              <a:buFont typeface="Arial" panose="020B0604020202020204" pitchFamily="34" charset="0"/>
              <a:buChar char="•"/>
              <a:defRPr lang="en-US" sz="1200" kern="1200" dirty="0">
                <a:solidFill>
                  <a:schemeClr val="tx1"/>
                </a:solidFill>
                <a:latin typeface="+mn-lt"/>
                <a:ea typeface="+mn-ea"/>
                <a:cs typeface="+mn-cs"/>
              </a:defRPr>
            </a:lvl1pPr>
            <a:lvl2pPr marL="387450" indent="-17145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2pPr>
            <a:lvl3pPr marL="12847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3pPr>
            <a:lvl4pPr marL="16276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4pPr>
            <a:lvl5pPr marL="2084850" indent="-144000" algn="l" defTabSz="914400" rtl="0" eaLnBrk="1" latinLnBrk="0" hangingPunct="1">
              <a:lnSpc>
                <a:spcPct val="90000"/>
              </a:lnSpc>
              <a:spcBef>
                <a:spcPts val="500"/>
              </a:spcBef>
              <a:buFont typeface="Arial" panose="020B0604020202020204" pitchFamily="34" charset="0"/>
              <a:buChar char="•"/>
              <a:defRPr lang="en-US"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800"/>
              </a:spcBef>
              <a:buNone/>
            </a:pPr>
            <a:r>
              <a:rPr lang="en-US" sz="1400" b="1" dirty="0">
                <a:solidFill>
                  <a:schemeClr val="bg2">
                    <a:lumMod val="10000"/>
                  </a:schemeClr>
                </a:solidFill>
              </a:rPr>
              <a:t>Timeline</a:t>
            </a:r>
          </a:p>
          <a:p>
            <a:pPr marL="285750" indent="-285750">
              <a:lnSpc>
                <a:spcPct val="100000"/>
              </a:lnSpc>
              <a:spcBef>
                <a:spcPts val="600"/>
              </a:spcBef>
            </a:pPr>
            <a:r>
              <a:rPr lang="en-US" sz="1400" dirty="0">
                <a:solidFill>
                  <a:schemeClr val="bg2">
                    <a:lumMod val="10000"/>
                  </a:schemeClr>
                </a:solidFill>
              </a:rPr>
              <a:t>Implementation: 24 - 36 months</a:t>
            </a:r>
          </a:p>
          <a:p>
            <a:pPr marL="285750" indent="-285750">
              <a:lnSpc>
                <a:spcPct val="100000"/>
              </a:lnSpc>
              <a:spcBef>
                <a:spcPts val="600"/>
              </a:spcBef>
            </a:pPr>
            <a:r>
              <a:rPr lang="en-US" sz="1400" dirty="0">
                <a:solidFill>
                  <a:schemeClr val="bg2">
                    <a:lumMod val="10000"/>
                  </a:schemeClr>
                </a:solidFill>
              </a:rPr>
              <a:t>Documentation etc.: 12 – 24 months</a:t>
            </a:r>
          </a:p>
          <a:p>
            <a:pPr marL="0" indent="0">
              <a:lnSpc>
                <a:spcPct val="100000"/>
              </a:lnSpc>
              <a:spcBef>
                <a:spcPts val="800"/>
              </a:spcBef>
              <a:buNone/>
            </a:pPr>
            <a:r>
              <a:rPr lang="en-US" sz="1400" b="1" dirty="0">
                <a:solidFill>
                  <a:schemeClr val="bg2">
                    <a:lumMod val="10000"/>
                  </a:schemeClr>
                </a:solidFill>
              </a:rPr>
              <a:t>Underlying assumptions and business impacts</a:t>
            </a:r>
          </a:p>
          <a:p>
            <a:pPr marL="285750" indent="-285750">
              <a:lnSpc>
                <a:spcPct val="100000"/>
              </a:lnSpc>
              <a:spcBef>
                <a:spcPts val="600"/>
              </a:spcBef>
            </a:pPr>
            <a:r>
              <a:rPr lang="en-US" sz="1400" dirty="0">
                <a:solidFill>
                  <a:schemeClr val="bg2">
                    <a:lumMod val="10000"/>
                  </a:schemeClr>
                </a:solidFill>
              </a:rPr>
              <a:t>Support for Client group  investments into parts of IT without immediate benefit  to build long-term capability</a:t>
            </a:r>
          </a:p>
          <a:p>
            <a:pPr marL="285750" indent="-285750">
              <a:spcBef>
                <a:spcPts val="600"/>
              </a:spcBef>
            </a:pPr>
            <a:endParaRPr lang="en-US" sz="1400" dirty="0">
              <a:solidFill>
                <a:schemeClr val="bg2">
                  <a:lumMod val="10000"/>
                </a:schemeClr>
              </a:solidFill>
            </a:endParaRPr>
          </a:p>
          <a:p>
            <a:pPr marL="285750" indent="-285750">
              <a:spcBef>
                <a:spcPts val="600"/>
              </a:spcBef>
            </a:pPr>
            <a:endParaRPr lang="en-US" sz="1400" dirty="0">
              <a:solidFill>
                <a:schemeClr val="bg2">
                  <a:lumMod val="10000"/>
                </a:schemeClr>
              </a:solidFill>
            </a:endParaRPr>
          </a:p>
          <a:p>
            <a:pPr marL="285750" indent="-285750">
              <a:spcBef>
                <a:spcPts val="600"/>
              </a:spcBef>
            </a:pPr>
            <a:endParaRPr lang="en-US" sz="1400" dirty="0">
              <a:solidFill>
                <a:schemeClr val="bg2">
                  <a:lumMod val="10000"/>
                </a:schemeClr>
              </a:solidFill>
            </a:endParaRPr>
          </a:p>
          <a:p>
            <a:pPr marL="0" indent="0">
              <a:spcBef>
                <a:spcPts val="600"/>
              </a:spcBef>
              <a:buNone/>
            </a:pPr>
            <a:endParaRPr lang="en-US" sz="1400" b="1" dirty="0">
              <a:solidFill>
                <a:schemeClr val="bg2">
                  <a:lumMod val="10000"/>
                </a:schemeClr>
              </a:solidFill>
            </a:endParaRPr>
          </a:p>
          <a:p>
            <a:pPr marL="285750" indent="-285750">
              <a:spcBef>
                <a:spcPts val="600"/>
              </a:spcBef>
            </a:pPr>
            <a:endParaRPr lang="en-US" sz="1400" dirty="0">
              <a:solidFill>
                <a:schemeClr val="bg2">
                  <a:lumMod val="10000"/>
                </a:schemeClr>
              </a:solidFill>
            </a:endParaRPr>
          </a:p>
        </p:txBody>
      </p:sp>
      <p:grpSp>
        <p:nvGrpSpPr>
          <p:cNvPr id="16" name="Group 15"/>
          <p:cNvGrpSpPr/>
          <p:nvPr/>
        </p:nvGrpSpPr>
        <p:grpSpPr>
          <a:xfrm>
            <a:off x="499048" y="1341684"/>
            <a:ext cx="2512965" cy="4036104"/>
            <a:chOff x="499048" y="1664603"/>
            <a:chExt cx="2512965" cy="4036104"/>
          </a:xfrm>
        </p:grpSpPr>
        <p:sp>
          <p:nvSpPr>
            <p:cNvPr id="17" name="Trapezoid 16"/>
            <p:cNvSpPr/>
            <p:nvPr/>
          </p:nvSpPr>
          <p:spPr>
            <a:xfrm rot="16200000" flipH="1">
              <a:off x="-14808" y="2180181"/>
              <a:ext cx="3542400" cy="2511243"/>
            </a:xfrm>
            <a:prstGeom prst="trapezoid">
              <a:avLst/>
            </a:prstGeom>
            <a:ln/>
          </p:spPr>
          <p:style>
            <a:lnRef idx="0">
              <a:schemeClr val="accent2"/>
            </a:lnRef>
            <a:fillRef idx="3">
              <a:schemeClr val="accent2"/>
            </a:fillRef>
            <a:effectRef idx="3">
              <a:schemeClr val="accent2"/>
            </a:effectRef>
            <a:fontRef idx="minor">
              <a:schemeClr val="lt1"/>
            </a:fontRef>
          </p:style>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chemeClr val="bg1"/>
                </a:solidFill>
                <a:effectLst/>
                <a:uLnTx/>
                <a:uFillTx/>
                <a:latin typeface="Arial"/>
                <a:ea typeface="+mn-ea"/>
                <a:cs typeface="+mn-cs"/>
              </a:endParaRPr>
            </a:p>
          </p:txBody>
        </p:sp>
        <p:sp>
          <p:nvSpPr>
            <p:cNvPr id="18" name="Rectangle 17"/>
            <p:cNvSpPr/>
            <p:nvPr/>
          </p:nvSpPr>
          <p:spPr>
            <a:xfrm>
              <a:off x="499048" y="2366009"/>
              <a:ext cx="2512961" cy="2241639"/>
            </a:xfrm>
            <a:prstGeom prst="rect">
              <a:avLst/>
            </a:prstGeom>
          </p:spPr>
          <p:txBody>
            <a:bodyPr wrap="square" lIns="234000" rIns="126000">
              <a:spAutoFit/>
            </a:bodyPr>
            <a:lstStyle/>
            <a:p>
              <a:pPr lvl="0">
                <a:lnSpc>
                  <a:spcPct val="95000"/>
                </a:lnSpc>
                <a:spcAft>
                  <a:spcPts val="800"/>
                </a:spcAft>
                <a:buClr>
                  <a:schemeClr val="bg1"/>
                </a:buClr>
                <a:defRPr/>
              </a:pPr>
              <a:r>
                <a:rPr lang="en-IN" sz="1400" b="1" kern="0" dirty="0">
                  <a:solidFill>
                    <a:schemeClr val="bg1"/>
                  </a:solidFill>
                  <a:cs typeface="Arial" charset="0"/>
                </a:rPr>
                <a:t>Leverage Client Group Initiatives</a:t>
              </a:r>
            </a:p>
            <a:p>
              <a:pPr marL="285750" indent="-285750">
                <a:lnSpc>
                  <a:spcPct val="95000"/>
                </a:lnSpc>
                <a:spcAft>
                  <a:spcPts val="800"/>
                </a:spcAft>
                <a:buClr>
                  <a:schemeClr val="bg1"/>
                </a:buClr>
                <a:buFont typeface="Arial" panose="020B0604020202020204" pitchFamily="34" charset="0"/>
                <a:buChar char="•"/>
                <a:defRPr/>
              </a:pPr>
              <a:r>
                <a:rPr lang="en-US" sz="1400" kern="0" dirty="0">
                  <a:solidFill>
                    <a:schemeClr val="bg1"/>
                  </a:solidFill>
                  <a:cs typeface="Arial" charset="0"/>
                </a:rPr>
                <a:t>Introducing and implementing centralized solutions across Client Group of companies (GITI projects &amp; One ERP) while ensuring return on investment</a:t>
              </a:r>
            </a:p>
          </p:txBody>
        </p:sp>
        <p:sp>
          <p:nvSpPr>
            <p:cNvPr id="19" name="Rectangle 18"/>
            <p:cNvSpPr/>
            <p:nvPr/>
          </p:nvSpPr>
          <p:spPr>
            <a:xfrm>
              <a:off x="499049" y="4500378"/>
              <a:ext cx="698400" cy="120032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7200" b="1" i="0" u="none" strike="noStrike" kern="0" cap="none" spc="0" normalizeH="0" baseline="0" dirty="0">
                  <a:ln>
                    <a:noFill/>
                  </a:ln>
                  <a:solidFill>
                    <a:schemeClr val="accent4"/>
                  </a:solidFill>
                  <a:effectLst/>
                  <a:uLnTx/>
                  <a:uFillTx/>
                  <a:latin typeface="Arial"/>
                </a:rPr>
                <a:t>3</a:t>
              </a:r>
              <a:endParaRPr kumimoji="0" lang="de-DE" sz="7200" b="1" i="0" u="none" strike="noStrike" kern="0" cap="none" spc="0" normalizeH="0" baseline="0" noProof="0" dirty="0">
                <a:ln>
                  <a:noFill/>
                </a:ln>
                <a:solidFill>
                  <a:schemeClr val="accent4"/>
                </a:solidFill>
                <a:effectLst/>
                <a:uLnTx/>
                <a:uFillTx/>
                <a:latin typeface="Arial"/>
              </a:endParaRPr>
            </a:p>
          </p:txBody>
        </p:sp>
      </p:grpSp>
      <p:graphicFrame>
        <p:nvGraphicFramePr>
          <p:cNvPr id="20" name="Table 19"/>
          <p:cNvGraphicFramePr>
            <a:graphicFrameLocks noGrp="1"/>
          </p:cNvGraphicFramePr>
          <p:nvPr/>
        </p:nvGraphicFramePr>
        <p:xfrm>
          <a:off x="630703" y="5639107"/>
          <a:ext cx="2191632" cy="709146"/>
        </p:xfrm>
        <a:graphic>
          <a:graphicData uri="http://schemas.openxmlformats.org/drawingml/2006/table">
            <a:tbl>
              <a:tblPr firstRow="1" bandRow="1">
                <a:tableStyleId>{5940675A-B579-460E-94D1-54222C63F5DA}</a:tableStyleId>
              </a:tblPr>
              <a:tblGrid>
                <a:gridCol w="1095816">
                  <a:extLst>
                    <a:ext uri="{9D8B030D-6E8A-4147-A177-3AD203B41FA5}">
                      <a16:colId xmlns:a16="http://schemas.microsoft.com/office/drawing/2014/main" val="20000"/>
                    </a:ext>
                  </a:extLst>
                </a:gridCol>
                <a:gridCol w="1095816">
                  <a:extLst>
                    <a:ext uri="{9D8B030D-6E8A-4147-A177-3AD203B41FA5}">
                      <a16:colId xmlns:a16="http://schemas.microsoft.com/office/drawing/2014/main" val="20001"/>
                    </a:ext>
                  </a:extLst>
                </a:gridCol>
              </a:tblGrid>
              <a:tr h="347384">
                <a:tc>
                  <a:txBody>
                    <a:bodyPr/>
                    <a:lstStyle/>
                    <a:p>
                      <a:pPr algn="l"/>
                      <a:r>
                        <a:rPr lang="en-US" sz="1000" b="1" dirty="0">
                          <a:solidFill>
                            <a:schemeClr val="bg1"/>
                          </a:solidFill>
                        </a:rPr>
                        <a:t>Technology </a:t>
                      </a:r>
                      <a:r>
                        <a:rPr lang="en-US" sz="1000" b="1" baseline="0" dirty="0">
                          <a:solidFill>
                            <a:schemeClr val="bg1"/>
                          </a:solidFill>
                        </a:rPr>
                        <a:t>complexity</a:t>
                      </a:r>
                      <a:endParaRPr lang="en-US" sz="1000" b="1" dirty="0">
                        <a:solidFill>
                          <a:schemeClr val="bg1"/>
                        </a:solidFill>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l"/>
                      <a:r>
                        <a:rPr lang="en-US" sz="1000" b="1" dirty="0">
                          <a:solidFill>
                            <a:schemeClr val="bg1"/>
                          </a:solidFill>
                        </a:rPr>
                        <a:t>People complexity</a:t>
                      </a:r>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12906">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endParaRPr lang="en-US" sz="10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pSp>
        <p:nvGrpSpPr>
          <p:cNvPr id="24" name="Group 23"/>
          <p:cNvGrpSpPr/>
          <p:nvPr/>
        </p:nvGrpSpPr>
        <p:grpSpPr>
          <a:xfrm>
            <a:off x="753167" y="6069661"/>
            <a:ext cx="548187" cy="224066"/>
            <a:chOff x="4686934" y="6298218"/>
            <a:chExt cx="548187" cy="224066"/>
          </a:xfrm>
        </p:grpSpPr>
        <p:sp>
          <p:nvSpPr>
            <p:cNvPr id="25" name="Rectangle 10"/>
            <p:cNvSpPr>
              <a:spLocks noChangeAspect="1" noChangeArrowheads="1"/>
            </p:cNvSpPr>
            <p:nvPr/>
          </p:nvSpPr>
          <p:spPr bwMode="auto">
            <a:xfrm>
              <a:off x="4997876" y="6338713"/>
              <a:ext cx="237245" cy="138500"/>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High</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26" name="Group 25"/>
            <p:cNvGrpSpPr/>
            <p:nvPr/>
          </p:nvGrpSpPr>
          <p:grpSpPr>
            <a:xfrm>
              <a:off x="4686934" y="6298218"/>
              <a:ext cx="222950" cy="224066"/>
              <a:chOff x="4254403" y="2954700"/>
              <a:chExt cx="154800" cy="155575"/>
            </a:xfrm>
          </p:grpSpPr>
          <p:sp>
            <p:nvSpPr>
              <p:cNvPr id="27" name="Oval 16"/>
              <p:cNvSpPr>
                <a:spLocks noChangeArrowheads="1"/>
              </p:cNvSpPr>
              <p:nvPr/>
            </p:nvSpPr>
            <p:spPr bwMode="auto">
              <a:xfrm>
                <a:off x="4254403" y="2954700"/>
                <a:ext cx="154800" cy="15480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28" name="Arc 13"/>
              <p:cNvSpPr>
                <a:spLocks/>
              </p:cNvSpPr>
              <p:nvPr/>
            </p:nvSpPr>
            <p:spPr bwMode="auto">
              <a:xfrm>
                <a:off x="4254403" y="2954700"/>
                <a:ext cx="154678" cy="155575"/>
              </a:xfrm>
              <a:custGeom>
                <a:avLst/>
                <a:gdLst>
                  <a:gd name="T0" fmla="*/ 0 w 43199"/>
                  <a:gd name="T1" fmla="*/ 0 h 43200"/>
                  <a:gd name="T2" fmla="*/ 0 w 43199"/>
                  <a:gd name="T3" fmla="*/ 0 h 43200"/>
                  <a:gd name="T4" fmla="*/ 0 w 43199"/>
                  <a:gd name="T5" fmla="*/ 0 h 43200"/>
                  <a:gd name="T6" fmla="*/ 0 60000 65536"/>
                  <a:gd name="T7" fmla="*/ 0 60000 65536"/>
                  <a:gd name="T8" fmla="*/ 0 60000 65536"/>
                  <a:gd name="T9" fmla="*/ 0 w 43199"/>
                  <a:gd name="T10" fmla="*/ 0 h 43200"/>
                  <a:gd name="T11" fmla="*/ 43199 w 43199"/>
                  <a:gd name="T12" fmla="*/ 43200 h 43200"/>
                </a:gdLst>
                <a:ahLst/>
                <a:cxnLst>
                  <a:cxn ang="T6">
                    <a:pos x="T0" y="T1"/>
                  </a:cxn>
                  <a:cxn ang="T7">
                    <a:pos x="T2" y="T3"/>
                  </a:cxn>
                  <a:cxn ang="T8">
                    <a:pos x="T4" y="T5"/>
                  </a:cxn>
                </a:cxnLst>
                <a:rect l="T9" t="T10" r="T11" b="T12"/>
                <a:pathLst>
                  <a:path w="43199" h="43200" fill="none" extrusionOk="0">
                    <a:moveTo>
                      <a:pt x="21598" y="0"/>
                    </a:moveTo>
                    <a:cubicBezTo>
                      <a:pt x="33528" y="0"/>
                      <a:pt x="43199" y="9670"/>
                      <a:pt x="43199" y="21600"/>
                    </a:cubicBezTo>
                    <a:cubicBezTo>
                      <a:pt x="43199" y="33529"/>
                      <a:pt x="33528" y="43200"/>
                      <a:pt x="21599" y="43200"/>
                    </a:cubicBezTo>
                    <a:cubicBezTo>
                      <a:pt x="9731" y="43200"/>
                      <a:pt x="86" y="33625"/>
                      <a:pt x="-1" y="21758"/>
                    </a:cubicBezTo>
                  </a:path>
                  <a:path w="43199" h="43200" stroke="0" extrusionOk="0">
                    <a:moveTo>
                      <a:pt x="21598" y="0"/>
                    </a:moveTo>
                    <a:cubicBezTo>
                      <a:pt x="33528" y="0"/>
                      <a:pt x="43199" y="9670"/>
                      <a:pt x="43199" y="21600"/>
                    </a:cubicBezTo>
                    <a:cubicBezTo>
                      <a:pt x="43199" y="33529"/>
                      <a:pt x="33528" y="43200"/>
                      <a:pt x="21599" y="43200"/>
                    </a:cubicBezTo>
                    <a:cubicBezTo>
                      <a:pt x="9731" y="43200"/>
                      <a:pt x="86" y="33625"/>
                      <a:pt x="-1" y="21758"/>
                    </a:cubicBezTo>
                    <a:lnTo>
                      <a:pt x="21599" y="21600"/>
                    </a:lnTo>
                    <a:close/>
                  </a:path>
                </a:pathLst>
              </a:custGeom>
              <a:solidFill>
                <a:schemeClr val="accent2"/>
              </a:solidFill>
              <a:ln w="6350">
                <a:solidFill>
                  <a:schemeClr val="tx1"/>
                </a:solid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grpSp>
      <p:grpSp>
        <p:nvGrpSpPr>
          <p:cNvPr id="29" name="Group 28">
            <a:extLst>
              <a:ext uri="{FF2B5EF4-FFF2-40B4-BE49-F238E27FC236}">
                <a16:creationId xmlns:a16="http://schemas.microsoft.com/office/drawing/2014/main" id="{83D80636-88E2-44F8-9978-A7D44DC37716}"/>
              </a:ext>
            </a:extLst>
          </p:cNvPr>
          <p:cNvGrpSpPr/>
          <p:nvPr/>
        </p:nvGrpSpPr>
        <p:grpSpPr>
          <a:xfrm>
            <a:off x="1909243" y="6069661"/>
            <a:ext cx="528950" cy="222963"/>
            <a:chOff x="6049666" y="2952196"/>
            <a:chExt cx="367264" cy="154809"/>
          </a:xfrm>
        </p:grpSpPr>
        <p:sp>
          <p:nvSpPr>
            <p:cNvPr id="30" name="Rectangle 18">
              <a:extLst>
                <a:ext uri="{FF2B5EF4-FFF2-40B4-BE49-F238E27FC236}">
                  <a16:creationId xmlns:a16="http://schemas.microsoft.com/office/drawing/2014/main" id="{CA9D9A31-983C-4855-AE41-8DD3919A918F}"/>
                </a:ext>
              </a:extLst>
            </p:cNvPr>
            <p:cNvSpPr>
              <a:spLocks noChangeAspect="1" noChangeArrowheads="1"/>
            </p:cNvSpPr>
            <p:nvPr/>
          </p:nvSpPr>
          <p:spPr bwMode="auto">
            <a:xfrm>
              <a:off x="6270013" y="2985199"/>
              <a:ext cx="146917" cy="96163"/>
            </a:xfrm>
            <a:prstGeom prst="rect">
              <a:avLst/>
            </a:prstGeom>
            <a:noFill/>
            <a:ln w="6350">
              <a:noFill/>
              <a:miter lim="800000"/>
              <a:headEnd/>
              <a:tailEnd/>
            </a:ln>
          </p:spPr>
          <p:txBody>
            <a:bodyPr wrap="none" lIns="0" tIns="0" rIns="0" bIns="0" anchor="ctr">
              <a:spAutoFit/>
            </a:bodyPr>
            <a:lstStyle/>
            <a:p>
              <a:pPr eaLnBrk="0" fontAlgn="base" hangingPunct="0">
                <a:spcBef>
                  <a:spcPct val="0"/>
                </a:spcBef>
                <a:spcAft>
                  <a:spcPct val="0"/>
                </a:spcAft>
              </a:pPr>
              <a:r>
                <a:rPr lang="en-US" sz="900" dirty="0">
                  <a:solidFill>
                    <a:prstClr val="black">
                      <a:lumMod val="65000"/>
                      <a:lumOff val="35000"/>
                    </a:prstClr>
                  </a:solidFill>
                  <a:latin typeface="Arial" panose="020B0604020202020204" pitchFamily="34" charset="0"/>
                  <a:ea typeface="EYInterstate" charset="0"/>
                  <a:cs typeface="Arial" panose="020B0604020202020204" pitchFamily="34" charset="0"/>
                </a:rPr>
                <a:t>Low</a:t>
              </a:r>
              <a:endParaRPr lang="en-US" sz="1000" dirty="0">
                <a:solidFill>
                  <a:schemeClr val="tx1">
                    <a:lumMod val="65000"/>
                    <a:lumOff val="35000"/>
                  </a:schemeClr>
                </a:solidFill>
                <a:latin typeface="Arial" panose="020B0604020202020204" pitchFamily="34" charset="0"/>
                <a:ea typeface="EYInterstate" charset="0"/>
                <a:cs typeface="Arial" panose="020B0604020202020204" pitchFamily="34" charset="0"/>
              </a:endParaRPr>
            </a:p>
          </p:txBody>
        </p:sp>
        <p:grpSp>
          <p:nvGrpSpPr>
            <p:cNvPr id="31" name="Group 30">
              <a:extLst>
                <a:ext uri="{FF2B5EF4-FFF2-40B4-BE49-F238E27FC236}">
                  <a16:creationId xmlns:a16="http://schemas.microsoft.com/office/drawing/2014/main" id="{1A66A108-E0A0-4E64-9053-FF8697F66699}"/>
                </a:ext>
              </a:extLst>
            </p:cNvPr>
            <p:cNvGrpSpPr/>
            <p:nvPr/>
          </p:nvGrpSpPr>
          <p:grpSpPr>
            <a:xfrm>
              <a:off x="6049666" y="2952196"/>
              <a:ext cx="154800" cy="154809"/>
              <a:chOff x="6049666" y="2952196"/>
              <a:chExt cx="154800" cy="154809"/>
            </a:xfrm>
          </p:grpSpPr>
          <p:sp>
            <p:nvSpPr>
              <p:cNvPr id="32" name="Oval 16">
                <a:extLst>
                  <a:ext uri="{FF2B5EF4-FFF2-40B4-BE49-F238E27FC236}">
                    <a16:creationId xmlns:a16="http://schemas.microsoft.com/office/drawing/2014/main" id="{EFE5C39B-3628-4B05-A9BE-5E3F1E7DD330}"/>
                  </a:ext>
                </a:extLst>
              </p:cNvPr>
              <p:cNvSpPr>
                <a:spLocks noChangeArrowheads="1"/>
              </p:cNvSpPr>
              <p:nvPr/>
            </p:nvSpPr>
            <p:spPr bwMode="auto">
              <a:xfrm>
                <a:off x="6049666" y="2952205"/>
                <a:ext cx="154800" cy="154800"/>
              </a:xfrm>
              <a:prstGeom prst="ellipse">
                <a:avLst/>
              </a:prstGeom>
              <a:solidFill>
                <a:schemeClr val="bg1">
                  <a:lumMod val="95000"/>
                </a:schemeClr>
              </a:solidFill>
              <a:ln w="6350">
                <a:solidFill>
                  <a:schemeClr val="tx1"/>
                </a:solidFill>
                <a:round/>
                <a:headEnd/>
                <a:tailEnd/>
              </a:ln>
              <a:effectLst/>
            </p:spPr>
            <p:txBody>
              <a:bodyPr anchor="ctr">
                <a:spAutoFit/>
              </a:bodyPr>
              <a:lstStyle/>
              <a:p>
                <a:pPr algn="ctr" fontAlgn="base">
                  <a:spcBef>
                    <a:spcPct val="0"/>
                  </a:spcBef>
                  <a:spcAft>
                    <a:spcPct val="0"/>
                  </a:spcAft>
                  <a:defRPr/>
                </a:pPr>
                <a:endParaRPr lang="en-GB">
                  <a:solidFill>
                    <a:srgbClr val="FFFFFF"/>
                  </a:solidFill>
                </a:endParaRPr>
              </a:p>
            </p:txBody>
          </p:sp>
          <p:sp>
            <p:nvSpPr>
              <p:cNvPr id="33" name="Arc 21">
                <a:extLst>
                  <a:ext uri="{FF2B5EF4-FFF2-40B4-BE49-F238E27FC236}">
                    <a16:creationId xmlns:a16="http://schemas.microsoft.com/office/drawing/2014/main" id="{39FB265D-70EC-4432-8731-770B0126124B}"/>
                  </a:ext>
                </a:extLst>
              </p:cNvPr>
              <p:cNvSpPr>
                <a:spLocks noChangeAspect="1"/>
              </p:cNvSpPr>
              <p:nvPr/>
            </p:nvSpPr>
            <p:spPr bwMode="auto">
              <a:xfrm>
                <a:off x="6126066" y="2952196"/>
                <a:ext cx="78400" cy="7937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accent2"/>
              </a:solidFill>
              <a:ln w="6350">
                <a:noFill/>
                <a:round/>
                <a:headEnd/>
                <a:tailEnd/>
              </a:ln>
            </p:spPr>
            <p:txBody>
              <a:bodyPr wrap="none" anchor="ctr">
                <a:spAutoFit/>
              </a:bodyPr>
              <a:lstStyle/>
              <a:p>
                <a:pPr algn="ctr" fontAlgn="base">
                  <a:spcBef>
                    <a:spcPct val="0"/>
                  </a:spcBef>
                  <a:spcAft>
                    <a:spcPct val="0"/>
                  </a:spcAft>
                </a:pPr>
                <a:endParaRPr lang="en-GB">
                  <a:solidFill>
                    <a:srgbClr val="FFFFFF"/>
                  </a:solidFill>
                </a:endParaRPr>
              </a:p>
            </p:txBody>
          </p:sp>
        </p:grpSp>
      </p:grpSp>
    </p:spTree>
    <p:extLst>
      <p:ext uri="{BB962C8B-B14F-4D97-AF65-F5344CB8AC3E}">
        <p14:creationId xmlns:p14="http://schemas.microsoft.com/office/powerpoint/2010/main" val="1285352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Initiatives and timeline</a:t>
            </a:r>
            <a:endParaRPr lang="en-GB" sz="3200" dirty="0"/>
          </a:p>
        </p:txBody>
      </p:sp>
      <p:sp>
        <p:nvSpPr>
          <p:cNvPr id="23" name="Slide Number Placeholder 3">
            <a:extLst>
              <a:ext uri="{FF2B5EF4-FFF2-40B4-BE49-F238E27FC236}">
                <a16:creationId xmlns:a16="http://schemas.microsoft.com/office/drawing/2014/main" id="{BA91A82B-655D-4B26-973E-A197EFE22369}"/>
              </a:ext>
            </a:extLst>
          </p:cNvPr>
          <p:cNvSpPr>
            <a:spLocks noGrp="1"/>
          </p:cNvSpPr>
          <p:nvPr>
            <p:ph type="sldNum" sz="quarter" idx="12"/>
          </p:nvPr>
        </p:nvSpPr>
        <p:spPr>
          <a:xfrm>
            <a:off x="270000" y="6325200"/>
            <a:ext cx="360000" cy="180000"/>
          </a:xfrm>
        </p:spPr>
        <p:txBody>
          <a:bodyPr/>
          <a:lstStyle/>
          <a:p>
            <a:fld id="{F7641956-BF2E-4170-9809-8254439A8799}" type="slidenum">
              <a:rPr lang="en-GB" smtClean="0">
                <a:solidFill>
                  <a:srgbClr val="1859A9"/>
                </a:solidFill>
              </a:rPr>
              <a:pPr/>
              <a:t>36</a:t>
            </a:fld>
            <a:endParaRPr lang="en-GB" dirty="0">
              <a:solidFill>
                <a:srgbClr val="1859A9"/>
              </a:solidFill>
            </a:endParaRPr>
          </a:p>
        </p:txBody>
      </p:sp>
      <p:graphicFrame>
        <p:nvGraphicFramePr>
          <p:cNvPr id="24" name="Table 23">
            <a:extLst>
              <a:ext uri="{FF2B5EF4-FFF2-40B4-BE49-F238E27FC236}">
                <a16:creationId xmlns:a16="http://schemas.microsoft.com/office/drawing/2014/main" id="{A670684C-6BE5-4527-96E6-67A7DF4078BB}"/>
              </a:ext>
            </a:extLst>
          </p:cNvPr>
          <p:cNvGraphicFramePr>
            <a:graphicFrameLocks noGrp="1"/>
          </p:cNvGraphicFramePr>
          <p:nvPr>
            <p:extLst>
              <p:ext uri="{D42A27DB-BD31-4B8C-83A1-F6EECF244321}">
                <p14:modId xmlns:p14="http://schemas.microsoft.com/office/powerpoint/2010/main" val="4188870503"/>
              </p:ext>
            </p:extLst>
          </p:nvPr>
        </p:nvGraphicFramePr>
        <p:xfrm>
          <a:off x="879718" y="1393380"/>
          <a:ext cx="10938650" cy="5133178"/>
        </p:xfrm>
        <a:graphic>
          <a:graphicData uri="http://schemas.openxmlformats.org/drawingml/2006/table">
            <a:tbl>
              <a:tblPr firstRow="1" bandRow="1">
                <a:tableStyleId>{5C22544A-7EE6-4342-B048-85BDC9FD1C3A}</a:tableStyleId>
              </a:tblPr>
              <a:tblGrid>
                <a:gridCol w="470181">
                  <a:extLst>
                    <a:ext uri="{9D8B030D-6E8A-4147-A177-3AD203B41FA5}">
                      <a16:colId xmlns:a16="http://schemas.microsoft.com/office/drawing/2014/main" val="1621271196"/>
                    </a:ext>
                  </a:extLst>
                </a:gridCol>
                <a:gridCol w="4239243">
                  <a:extLst>
                    <a:ext uri="{9D8B030D-6E8A-4147-A177-3AD203B41FA5}">
                      <a16:colId xmlns:a16="http://schemas.microsoft.com/office/drawing/2014/main" val="20001"/>
                    </a:ext>
                  </a:extLst>
                </a:gridCol>
                <a:gridCol w="472611">
                  <a:extLst>
                    <a:ext uri="{9D8B030D-6E8A-4147-A177-3AD203B41FA5}">
                      <a16:colId xmlns:a16="http://schemas.microsoft.com/office/drawing/2014/main" val="1458752874"/>
                    </a:ext>
                  </a:extLst>
                </a:gridCol>
                <a:gridCol w="482885">
                  <a:extLst>
                    <a:ext uri="{9D8B030D-6E8A-4147-A177-3AD203B41FA5}">
                      <a16:colId xmlns:a16="http://schemas.microsoft.com/office/drawing/2014/main" val="20002"/>
                    </a:ext>
                  </a:extLst>
                </a:gridCol>
                <a:gridCol w="513708">
                  <a:extLst>
                    <a:ext uri="{9D8B030D-6E8A-4147-A177-3AD203B41FA5}">
                      <a16:colId xmlns:a16="http://schemas.microsoft.com/office/drawing/2014/main" val="20003"/>
                    </a:ext>
                  </a:extLst>
                </a:gridCol>
                <a:gridCol w="472611">
                  <a:extLst>
                    <a:ext uri="{9D8B030D-6E8A-4147-A177-3AD203B41FA5}">
                      <a16:colId xmlns:a16="http://schemas.microsoft.com/office/drawing/2014/main" val="20004"/>
                    </a:ext>
                  </a:extLst>
                </a:gridCol>
                <a:gridCol w="482886">
                  <a:extLst>
                    <a:ext uri="{9D8B030D-6E8A-4147-A177-3AD203B41FA5}">
                      <a16:colId xmlns:a16="http://schemas.microsoft.com/office/drawing/2014/main" val="2799138380"/>
                    </a:ext>
                  </a:extLst>
                </a:gridCol>
                <a:gridCol w="441788">
                  <a:extLst>
                    <a:ext uri="{9D8B030D-6E8A-4147-A177-3AD203B41FA5}">
                      <a16:colId xmlns:a16="http://schemas.microsoft.com/office/drawing/2014/main" val="20005"/>
                    </a:ext>
                  </a:extLst>
                </a:gridCol>
                <a:gridCol w="452063">
                  <a:extLst>
                    <a:ext uri="{9D8B030D-6E8A-4147-A177-3AD203B41FA5}">
                      <a16:colId xmlns:a16="http://schemas.microsoft.com/office/drawing/2014/main" val="3491635264"/>
                    </a:ext>
                  </a:extLst>
                </a:gridCol>
                <a:gridCol w="482886">
                  <a:extLst>
                    <a:ext uri="{9D8B030D-6E8A-4147-A177-3AD203B41FA5}">
                      <a16:colId xmlns:a16="http://schemas.microsoft.com/office/drawing/2014/main" val="1531788862"/>
                    </a:ext>
                  </a:extLst>
                </a:gridCol>
                <a:gridCol w="472611">
                  <a:extLst>
                    <a:ext uri="{9D8B030D-6E8A-4147-A177-3AD203B41FA5}">
                      <a16:colId xmlns:a16="http://schemas.microsoft.com/office/drawing/2014/main" val="1850102791"/>
                    </a:ext>
                  </a:extLst>
                </a:gridCol>
                <a:gridCol w="503434">
                  <a:extLst>
                    <a:ext uri="{9D8B030D-6E8A-4147-A177-3AD203B41FA5}">
                      <a16:colId xmlns:a16="http://schemas.microsoft.com/office/drawing/2014/main" val="2547898038"/>
                    </a:ext>
                  </a:extLst>
                </a:gridCol>
                <a:gridCol w="441788">
                  <a:extLst>
                    <a:ext uri="{9D8B030D-6E8A-4147-A177-3AD203B41FA5}">
                      <a16:colId xmlns:a16="http://schemas.microsoft.com/office/drawing/2014/main" val="335414545"/>
                    </a:ext>
                  </a:extLst>
                </a:gridCol>
                <a:gridCol w="462338">
                  <a:extLst>
                    <a:ext uri="{9D8B030D-6E8A-4147-A177-3AD203B41FA5}">
                      <a16:colId xmlns:a16="http://schemas.microsoft.com/office/drawing/2014/main" val="1456288308"/>
                    </a:ext>
                  </a:extLst>
                </a:gridCol>
                <a:gridCol w="547617">
                  <a:extLst>
                    <a:ext uri="{9D8B030D-6E8A-4147-A177-3AD203B41FA5}">
                      <a16:colId xmlns:a16="http://schemas.microsoft.com/office/drawing/2014/main" val="3319681982"/>
                    </a:ext>
                  </a:extLst>
                </a:gridCol>
              </a:tblGrid>
              <a:tr h="517817">
                <a:tc>
                  <a:txBody>
                    <a:bodyPr/>
                    <a:lstStyle/>
                    <a:p>
                      <a:pPr algn="ctr"/>
                      <a:r>
                        <a:rPr lang="en-US" sz="900" dirty="0">
                          <a:latin typeface="+mn-lt"/>
                        </a:rPr>
                        <a:t>Div.</a:t>
                      </a:r>
                    </a:p>
                  </a:txBody>
                  <a:tcPr anchor="ctr">
                    <a:solidFill>
                      <a:schemeClr val="bg1">
                        <a:lumMod val="65000"/>
                      </a:schemeClr>
                    </a:solidFill>
                  </a:tcPr>
                </a:tc>
                <a:tc>
                  <a:txBody>
                    <a:bodyPr/>
                    <a:lstStyle/>
                    <a:p>
                      <a:pPr algn="ctr"/>
                      <a:r>
                        <a:rPr lang="en-US" sz="900" dirty="0">
                          <a:latin typeface="+mn-lt"/>
                        </a:rPr>
                        <a:t>2019 initiatives (to start in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2018</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Jan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Feb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Mar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Apr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May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Jun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Jul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Aug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Sep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Oct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Nov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Dec 2019</a:t>
                      </a:r>
                    </a:p>
                  </a:txBody>
                  <a:tcPr anchor="ctr">
                    <a:solidFill>
                      <a:schemeClr val="bg1">
                        <a:lumMod val="65000"/>
                      </a:schemeClr>
                    </a:solidFill>
                  </a:tcPr>
                </a:tc>
                <a:extLst>
                  <a:ext uri="{0D108BD9-81ED-4DB2-BD59-A6C34878D82A}">
                    <a16:rowId xmlns:a16="http://schemas.microsoft.com/office/drawing/2014/main" val="10000"/>
                  </a:ext>
                </a:extLst>
              </a:tr>
              <a:tr h="235596">
                <a:tc rowSpan="7">
                  <a:txBody>
                    <a:bodyPr/>
                    <a:lstStyle/>
                    <a:p>
                      <a:pPr marL="58738" indent="58738" algn="ctr" fontAlgn="b"/>
                      <a:r>
                        <a:rPr lang="en-US" sz="900" b="1" i="0" u="none" strike="noStrike" dirty="0">
                          <a:effectLst/>
                          <a:latin typeface="+mn-lt"/>
                          <a:cs typeface="Calibri" panose="020F0502020204030204" pitchFamily="34" charset="0"/>
                        </a:rPr>
                        <a:t>Marketing</a:t>
                      </a:r>
                    </a:p>
                  </a:txBody>
                  <a:tcPr marL="0" marR="0" marT="0" marB="0" vert="vert270" anchor="ctr">
                    <a:lnB w="12700" cap="flat" cmpd="sng" algn="ctr">
                      <a:solidFill>
                        <a:schemeClr val="accent2"/>
                      </a:solidFill>
                      <a:prstDash val="solid"/>
                      <a:round/>
                      <a:headEnd type="none" w="med" len="med"/>
                      <a:tailEnd type="none" w="med" len="med"/>
                    </a:lnB>
                    <a:solidFill>
                      <a:schemeClr val="bg1"/>
                    </a:solidFill>
                  </a:tcPr>
                </a:tc>
                <a:tc>
                  <a:txBody>
                    <a:bodyPr/>
                    <a:lstStyle/>
                    <a:p>
                      <a:pPr marL="58738" indent="58738" algn="l" fontAlgn="b"/>
                      <a:r>
                        <a:rPr lang="en-US" sz="1000" b="0" i="0" u="none" strike="noStrike" dirty="0">
                          <a:effectLst/>
                          <a:latin typeface="+mn-lt"/>
                          <a:cs typeface="Calibri" panose="020F0502020204030204" pitchFamily="34" charset="0"/>
                        </a:rPr>
                        <a:t>Payments - Contactless, Appel Pay in PPT &amp; IPT</a:t>
                      </a:r>
                    </a:p>
                  </a:txBody>
                  <a:tcPr marL="0" marR="0" marT="0" marB="0" anchor="ctr">
                    <a:solidFill>
                      <a:schemeClr val="bg1"/>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3674075713"/>
                  </a:ext>
                </a:extLst>
              </a:tr>
              <a:tr h="263467">
                <a:tc vMerge="1">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Calibri" panose="020F0502020204030204" pitchFamily="34" charset="0"/>
                      </a:endParaRPr>
                    </a:p>
                  </a:txBody>
                  <a:tcPr>
                    <a:solidFill>
                      <a:schemeClr val="bg1"/>
                    </a:solidFill>
                  </a:tcPr>
                </a:tc>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Data &amp; Analytics Phase 3 (Digital)</a:t>
                      </a:r>
                    </a:p>
                  </a:txBody>
                  <a:tcP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10003"/>
                  </a:ext>
                </a:extLst>
              </a:tr>
              <a:tr h="263467">
                <a:tc vMerge="1">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Calibri" panose="020F0502020204030204" pitchFamily="34" charset="0"/>
                      </a:endParaRPr>
                    </a:p>
                  </a:txBody>
                  <a:tcPr>
                    <a:solidFill>
                      <a:schemeClr val="bg1"/>
                    </a:solidFill>
                  </a:tcPr>
                </a:tc>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C-Store Program </a:t>
                      </a:r>
                    </a:p>
                  </a:txBody>
                  <a:tcP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3592600113"/>
                  </a:ext>
                </a:extLst>
              </a:tr>
              <a:tr h="263467">
                <a:tc vMerge="1">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cs typeface="Calibri" panose="020F0502020204030204" pitchFamily="34" charset="0"/>
                      </a:endParaRPr>
                    </a:p>
                  </a:txBody>
                  <a:tcPr>
                    <a:solidFill>
                      <a:schemeClr val="bg1"/>
                    </a:solidFill>
                  </a:tcPr>
                </a:tc>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chemeClr val="tx1"/>
                          </a:solidFill>
                          <a:effectLst/>
                          <a:latin typeface="+mn-lt"/>
                          <a:cs typeface="Calibri" panose="020F0502020204030204" pitchFamily="34" charset="0"/>
                        </a:rPr>
                        <a:t>Oasis Café (60 New in 2019)</a:t>
                      </a:r>
                    </a:p>
                  </a:txBody>
                  <a:tcPr>
                    <a:solidFill>
                      <a:schemeClr val="bg1"/>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437837482"/>
                  </a:ext>
                </a:extLst>
              </a:tr>
              <a:tr h="263467">
                <a:tc vMerge="1">
                  <a:txBody>
                    <a:bodyPr/>
                    <a:lstStyle/>
                    <a:p>
                      <a:pPr marL="58738" lvl="0" indent="0" algn="l" defTabSz="914400" rtl="0" eaLnBrk="1" fontAlgn="b" latinLnBrk="0" hangingPunct="1"/>
                      <a:endParaRPr lang="en-US" sz="1000" b="0" i="0" u="none" strike="noStrike" kern="1200" dirty="0">
                        <a:solidFill>
                          <a:schemeClr val="dk1"/>
                        </a:solidFill>
                        <a:effectLst/>
                        <a:latin typeface="+mn-lt"/>
                        <a:ea typeface="+mn-ea"/>
                        <a:cs typeface="Calibri" panose="020F0502020204030204" pitchFamily="34" charset="0"/>
                      </a:endParaRPr>
                    </a:p>
                  </a:txBody>
                  <a:tcPr>
                    <a:solidFill>
                      <a:schemeClr val="bg1"/>
                    </a:solidFill>
                  </a:tcPr>
                </a:tc>
                <a:tc>
                  <a:txBody>
                    <a:bodyPr/>
                    <a:lstStyle/>
                    <a:p>
                      <a:pPr marL="58738" lvl="0" indent="0" algn="l" defTabSz="914400" rtl="0" eaLnBrk="1" fontAlgn="b" latinLnBrk="0" hangingPunct="1"/>
                      <a:r>
                        <a:rPr lang="en-US" sz="1000" b="0" i="0" u="none" strike="noStrike" kern="1200" dirty="0">
                          <a:solidFill>
                            <a:schemeClr val="dk1"/>
                          </a:solidFill>
                          <a:effectLst/>
                          <a:latin typeface="+mn-lt"/>
                          <a:ea typeface="+mn-ea"/>
                          <a:cs typeface="Calibri" panose="020F0502020204030204" pitchFamily="34" charset="0"/>
                        </a:rPr>
                        <a:t>Loyalty Program</a:t>
                      </a:r>
                    </a:p>
                  </a:txBody>
                  <a:tcP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1703063475"/>
                  </a:ext>
                </a:extLst>
              </a:tr>
              <a:tr h="263467">
                <a:tc vMerge="1">
                  <a:txBody>
                    <a:bodyPr/>
                    <a:lstStyle/>
                    <a:p>
                      <a:endParaRPr lang="en-US"/>
                    </a:p>
                  </a:txBody>
                  <a:tcPr/>
                </a:tc>
                <a:tc>
                  <a:txBody>
                    <a:bodyPr/>
                    <a:lstStyle/>
                    <a:p>
                      <a:pPr marL="58738" lvl="0" indent="0" algn="l" defTabSz="914400" rtl="0" eaLnBrk="1" fontAlgn="b" latinLnBrk="0" hangingPunct="1"/>
                      <a:r>
                        <a:rPr lang="en-US" sz="1000" b="0" i="0" u="none" strike="noStrike" kern="1200" dirty="0">
                          <a:solidFill>
                            <a:schemeClr val="dk1"/>
                          </a:solidFill>
                          <a:effectLst/>
                          <a:latin typeface="+mn-lt"/>
                          <a:ea typeface="+mn-ea"/>
                          <a:cs typeface="Calibri" panose="020F0502020204030204" pitchFamily="34" charset="0"/>
                        </a:rPr>
                        <a:t>Mobile App – Customer Journey</a:t>
                      </a:r>
                    </a:p>
                  </a:txBody>
                  <a:tcPr>
                    <a:solidFill>
                      <a:schemeClr val="bg1"/>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193144654"/>
                  </a:ext>
                </a:extLst>
              </a:tr>
              <a:tr h="263467">
                <a:tc vMerge="1">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mn-cs"/>
                      </a:endParaRPr>
                    </a:p>
                  </a:txBody>
                  <a:tcPr>
                    <a:solidFill>
                      <a:schemeClr val="bg1"/>
                    </a:solidFill>
                  </a:tcPr>
                </a:tc>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mn-cs"/>
                        </a:rPr>
                        <a:t>Properties Management system implementation</a:t>
                      </a:r>
                    </a:p>
                  </a:txBody>
                  <a:tcP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4129383524"/>
                  </a:ext>
                </a:extLst>
              </a:tr>
              <a:tr h="263467">
                <a:tc rowSpan="4">
                  <a:txBody>
                    <a:bodyPr/>
                    <a:lstStyle/>
                    <a:p>
                      <a:pPr marL="58738" marR="0" lvl="0" indent="58738" algn="ctr" defTabSz="914400" rtl="0" eaLnBrk="1" fontAlgn="b" latinLnBrk="0" hangingPunct="1">
                        <a:lnSpc>
                          <a:spcPct val="100000"/>
                        </a:lnSpc>
                        <a:spcBef>
                          <a:spcPts val="0"/>
                        </a:spcBef>
                        <a:spcAft>
                          <a:spcPts val="0"/>
                        </a:spcAft>
                        <a:buClrTx/>
                        <a:buSzTx/>
                        <a:buFontTx/>
                        <a:buNone/>
                        <a:tabLst/>
                        <a:defRPr/>
                      </a:pPr>
                      <a:r>
                        <a:rPr lang="en-US" sz="900" b="1" dirty="0">
                          <a:latin typeface="+mn-lt"/>
                          <a:cs typeface="Calibri" panose="020F0502020204030204" pitchFamily="34" charset="0"/>
                        </a:rPr>
                        <a:t>Retail</a:t>
                      </a:r>
                    </a:p>
                  </a:txBody>
                  <a:tcPr marL="0" marR="0" marT="0" marB="0" vert="vert27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r>
                        <a:rPr lang="en-US" sz="1000" b="0" dirty="0">
                          <a:latin typeface="+mn-lt"/>
                          <a:cs typeface="Calibri" panose="020F0502020204030204" pitchFamily="34" charset="0"/>
                        </a:rPr>
                        <a:t>50 New SMART Stations in 2019/RFID Tags</a:t>
                      </a:r>
                    </a:p>
                  </a:txBody>
                  <a:tcPr marL="0" marR="0" marT="0" marB="0" anchor="ctr">
                    <a:solidFill>
                      <a:schemeClr val="bg1"/>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4048111779"/>
                  </a:ext>
                </a:extLst>
              </a:tr>
              <a:tr h="263467">
                <a:tc vMerge="1">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Calibri" panose="020F0502020204030204" pitchFamily="34" charset="0"/>
                      </a:endParaRPr>
                    </a:p>
                  </a:txBody>
                  <a:tcPr marL="0" marR="0" marT="0" marB="0" anchor="ctr">
                    <a:solidFill>
                      <a:schemeClr val="bg1"/>
                    </a:solidFill>
                  </a:tcPr>
                </a:tc>
                <a:tc>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Lubricant Sales Automation</a:t>
                      </a:r>
                    </a:p>
                  </a:txBody>
                  <a:tcPr marL="0" marR="0" marT="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215780057"/>
                  </a:ext>
                </a:extLst>
              </a:tr>
              <a:tr h="263467">
                <a:tc vMerge="1">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Calibri" panose="020F0502020204030204" pitchFamily="34" charset="0"/>
                      </a:endParaRPr>
                    </a:p>
                  </a:txBody>
                  <a:tcPr marL="0" marR="0" marT="0" marB="0" anchor="ctr">
                    <a:solidFill>
                      <a:schemeClr val="bg1"/>
                    </a:solidFill>
                  </a:tcPr>
                </a:tc>
                <a:tc>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Car Wash Management Automation</a:t>
                      </a:r>
                    </a:p>
                  </a:txBody>
                  <a:tcPr marL="0" marR="0" marT="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619607663"/>
                  </a:ext>
                </a:extLst>
              </a:tr>
              <a:tr h="263467">
                <a:tc vMerge="1">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Calibri" panose="020F0502020204030204" pitchFamily="34" charset="0"/>
                      </a:endParaRPr>
                    </a:p>
                  </a:txBody>
                  <a:tcPr marL="0" marR="0" marT="0" marB="0" anchor="ctr">
                    <a:solidFill>
                      <a:schemeClr val="bg1"/>
                    </a:solidFill>
                  </a:tcPr>
                </a:tc>
                <a:tc>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Mobile Apps (VIC)</a:t>
                      </a:r>
                    </a:p>
                  </a:txBody>
                  <a:tcPr marL="0" marR="0" marT="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17199835"/>
                  </a:ext>
                </a:extLst>
              </a:tr>
              <a:tr h="488627">
                <a:tc rowSpan="2">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r>
                        <a:rPr lang="en-US" sz="900" b="1" i="0" u="none" strike="noStrike" kern="1200" dirty="0">
                          <a:solidFill>
                            <a:schemeClr val="dk1"/>
                          </a:solidFill>
                          <a:effectLst/>
                          <a:latin typeface="+mn-lt"/>
                          <a:ea typeface="+mn-ea"/>
                          <a:cs typeface="Calibri" panose="020F0502020204030204" pitchFamily="34" charset="0"/>
                        </a:rPr>
                        <a:t>Commercial</a:t>
                      </a:r>
                    </a:p>
                  </a:txBody>
                  <a:tcPr marL="0" marR="0" marT="0" marB="0" vert="vert27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Aviation Fuel </a:t>
                      </a:r>
                      <a:r>
                        <a:rPr lang="en-US" sz="1000" b="0" i="0" u="none" strike="noStrike" kern="1200" dirty="0" err="1">
                          <a:solidFill>
                            <a:schemeClr val="dk1"/>
                          </a:solidFill>
                          <a:effectLst/>
                          <a:latin typeface="+mn-lt"/>
                          <a:ea typeface="+mn-ea"/>
                          <a:cs typeface="Calibri" panose="020F0502020204030204" pitchFamily="34" charset="0"/>
                        </a:rPr>
                        <a:t>Mngt</a:t>
                      </a:r>
                      <a:r>
                        <a:rPr lang="en-US" sz="1000" b="0" i="0" u="none" strike="noStrike" kern="1200" dirty="0">
                          <a:solidFill>
                            <a:schemeClr val="dk1"/>
                          </a:solidFill>
                          <a:effectLst/>
                          <a:latin typeface="+mn-lt"/>
                          <a:ea typeface="+mn-ea"/>
                          <a:cs typeface="Calibri" panose="020F0502020204030204" pitchFamily="34" charset="0"/>
                        </a:rPr>
                        <a:t>.</a:t>
                      </a:r>
                    </a:p>
                  </a:txBody>
                  <a:tcPr marL="0" marR="0" marT="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1705410868"/>
                  </a:ext>
                </a:extLst>
              </a:tr>
              <a:tr h="344129">
                <a:tc vMerge="1">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Calibri" panose="020F0502020204030204" pitchFamily="34" charset="0"/>
                      </a:endParaRPr>
                    </a:p>
                  </a:txBody>
                  <a:tcPr marL="0" marR="0" marT="0" marB="0" anchor="ctr">
                    <a:solidFill>
                      <a:schemeClr val="bg1"/>
                    </a:solidFill>
                  </a:tcPr>
                </a:tc>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Mobile App - Convert LPG Distributors to LSPs</a:t>
                      </a:r>
                    </a:p>
                  </a:txBody>
                  <a:tcPr marL="0" marR="0" marT="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2274618228"/>
                  </a:ext>
                </a:extLst>
              </a:tr>
              <a:tr h="277968">
                <a:tc rowSpan="2">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r>
                        <a:rPr lang="en-US" sz="1000" b="1" dirty="0">
                          <a:latin typeface="+mn-lt"/>
                          <a:cs typeface="Calibri" panose="020F0502020204030204" pitchFamily="34" charset="0"/>
                        </a:rPr>
                        <a:t>KSA</a:t>
                      </a:r>
                    </a:p>
                  </a:txBody>
                  <a:tcPr marL="0" marR="0" marT="0" marB="0" vert="vert27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marL="58738" lvl="0" indent="0" algn="l" defTabSz="914400" rtl="0" eaLnBrk="1" fontAlgn="b" latinLnBrk="0" hangingPunct="1"/>
                      <a:r>
                        <a:rPr lang="en-US" sz="1000" b="0" i="0" u="none" strike="noStrike" kern="1200" dirty="0">
                          <a:solidFill>
                            <a:schemeClr val="dk1"/>
                          </a:solidFill>
                          <a:effectLst/>
                          <a:latin typeface="+mn-lt"/>
                          <a:ea typeface="+mn-ea"/>
                          <a:cs typeface="Calibri" panose="020F0502020204030204" pitchFamily="34" charset="0"/>
                        </a:rPr>
                        <a:t>ADGC (KSA) - 10 Stations</a:t>
                      </a:r>
                    </a:p>
                  </a:txBody>
                  <a:tcPr marL="0" marR="0" marT="0" marB="0" anchor="ctr">
                    <a:solidFill>
                      <a:schemeClr val="bg1"/>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858257812"/>
                  </a:ext>
                </a:extLst>
              </a:tr>
              <a:tr h="302136">
                <a:tc vMerge="1">
                  <a:txBody>
                    <a:bodyPr/>
                    <a:lstStyle/>
                    <a:p>
                      <a:pPr marL="58738" indent="58738" algn="l" fontAlgn="b"/>
                      <a:endParaRPr lang="en-US" sz="1000" b="0" i="0" u="none" strike="noStrike" dirty="0">
                        <a:effectLst/>
                        <a:latin typeface="+mn-lt"/>
                        <a:cs typeface="Calibri" panose="020F0502020204030204" pitchFamily="34" charset="0"/>
                      </a:endParaRPr>
                    </a:p>
                  </a:txBody>
                  <a:tcPr marL="0" marR="0" marT="0" marB="0" anchor="ctr">
                    <a:solidFill>
                      <a:schemeClr val="bg1"/>
                    </a:solidFill>
                  </a:tcPr>
                </a:tc>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Calibri" panose="020F0502020204030204" pitchFamily="34" charset="0"/>
                        </a:rPr>
                        <a:t>Mobile App -  My station</a:t>
                      </a:r>
                    </a:p>
                  </a:txBody>
                  <a:tcPr marL="0" marR="0" marT="0" marB="0" anchor="ctr">
                    <a:solidFill>
                      <a:schemeClr val="bg1"/>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84074779"/>
                  </a:ext>
                </a:extLst>
              </a:tr>
              <a:tr h="332235">
                <a:tc>
                  <a:txBody>
                    <a:bodyPr/>
                    <a:lstStyle/>
                    <a:p>
                      <a:pPr marL="58738" marR="0" lvl="0" indent="58738" algn="l" defTabSz="914400" rtl="0" eaLnBrk="1" fontAlgn="b" latinLnBrk="0" hangingPunct="1">
                        <a:lnSpc>
                          <a:spcPct val="100000"/>
                        </a:lnSpc>
                        <a:spcBef>
                          <a:spcPts val="0"/>
                        </a:spcBef>
                        <a:spcAft>
                          <a:spcPts val="0"/>
                        </a:spcAft>
                        <a:buClrTx/>
                        <a:buSzTx/>
                        <a:buFontTx/>
                        <a:buNone/>
                        <a:tabLst/>
                        <a:defRPr/>
                      </a:pPr>
                      <a:r>
                        <a:rPr lang="en-US" sz="800" b="1" i="0" u="none" strike="noStrike" kern="1200" dirty="0">
                          <a:solidFill>
                            <a:schemeClr val="dk1"/>
                          </a:solidFill>
                          <a:effectLst/>
                          <a:latin typeface="+mn-lt"/>
                          <a:ea typeface="+mn-ea"/>
                          <a:cs typeface="Calibri" panose="020F0502020204030204" pitchFamily="34" charset="0"/>
                        </a:rPr>
                        <a:t>City Gas</a:t>
                      </a:r>
                    </a:p>
                  </a:txBody>
                  <a:tcPr marL="0" marR="0" marT="0" marB="0" vert="vert270" anchor="ctr">
                    <a:lnT w="12700" cap="flat" cmpd="sng" algn="ctr">
                      <a:solidFill>
                        <a:schemeClr val="accent2"/>
                      </a:solidFill>
                      <a:prstDash val="solid"/>
                      <a:round/>
                      <a:headEnd type="none" w="med" len="med"/>
                      <a:tailEnd type="none" w="med" len="med"/>
                    </a:lnT>
                    <a:solidFill>
                      <a:schemeClr val="bg1"/>
                    </a:solidFill>
                  </a:tcPr>
                </a:tc>
                <a:tc>
                  <a:txBody>
                    <a:bodyPr/>
                    <a:lstStyle/>
                    <a:p>
                      <a:pPr marL="58738" lvl="0" indent="0" algn="l" defTabSz="914400" rtl="0" eaLnBrk="1" fontAlgn="b" latinLnBrk="0" hangingPunct="1"/>
                      <a:r>
                        <a:rPr lang="en-US" sz="1000" b="0" i="0" u="none" strike="noStrike" kern="1200" dirty="0">
                          <a:solidFill>
                            <a:schemeClr val="dk1"/>
                          </a:solidFill>
                          <a:effectLst/>
                          <a:latin typeface="+mn-lt"/>
                          <a:ea typeface="+mn-ea"/>
                          <a:cs typeface="Calibri" panose="020F0502020204030204" pitchFamily="34" charset="0"/>
                        </a:rPr>
                        <a:t>City Gaz</a:t>
                      </a:r>
                    </a:p>
                  </a:txBody>
                  <a:tcPr marL="0" marR="0" marT="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715499367"/>
                  </a:ext>
                </a:extLst>
              </a:tr>
            </a:tbl>
          </a:graphicData>
        </a:graphic>
      </p:graphicFrame>
      <p:sp>
        <p:nvSpPr>
          <p:cNvPr id="31" name="Rectangle 30">
            <a:extLst>
              <a:ext uri="{FF2B5EF4-FFF2-40B4-BE49-F238E27FC236}">
                <a16:creationId xmlns:a16="http://schemas.microsoft.com/office/drawing/2014/main" id="{0AE18194-20B7-4DDE-8921-E12048115ED9}"/>
              </a:ext>
            </a:extLst>
          </p:cNvPr>
          <p:cNvSpPr/>
          <p:nvPr/>
        </p:nvSpPr>
        <p:spPr bwMode="gray">
          <a:xfrm rot="16200000">
            <a:off x="-1734792" y="3969334"/>
            <a:ext cx="4630991" cy="5269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500" b="1" dirty="0">
                <a:solidFill>
                  <a:schemeClr val="lt1"/>
                </a:solidFill>
                <a:latin typeface="Calibri" panose="020F0502020204030204" pitchFamily="34" charset="0"/>
                <a:cs typeface="Calibri" panose="020F0502020204030204" pitchFamily="34" charset="0"/>
              </a:rPr>
              <a:t>Enable the Business Transformation</a:t>
            </a:r>
          </a:p>
        </p:txBody>
      </p:sp>
      <p:sp>
        <p:nvSpPr>
          <p:cNvPr id="32" name="Rectangle 31">
            <a:extLst>
              <a:ext uri="{FF2B5EF4-FFF2-40B4-BE49-F238E27FC236}">
                <a16:creationId xmlns:a16="http://schemas.microsoft.com/office/drawing/2014/main" id="{B7456D42-6DBD-4FA6-AF00-A7A399CFFCCC}"/>
              </a:ext>
            </a:extLst>
          </p:cNvPr>
          <p:cNvSpPr/>
          <p:nvPr/>
        </p:nvSpPr>
        <p:spPr>
          <a:xfrm>
            <a:off x="517048" y="787836"/>
            <a:ext cx="10803441" cy="307777"/>
          </a:xfrm>
          <a:prstGeom prst="rect">
            <a:avLst/>
          </a:prstGeom>
        </p:spPr>
        <p:txBody>
          <a:bodyPr wrap="square">
            <a:spAutoFit/>
          </a:bodyPr>
          <a:lstStyle/>
          <a:p>
            <a:r>
              <a:rPr lang="en-US" sz="1400" b="1" dirty="0"/>
              <a:t>Key Initiatives to enable the business transformation and growth</a:t>
            </a:r>
          </a:p>
        </p:txBody>
      </p:sp>
    </p:spTree>
    <p:extLst>
      <p:ext uri="{BB962C8B-B14F-4D97-AF65-F5344CB8AC3E}">
        <p14:creationId xmlns:p14="http://schemas.microsoft.com/office/powerpoint/2010/main" val="19714068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 Initiatives and timeline</a:t>
            </a:r>
            <a:endParaRPr lang="en-GB" sz="3200" dirty="0"/>
          </a:p>
        </p:txBody>
      </p:sp>
      <p:sp>
        <p:nvSpPr>
          <p:cNvPr id="32" name="Rectangle 31">
            <a:extLst>
              <a:ext uri="{FF2B5EF4-FFF2-40B4-BE49-F238E27FC236}">
                <a16:creationId xmlns:a16="http://schemas.microsoft.com/office/drawing/2014/main" id="{B7456D42-6DBD-4FA6-AF00-A7A399CFFCCC}"/>
              </a:ext>
            </a:extLst>
          </p:cNvPr>
          <p:cNvSpPr/>
          <p:nvPr/>
        </p:nvSpPr>
        <p:spPr>
          <a:xfrm>
            <a:off x="517048" y="787836"/>
            <a:ext cx="10803441" cy="307777"/>
          </a:xfrm>
          <a:prstGeom prst="rect">
            <a:avLst/>
          </a:prstGeom>
        </p:spPr>
        <p:txBody>
          <a:bodyPr wrap="square">
            <a:spAutoFit/>
          </a:bodyPr>
          <a:lstStyle/>
          <a:p>
            <a:r>
              <a:rPr lang="en-US" sz="1400" b="1" dirty="0"/>
              <a:t>Key Initiatives to fix the Basics and leverage Client Group </a:t>
            </a:r>
            <a:r>
              <a:rPr lang="en-US" sz="1400" b="1" dirty="0" err="1"/>
              <a:t>progra</a:t>
            </a:r>
            <a:r>
              <a:rPr lang="en-US" sz="1400" b="1" dirty="0"/>
              <a:t>[NAME]</a:t>
            </a:r>
          </a:p>
        </p:txBody>
      </p:sp>
      <p:graphicFrame>
        <p:nvGraphicFramePr>
          <p:cNvPr id="7" name="Table 6">
            <a:extLst>
              <a:ext uri="{FF2B5EF4-FFF2-40B4-BE49-F238E27FC236}">
                <a16:creationId xmlns:a16="http://schemas.microsoft.com/office/drawing/2014/main" id="{6A646B48-556E-4D2D-A42D-0AEA0EB4D568}"/>
              </a:ext>
            </a:extLst>
          </p:cNvPr>
          <p:cNvGraphicFramePr>
            <a:graphicFrameLocks noGrp="1"/>
          </p:cNvGraphicFramePr>
          <p:nvPr>
            <p:extLst>
              <p:ext uri="{D42A27DB-BD31-4B8C-83A1-F6EECF244321}">
                <p14:modId xmlns:p14="http://schemas.microsoft.com/office/powerpoint/2010/main" val="1520307183"/>
              </p:ext>
            </p:extLst>
          </p:nvPr>
        </p:nvGraphicFramePr>
        <p:xfrm>
          <a:off x="985693" y="1795930"/>
          <a:ext cx="10856575" cy="4128595"/>
        </p:xfrm>
        <a:graphic>
          <a:graphicData uri="http://schemas.openxmlformats.org/drawingml/2006/table">
            <a:tbl>
              <a:tblPr firstRow="1" bandRow="1">
                <a:tableStyleId>{5C22544A-7EE6-4342-B048-85BDC9FD1C3A}</a:tableStyleId>
              </a:tblPr>
              <a:tblGrid>
                <a:gridCol w="915494">
                  <a:extLst>
                    <a:ext uri="{9D8B030D-6E8A-4147-A177-3AD203B41FA5}">
                      <a16:colId xmlns:a16="http://schemas.microsoft.com/office/drawing/2014/main" val="2156648329"/>
                    </a:ext>
                  </a:extLst>
                </a:gridCol>
                <a:gridCol w="3872889">
                  <a:extLst>
                    <a:ext uri="{9D8B030D-6E8A-4147-A177-3AD203B41FA5}">
                      <a16:colId xmlns:a16="http://schemas.microsoft.com/office/drawing/2014/main" val="20001"/>
                    </a:ext>
                  </a:extLst>
                </a:gridCol>
                <a:gridCol w="472612">
                  <a:extLst>
                    <a:ext uri="{9D8B030D-6E8A-4147-A177-3AD203B41FA5}">
                      <a16:colId xmlns:a16="http://schemas.microsoft.com/office/drawing/2014/main" val="2275450233"/>
                    </a:ext>
                  </a:extLst>
                </a:gridCol>
                <a:gridCol w="601863">
                  <a:extLst>
                    <a:ext uri="{9D8B030D-6E8A-4147-A177-3AD203B41FA5}">
                      <a16:colId xmlns:a16="http://schemas.microsoft.com/office/drawing/2014/main" val="20002"/>
                    </a:ext>
                  </a:extLst>
                </a:gridCol>
                <a:gridCol w="468957">
                  <a:extLst>
                    <a:ext uri="{9D8B030D-6E8A-4147-A177-3AD203B41FA5}">
                      <a16:colId xmlns:a16="http://schemas.microsoft.com/office/drawing/2014/main" val="20003"/>
                    </a:ext>
                  </a:extLst>
                </a:gridCol>
                <a:gridCol w="456328">
                  <a:extLst>
                    <a:ext uri="{9D8B030D-6E8A-4147-A177-3AD203B41FA5}">
                      <a16:colId xmlns:a16="http://schemas.microsoft.com/office/drawing/2014/main" val="20004"/>
                    </a:ext>
                  </a:extLst>
                </a:gridCol>
                <a:gridCol w="456328">
                  <a:extLst>
                    <a:ext uri="{9D8B030D-6E8A-4147-A177-3AD203B41FA5}">
                      <a16:colId xmlns:a16="http://schemas.microsoft.com/office/drawing/2014/main" val="2799138380"/>
                    </a:ext>
                  </a:extLst>
                </a:gridCol>
                <a:gridCol w="451513">
                  <a:extLst>
                    <a:ext uri="{9D8B030D-6E8A-4147-A177-3AD203B41FA5}">
                      <a16:colId xmlns:a16="http://schemas.microsoft.com/office/drawing/2014/main" val="20005"/>
                    </a:ext>
                  </a:extLst>
                </a:gridCol>
                <a:gridCol w="451513">
                  <a:extLst>
                    <a:ext uri="{9D8B030D-6E8A-4147-A177-3AD203B41FA5}">
                      <a16:colId xmlns:a16="http://schemas.microsoft.com/office/drawing/2014/main" val="3491635264"/>
                    </a:ext>
                  </a:extLst>
                </a:gridCol>
                <a:gridCol w="451513">
                  <a:extLst>
                    <a:ext uri="{9D8B030D-6E8A-4147-A177-3AD203B41FA5}">
                      <a16:colId xmlns:a16="http://schemas.microsoft.com/office/drawing/2014/main" val="1531788862"/>
                    </a:ext>
                  </a:extLst>
                </a:gridCol>
                <a:gridCol w="451513">
                  <a:extLst>
                    <a:ext uri="{9D8B030D-6E8A-4147-A177-3AD203B41FA5}">
                      <a16:colId xmlns:a16="http://schemas.microsoft.com/office/drawing/2014/main" val="1850102791"/>
                    </a:ext>
                  </a:extLst>
                </a:gridCol>
                <a:gridCol w="451513">
                  <a:extLst>
                    <a:ext uri="{9D8B030D-6E8A-4147-A177-3AD203B41FA5}">
                      <a16:colId xmlns:a16="http://schemas.microsoft.com/office/drawing/2014/main" val="2547898038"/>
                    </a:ext>
                  </a:extLst>
                </a:gridCol>
                <a:gridCol w="451513">
                  <a:extLst>
                    <a:ext uri="{9D8B030D-6E8A-4147-A177-3AD203B41FA5}">
                      <a16:colId xmlns:a16="http://schemas.microsoft.com/office/drawing/2014/main" val="335414545"/>
                    </a:ext>
                  </a:extLst>
                </a:gridCol>
                <a:gridCol w="451513">
                  <a:extLst>
                    <a:ext uri="{9D8B030D-6E8A-4147-A177-3AD203B41FA5}">
                      <a16:colId xmlns:a16="http://schemas.microsoft.com/office/drawing/2014/main" val="1456288308"/>
                    </a:ext>
                  </a:extLst>
                </a:gridCol>
                <a:gridCol w="451513">
                  <a:extLst>
                    <a:ext uri="{9D8B030D-6E8A-4147-A177-3AD203B41FA5}">
                      <a16:colId xmlns:a16="http://schemas.microsoft.com/office/drawing/2014/main" val="3319681982"/>
                    </a:ext>
                  </a:extLst>
                </a:gridCol>
              </a:tblGrid>
              <a:tr h="465531">
                <a:tc>
                  <a:txBody>
                    <a:bodyPr/>
                    <a:lstStyle/>
                    <a:p>
                      <a:pPr algn="ctr"/>
                      <a:r>
                        <a:rPr lang="en-US" sz="900" dirty="0">
                          <a:latin typeface="+mn-lt"/>
                        </a:rPr>
                        <a:t>Div.</a:t>
                      </a:r>
                    </a:p>
                  </a:txBody>
                  <a:tcPr anchor="ctr">
                    <a:solidFill>
                      <a:schemeClr val="bg1">
                        <a:lumMod val="65000"/>
                      </a:schemeClr>
                    </a:solidFill>
                  </a:tcPr>
                </a:tc>
                <a:tc>
                  <a:txBody>
                    <a:bodyPr/>
                    <a:lstStyle/>
                    <a:p>
                      <a:pPr algn="ctr"/>
                      <a:r>
                        <a:rPr lang="en-US" sz="900" dirty="0">
                          <a:latin typeface="+mn-lt"/>
                        </a:rPr>
                        <a:t>2019 initiatives (to start in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2018</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Jan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Feb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Mar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Apr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May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Jun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Jul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Aug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Sep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Oct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Nov 2019</a:t>
                      </a:r>
                    </a:p>
                  </a:txBody>
                  <a:tcPr anchor="ctr">
                    <a:solidFill>
                      <a:schemeClr val="bg1">
                        <a:lumMod val="65000"/>
                      </a:schemeClr>
                    </a:solidFill>
                  </a:tcPr>
                </a:tc>
                <a:tc>
                  <a:txBody>
                    <a:bodyPr/>
                    <a:lstStyle/>
                    <a:p>
                      <a:pPr algn="ctr"/>
                      <a:r>
                        <a:rPr lang="en-US" sz="900" b="1" kern="1200" dirty="0">
                          <a:solidFill>
                            <a:schemeClr val="lt1"/>
                          </a:solidFill>
                          <a:latin typeface="+mn-lt"/>
                          <a:ea typeface="+mn-ea"/>
                          <a:cs typeface="+mn-cs"/>
                        </a:rPr>
                        <a:t>Dec 2019</a:t>
                      </a:r>
                    </a:p>
                  </a:txBody>
                  <a:tcPr anchor="ctr">
                    <a:solidFill>
                      <a:schemeClr val="bg1">
                        <a:lumMod val="65000"/>
                      </a:schemeClr>
                    </a:solidFill>
                  </a:tcPr>
                </a:tc>
                <a:extLst>
                  <a:ext uri="{0D108BD9-81ED-4DB2-BD59-A6C34878D82A}">
                    <a16:rowId xmlns:a16="http://schemas.microsoft.com/office/drawing/2014/main" val="10000"/>
                  </a:ext>
                </a:extLst>
              </a:tr>
              <a:tr h="381571">
                <a:tc>
                  <a:txBody>
                    <a:bodyPr/>
                    <a:lstStyle/>
                    <a:p>
                      <a:pPr algn="l" fontAlgn="ctr"/>
                      <a:r>
                        <a:rPr lang="en-US" sz="1100" b="1" i="0" u="none" strike="noStrike" dirty="0">
                          <a:solidFill>
                            <a:srgbClr val="000000"/>
                          </a:solidFill>
                          <a:effectLst/>
                          <a:latin typeface="+mn-lt"/>
                        </a:rPr>
                        <a:t>Logistics</a:t>
                      </a:r>
                    </a:p>
                  </a:txBody>
                  <a:tcPr marL="6350" marR="6350" marT="6350" marB="0" anchor="ctr">
                    <a:solidFill>
                      <a:schemeClr val="bg1"/>
                    </a:solidFill>
                  </a:tcPr>
                </a:tc>
                <a:tc>
                  <a:txBody>
                    <a:bodyPr/>
                    <a:lstStyle/>
                    <a:p>
                      <a:pPr algn="l" fontAlgn="ctr"/>
                      <a:r>
                        <a:rPr lang="en-US" sz="1100" b="0" i="0" u="none" strike="noStrike" dirty="0">
                          <a:solidFill>
                            <a:srgbClr val="000000"/>
                          </a:solidFill>
                          <a:effectLst/>
                          <a:latin typeface="+mn-lt"/>
                        </a:rPr>
                        <a:t>Fuel-</a:t>
                      </a:r>
                      <a:r>
                        <a:rPr lang="en-US" sz="1100" b="0" i="0" u="none" strike="noStrike" dirty="0" err="1">
                          <a:solidFill>
                            <a:srgbClr val="000000"/>
                          </a:solidFill>
                          <a:effectLst/>
                          <a:latin typeface="+mn-lt"/>
                        </a:rPr>
                        <a:t>Facs</a:t>
                      </a:r>
                      <a:r>
                        <a:rPr lang="en-US" sz="1100" b="0" i="0" u="none" strike="noStrike" dirty="0">
                          <a:solidFill>
                            <a:srgbClr val="000000"/>
                          </a:solidFill>
                          <a:effectLst/>
                          <a:latin typeface="+mn-lt"/>
                        </a:rPr>
                        <a:t> Upgrade for [COUNTRY]</a:t>
                      </a:r>
                    </a:p>
                  </a:txBody>
                  <a:tcPr marL="6350" marR="6350" marT="6350" marB="0" anchor="ctr">
                    <a:solidFill>
                      <a:schemeClr val="bg1"/>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solidFill>
                          <a:srgbClr val="FF0000"/>
                        </a:solidFill>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1708939600"/>
                  </a:ext>
                </a:extLst>
              </a:tr>
              <a:tr h="291234">
                <a:tc>
                  <a:txBody>
                    <a:bodyPr/>
                    <a:lstStyle/>
                    <a:p>
                      <a:pPr algn="l" fontAlgn="ctr"/>
                      <a:r>
                        <a:rPr lang="en-US" sz="1100" b="1" i="0" u="none" strike="noStrike" dirty="0">
                          <a:solidFill>
                            <a:srgbClr val="000000"/>
                          </a:solidFill>
                          <a:effectLst/>
                          <a:latin typeface="+mn-lt"/>
                        </a:rPr>
                        <a:t>PD</a:t>
                      </a:r>
                    </a:p>
                  </a:txBody>
                  <a:tcPr marL="6350" marR="6350" marT="6350" marB="0" anchor="ctr">
                    <a:solidFill>
                      <a:schemeClr val="bg1"/>
                    </a:solidFill>
                  </a:tcPr>
                </a:tc>
                <a:tc>
                  <a:txBody>
                    <a:bodyPr/>
                    <a:lstStyle/>
                    <a:p>
                      <a:pPr algn="l" fontAlgn="ctr"/>
                      <a:r>
                        <a:rPr lang="en-US" sz="1100" b="0" i="0" u="none" strike="noStrike" dirty="0">
                          <a:solidFill>
                            <a:srgbClr val="000000"/>
                          </a:solidFill>
                          <a:effectLst/>
                          <a:latin typeface="+mn-lt"/>
                        </a:rPr>
                        <a:t>P2P process Enhancement</a:t>
                      </a:r>
                    </a:p>
                  </a:txBody>
                  <a:tcPr marL="6350" marR="6350" marT="6350" marB="0" anchor="ctr">
                    <a:solidFill>
                      <a:schemeClr val="bg1"/>
                    </a:solidFill>
                  </a:tcPr>
                </a:tc>
                <a:tc>
                  <a:txBody>
                    <a:bodyPr/>
                    <a:lstStyle/>
                    <a:p>
                      <a:endParaRPr lang="en-US" sz="900" dirty="0">
                        <a:solidFill>
                          <a:srgbClr val="FF0000"/>
                        </a:solidFill>
                        <a:latin typeface="+mn-lt"/>
                      </a:endParaRPr>
                    </a:p>
                  </a:txBody>
                  <a:tcPr>
                    <a:solidFill>
                      <a:schemeClr val="bg2"/>
                    </a:solidFill>
                  </a:tcPr>
                </a:tc>
                <a:tc>
                  <a:txBody>
                    <a:bodyPr/>
                    <a:lstStyle/>
                    <a:p>
                      <a:endParaRPr lang="en-US" sz="900" dirty="0">
                        <a:solidFill>
                          <a:srgbClr val="FF0000"/>
                        </a:solidFill>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3674075713"/>
                  </a:ext>
                </a:extLst>
              </a:tr>
              <a:tr h="325687">
                <a:tc>
                  <a:txBody>
                    <a:bodyPr/>
                    <a:lstStyle/>
                    <a:p>
                      <a:pPr algn="l" fontAlgn="ctr"/>
                      <a:r>
                        <a:rPr lang="en-US" sz="1100" b="1" i="0" u="none" strike="noStrike" dirty="0">
                          <a:solidFill>
                            <a:srgbClr val="000000"/>
                          </a:solidFill>
                          <a:effectLst/>
                          <a:latin typeface="+mn-lt"/>
                        </a:rPr>
                        <a:t>Finance</a:t>
                      </a:r>
                    </a:p>
                  </a:txBody>
                  <a:tcPr marL="6350" marR="6350" marT="6350" marB="0" anchor="ctr">
                    <a:solidFill>
                      <a:schemeClr val="bg1"/>
                    </a:solidFill>
                  </a:tcPr>
                </a:tc>
                <a:tc>
                  <a:txBody>
                    <a:bodyPr/>
                    <a:lstStyle/>
                    <a:p>
                      <a:pPr algn="l" fontAlgn="ctr"/>
                      <a:r>
                        <a:rPr lang="en-US" sz="1100" b="0" i="0" u="none" strike="noStrike" dirty="0">
                          <a:solidFill>
                            <a:srgbClr val="000000"/>
                          </a:solidFill>
                          <a:effectLst/>
                          <a:latin typeface="+mn-lt"/>
                        </a:rPr>
                        <a:t>Enhance the month-end closing solution/systems</a:t>
                      </a:r>
                    </a:p>
                  </a:txBody>
                  <a:tcPr marL="6350" marR="6350" marT="6350" marB="0" anchor="ctr">
                    <a:solidFill>
                      <a:schemeClr val="bg1"/>
                    </a:solidFill>
                  </a:tcPr>
                </a:tc>
                <a:tc>
                  <a:txBody>
                    <a:bodyPr/>
                    <a:lstStyle/>
                    <a:p>
                      <a:endParaRPr lang="en-US" sz="900" dirty="0">
                        <a:solidFill>
                          <a:srgbClr val="FF0000"/>
                        </a:solidFill>
                        <a:latin typeface="+mn-lt"/>
                      </a:endParaRPr>
                    </a:p>
                  </a:txBody>
                  <a:tcPr>
                    <a:solidFill>
                      <a:schemeClr val="bg2"/>
                    </a:solidFill>
                  </a:tcPr>
                </a:tc>
                <a:tc>
                  <a:txBody>
                    <a:bodyPr/>
                    <a:lstStyle/>
                    <a:p>
                      <a:endParaRPr lang="en-US" sz="900" dirty="0">
                        <a:solidFill>
                          <a:srgbClr val="FF0000"/>
                        </a:solidFill>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10001"/>
                  </a:ext>
                </a:extLst>
              </a:tr>
              <a:tr h="434820">
                <a:tc>
                  <a:txBody>
                    <a:bodyPr/>
                    <a:lstStyle/>
                    <a:p>
                      <a:pPr algn="l" fontAlgn="ctr"/>
                      <a:r>
                        <a:rPr lang="en-US" sz="1100" b="1" i="0" u="none" strike="noStrike" dirty="0">
                          <a:solidFill>
                            <a:srgbClr val="000000"/>
                          </a:solidFill>
                          <a:effectLst/>
                          <a:latin typeface="+mn-lt"/>
                        </a:rPr>
                        <a:t>Finance</a:t>
                      </a:r>
                    </a:p>
                  </a:txBody>
                  <a:tcPr marL="6350" marR="6350" marT="6350" marB="0" anchor="ctr">
                    <a:solidFill>
                      <a:schemeClr val="bg1"/>
                    </a:solidFill>
                  </a:tcPr>
                </a:tc>
                <a:tc>
                  <a:txBody>
                    <a:bodyPr/>
                    <a:lstStyle/>
                    <a:p>
                      <a:pPr algn="l" fontAlgn="ctr"/>
                      <a:r>
                        <a:rPr lang="en-US" sz="1100" b="0" i="0" u="none" strike="noStrike" dirty="0">
                          <a:solidFill>
                            <a:srgbClr val="000000"/>
                          </a:solidFill>
                          <a:effectLst/>
                          <a:latin typeface="+mn-lt"/>
                        </a:rPr>
                        <a:t>Assets Tagging</a:t>
                      </a:r>
                    </a:p>
                  </a:txBody>
                  <a:tcPr marL="6350" marR="6350" marT="635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2366466884"/>
                  </a:ext>
                </a:extLst>
              </a:tr>
              <a:tr h="434820">
                <a:tc>
                  <a:txBody>
                    <a:bodyPr/>
                    <a:lstStyle/>
                    <a:p>
                      <a:pPr algn="l" fontAlgn="ctr"/>
                      <a:r>
                        <a:rPr lang="en-US" sz="1100" b="1" i="0" u="none" strike="noStrike" dirty="0">
                          <a:solidFill>
                            <a:srgbClr val="000000"/>
                          </a:solidFill>
                          <a:effectLst/>
                          <a:latin typeface="+mn-lt"/>
                        </a:rPr>
                        <a:t>HC</a:t>
                      </a:r>
                    </a:p>
                  </a:txBody>
                  <a:tcPr marL="6350" marR="6350" marT="6350" marB="0" anchor="ctr">
                    <a:solidFill>
                      <a:schemeClr val="bg1"/>
                    </a:solidFill>
                  </a:tcPr>
                </a:tc>
                <a:tc>
                  <a:txBody>
                    <a:bodyPr/>
                    <a:lstStyle/>
                    <a:p>
                      <a:pPr algn="l" fontAlgn="ctr"/>
                      <a:r>
                        <a:rPr lang="en-US" sz="1100" b="0" i="0" u="none" strike="noStrike" dirty="0">
                          <a:solidFill>
                            <a:srgbClr val="000000"/>
                          </a:solidFill>
                          <a:effectLst/>
                          <a:latin typeface="+mn-lt"/>
                        </a:rPr>
                        <a:t>Enhance People Management Systems</a:t>
                      </a:r>
                      <a:br>
                        <a:rPr lang="en-US" sz="1100" b="0" i="0" u="none" strike="noStrike" dirty="0">
                          <a:solidFill>
                            <a:srgbClr val="000000"/>
                          </a:solidFill>
                          <a:effectLst/>
                          <a:latin typeface="+mn-lt"/>
                        </a:rPr>
                      </a:br>
                      <a:endParaRPr lang="en-US" sz="1100" b="0" i="0" u="none" strike="noStrike" dirty="0">
                        <a:solidFill>
                          <a:srgbClr val="000000"/>
                        </a:solidFill>
                        <a:effectLst/>
                        <a:latin typeface="+mn-lt"/>
                      </a:endParaRPr>
                    </a:p>
                  </a:txBody>
                  <a:tcPr marL="6350" marR="6350" marT="635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10003"/>
                  </a:ext>
                </a:extLst>
              </a:tr>
              <a:tr h="434820">
                <a:tc>
                  <a:txBody>
                    <a:bodyPr/>
                    <a:lstStyle/>
                    <a:p>
                      <a:pPr algn="l" fontAlgn="ctr"/>
                      <a:r>
                        <a:rPr lang="en-US" sz="1100" b="1" i="0" u="none" strike="noStrike" dirty="0">
                          <a:solidFill>
                            <a:srgbClr val="000000"/>
                          </a:solidFill>
                          <a:effectLst/>
                          <a:latin typeface="+mn-lt"/>
                        </a:rPr>
                        <a:t>Comm., PD, HC. Ops</a:t>
                      </a:r>
                    </a:p>
                  </a:txBody>
                  <a:tcPr marL="6350" marR="6350" marT="6350" marB="0" anchor="ctr">
                    <a:solidFill>
                      <a:schemeClr val="bg1"/>
                    </a:solidFill>
                  </a:tcPr>
                </a:tc>
                <a:tc>
                  <a:txBody>
                    <a:bodyPr/>
                    <a:lstStyle/>
                    <a:p>
                      <a:pPr algn="l" fontAlgn="ctr"/>
                      <a:r>
                        <a:rPr lang="en-US" sz="1100" b="0" i="0" u="none" strike="noStrike" dirty="0">
                          <a:solidFill>
                            <a:srgbClr val="000000"/>
                          </a:solidFill>
                          <a:effectLst/>
                          <a:latin typeface="+mn-lt"/>
                        </a:rPr>
                        <a:t>Data &amp; Analytics – Advance BI reporting for Commercial, PD, HC &amp; Operations</a:t>
                      </a:r>
                    </a:p>
                  </a:txBody>
                  <a:tcPr marL="6350" marR="6350" marT="6350" marB="0" anchor="ctr">
                    <a:solidFill>
                      <a:schemeClr val="bg1"/>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bg2"/>
                    </a:solidFill>
                  </a:tcPr>
                </a:tc>
                <a:extLst>
                  <a:ext uri="{0D108BD9-81ED-4DB2-BD59-A6C34878D82A}">
                    <a16:rowId xmlns:a16="http://schemas.microsoft.com/office/drawing/2014/main" val="1703063475"/>
                  </a:ext>
                </a:extLst>
              </a:tr>
              <a:tr h="490472">
                <a:tc>
                  <a:txBody>
                    <a:bodyPr/>
                    <a:lstStyle/>
                    <a:p>
                      <a:pPr algn="l" fontAlgn="ctr"/>
                      <a:r>
                        <a:rPr lang="en-US" sz="1100" b="1" i="0" u="none" strike="noStrike" dirty="0">
                          <a:solidFill>
                            <a:srgbClr val="000000"/>
                          </a:solidFill>
                          <a:effectLst/>
                          <a:latin typeface="+mn-lt"/>
                        </a:rPr>
                        <a:t>ITD</a:t>
                      </a:r>
                    </a:p>
                  </a:txBody>
                  <a:tcPr marL="6350" marR="6350" marT="6350" marB="0" anchor="ctr">
                    <a:lnB w="12700" cap="flat" cmpd="sng" algn="ctr">
                      <a:solidFill>
                        <a:schemeClr val="accent2"/>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0" dirty="0">
                          <a:latin typeface="+mn-lt"/>
                          <a:cs typeface="Calibri" panose="020F0502020204030204" pitchFamily="34" charset="0"/>
                        </a:rPr>
                        <a:t>Optimize ITD basics – Plan/Build/Operate/Run</a:t>
                      </a:r>
                    </a:p>
                  </a:txBody>
                  <a:tcPr marL="6350" marR="6350" marT="6350" marB="0" anchor="ctr">
                    <a:solidFill>
                      <a:schemeClr val="bg1"/>
                    </a:solidFill>
                  </a:tcPr>
                </a:tc>
                <a:tc>
                  <a:txBody>
                    <a:bodyPr/>
                    <a:lstStyle/>
                    <a:p>
                      <a:endParaRPr lang="en-US" sz="900" dirty="0">
                        <a:latin typeface="+mn-lt"/>
                      </a:endParaRPr>
                    </a:p>
                  </a:txBody>
                  <a:tcPr>
                    <a:solidFill>
                      <a:schemeClr val="bg2"/>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2257829979"/>
                  </a:ext>
                </a:extLst>
              </a:tr>
              <a:tr h="434820">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1" dirty="0">
                          <a:latin typeface="+mn-lt"/>
                          <a:cs typeface="Calibri" panose="020F0502020204030204" pitchFamily="34" charset="0"/>
                        </a:rPr>
                        <a:t>MD, PD, Finance &amp; HC</a:t>
                      </a:r>
                    </a:p>
                  </a:txBody>
                  <a:tcPr marL="6350" marR="6350" marT="6350" marB="0" anchor="ctr">
                    <a:lnT w="12700" cap="flat" cmpd="sng" algn="ctr">
                      <a:solidFill>
                        <a:schemeClr val="accent2"/>
                      </a:solidFill>
                      <a:prstDash val="solid"/>
                      <a:round/>
                      <a:headEnd type="none" w="med" len="med"/>
                      <a:tailEnd type="none" w="med" len="med"/>
                    </a:lnT>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0" dirty="0">
                          <a:latin typeface="+mn-lt"/>
                          <a:cs typeface="Calibri" panose="020F0502020204030204" pitchFamily="34" charset="0"/>
                        </a:rPr>
                        <a:t>[COMPANY] (Client Group) </a:t>
                      </a:r>
                    </a:p>
                  </a:txBody>
                  <a:tcPr marL="6350" marR="6350" marT="6350" marB="0" anchor="ctr">
                    <a:solidFill>
                      <a:schemeClr val="bg1"/>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1477418458"/>
                  </a:ext>
                </a:extLst>
              </a:tr>
              <a:tr h="434820">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100" b="0" dirty="0">
                        <a:latin typeface="Calibri" panose="020F0502020204030204" pitchFamily="34" charset="0"/>
                        <a:cs typeface="Calibri" panose="020F0502020204030204" pitchFamily="34" charset="0"/>
                      </a:endParaRPr>
                    </a:p>
                  </a:txBody>
                  <a:tcPr marL="6350" marR="6350" marT="6350" marB="0" anchor="ctr">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0">
                          <a:latin typeface="+mn-lt"/>
                          <a:cs typeface="Calibri" panose="020F0502020204030204" pitchFamily="34" charset="0"/>
                        </a:rPr>
                        <a:t>[COMPANY] </a:t>
                      </a:r>
                      <a:r>
                        <a:rPr lang="en-US" sz="1100" b="0" dirty="0">
                          <a:latin typeface="+mn-lt"/>
                          <a:cs typeface="Calibri" panose="020F0502020204030204" pitchFamily="34" charset="0"/>
                        </a:rPr>
                        <a:t>(Client Group)</a:t>
                      </a:r>
                    </a:p>
                  </a:txBody>
                  <a:tcPr marL="6350" marR="6350" marT="6350" marB="0" anchor="ctr">
                    <a:solidFill>
                      <a:schemeClr val="bg1"/>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tc>
                  <a:txBody>
                    <a:bodyPr/>
                    <a:lstStyle/>
                    <a:p>
                      <a:endParaRPr lang="en-US" sz="900" dirty="0">
                        <a:latin typeface="+mn-lt"/>
                      </a:endParaRPr>
                    </a:p>
                  </a:txBody>
                  <a:tcPr>
                    <a:solidFill>
                      <a:schemeClr val="accent1">
                        <a:lumMod val="60000"/>
                        <a:lumOff val="40000"/>
                      </a:schemeClr>
                    </a:solidFill>
                  </a:tcPr>
                </a:tc>
                <a:extLst>
                  <a:ext uri="{0D108BD9-81ED-4DB2-BD59-A6C34878D82A}">
                    <a16:rowId xmlns:a16="http://schemas.microsoft.com/office/drawing/2014/main" val="3278593994"/>
                  </a:ext>
                </a:extLst>
              </a:tr>
            </a:tbl>
          </a:graphicData>
        </a:graphic>
      </p:graphicFrame>
      <p:sp>
        <p:nvSpPr>
          <p:cNvPr id="8" name="Rectangle 7">
            <a:extLst>
              <a:ext uri="{FF2B5EF4-FFF2-40B4-BE49-F238E27FC236}">
                <a16:creationId xmlns:a16="http://schemas.microsoft.com/office/drawing/2014/main" id="{1809FBCD-931F-42FC-9C2F-DA974358C9FC}"/>
              </a:ext>
            </a:extLst>
          </p:cNvPr>
          <p:cNvSpPr/>
          <p:nvPr/>
        </p:nvSpPr>
        <p:spPr bwMode="gray">
          <a:xfrm rot="16200000">
            <a:off x="234251" y="5244933"/>
            <a:ext cx="869877" cy="526902"/>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050" b="1" dirty="0">
                <a:solidFill>
                  <a:schemeClr val="lt1"/>
                </a:solidFill>
                <a:latin typeface="Calibri" panose="020F0502020204030204" pitchFamily="34" charset="0"/>
                <a:cs typeface="Calibri" panose="020F0502020204030204" pitchFamily="34" charset="0"/>
              </a:rPr>
              <a:t>Client Group</a:t>
            </a:r>
          </a:p>
        </p:txBody>
      </p:sp>
      <p:sp>
        <p:nvSpPr>
          <p:cNvPr id="9" name="Rectangle 8">
            <a:extLst>
              <a:ext uri="{FF2B5EF4-FFF2-40B4-BE49-F238E27FC236}">
                <a16:creationId xmlns:a16="http://schemas.microsoft.com/office/drawing/2014/main" id="{99CB8989-ABE6-464D-AEE9-D3B3F9A8EC62}"/>
              </a:ext>
            </a:extLst>
          </p:cNvPr>
          <p:cNvSpPr/>
          <p:nvPr/>
        </p:nvSpPr>
        <p:spPr bwMode="gray">
          <a:xfrm rot="16200000">
            <a:off x="-756488" y="3384316"/>
            <a:ext cx="2851356" cy="5269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100" b="1" dirty="0">
                <a:solidFill>
                  <a:schemeClr val="lt1"/>
                </a:solidFill>
                <a:latin typeface="Calibri" panose="020F0502020204030204" pitchFamily="34" charset="0"/>
                <a:cs typeface="Calibri" panose="020F0502020204030204" pitchFamily="34" charset="0"/>
              </a:rPr>
              <a:t>Fix the B</a:t>
            </a:r>
            <a:r>
              <a:rPr lang="en-AU" sz="1100" b="1" dirty="0">
                <a:latin typeface="Calibri" panose="020F0502020204030204" pitchFamily="34" charset="0"/>
                <a:cs typeface="Calibri" panose="020F0502020204030204" pitchFamily="34" charset="0"/>
              </a:rPr>
              <a:t>asics</a:t>
            </a:r>
            <a:endParaRPr lang="en-AU" sz="1100" b="1" dirty="0">
              <a:solidFill>
                <a:schemeClr val="l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0516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The initiatives in the IT strategy bring the following major risks</a:t>
            </a:r>
          </a:p>
        </p:txBody>
      </p:sp>
      <p:sp>
        <p:nvSpPr>
          <p:cNvPr id="103" name="Content Placeholder 61"/>
          <p:cNvSpPr txBox="1">
            <a:spLocks/>
          </p:cNvSpPr>
          <p:nvPr/>
        </p:nvSpPr>
        <p:spPr>
          <a:xfrm>
            <a:off x="420413" y="947937"/>
            <a:ext cx="11521321" cy="1435660"/>
          </a:xfrm>
          <a:prstGeom prst="rect">
            <a:avLst/>
          </a:prstGeom>
        </p:spPr>
        <p:txBody>
          <a:bodyPr/>
          <a:lstStyle>
            <a:lvl1pPr marL="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1pPr>
            <a:lvl2pPr marL="432000" indent="-1440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720000" indent="-1440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008000" indent="-1440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1296000" indent="-1440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grpSp>
        <p:nvGrpSpPr>
          <p:cNvPr id="55" name="Group 54">
            <a:extLst>
              <a:ext uri="{FF2B5EF4-FFF2-40B4-BE49-F238E27FC236}">
                <a16:creationId xmlns:a16="http://schemas.microsoft.com/office/drawing/2014/main" id="{9A3C0424-EF46-4A39-971B-B0B44B4444C0}"/>
              </a:ext>
            </a:extLst>
          </p:cNvPr>
          <p:cNvGrpSpPr/>
          <p:nvPr/>
        </p:nvGrpSpPr>
        <p:grpSpPr>
          <a:xfrm>
            <a:off x="976900" y="1706628"/>
            <a:ext cx="10005241" cy="2950453"/>
            <a:chOff x="3460238" y="1678591"/>
            <a:chExt cx="4714761" cy="2611868"/>
          </a:xfrm>
        </p:grpSpPr>
        <p:sp>
          <p:nvSpPr>
            <p:cNvPr id="56" name="Oval 55">
              <a:extLst>
                <a:ext uri="{FF2B5EF4-FFF2-40B4-BE49-F238E27FC236}">
                  <a16:creationId xmlns:a16="http://schemas.microsoft.com/office/drawing/2014/main" id="{C8FEA534-CC3C-47F5-B74C-1EF9C9B8633E}"/>
                </a:ext>
              </a:extLst>
            </p:cNvPr>
            <p:cNvSpPr/>
            <p:nvPr/>
          </p:nvSpPr>
          <p:spPr>
            <a:xfrm>
              <a:off x="5098330" y="1678591"/>
              <a:ext cx="1440160" cy="1440161"/>
            </a:xfrm>
            <a:prstGeom prst="ellipse">
              <a:avLst/>
            </a:prstGeom>
            <a:solidFill>
              <a:srgbClr val="1859A9"/>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rgbClr val="000000"/>
                  </a:solidFill>
                  <a:effectLst/>
                  <a:uLnTx/>
                  <a:uFillTx/>
                </a:rPr>
                <a:t>Present</a:t>
              </a:r>
            </a:p>
          </p:txBody>
        </p:sp>
        <p:sp>
          <p:nvSpPr>
            <p:cNvPr id="57" name="Oval 56">
              <a:extLst>
                <a:ext uri="{FF2B5EF4-FFF2-40B4-BE49-F238E27FC236}">
                  <a16:creationId xmlns:a16="http://schemas.microsoft.com/office/drawing/2014/main" id="{A56ECDF1-04F4-4DE3-A4FC-496D4567DB28}"/>
                </a:ext>
              </a:extLst>
            </p:cNvPr>
            <p:cNvSpPr/>
            <p:nvPr/>
          </p:nvSpPr>
          <p:spPr>
            <a:xfrm>
              <a:off x="6734838" y="1678591"/>
              <a:ext cx="1440160" cy="1440161"/>
            </a:xfrm>
            <a:prstGeom prst="ellipse">
              <a:avLst/>
            </a:prstGeom>
            <a:solidFill>
              <a:srgbClr val="1859A9"/>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rgbClr val="000000"/>
                  </a:solidFill>
                  <a:effectLst/>
                  <a:uLnTx/>
                  <a:uFillTx/>
                </a:rPr>
                <a:t>Near Future</a:t>
              </a:r>
            </a:p>
          </p:txBody>
        </p:sp>
        <p:sp>
          <p:nvSpPr>
            <p:cNvPr id="58" name="Oval 57">
              <a:extLst>
                <a:ext uri="{FF2B5EF4-FFF2-40B4-BE49-F238E27FC236}">
                  <a16:creationId xmlns:a16="http://schemas.microsoft.com/office/drawing/2014/main" id="{30952E55-205F-4761-A104-F8532FCE256A}"/>
                </a:ext>
              </a:extLst>
            </p:cNvPr>
            <p:cNvSpPr/>
            <p:nvPr/>
          </p:nvSpPr>
          <p:spPr>
            <a:xfrm>
              <a:off x="5098330" y="1734591"/>
              <a:ext cx="1440160" cy="1440161"/>
            </a:xfrm>
            <a:prstGeom prst="ellipse">
              <a:avLst/>
            </a:prstGeom>
            <a:solidFill>
              <a:srgbClr val="FFFFFF"/>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rgbClr val="808080"/>
                  </a:solidFill>
                  <a:effectLst/>
                  <a:uLnTx/>
                  <a:uFillTx/>
                </a:rPr>
                <a:t>People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rgbClr val="808080"/>
                  </a:solidFill>
                  <a:effectLst/>
                  <a:uLnTx/>
                  <a:uFillTx/>
                </a:rPr>
                <a:t>&amp; capabilities </a:t>
              </a:r>
            </a:p>
          </p:txBody>
        </p:sp>
        <p:sp>
          <p:nvSpPr>
            <p:cNvPr id="59" name="Oval 58">
              <a:extLst>
                <a:ext uri="{FF2B5EF4-FFF2-40B4-BE49-F238E27FC236}">
                  <a16:creationId xmlns:a16="http://schemas.microsoft.com/office/drawing/2014/main" id="{84F59A3C-EE7C-4964-9238-41992B03A082}"/>
                </a:ext>
              </a:extLst>
            </p:cNvPr>
            <p:cNvSpPr/>
            <p:nvPr/>
          </p:nvSpPr>
          <p:spPr>
            <a:xfrm>
              <a:off x="6734838" y="1734591"/>
              <a:ext cx="1440160" cy="1440161"/>
            </a:xfrm>
            <a:prstGeom prst="ellipse">
              <a:avLst/>
            </a:prstGeom>
            <a:solidFill>
              <a:srgbClr val="FFFFFF"/>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srgbClr val="808080"/>
                  </a:solidFill>
                  <a:effectLst/>
                  <a:uLnTx/>
                  <a:uFillTx/>
                </a:rPr>
                <a:t>Governance</a:t>
              </a:r>
            </a:p>
          </p:txBody>
        </p:sp>
        <p:sp>
          <p:nvSpPr>
            <p:cNvPr id="60" name="Oval 59">
              <a:extLst>
                <a:ext uri="{FF2B5EF4-FFF2-40B4-BE49-F238E27FC236}">
                  <a16:creationId xmlns:a16="http://schemas.microsoft.com/office/drawing/2014/main" id="{47C0E4E2-E2B5-4BEE-AFBD-7C5DB17644F0}"/>
                </a:ext>
              </a:extLst>
            </p:cNvPr>
            <p:cNvSpPr/>
            <p:nvPr/>
          </p:nvSpPr>
          <p:spPr>
            <a:xfrm>
              <a:off x="3460238" y="1678591"/>
              <a:ext cx="1440160" cy="1440161"/>
            </a:xfrm>
            <a:prstGeom prst="ellipse">
              <a:avLst/>
            </a:prstGeom>
            <a:solidFill>
              <a:srgbClr val="1859A9"/>
            </a:solidFill>
            <a:ln w="9525" cap="flat" cmpd="sng" algn="ctr">
              <a:no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rgbClr val="000000"/>
                  </a:solidFill>
                  <a:effectLst/>
                  <a:uLnTx/>
                  <a:uFillTx/>
                </a:rPr>
                <a:t>Past</a:t>
              </a:r>
            </a:p>
          </p:txBody>
        </p:sp>
        <p:sp>
          <p:nvSpPr>
            <p:cNvPr id="61" name="Oval 60">
              <a:extLst>
                <a:ext uri="{FF2B5EF4-FFF2-40B4-BE49-F238E27FC236}">
                  <a16:creationId xmlns:a16="http://schemas.microsoft.com/office/drawing/2014/main" id="{A3866F50-E2AE-4AA2-8058-2BD3CAD7EFDD}"/>
                </a:ext>
              </a:extLst>
            </p:cNvPr>
            <p:cNvSpPr/>
            <p:nvPr/>
          </p:nvSpPr>
          <p:spPr>
            <a:xfrm>
              <a:off x="3460238" y="1734591"/>
              <a:ext cx="1440160" cy="1440161"/>
            </a:xfrm>
            <a:prstGeom prst="ellipse">
              <a:avLst/>
            </a:prstGeom>
            <a:solidFill>
              <a:srgbClr val="FFFFFF"/>
            </a:solidFill>
            <a:ln w="9525" cap="flat" cmpd="sng" algn="ctr">
              <a:solidFill>
                <a:sysClr val="window" lastClr="FFFFFF"/>
              </a:solidFill>
              <a:prstDash val="solid"/>
            </a:ln>
            <a:effectLst/>
          </p:spPr>
          <p:txBody>
            <a:bodyPr lIns="0" tIns="0"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rgbClr val="808080"/>
                  </a:solidFill>
                  <a:effectLst/>
                  <a:uLnTx/>
                  <a:uFillTx/>
                </a:rPr>
                <a:t>Digital</a:t>
              </a:r>
            </a:p>
          </p:txBody>
        </p:sp>
        <p:sp>
          <p:nvSpPr>
            <p:cNvPr id="62" name="Rechteck 49">
              <a:extLst>
                <a:ext uri="{FF2B5EF4-FFF2-40B4-BE49-F238E27FC236}">
                  <a16:creationId xmlns:a16="http://schemas.microsoft.com/office/drawing/2014/main" id="{C5143D5E-5DEC-45E1-BAB2-1E945844730D}"/>
                </a:ext>
              </a:extLst>
            </p:cNvPr>
            <p:cNvSpPr/>
            <p:nvPr/>
          </p:nvSpPr>
          <p:spPr bwMode="gray">
            <a:xfrm>
              <a:off x="6740318" y="3266192"/>
              <a:ext cx="1429200" cy="1024267"/>
            </a:xfrm>
            <a:prstGeom prst="rect">
              <a:avLst/>
            </a:prstGeom>
            <a:noFill/>
            <a:ln w="12700">
              <a:solidFill>
                <a:srgbClr val="808080"/>
              </a:solidFill>
              <a:miter lim="800000"/>
              <a:headEnd/>
              <a:tailEnd/>
            </a:ln>
            <a:effectLst/>
          </p:spPr>
          <p:txBody>
            <a:bodyPr lIns="36000" tIns="252000" rIns="0" bIns="0"/>
            <a:lstStyle/>
            <a:p>
              <a:pPr marL="180975" marR="0" lvl="0" indent="-180975" defTabSz="914400" eaLnBrk="1" fontAlgn="auto" latinLnBrk="0" hangingPunct="1">
                <a:lnSpc>
                  <a:spcPct val="95000"/>
                </a:lnSpc>
                <a:spcBef>
                  <a:spcPts val="0"/>
                </a:spcBef>
                <a:spcAft>
                  <a:spcPts val="600"/>
                </a:spcAft>
                <a:buClr>
                  <a:prstClr val="black">
                    <a:lumMod val="50000"/>
                    <a:lumOff val="50000"/>
                  </a:prstClr>
                </a:buClr>
                <a:buSzPct val="70000"/>
                <a:buFont typeface="Arial" pitchFamily="34" charset="0"/>
                <a:buChar char="►"/>
                <a:tabLst/>
                <a:defRPr/>
              </a:pPr>
              <a:r>
                <a:rPr kumimoji="0" lang="en-US" sz="1600" b="0" i="0" u="none" strike="noStrike" kern="0" cap="none" spc="0" normalizeH="0" baseline="0" noProof="0" dirty="0">
                  <a:ln>
                    <a:noFill/>
                  </a:ln>
                  <a:solidFill>
                    <a:srgbClr val="808080"/>
                  </a:solidFill>
                  <a:effectLst/>
                  <a:uLnTx/>
                  <a:uFillTx/>
                  <a:cs typeface="Arial" charset="0"/>
                </a:rPr>
                <a:t>Missing governance and portfolio prioritization will slow down business delivery </a:t>
              </a:r>
            </a:p>
          </p:txBody>
        </p:sp>
        <p:sp>
          <p:nvSpPr>
            <p:cNvPr id="63" name="Rechteck 51">
              <a:extLst>
                <a:ext uri="{FF2B5EF4-FFF2-40B4-BE49-F238E27FC236}">
                  <a16:creationId xmlns:a16="http://schemas.microsoft.com/office/drawing/2014/main" id="{297AF675-BAA7-474A-A63E-1DA1DDFEB80E}"/>
                </a:ext>
              </a:extLst>
            </p:cNvPr>
            <p:cNvSpPr/>
            <p:nvPr/>
          </p:nvSpPr>
          <p:spPr bwMode="gray">
            <a:xfrm>
              <a:off x="5104419" y="3260608"/>
              <a:ext cx="1429200" cy="1029851"/>
            </a:xfrm>
            <a:prstGeom prst="rect">
              <a:avLst/>
            </a:prstGeom>
            <a:noFill/>
            <a:ln w="12700">
              <a:solidFill>
                <a:srgbClr val="808080"/>
              </a:solidFill>
              <a:miter lim="800000"/>
              <a:headEnd/>
              <a:tailEnd/>
            </a:ln>
            <a:effectLst/>
          </p:spPr>
          <p:txBody>
            <a:bodyPr wrap="none" lIns="36000" tIns="252000" rIns="0" bIns="0"/>
            <a:lstStyle/>
            <a:p>
              <a:pPr marL="180975" marR="0" lvl="0" indent="-180975" defTabSz="914400" eaLnBrk="1" fontAlgn="auto" latinLnBrk="0" hangingPunct="1">
                <a:lnSpc>
                  <a:spcPct val="95000"/>
                </a:lnSpc>
                <a:spcBef>
                  <a:spcPts val="0"/>
                </a:spcBef>
                <a:spcAft>
                  <a:spcPts val="600"/>
                </a:spcAft>
                <a:buClr>
                  <a:prstClr val="black">
                    <a:lumMod val="50000"/>
                    <a:lumOff val="50000"/>
                  </a:prstClr>
                </a:buClr>
                <a:buSzPct val="70000"/>
                <a:buFont typeface="Arial" pitchFamily="34" charset="0"/>
                <a:buChar char="►"/>
                <a:tabLst/>
                <a:defRPr/>
              </a:pPr>
              <a:r>
                <a:rPr kumimoji="0" lang="en-US" sz="1600" b="0" i="0" u="none" strike="noStrike" kern="0" cap="none" spc="0" normalizeH="0" baseline="0" noProof="0" dirty="0">
                  <a:ln>
                    <a:noFill/>
                  </a:ln>
                  <a:solidFill>
                    <a:srgbClr val="808080"/>
                  </a:solidFill>
                  <a:effectLst/>
                  <a:uLnTx/>
                  <a:uFillTx/>
                  <a:cs typeface="Arial" charset="0"/>
                </a:rPr>
                <a:t>Lack of resources </a:t>
              </a:r>
            </a:p>
            <a:p>
              <a:pPr marL="180975" marR="0" lvl="0" indent="-180975" defTabSz="914400" eaLnBrk="1" fontAlgn="auto" latinLnBrk="0" hangingPunct="1">
                <a:lnSpc>
                  <a:spcPct val="95000"/>
                </a:lnSpc>
                <a:spcBef>
                  <a:spcPts val="0"/>
                </a:spcBef>
                <a:spcAft>
                  <a:spcPts val="600"/>
                </a:spcAft>
                <a:buClr>
                  <a:prstClr val="black">
                    <a:lumMod val="50000"/>
                    <a:lumOff val="50000"/>
                  </a:prstClr>
                </a:buClr>
                <a:buSzPct val="70000"/>
                <a:buFont typeface="Arial" pitchFamily="34" charset="0"/>
                <a:buChar char="►"/>
                <a:tabLst/>
                <a:defRPr/>
              </a:pPr>
              <a:r>
                <a:rPr kumimoji="0" lang="en-US" sz="1600" b="0" i="0" u="none" strike="noStrike" kern="0" cap="none" spc="0" normalizeH="0" baseline="0" noProof="0" dirty="0">
                  <a:ln>
                    <a:noFill/>
                  </a:ln>
                  <a:solidFill>
                    <a:srgbClr val="808080"/>
                  </a:solidFill>
                  <a:effectLst/>
                  <a:uLnTx/>
                  <a:uFillTx/>
                  <a:cs typeface="Arial" charset="0"/>
                </a:rPr>
                <a:t>All focus is on Support  </a:t>
              </a:r>
            </a:p>
          </p:txBody>
        </p:sp>
        <p:sp>
          <p:nvSpPr>
            <p:cNvPr id="64" name="Rechteck 52">
              <a:extLst>
                <a:ext uri="{FF2B5EF4-FFF2-40B4-BE49-F238E27FC236}">
                  <a16:creationId xmlns:a16="http://schemas.microsoft.com/office/drawing/2014/main" id="{1397C78C-1912-4525-905E-B8083D5E705D}"/>
                </a:ext>
              </a:extLst>
            </p:cNvPr>
            <p:cNvSpPr/>
            <p:nvPr/>
          </p:nvSpPr>
          <p:spPr bwMode="gray">
            <a:xfrm>
              <a:off x="3460238" y="3263761"/>
              <a:ext cx="1429200" cy="1026698"/>
            </a:xfrm>
            <a:prstGeom prst="rect">
              <a:avLst/>
            </a:prstGeom>
            <a:noFill/>
            <a:ln w="12700">
              <a:solidFill>
                <a:srgbClr val="808080"/>
              </a:solidFill>
              <a:miter lim="800000"/>
              <a:headEnd/>
              <a:tailEnd/>
            </a:ln>
            <a:effectLst/>
          </p:spPr>
          <p:txBody>
            <a:bodyPr lIns="36000" tIns="252000" rIns="0" bIns="0"/>
            <a:lstStyle/>
            <a:p>
              <a:pPr marL="180975" marR="0" lvl="0" indent="-180975" defTabSz="914400" eaLnBrk="1" fontAlgn="auto" latinLnBrk="0" hangingPunct="1">
                <a:lnSpc>
                  <a:spcPct val="95000"/>
                </a:lnSpc>
                <a:spcBef>
                  <a:spcPts val="0"/>
                </a:spcBef>
                <a:spcAft>
                  <a:spcPts val="600"/>
                </a:spcAft>
                <a:buClr>
                  <a:prstClr val="black">
                    <a:lumMod val="50000"/>
                    <a:lumOff val="50000"/>
                  </a:prstClr>
                </a:buClr>
                <a:buSzPct val="70000"/>
                <a:buFont typeface="Arial" pitchFamily="34" charset="0"/>
                <a:buChar char="►"/>
                <a:tabLst/>
                <a:defRPr/>
              </a:pPr>
              <a:r>
                <a:rPr kumimoji="0" lang="en-US" sz="1600" b="0" i="0" u="none" strike="noStrike" kern="0" cap="none" spc="0" normalizeH="0" baseline="0" noProof="0" dirty="0">
                  <a:ln>
                    <a:noFill/>
                  </a:ln>
                  <a:solidFill>
                    <a:srgbClr val="808080"/>
                  </a:solidFill>
                  <a:effectLst/>
                  <a:uLnTx/>
                  <a:uFillTx/>
                  <a:cs typeface="Arial" charset="0"/>
                </a:rPr>
                <a:t>Overlap in effort due to non alignment between ITD and Business</a:t>
              </a:r>
            </a:p>
            <a:p>
              <a:pPr marL="180975" marR="0" lvl="0" indent="-180975" defTabSz="914400" eaLnBrk="1" fontAlgn="auto" latinLnBrk="0" hangingPunct="1">
                <a:lnSpc>
                  <a:spcPct val="95000"/>
                </a:lnSpc>
                <a:spcBef>
                  <a:spcPts val="0"/>
                </a:spcBef>
                <a:spcAft>
                  <a:spcPts val="600"/>
                </a:spcAft>
                <a:buClr>
                  <a:srgbClr val="FFE600"/>
                </a:buClr>
                <a:buSzPct val="70000"/>
                <a:buFont typeface="Arial" pitchFamily="34" charset="0"/>
                <a:buChar char="►"/>
                <a:tabLst/>
                <a:defRPr/>
              </a:pPr>
              <a:endParaRPr kumimoji="0" lang="en-US" sz="1200" b="0" i="0" u="none" strike="noStrike" kern="0" cap="none" spc="0" normalizeH="0" baseline="0" noProof="0" dirty="0">
                <a:ln>
                  <a:noFill/>
                </a:ln>
                <a:solidFill>
                  <a:srgbClr val="808080"/>
                </a:solidFill>
                <a:effectLst/>
                <a:uLnTx/>
                <a:uFillTx/>
                <a:cs typeface="Arial" charset="0"/>
              </a:endParaRPr>
            </a:p>
            <a:p>
              <a:pPr marL="180975" marR="0" lvl="0" indent="-180975" defTabSz="914400" eaLnBrk="1" fontAlgn="auto" latinLnBrk="0" hangingPunct="1">
                <a:lnSpc>
                  <a:spcPct val="95000"/>
                </a:lnSpc>
                <a:spcBef>
                  <a:spcPts val="0"/>
                </a:spcBef>
                <a:spcAft>
                  <a:spcPts val="600"/>
                </a:spcAft>
                <a:buClr>
                  <a:srgbClr val="FFE600"/>
                </a:buClr>
                <a:buSzPct val="70000"/>
                <a:buFont typeface="Arial" pitchFamily="34" charset="0"/>
                <a:buChar char="►"/>
                <a:tabLst/>
                <a:defRPr/>
              </a:pPr>
              <a:endParaRPr kumimoji="0" lang="en-US" sz="1200" b="0" i="0" u="none" strike="noStrike" kern="0" cap="none" spc="0" normalizeH="0" baseline="0" noProof="0" dirty="0">
                <a:ln>
                  <a:noFill/>
                </a:ln>
                <a:solidFill>
                  <a:srgbClr val="808080"/>
                </a:solidFill>
                <a:effectLst/>
                <a:uLnTx/>
                <a:uFillTx/>
                <a:cs typeface="Arial" charset="0"/>
              </a:endParaRPr>
            </a:p>
          </p:txBody>
        </p:sp>
        <p:sp>
          <p:nvSpPr>
            <p:cNvPr id="65" name="Rechteck 57">
              <a:extLst>
                <a:ext uri="{FF2B5EF4-FFF2-40B4-BE49-F238E27FC236}">
                  <a16:creationId xmlns:a16="http://schemas.microsoft.com/office/drawing/2014/main" id="{4D1D6F4A-F8A0-4137-9AF6-7F42879C2F11}"/>
                </a:ext>
              </a:extLst>
            </p:cNvPr>
            <p:cNvSpPr/>
            <p:nvPr/>
          </p:nvSpPr>
          <p:spPr bwMode="gray">
            <a:xfrm>
              <a:off x="3460238" y="2850297"/>
              <a:ext cx="1440160" cy="541780"/>
            </a:xfrm>
            <a:prstGeom prst="ribbon">
              <a:avLst>
                <a:gd name="adj1" fmla="val 28307"/>
                <a:gd name="adj2" fmla="val 69198"/>
              </a:avLst>
            </a:prstGeom>
            <a:solidFill>
              <a:srgbClr val="808080"/>
            </a:solidFill>
            <a:ln w="6350">
              <a:solidFill>
                <a:srgbClr val="FFFFFF"/>
              </a:solidFill>
              <a:miter lim="800000"/>
              <a:headEnd/>
              <a:tailEnd/>
            </a:ln>
            <a:effectLst/>
          </p:spPr>
          <p:txBody>
            <a:bodyPr lIns="72000" tIns="0" rIns="0" bIns="0" anchor="ctr" anchorCtr="0"/>
            <a:lstStyle/>
            <a:p>
              <a:pPr marL="0" marR="0" lvl="0" indent="0" algn="ctr" defTabSz="914400" eaLnBrk="1" fontAlgn="auto" latinLnBrk="0" hangingPunct="1">
                <a:lnSpc>
                  <a:spcPct val="95000"/>
                </a:lnSpc>
                <a:spcBef>
                  <a:spcPts val="0"/>
                </a:spcBef>
                <a:spcAft>
                  <a:spcPts val="600"/>
                </a:spcAft>
                <a:buClr>
                  <a:srgbClr val="969696"/>
                </a:buClr>
                <a:buSzTx/>
                <a:buFontTx/>
                <a:buNone/>
                <a:tabLst/>
                <a:defRPr/>
              </a:pPr>
              <a:r>
                <a:rPr kumimoji="0" lang="en-US" sz="1000" b="1" i="0" u="none" strike="noStrike" kern="0" cap="none" spc="0" normalizeH="0" baseline="0" noProof="0" dirty="0">
                  <a:ln>
                    <a:noFill/>
                  </a:ln>
                  <a:solidFill>
                    <a:srgbClr val="FFFFFF"/>
                  </a:solidFill>
                  <a:effectLst/>
                  <a:uLnTx/>
                  <a:uFillTx/>
                </a:rPr>
                <a:t>Risk &amp; Issues</a:t>
              </a:r>
            </a:p>
          </p:txBody>
        </p:sp>
        <p:sp>
          <p:nvSpPr>
            <p:cNvPr id="66" name="Rechteck 57">
              <a:extLst>
                <a:ext uri="{FF2B5EF4-FFF2-40B4-BE49-F238E27FC236}">
                  <a16:creationId xmlns:a16="http://schemas.microsoft.com/office/drawing/2014/main" id="{14CC09F0-567F-481C-A2A3-7A93004C4857}"/>
                </a:ext>
              </a:extLst>
            </p:cNvPr>
            <p:cNvSpPr/>
            <p:nvPr/>
          </p:nvSpPr>
          <p:spPr bwMode="gray">
            <a:xfrm>
              <a:off x="5098330" y="2850297"/>
              <a:ext cx="1440160" cy="541780"/>
            </a:xfrm>
            <a:prstGeom prst="ribbon">
              <a:avLst>
                <a:gd name="adj1" fmla="val 28307"/>
                <a:gd name="adj2" fmla="val 69198"/>
              </a:avLst>
            </a:prstGeom>
            <a:solidFill>
              <a:srgbClr val="808080"/>
            </a:solidFill>
            <a:ln w="6350">
              <a:solidFill>
                <a:srgbClr val="FFFFFF"/>
              </a:solidFill>
              <a:miter lim="800000"/>
              <a:headEnd/>
              <a:tailEnd/>
            </a:ln>
            <a:effectLst/>
          </p:spPr>
          <p:txBody>
            <a:bodyPr lIns="72000" tIns="0" rIns="0" bIns="0" anchor="ctr" anchorCtr="0"/>
            <a:lstStyle/>
            <a:p>
              <a:pPr marL="0" marR="0" lvl="0" indent="0" algn="ctr" defTabSz="914400" eaLnBrk="1" fontAlgn="auto" latinLnBrk="0" hangingPunct="1">
                <a:lnSpc>
                  <a:spcPct val="95000"/>
                </a:lnSpc>
                <a:spcBef>
                  <a:spcPts val="0"/>
                </a:spcBef>
                <a:spcAft>
                  <a:spcPts val="600"/>
                </a:spcAft>
                <a:buClr>
                  <a:srgbClr val="969696"/>
                </a:buClr>
                <a:buSzTx/>
                <a:buFontTx/>
                <a:buNone/>
                <a:tabLst/>
                <a:defRPr/>
              </a:pPr>
              <a:r>
                <a:rPr kumimoji="0" lang="en-US" sz="1000" b="1" i="0" u="none" strike="noStrike" kern="0" cap="none" spc="0" normalizeH="0" baseline="0" noProof="0" dirty="0">
                  <a:ln>
                    <a:noFill/>
                  </a:ln>
                  <a:solidFill>
                    <a:srgbClr val="FFFFFF"/>
                  </a:solidFill>
                  <a:effectLst/>
                  <a:uLnTx/>
                  <a:uFillTx/>
                </a:rPr>
                <a:t>Risk &amp; Issues</a:t>
              </a:r>
            </a:p>
          </p:txBody>
        </p:sp>
        <p:sp>
          <p:nvSpPr>
            <p:cNvPr id="67" name="Rechteck 57">
              <a:extLst>
                <a:ext uri="{FF2B5EF4-FFF2-40B4-BE49-F238E27FC236}">
                  <a16:creationId xmlns:a16="http://schemas.microsoft.com/office/drawing/2014/main" id="{EA64AA1E-0D32-46F6-A0F7-864872AD38EE}"/>
                </a:ext>
              </a:extLst>
            </p:cNvPr>
            <p:cNvSpPr/>
            <p:nvPr/>
          </p:nvSpPr>
          <p:spPr bwMode="gray">
            <a:xfrm>
              <a:off x="6734839" y="2850297"/>
              <a:ext cx="1440160" cy="541780"/>
            </a:xfrm>
            <a:prstGeom prst="ribbon">
              <a:avLst>
                <a:gd name="adj1" fmla="val 28307"/>
                <a:gd name="adj2" fmla="val 69198"/>
              </a:avLst>
            </a:prstGeom>
            <a:solidFill>
              <a:srgbClr val="808080"/>
            </a:solidFill>
            <a:ln w="6350">
              <a:solidFill>
                <a:srgbClr val="FFFFFF"/>
              </a:solidFill>
              <a:miter lim="800000"/>
              <a:headEnd/>
              <a:tailEnd/>
            </a:ln>
            <a:effectLst/>
          </p:spPr>
          <p:txBody>
            <a:bodyPr lIns="72000" tIns="0" rIns="0" bIns="0" anchor="ctr" anchorCtr="0"/>
            <a:lstStyle/>
            <a:p>
              <a:pPr marL="0" marR="0" lvl="0" indent="0" algn="ctr" defTabSz="914400" eaLnBrk="1" fontAlgn="auto" latinLnBrk="0" hangingPunct="1">
                <a:lnSpc>
                  <a:spcPct val="95000"/>
                </a:lnSpc>
                <a:spcBef>
                  <a:spcPts val="0"/>
                </a:spcBef>
                <a:spcAft>
                  <a:spcPts val="600"/>
                </a:spcAft>
                <a:buClr>
                  <a:srgbClr val="969696"/>
                </a:buClr>
                <a:buSzTx/>
                <a:buFontTx/>
                <a:buNone/>
                <a:tabLst/>
                <a:defRPr/>
              </a:pPr>
              <a:r>
                <a:rPr kumimoji="0" lang="en-US" sz="1000" b="1" i="0" u="none" strike="noStrike" kern="0" cap="none" spc="0" normalizeH="0" baseline="0" noProof="0" dirty="0">
                  <a:ln>
                    <a:noFill/>
                  </a:ln>
                  <a:solidFill>
                    <a:srgbClr val="FFFFFF"/>
                  </a:solidFill>
                  <a:effectLst/>
                  <a:uLnTx/>
                  <a:uFillTx/>
                </a:rPr>
                <a:t>Risk &amp; Issues</a:t>
              </a:r>
            </a:p>
          </p:txBody>
        </p:sp>
      </p:grpSp>
      <p:sp>
        <p:nvSpPr>
          <p:cNvPr id="68" name="Freeform 6">
            <a:extLst>
              <a:ext uri="{FF2B5EF4-FFF2-40B4-BE49-F238E27FC236}">
                <a16:creationId xmlns:a16="http://schemas.microsoft.com/office/drawing/2014/main" id="{53575562-5800-4E02-ACDF-29BA874ED9E3}"/>
              </a:ext>
            </a:extLst>
          </p:cNvPr>
          <p:cNvSpPr>
            <a:spLocks noEditPoints="1"/>
          </p:cNvSpPr>
          <p:nvPr/>
        </p:nvSpPr>
        <p:spPr bwMode="auto">
          <a:xfrm>
            <a:off x="2184642" y="1882163"/>
            <a:ext cx="638509" cy="422676"/>
          </a:xfrm>
          <a:custGeom>
            <a:avLst/>
            <a:gdLst>
              <a:gd name="T0" fmla="*/ 163 w 327"/>
              <a:gd name="T1" fmla="*/ 0 h 303"/>
              <a:gd name="T2" fmla="*/ 0 w 327"/>
              <a:gd name="T3" fmla="*/ 303 h 303"/>
              <a:gd name="T4" fmla="*/ 327 w 327"/>
              <a:gd name="T5" fmla="*/ 303 h 303"/>
              <a:gd name="T6" fmla="*/ 163 w 327"/>
              <a:gd name="T7" fmla="*/ 0 h 303"/>
              <a:gd name="T8" fmla="*/ 149 w 327"/>
              <a:gd name="T9" fmla="*/ 82 h 303"/>
              <a:gd name="T10" fmla="*/ 178 w 327"/>
              <a:gd name="T11" fmla="*/ 82 h 303"/>
              <a:gd name="T12" fmla="*/ 178 w 327"/>
              <a:gd name="T13" fmla="*/ 167 h 303"/>
              <a:gd name="T14" fmla="*/ 172 w 327"/>
              <a:gd name="T15" fmla="*/ 218 h 303"/>
              <a:gd name="T16" fmla="*/ 154 w 327"/>
              <a:gd name="T17" fmla="*/ 218 h 303"/>
              <a:gd name="T18" fmla="*/ 149 w 327"/>
              <a:gd name="T19" fmla="*/ 167 h 303"/>
              <a:gd name="T20" fmla="*/ 149 w 327"/>
              <a:gd name="T21" fmla="*/ 82 h 303"/>
              <a:gd name="T22" fmla="*/ 163 w 327"/>
              <a:gd name="T23" fmla="*/ 277 h 303"/>
              <a:gd name="T24" fmla="*/ 143 w 327"/>
              <a:gd name="T25" fmla="*/ 256 h 303"/>
              <a:gd name="T26" fmla="*/ 163 w 327"/>
              <a:gd name="T27" fmla="*/ 236 h 303"/>
              <a:gd name="T28" fmla="*/ 184 w 327"/>
              <a:gd name="T29" fmla="*/ 256 h 303"/>
              <a:gd name="T30" fmla="*/ 163 w 327"/>
              <a:gd name="T31" fmla="*/ 277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7" h="303">
                <a:moveTo>
                  <a:pt x="163" y="0"/>
                </a:moveTo>
                <a:cubicBezTo>
                  <a:pt x="0" y="303"/>
                  <a:pt x="0" y="303"/>
                  <a:pt x="0" y="303"/>
                </a:cubicBezTo>
                <a:cubicBezTo>
                  <a:pt x="327" y="303"/>
                  <a:pt x="327" y="303"/>
                  <a:pt x="327" y="303"/>
                </a:cubicBezTo>
                <a:lnTo>
                  <a:pt x="163" y="0"/>
                </a:lnTo>
                <a:close/>
                <a:moveTo>
                  <a:pt x="149" y="82"/>
                </a:moveTo>
                <a:cubicBezTo>
                  <a:pt x="178" y="82"/>
                  <a:pt x="178" y="82"/>
                  <a:pt x="178" y="82"/>
                </a:cubicBezTo>
                <a:cubicBezTo>
                  <a:pt x="178" y="167"/>
                  <a:pt x="178" y="167"/>
                  <a:pt x="178" y="167"/>
                </a:cubicBezTo>
                <a:cubicBezTo>
                  <a:pt x="172" y="218"/>
                  <a:pt x="172" y="218"/>
                  <a:pt x="172" y="218"/>
                </a:cubicBezTo>
                <a:cubicBezTo>
                  <a:pt x="154" y="218"/>
                  <a:pt x="154" y="218"/>
                  <a:pt x="154" y="218"/>
                </a:cubicBezTo>
                <a:cubicBezTo>
                  <a:pt x="149" y="167"/>
                  <a:pt x="149" y="167"/>
                  <a:pt x="149" y="167"/>
                </a:cubicBezTo>
                <a:lnTo>
                  <a:pt x="149" y="82"/>
                </a:lnTo>
                <a:close/>
                <a:moveTo>
                  <a:pt x="163" y="277"/>
                </a:moveTo>
                <a:cubicBezTo>
                  <a:pt x="152" y="277"/>
                  <a:pt x="143" y="268"/>
                  <a:pt x="143" y="256"/>
                </a:cubicBezTo>
                <a:cubicBezTo>
                  <a:pt x="143" y="245"/>
                  <a:pt x="152" y="236"/>
                  <a:pt x="163" y="236"/>
                </a:cubicBezTo>
                <a:cubicBezTo>
                  <a:pt x="174" y="236"/>
                  <a:pt x="184" y="245"/>
                  <a:pt x="184" y="256"/>
                </a:cubicBezTo>
                <a:cubicBezTo>
                  <a:pt x="184" y="268"/>
                  <a:pt x="174" y="277"/>
                  <a:pt x="163" y="277"/>
                </a:cubicBez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69" name="Freeform 6">
            <a:extLst>
              <a:ext uri="{FF2B5EF4-FFF2-40B4-BE49-F238E27FC236}">
                <a16:creationId xmlns:a16="http://schemas.microsoft.com/office/drawing/2014/main" id="{49724DAE-9653-45D5-98FD-2E4015CEC461}"/>
              </a:ext>
            </a:extLst>
          </p:cNvPr>
          <p:cNvSpPr>
            <a:spLocks noEditPoints="1"/>
          </p:cNvSpPr>
          <p:nvPr/>
        </p:nvSpPr>
        <p:spPr bwMode="auto">
          <a:xfrm>
            <a:off x="5680234" y="1882163"/>
            <a:ext cx="638509" cy="422676"/>
          </a:xfrm>
          <a:custGeom>
            <a:avLst/>
            <a:gdLst>
              <a:gd name="T0" fmla="*/ 163 w 327"/>
              <a:gd name="T1" fmla="*/ 0 h 303"/>
              <a:gd name="T2" fmla="*/ 0 w 327"/>
              <a:gd name="T3" fmla="*/ 303 h 303"/>
              <a:gd name="T4" fmla="*/ 327 w 327"/>
              <a:gd name="T5" fmla="*/ 303 h 303"/>
              <a:gd name="T6" fmla="*/ 163 w 327"/>
              <a:gd name="T7" fmla="*/ 0 h 303"/>
              <a:gd name="T8" fmla="*/ 149 w 327"/>
              <a:gd name="T9" fmla="*/ 82 h 303"/>
              <a:gd name="T10" fmla="*/ 178 w 327"/>
              <a:gd name="T11" fmla="*/ 82 h 303"/>
              <a:gd name="T12" fmla="*/ 178 w 327"/>
              <a:gd name="T13" fmla="*/ 167 h 303"/>
              <a:gd name="T14" fmla="*/ 172 w 327"/>
              <a:gd name="T15" fmla="*/ 218 h 303"/>
              <a:gd name="T16" fmla="*/ 154 w 327"/>
              <a:gd name="T17" fmla="*/ 218 h 303"/>
              <a:gd name="T18" fmla="*/ 149 w 327"/>
              <a:gd name="T19" fmla="*/ 167 h 303"/>
              <a:gd name="T20" fmla="*/ 149 w 327"/>
              <a:gd name="T21" fmla="*/ 82 h 303"/>
              <a:gd name="T22" fmla="*/ 163 w 327"/>
              <a:gd name="T23" fmla="*/ 277 h 303"/>
              <a:gd name="T24" fmla="*/ 143 w 327"/>
              <a:gd name="T25" fmla="*/ 256 h 303"/>
              <a:gd name="T26" fmla="*/ 163 w 327"/>
              <a:gd name="T27" fmla="*/ 236 h 303"/>
              <a:gd name="T28" fmla="*/ 184 w 327"/>
              <a:gd name="T29" fmla="*/ 256 h 303"/>
              <a:gd name="T30" fmla="*/ 163 w 327"/>
              <a:gd name="T31" fmla="*/ 277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7" h="303">
                <a:moveTo>
                  <a:pt x="163" y="0"/>
                </a:moveTo>
                <a:cubicBezTo>
                  <a:pt x="0" y="303"/>
                  <a:pt x="0" y="303"/>
                  <a:pt x="0" y="303"/>
                </a:cubicBezTo>
                <a:cubicBezTo>
                  <a:pt x="327" y="303"/>
                  <a:pt x="327" y="303"/>
                  <a:pt x="327" y="303"/>
                </a:cubicBezTo>
                <a:lnTo>
                  <a:pt x="163" y="0"/>
                </a:lnTo>
                <a:close/>
                <a:moveTo>
                  <a:pt x="149" y="82"/>
                </a:moveTo>
                <a:cubicBezTo>
                  <a:pt x="178" y="82"/>
                  <a:pt x="178" y="82"/>
                  <a:pt x="178" y="82"/>
                </a:cubicBezTo>
                <a:cubicBezTo>
                  <a:pt x="178" y="167"/>
                  <a:pt x="178" y="167"/>
                  <a:pt x="178" y="167"/>
                </a:cubicBezTo>
                <a:cubicBezTo>
                  <a:pt x="172" y="218"/>
                  <a:pt x="172" y="218"/>
                  <a:pt x="172" y="218"/>
                </a:cubicBezTo>
                <a:cubicBezTo>
                  <a:pt x="154" y="218"/>
                  <a:pt x="154" y="218"/>
                  <a:pt x="154" y="218"/>
                </a:cubicBezTo>
                <a:cubicBezTo>
                  <a:pt x="149" y="167"/>
                  <a:pt x="149" y="167"/>
                  <a:pt x="149" y="167"/>
                </a:cubicBezTo>
                <a:lnTo>
                  <a:pt x="149" y="82"/>
                </a:lnTo>
                <a:close/>
                <a:moveTo>
                  <a:pt x="163" y="277"/>
                </a:moveTo>
                <a:cubicBezTo>
                  <a:pt x="152" y="277"/>
                  <a:pt x="143" y="268"/>
                  <a:pt x="143" y="256"/>
                </a:cubicBezTo>
                <a:cubicBezTo>
                  <a:pt x="143" y="245"/>
                  <a:pt x="152" y="236"/>
                  <a:pt x="163" y="236"/>
                </a:cubicBezTo>
                <a:cubicBezTo>
                  <a:pt x="174" y="236"/>
                  <a:pt x="184" y="245"/>
                  <a:pt x="184" y="256"/>
                </a:cubicBezTo>
                <a:cubicBezTo>
                  <a:pt x="184" y="268"/>
                  <a:pt x="174" y="277"/>
                  <a:pt x="163" y="277"/>
                </a:cubicBez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70" name="Freeform 6">
            <a:extLst>
              <a:ext uri="{FF2B5EF4-FFF2-40B4-BE49-F238E27FC236}">
                <a16:creationId xmlns:a16="http://schemas.microsoft.com/office/drawing/2014/main" id="{95296894-2FD3-48E4-8F31-0CA1F4EEC161}"/>
              </a:ext>
            </a:extLst>
          </p:cNvPr>
          <p:cNvSpPr>
            <a:spLocks noEditPoints="1"/>
          </p:cNvSpPr>
          <p:nvPr/>
        </p:nvSpPr>
        <p:spPr bwMode="auto">
          <a:xfrm>
            <a:off x="9138584" y="1882163"/>
            <a:ext cx="638509" cy="422676"/>
          </a:xfrm>
          <a:custGeom>
            <a:avLst/>
            <a:gdLst>
              <a:gd name="T0" fmla="*/ 163 w 327"/>
              <a:gd name="T1" fmla="*/ 0 h 303"/>
              <a:gd name="T2" fmla="*/ 0 w 327"/>
              <a:gd name="T3" fmla="*/ 303 h 303"/>
              <a:gd name="T4" fmla="*/ 327 w 327"/>
              <a:gd name="T5" fmla="*/ 303 h 303"/>
              <a:gd name="T6" fmla="*/ 163 w 327"/>
              <a:gd name="T7" fmla="*/ 0 h 303"/>
              <a:gd name="T8" fmla="*/ 149 w 327"/>
              <a:gd name="T9" fmla="*/ 82 h 303"/>
              <a:gd name="T10" fmla="*/ 178 w 327"/>
              <a:gd name="T11" fmla="*/ 82 h 303"/>
              <a:gd name="T12" fmla="*/ 178 w 327"/>
              <a:gd name="T13" fmla="*/ 167 h 303"/>
              <a:gd name="T14" fmla="*/ 172 w 327"/>
              <a:gd name="T15" fmla="*/ 218 h 303"/>
              <a:gd name="T16" fmla="*/ 154 w 327"/>
              <a:gd name="T17" fmla="*/ 218 h 303"/>
              <a:gd name="T18" fmla="*/ 149 w 327"/>
              <a:gd name="T19" fmla="*/ 167 h 303"/>
              <a:gd name="T20" fmla="*/ 149 w 327"/>
              <a:gd name="T21" fmla="*/ 82 h 303"/>
              <a:gd name="T22" fmla="*/ 163 w 327"/>
              <a:gd name="T23" fmla="*/ 277 h 303"/>
              <a:gd name="T24" fmla="*/ 143 w 327"/>
              <a:gd name="T25" fmla="*/ 256 h 303"/>
              <a:gd name="T26" fmla="*/ 163 w 327"/>
              <a:gd name="T27" fmla="*/ 236 h 303"/>
              <a:gd name="T28" fmla="*/ 184 w 327"/>
              <a:gd name="T29" fmla="*/ 256 h 303"/>
              <a:gd name="T30" fmla="*/ 163 w 327"/>
              <a:gd name="T31" fmla="*/ 277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7" h="303">
                <a:moveTo>
                  <a:pt x="163" y="0"/>
                </a:moveTo>
                <a:cubicBezTo>
                  <a:pt x="0" y="303"/>
                  <a:pt x="0" y="303"/>
                  <a:pt x="0" y="303"/>
                </a:cubicBezTo>
                <a:cubicBezTo>
                  <a:pt x="327" y="303"/>
                  <a:pt x="327" y="303"/>
                  <a:pt x="327" y="303"/>
                </a:cubicBezTo>
                <a:lnTo>
                  <a:pt x="163" y="0"/>
                </a:lnTo>
                <a:close/>
                <a:moveTo>
                  <a:pt x="149" y="82"/>
                </a:moveTo>
                <a:cubicBezTo>
                  <a:pt x="178" y="82"/>
                  <a:pt x="178" y="82"/>
                  <a:pt x="178" y="82"/>
                </a:cubicBezTo>
                <a:cubicBezTo>
                  <a:pt x="178" y="167"/>
                  <a:pt x="178" y="167"/>
                  <a:pt x="178" y="167"/>
                </a:cubicBezTo>
                <a:cubicBezTo>
                  <a:pt x="172" y="218"/>
                  <a:pt x="172" y="218"/>
                  <a:pt x="172" y="218"/>
                </a:cubicBezTo>
                <a:cubicBezTo>
                  <a:pt x="154" y="218"/>
                  <a:pt x="154" y="218"/>
                  <a:pt x="154" y="218"/>
                </a:cubicBezTo>
                <a:cubicBezTo>
                  <a:pt x="149" y="167"/>
                  <a:pt x="149" y="167"/>
                  <a:pt x="149" y="167"/>
                </a:cubicBezTo>
                <a:lnTo>
                  <a:pt x="149" y="82"/>
                </a:lnTo>
                <a:close/>
                <a:moveTo>
                  <a:pt x="163" y="277"/>
                </a:moveTo>
                <a:cubicBezTo>
                  <a:pt x="152" y="277"/>
                  <a:pt x="143" y="268"/>
                  <a:pt x="143" y="256"/>
                </a:cubicBezTo>
                <a:cubicBezTo>
                  <a:pt x="143" y="245"/>
                  <a:pt x="152" y="236"/>
                  <a:pt x="163" y="236"/>
                </a:cubicBezTo>
                <a:cubicBezTo>
                  <a:pt x="174" y="236"/>
                  <a:pt x="184" y="245"/>
                  <a:pt x="184" y="256"/>
                </a:cubicBezTo>
                <a:cubicBezTo>
                  <a:pt x="184" y="268"/>
                  <a:pt x="174" y="277"/>
                  <a:pt x="163" y="277"/>
                </a:cubicBez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71" name="Isosceles Triangle 70">
            <a:extLst>
              <a:ext uri="{FF2B5EF4-FFF2-40B4-BE49-F238E27FC236}">
                <a16:creationId xmlns:a16="http://schemas.microsoft.com/office/drawing/2014/main" id="{03DC0415-FA61-46FA-85B8-5508916D9217}"/>
              </a:ext>
            </a:extLst>
          </p:cNvPr>
          <p:cNvSpPr/>
          <p:nvPr/>
        </p:nvSpPr>
        <p:spPr>
          <a:xfrm rot="10800000">
            <a:off x="1509788" y="4778937"/>
            <a:ext cx="1951639" cy="245500"/>
          </a:xfrm>
          <a:prstGeom prst="triangle">
            <a:avLst>
              <a:gd name="adj" fmla="val 50000"/>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prstClr val="white"/>
              </a:solidFill>
              <a:effectLst/>
              <a:uLnTx/>
              <a:uFillTx/>
              <a:latin typeface="Arial"/>
              <a:ea typeface="SimHei"/>
              <a:cs typeface="Arial Unicode MS"/>
            </a:endParaRPr>
          </a:p>
        </p:txBody>
      </p:sp>
      <p:sp>
        <p:nvSpPr>
          <p:cNvPr id="72" name="Rectangle 71">
            <a:extLst>
              <a:ext uri="{FF2B5EF4-FFF2-40B4-BE49-F238E27FC236}">
                <a16:creationId xmlns:a16="http://schemas.microsoft.com/office/drawing/2014/main" id="{586B64AC-329C-4D23-B24D-08BC81E62C13}"/>
              </a:ext>
            </a:extLst>
          </p:cNvPr>
          <p:cNvSpPr/>
          <p:nvPr/>
        </p:nvSpPr>
        <p:spPr>
          <a:xfrm>
            <a:off x="915730" y="5146293"/>
            <a:ext cx="3094089" cy="1261884"/>
          </a:xfrm>
          <a:prstGeom prst="rect">
            <a:avLst/>
          </a:prstGeom>
        </p:spPr>
        <p:txBody>
          <a:bodyPr wrap="square">
            <a:spAutoFit/>
          </a:bodyPr>
          <a:lstStyle/>
          <a:p>
            <a:pPr>
              <a:lnSpc>
                <a:spcPct val="95000"/>
              </a:lnSpc>
              <a:spcAft>
                <a:spcPts val="600"/>
              </a:spcAft>
              <a:buClr>
                <a:srgbClr val="FFE600"/>
              </a:buClr>
              <a:buSzPct val="70000"/>
              <a:defRPr/>
            </a:pPr>
            <a:r>
              <a:rPr lang="en-US" sz="1600" kern="0" dirty="0">
                <a:solidFill>
                  <a:srgbClr val="808080"/>
                </a:solidFill>
                <a:cs typeface="Arial" charset="0"/>
              </a:rPr>
              <a:t>Align in projects and resources between ITD &amp; business and agree on Digital capabilities to be buildup within ITD to scale Digital</a:t>
            </a:r>
          </a:p>
        </p:txBody>
      </p:sp>
      <p:sp>
        <p:nvSpPr>
          <p:cNvPr id="73" name="TextBox 72">
            <a:extLst>
              <a:ext uri="{FF2B5EF4-FFF2-40B4-BE49-F238E27FC236}">
                <a16:creationId xmlns:a16="http://schemas.microsoft.com/office/drawing/2014/main" id="{E93E0B3F-5962-4FBC-BA99-06A36BA2B5E7}"/>
              </a:ext>
            </a:extLst>
          </p:cNvPr>
          <p:cNvSpPr txBox="1"/>
          <p:nvPr/>
        </p:nvSpPr>
        <p:spPr>
          <a:xfrm rot="16200000">
            <a:off x="-25630" y="5682126"/>
            <a:ext cx="1648589" cy="333212"/>
          </a:xfrm>
          <a:prstGeom prst="rect">
            <a:avLst/>
          </a:prstGeom>
          <a:noFill/>
        </p:spPr>
        <p:txBody>
          <a:bodyPr wrap="square" lIns="0" tIns="0" rIns="0" bIns="0" rtlCol="0">
            <a:noAutofit/>
          </a:bodyPr>
          <a:lstStyle/>
          <a:p>
            <a:pPr marL="0" marR="0" lvl="0" indent="0" algn="ctr" defTabSz="914400" eaLnBrk="1" fontAlgn="auto" latinLnBrk="0" hangingPunct="1">
              <a:lnSpc>
                <a:spcPct val="100000"/>
              </a:lnSpc>
              <a:spcBef>
                <a:spcPts val="80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rPr>
              <a:t>Mitigations</a:t>
            </a:r>
          </a:p>
        </p:txBody>
      </p:sp>
      <p:sp>
        <p:nvSpPr>
          <p:cNvPr id="74" name="Rectangle 73">
            <a:extLst>
              <a:ext uri="{FF2B5EF4-FFF2-40B4-BE49-F238E27FC236}">
                <a16:creationId xmlns:a16="http://schemas.microsoft.com/office/drawing/2014/main" id="{3BDEF97A-17A4-4149-AA4B-956148605FDC}"/>
              </a:ext>
            </a:extLst>
          </p:cNvPr>
          <p:cNvSpPr/>
          <p:nvPr/>
        </p:nvSpPr>
        <p:spPr>
          <a:xfrm>
            <a:off x="4327535" y="5146293"/>
            <a:ext cx="3094089" cy="794064"/>
          </a:xfrm>
          <a:prstGeom prst="rect">
            <a:avLst/>
          </a:prstGeom>
        </p:spPr>
        <p:txBody>
          <a:bodyPr wrap="square">
            <a:spAutoFit/>
          </a:bodyPr>
          <a:lstStyle/>
          <a:p>
            <a:pPr>
              <a:lnSpc>
                <a:spcPct val="95000"/>
              </a:lnSpc>
              <a:spcAft>
                <a:spcPts val="600"/>
              </a:spcAft>
              <a:buClr>
                <a:srgbClr val="FFE600"/>
              </a:buClr>
              <a:buSzPct val="70000"/>
              <a:defRPr/>
            </a:pPr>
            <a:r>
              <a:rPr lang="en-US" sz="1600" kern="0" dirty="0">
                <a:solidFill>
                  <a:srgbClr val="808080"/>
                </a:solidFill>
                <a:cs typeface="Arial" charset="0"/>
              </a:rPr>
              <a:t>Increase IT resources to focus on key business processes and strategic objectives </a:t>
            </a:r>
          </a:p>
        </p:txBody>
      </p:sp>
      <p:sp>
        <p:nvSpPr>
          <p:cNvPr id="75" name="Isosceles Triangle 74">
            <a:extLst>
              <a:ext uri="{FF2B5EF4-FFF2-40B4-BE49-F238E27FC236}">
                <a16:creationId xmlns:a16="http://schemas.microsoft.com/office/drawing/2014/main" id="{C5A8D2A0-9191-4867-9FDE-8433BAB07381}"/>
              </a:ext>
            </a:extLst>
          </p:cNvPr>
          <p:cNvSpPr/>
          <p:nvPr/>
        </p:nvSpPr>
        <p:spPr>
          <a:xfrm rot="10800000">
            <a:off x="5005380" y="4778937"/>
            <a:ext cx="1951639" cy="245500"/>
          </a:xfrm>
          <a:prstGeom prst="triangle">
            <a:avLst>
              <a:gd name="adj" fmla="val 50000"/>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prstClr val="white"/>
              </a:solidFill>
              <a:effectLst/>
              <a:uLnTx/>
              <a:uFillTx/>
              <a:latin typeface="Arial"/>
              <a:ea typeface="SimHei"/>
              <a:cs typeface="Arial Unicode MS"/>
            </a:endParaRPr>
          </a:p>
        </p:txBody>
      </p:sp>
      <p:sp>
        <p:nvSpPr>
          <p:cNvPr id="76" name="Rectangle 75">
            <a:extLst>
              <a:ext uri="{FF2B5EF4-FFF2-40B4-BE49-F238E27FC236}">
                <a16:creationId xmlns:a16="http://schemas.microsoft.com/office/drawing/2014/main" id="{52165C44-4D2E-4711-B113-A137C4B4C14B}"/>
              </a:ext>
            </a:extLst>
          </p:cNvPr>
          <p:cNvSpPr/>
          <p:nvPr/>
        </p:nvSpPr>
        <p:spPr>
          <a:xfrm>
            <a:off x="7876420" y="5146293"/>
            <a:ext cx="3094089" cy="1104918"/>
          </a:xfrm>
          <a:prstGeom prst="rect">
            <a:avLst/>
          </a:prstGeom>
        </p:spPr>
        <p:txBody>
          <a:bodyPr wrap="square">
            <a:spAutoFit/>
          </a:bodyPr>
          <a:lstStyle/>
          <a:p>
            <a:pPr>
              <a:lnSpc>
                <a:spcPct val="95000"/>
              </a:lnSpc>
              <a:spcAft>
                <a:spcPts val="600"/>
              </a:spcAft>
              <a:buClr>
                <a:srgbClr val="FFE600"/>
              </a:buClr>
              <a:buSzPct val="70000"/>
              <a:defRPr/>
            </a:pPr>
            <a:r>
              <a:rPr lang="en-US" sz="1600" kern="0" dirty="0">
                <a:solidFill>
                  <a:srgbClr val="808080"/>
                </a:solidFill>
                <a:cs typeface="Arial" charset="0"/>
              </a:rPr>
              <a:t>Build the EA to establish fact based and structured decisions practices </a:t>
            </a:r>
          </a:p>
          <a:p>
            <a:pPr>
              <a:lnSpc>
                <a:spcPct val="95000"/>
              </a:lnSpc>
              <a:spcAft>
                <a:spcPts val="600"/>
              </a:spcAft>
              <a:buClr>
                <a:srgbClr val="FFE600"/>
              </a:buClr>
              <a:buSzPct val="70000"/>
              <a:defRPr/>
            </a:pPr>
            <a:r>
              <a:rPr lang="en-US" sz="1600" kern="0" dirty="0">
                <a:solidFill>
                  <a:srgbClr val="808080"/>
                </a:solidFill>
                <a:cs typeface="Arial" charset="0"/>
              </a:rPr>
              <a:t> </a:t>
            </a:r>
          </a:p>
        </p:txBody>
      </p:sp>
      <p:sp>
        <p:nvSpPr>
          <p:cNvPr id="77" name="Isosceles Triangle 76">
            <a:extLst>
              <a:ext uri="{FF2B5EF4-FFF2-40B4-BE49-F238E27FC236}">
                <a16:creationId xmlns:a16="http://schemas.microsoft.com/office/drawing/2014/main" id="{E9E8FA70-C913-4679-A1EA-051B91DC88AB}"/>
              </a:ext>
            </a:extLst>
          </p:cNvPr>
          <p:cNvSpPr/>
          <p:nvPr/>
        </p:nvSpPr>
        <p:spPr>
          <a:xfrm rot="10800000">
            <a:off x="8554265" y="4778937"/>
            <a:ext cx="1951639" cy="245500"/>
          </a:xfrm>
          <a:prstGeom prst="triangle">
            <a:avLst>
              <a:gd name="adj" fmla="val 50000"/>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prstClr val="white"/>
              </a:solidFill>
              <a:effectLst/>
              <a:uLnTx/>
              <a:uFillTx/>
              <a:latin typeface="Arial"/>
              <a:ea typeface="SimHei"/>
              <a:cs typeface="Arial Unicode MS"/>
            </a:endParaRPr>
          </a:p>
        </p:txBody>
      </p:sp>
      <p:sp>
        <p:nvSpPr>
          <p:cNvPr id="78" name="Rectangle 77">
            <a:extLst>
              <a:ext uri="{FF2B5EF4-FFF2-40B4-BE49-F238E27FC236}">
                <a16:creationId xmlns:a16="http://schemas.microsoft.com/office/drawing/2014/main" id="{1DE8B984-9818-4D19-9391-D74BFFEFCF0D}"/>
              </a:ext>
            </a:extLst>
          </p:cNvPr>
          <p:cNvSpPr/>
          <p:nvPr/>
        </p:nvSpPr>
        <p:spPr>
          <a:xfrm>
            <a:off x="976900" y="5146293"/>
            <a:ext cx="10005239" cy="1261884"/>
          </a:xfrm>
          <a:prstGeom prst="rect">
            <a:avLst/>
          </a:prstGeom>
          <a:noFill/>
          <a:ln w="12700" cap="flat" cmpd="sng" algn="ctr">
            <a:solidFill>
              <a:sysClr val="windowText" lastClr="000000">
                <a:lumMod val="50000"/>
                <a:lumOff val="50000"/>
              </a:sys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prstClr val="white"/>
              </a:solidFill>
              <a:effectLst/>
              <a:uLnTx/>
              <a:uFillTx/>
              <a:latin typeface="Arial"/>
              <a:ea typeface="SimHei"/>
              <a:cs typeface="Arial Unicode MS"/>
            </a:endParaRPr>
          </a:p>
        </p:txBody>
      </p:sp>
    </p:spTree>
    <p:extLst>
      <p:ext uri="{BB962C8B-B14F-4D97-AF65-F5344CB8AC3E}">
        <p14:creationId xmlns:p14="http://schemas.microsoft.com/office/powerpoint/2010/main" val="3784475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3360" y="2946400"/>
            <a:ext cx="7274560" cy="456019"/>
          </a:xfrm>
          <a:prstGeom prst="rect">
            <a:avLst/>
          </a:prstGeom>
          <a:noFill/>
        </p:spPr>
        <p:txBody>
          <a:bodyPr wrap="square" lIns="0" tIns="0" rIns="0" bIns="0" rtlCol="0">
            <a:noAutofit/>
          </a:bodyPr>
          <a:lstStyle/>
          <a:p>
            <a:pPr algn="l">
              <a:spcBef>
                <a:spcPts val="800"/>
              </a:spcBef>
            </a:pPr>
            <a:r>
              <a:rPr lang="en-US" sz="3600" b="1" dirty="0">
                <a:solidFill>
                  <a:schemeClr val="bg1"/>
                </a:solidFill>
              </a:rPr>
              <a:t>Appendices</a:t>
            </a:r>
          </a:p>
          <a:p>
            <a:pPr algn="l">
              <a:spcBef>
                <a:spcPts val="800"/>
              </a:spcBef>
            </a:pPr>
            <a:r>
              <a:rPr lang="en-US" sz="3600" b="1" dirty="0">
                <a:solidFill>
                  <a:schemeClr val="bg1"/>
                </a:solidFill>
              </a:rPr>
              <a:t>	</a:t>
            </a:r>
            <a:endParaRPr lang="en-US" sz="2400" dirty="0">
              <a:solidFill>
                <a:schemeClr val="bg1"/>
              </a:solidFill>
            </a:endParaRPr>
          </a:p>
          <a:p>
            <a:pPr algn="l">
              <a:spcBef>
                <a:spcPts val="800"/>
              </a:spcBef>
            </a:pPr>
            <a:endParaRPr lang="en-US" sz="2400" dirty="0">
              <a:solidFill>
                <a:schemeClr val="bg1"/>
              </a:solidFill>
            </a:endParaRPr>
          </a:p>
          <a:p>
            <a:pPr algn="l">
              <a:spcBef>
                <a:spcPts val="800"/>
              </a:spcBef>
            </a:pPr>
            <a:endParaRPr lang="en-US" sz="2400" dirty="0">
              <a:solidFill>
                <a:schemeClr val="bg1"/>
              </a:solidFill>
            </a:endParaRPr>
          </a:p>
        </p:txBody>
      </p:sp>
      <p:sp>
        <p:nvSpPr>
          <p:cNvPr id="4" name="Rectangle 3"/>
          <p:cNvSpPr/>
          <p:nvPr/>
        </p:nvSpPr>
        <p:spPr>
          <a:xfrm>
            <a:off x="3488375" y="3861022"/>
            <a:ext cx="5342168" cy="923330"/>
          </a:xfrm>
          <a:prstGeom prst="rect">
            <a:avLst/>
          </a:prstGeom>
        </p:spPr>
        <p:txBody>
          <a:bodyPr wrap="none">
            <a:spAutoFit/>
          </a:bodyPr>
          <a:lstStyle/>
          <a:p>
            <a:pPr marL="285750" indent="-285750">
              <a:buFontTx/>
              <a:buChar char="-"/>
            </a:pPr>
            <a:r>
              <a:rPr lang="en-US" dirty="0">
                <a:solidFill>
                  <a:schemeClr val="bg1"/>
                </a:solidFill>
              </a:rPr>
              <a:t>Stakeholders engaged</a:t>
            </a:r>
          </a:p>
          <a:p>
            <a:pPr marL="285750" indent="-285750">
              <a:buFontTx/>
              <a:buChar char="-"/>
            </a:pPr>
            <a:r>
              <a:rPr lang="en-US" dirty="0">
                <a:solidFill>
                  <a:schemeClr val="bg1"/>
                </a:solidFill>
              </a:rPr>
              <a:t>ITD Satisfaction Survey results</a:t>
            </a:r>
          </a:p>
          <a:p>
            <a:pPr marL="285750" indent="-285750">
              <a:buFontTx/>
              <a:buChar char="-"/>
            </a:pPr>
            <a:r>
              <a:rPr lang="en-US" dirty="0">
                <a:solidFill>
                  <a:schemeClr val="bg1"/>
                </a:solidFill>
              </a:rPr>
              <a:t>Overall Business Strategy and Vision summary </a:t>
            </a:r>
            <a:endParaRPr lang="en-US" dirty="0"/>
          </a:p>
        </p:txBody>
      </p:sp>
    </p:spTree>
    <p:extLst>
      <p:ext uri="{BB962C8B-B14F-4D97-AF65-F5344CB8AC3E}">
        <p14:creationId xmlns:p14="http://schemas.microsoft.com/office/powerpoint/2010/main" val="34615241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Stakeholders Engaged (1/3)</a:t>
            </a:r>
          </a:p>
        </p:txBody>
      </p:sp>
      <p:sp>
        <p:nvSpPr>
          <p:cNvPr id="12" name="Rectangle 11"/>
          <p:cNvSpPr/>
          <p:nvPr/>
        </p:nvSpPr>
        <p:spPr>
          <a:xfrm>
            <a:off x="301150" y="1260561"/>
            <a:ext cx="10498028" cy="2226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1" dirty="0">
                <a:solidFill>
                  <a:prstClr val="white"/>
                </a:solidFill>
              </a:rPr>
              <a:t>Management Stakeholders (ELT members)</a:t>
            </a:r>
          </a:p>
        </p:txBody>
      </p:sp>
      <p:graphicFrame>
        <p:nvGraphicFramePr>
          <p:cNvPr id="13" name="Table 12"/>
          <p:cNvGraphicFramePr>
            <a:graphicFrameLocks noGrp="1"/>
          </p:cNvGraphicFramePr>
          <p:nvPr>
            <p:extLst>
              <p:ext uri="{D42A27DB-BD31-4B8C-83A1-F6EECF244321}">
                <p14:modId xmlns:p14="http://schemas.microsoft.com/office/powerpoint/2010/main" val="2579146507"/>
              </p:ext>
            </p:extLst>
          </p:nvPr>
        </p:nvGraphicFramePr>
        <p:xfrm>
          <a:off x="301149" y="1546717"/>
          <a:ext cx="10498030" cy="2496563"/>
        </p:xfrm>
        <a:graphic>
          <a:graphicData uri="http://schemas.openxmlformats.org/drawingml/2006/table">
            <a:tbl>
              <a:tblPr firstRow="1" bandRow="1">
                <a:tableStyleId>{7E9639D4-E3E2-4D34-9284-5A2195B3D0D7}</a:tableStyleId>
              </a:tblPr>
              <a:tblGrid>
                <a:gridCol w="4717891">
                  <a:extLst>
                    <a:ext uri="{9D8B030D-6E8A-4147-A177-3AD203B41FA5}">
                      <a16:colId xmlns:a16="http://schemas.microsoft.com/office/drawing/2014/main" val="20000"/>
                    </a:ext>
                  </a:extLst>
                </a:gridCol>
                <a:gridCol w="5780139">
                  <a:extLst>
                    <a:ext uri="{9D8B030D-6E8A-4147-A177-3AD203B41FA5}">
                      <a16:colId xmlns:a16="http://schemas.microsoft.com/office/drawing/2014/main" val="20001"/>
                    </a:ext>
                  </a:extLst>
                </a:gridCol>
              </a:tblGrid>
              <a:tr h="179399">
                <a:tc>
                  <a:txBody>
                    <a:bodyPr/>
                    <a:lstStyle/>
                    <a:p>
                      <a:pPr algn="ctr"/>
                      <a:r>
                        <a:rPr lang="en-US" sz="1200" dirty="0">
                          <a:latin typeface="+mn-lt"/>
                        </a:rPr>
                        <a:t>Stakeholders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ctr"/>
                      <a:r>
                        <a:rPr lang="en-US" sz="1200" dirty="0">
                          <a:latin typeface="+mn-lt"/>
                        </a:rPr>
                        <a:t>Role / Organization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0000"/>
                  </a:ext>
                </a:extLst>
              </a:tr>
              <a:tr h="388698">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432">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432">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9065">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432">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432">
                <a:tc>
                  <a:txBody>
                    <a:bodyPr/>
                    <a:lstStyle/>
                    <a:p>
                      <a:r>
                        <a:rPr lang="pt-BR" sz="1100" b="1" dirty="0">
                          <a:solidFill>
                            <a:schemeClr val="tx1"/>
                          </a:solidFill>
                          <a:latin typeface="+mn-lt"/>
                        </a:rPr>
                        <a:t>[NAME]</a:t>
                      </a:r>
                      <a:endParaRPr lang="en-US" sz="1100" b="1" dirty="0">
                        <a:solidFill>
                          <a:schemeClr val="tx1"/>
                        </a:solidFill>
                        <a:latin typeface="+mn-lt"/>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432">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432">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364213032"/>
              </p:ext>
            </p:extLst>
          </p:nvPr>
        </p:nvGraphicFramePr>
        <p:xfrm>
          <a:off x="301149" y="4452477"/>
          <a:ext cx="10498030" cy="2129792"/>
        </p:xfrm>
        <a:graphic>
          <a:graphicData uri="http://schemas.openxmlformats.org/drawingml/2006/table">
            <a:tbl>
              <a:tblPr firstRow="1" bandRow="1">
                <a:tableStyleId>{7E9639D4-E3E2-4D34-9284-5A2195B3D0D7}</a:tableStyleId>
              </a:tblPr>
              <a:tblGrid>
                <a:gridCol w="4758531">
                  <a:extLst>
                    <a:ext uri="{9D8B030D-6E8A-4147-A177-3AD203B41FA5}">
                      <a16:colId xmlns:a16="http://schemas.microsoft.com/office/drawing/2014/main" val="20000"/>
                    </a:ext>
                  </a:extLst>
                </a:gridCol>
                <a:gridCol w="5739499">
                  <a:extLst>
                    <a:ext uri="{9D8B030D-6E8A-4147-A177-3AD203B41FA5}">
                      <a16:colId xmlns:a16="http://schemas.microsoft.com/office/drawing/2014/main" val="20001"/>
                    </a:ext>
                  </a:extLst>
                </a:gridCol>
              </a:tblGrid>
              <a:tr h="184922">
                <a:tc>
                  <a:txBody>
                    <a:bodyPr/>
                    <a:lstStyle/>
                    <a:p>
                      <a:pPr algn="ctr"/>
                      <a:r>
                        <a:rPr lang="en-US" sz="1200" dirty="0">
                          <a:latin typeface="+mn-lt"/>
                        </a:rPr>
                        <a:t>Stakeholders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ctr"/>
                      <a:r>
                        <a:rPr lang="en-US" sz="1200" dirty="0">
                          <a:latin typeface="+mn-lt"/>
                        </a:rPr>
                        <a:t>Role / Organization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0000"/>
                  </a:ext>
                </a:extLst>
              </a:tr>
              <a:tr h="287656">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7656">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7656">
                <a:tc>
                  <a:txBody>
                    <a:bodyPr/>
                    <a:lstStyle/>
                    <a:p>
                      <a:r>
                        <a:rPr lang="en-US" sz="1100" b="1" dirty="0">
                          <a:solidFill>
                            <a:schemeClr val="tx1"/>
                          </a:solidFill>
                          <a:latin typeface="+mn-lt"/>
                        </a:rPr>
                        <a:t>[NAME]</a:t>
                      </a:r>
                    </a:p>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7656">
                <a:tc>
                  <a:txBody>
                    <a:bodyPr/>
                    <a:lstStyle/>
                    <a:p>
                      <a:r>
                        <a:rPr lang="en-US" sz="1100" b="1" dirty="0">
                          <a:solidFill>
                            <a:schemeClr val="tx1"/>
                          </a:solidFill>
                          <a:latin typeface="+mn-lt"/>
                        </a:rPr>
                        <a:t>[NAME]</a:t>
                      </a:r>
                    </a:p>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p>
                      <a:r>
                        <a:rPr lang="en-US" sz="1100" b="0" dirty="0">
                          <a:solidFill>
                            <a:schemeClr val="tx1"/>
                          </a:solidFill>
                          <a:latin typeface="+mn-lt"/>
                        </a:rPr>
                        <a:t>[ROLE]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7656">
                <a:tc>
                  <a:txBody>
                    <a:bodyPr/>
                    <a:lstStyle/>
                    <a:p>
                      <a:r>
                        <a:rPr lang="en-US" sz="1100" b="1" dirty="0">
                          <a:solidFill>
                            <a:schemeClr val="tx1"/>
                          </a:solidFill>
                          <a:latin typeface="+mn-lt"/>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p>
                      <a:endParaRPr lang="en-US" sz="1100" b="0" dirty="0">
                        <a:solidFill>
                          <a:schemeClr val="tx1"/>
                        </a:solidFill>
                        <a:latin typeface="+mn-lt"/>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7" name="Rectangle 16"/>
          <p:cNvSpPr/>
          <p:nvPr/>
        </p:nvSpPr>
        <p:spPr>
          <a:xfrm>
            <a:off x="301150" y="4124959"/>
            <a:ext cx="10498028" cy="2640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1" dirty="0">
                <a:solidFill>
                  <a:prstClr val="white"/>
                </a:solidFill>
              </a:rPr>
              <a:t>IT Department Stakeholders</a:t>
            </a:r>
          </a:p>
        </p:txBody>
      </p:sp>
    </p:spTree>
    <p:extLst>
      <p:ext uri="{BB962C8B-B14F-4D97-AF65-F5344CB8AC3E}">
        <p14:creationId xmlns:p14="http://schemas.microsoft.com/office/powerpoint/2010/main" val="794653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Stakeholders Engaged (2/3)</a:t>
            </a:r>
          </a:p>
        </p:txBody>
      </p:sp>
      <p:graphicFrame>
        <p:nvGraphicFramePr>
          <p:cNvPr id="18" name="Table 17"/>
          <p:cNvGraphicFramePr>
            <a:graphicFrameLocks noGrp="1"/>
          </p:cNvGraphicFramePr>
          <p:nvPr>
            <p:extLst>
              <p:ext uri="{D42A27DB-BD31-4B8C-83A1-F6EECF244321}">
                <p14:modId xmlns:p14="http://schemas.microsoft.com/office/powerpoint/2010/main" val="3324651037"/>
              </p:ext>
            </p:extLst>
          </p:nvPr>
        </p:nvGraphicFramePr>
        <p:xfrm>
          <a:off x="394677" y="1397947"/>
          <a:ext cx="10498028" cy="5426997"/>
        </p:xfrm>
        <a:graphic>
          <a:graphicData uri="http://schemas.openxmlformats.org/drawingml/2006/table">
            <a:tbl>
              <a:tblPr firstRow="1" bandRow="1">
                <a:tableStyleId>{7E9639D4-E3E2-4D34-9284-5A2195B3D0D7}</a:tableStyleId>
              </a:tblPr>
              <a:tblGrid>
                <a:gridCol w="3952977">
                  <a:extLst>
                    <a:ext uri="{9D8B030D-6E8A-4147-A177-3AD203B41FA5}">
                      <a16:colId xmlns:a16="http://schemas.microsoft.com/office/drawing/2014/main" val="20000"/>
                    </a:ext>
                  </a:extLst>
                </a:gridCol>
                <a:gridCol w="4886500">
                  <a:extLst>
                    <a:ext uri="{9D8B030D-6E8A-4147-A177-3AD203B41FA5}">
                      <a16:colId xmlns:a16="http://schemas.microsoft.com/office/drawing/2014/main" val="20001"/>
                    </a:ext>
                  </a:extLst>
                </a:gridCol>
                <a:gridCol w="1658551">
                  <a:extLst>
                    <a:ext uri="{9D8B030D-6E8A-4147-A177-3AD203B41FA5}">
                      <a16:colId xmlns:a16="http://schemas.microsoft.com/office/drawing/2014/main" val="20002"/>
                    </a:ext>
                  </a:extLst>
                </a:gridCol>
              </a:tblGrid>
              <a:tr h="242418">
                <a:tc>
                  <a:txBody>
                    <a:bodyPr/>
                    <a:lstStyle/>
                    <a:p>
                      <a:pPr algn="ctr"/>
                      <a:r>
                        <a:rPr lang="en-US" sz="1100" dirty="0">
                          <a:latin typeface="+mn-lt"/>
                        </a:rPr>
                        <a:t>Stakeholders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mn-lt"/>
                        </a:rPr>
                        <a:t>Role / Organization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mn-lt"/>
                        </a:rPr>
                        <a:t>Business Division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0000"/>
                  </a:ext>
                </a:extLst>
              </a:tr>
              <a:tr h="311321">
                <a:tc>
                  <a:txBody>
                    <a:bodyPr/>
                    <a:lstStyle/>
                    <a:p>
                      <a:pPr marL="0" algn="l" defTabSz="914400" rtl="0" eaLnBrk="1" latinLnBrk="0" hangingPunct="1"/>
                      <a:r>
                        <a:rPr lang="en-US" sz="1100" b="1" kern="1200" dirty="0">
                          <a:solidFill>
                            <a:schemeClr val="tx1"/>
                          </a:solidFill>
                          <a:latin typeface="+mn-lt"/>
                          <a:ea typeface="+mn-ea"/>
                          <a:cs typeface="+mn-cs"/>
                        </a:rPr>
                        <a:t>[NAME]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dirty="0">
                          <a:solidFill>
                            <a:schemeClr val="tx1"/>
                          </a:solidFill>
                          <a:latin typeface="+mn-lt"/>
                        </a:rPr>
                        <a:t>[ROLE]</a:t>
                      </a:r>
                    </a:p>
                    <a:p>
                      <a:pPr marL="0" algn="l" defTabSz="914400" rtl="0" eaLnBrk="1" fontAlgn="b" latinLnBrk="0" hangingPunct="1"/>
                      <a:r>
                        <a:rPr lang="en-US" sz="1100" b="0" kern="1200" dirty="0">
                          <a:solidFill>
                            <a:schemeClr val="tx1"/>
                          </a:solidFill>
                          <a:latin typeface="+mn-lt"/>
                          <a:ea typeface="+mn-ea"/>
                          <a:cs typeface="+mn-cs"/>
                        </a:rPr>
                        <a:t>	</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Retail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2800">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Marketing</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9659">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mn-ea"/>
                          <a:cs typeface="+mn-cs"/>
                        </a:rPr>
                        <a:t>Marketing</a:t>
                      </a:r>
                    </a:p>
                    <a:p>
                      <a:pPr marL="0" algn="ctr" defTabSz="914400" rtl="0" eaLnBrk="1" fontAlgn="b" latinLnBrk="0" hangingPunct="1"/>
                      <a:endParaRPr lang="en-US" sz="1100" b="0" kern="1200" dirty="0">
                        <a:solidFill>
                          <a:schemeClr val="tx1"/>
                        </a:solidFill>
                        <a:latin typeface="+mn-lt"/>
                        <a:ea typeface="+mn-ea"/>
                        <a:cs typeface="+mn-cs"/>
                      </a:endParaRP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9659">
                <a:tc>
                  <a:txBody>
                    <a:bodyPr/>
                    <a:lstStyle/>
                    <a:p>
                      <a:pPr marL="0" algn="l" defTabSz="914400" rtl="0" eaLnBrk="1" fontAlgn="b" latinLnBrk="0" hangingPunct="1"/>
                      <a:r>
                        <a:rPr lang="nn-NO"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mn-ea"/>
                          <a:cs typeface="+mn-cs"/>
                        </a:rPr>
                        <a:t>Marketing</a:t>
                      </a:r>
                    </a:p>
                    <a:p>
                      <a:pPr marL="0" algn="ctr" defTabSz="914400" rtl="0" eaLnBrk="1" fontAlgn="b" latinLnBrk="0" hangingPunct="1"/>
                      <a:endParaRPr lang="nn-NO" sz="1100" b="0" kern="1200" dirty="0">
                        <a:solidFill>
                          <a:schemeClr val="tx1"/>
                        </a:solidFill>
                        <a:latin typeface="+mn-lt"/>
                        <a:ea typeface="+mn-ea"/>
                        <a:cs typeface="+mn-cs"/>
                      </a:endParaRP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6827">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mn-ea"/>
                          <a:cs typeface="+mn-cs"/>
                        </a:rPr>
                        <a:t>Marketing</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Operations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Operations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Operations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42418">
                <a:tc>
                  <a:txBody>
                    <a:bodyPr/>
                    <a:lstStyle/>
                    <a:p>
                      <a:pPr marL="0" algn="l" defTabSz="914400" rtl="0" eaLnBrk="1" fontAlgn="b" latinLnBrk="0" hangingPunct="1"/>
                      <a:r>
                        <a:rPr lang="es-E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Commercial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Commercial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Commercial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sz="1100" b="0" kern="1200" dirty="0">
                          <a:solidFill>
                            <a:schemeClr val="tx1"/>
                          </a:solidFill>
                          <a:latin typeface="+mn-lt"/>
                          <a:ea typeface="+mn-ea"/>
                          <a:cs typeface="+mn-cs"/>
                        </a:rPr>
                        <a:t>Commercial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42418">
                <a:tc>
                  <a:txBody>
                    <a:bodyPr/>
                    <a:lstStyle/>
                    <a:p>
                      <a:pPr algn="l" fontAlgn="b"/>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Finance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42418">
                <a:tc>
                  <a:txBody>
                    <a:bodyPr/>
                    <a:lstStyle/>
                    <a:p>
                      <a:pPr algn="l" fontAlgn="b"/>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Finance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42418">
                <a:tc>
                  <a:txBody>
                    <a:bodyPr/>
                    <a:lstStyle/>
                    <a:p>
                      <a:pPr algn="l" fontAlgn="b"/>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Finance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242418">
                <a:tc>
                  <a:txBody>
                    <a:bodyPr/>
                    <a:lstStyle/>
                    <a:p>
                      <a:pPr algn="l" fontAlgn="b"/>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Human</a:t>
                      </a:r>
                      <a:r>
                        <a:rPr lang="en-US" sz="1100" b="0" baseline="0" dirty="0">
                          <a:solidFill>
                            <a:schemeClr val="tx1"/>
                          </a:solidFill>
                          <a:latin typeface="+mn-lt"/>
                        </a:rPr>
                        <a:t> capital</a:t>
                      </a:r>
                      <a:endParaRPr lang="en-US" sz="1100" b="0" dirty="0">
                        <a:solidFill>
                          <a:schemeClr val="tx1"/>
                        </a:solidFill>
                        <a:latin typeface="+mn-lt"/>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242418">
                <a:tc>
                  <a:txBody>
                    <a:bodyPr/>
                    <a:lstStyle/>
                    <a:p>
                      <a:pPr algn="l" fontAlgn="b"/>
                      <a:r>
                        <a:rPr lang="es-E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Human</a:t>
                      </a:r>
                      <a:r>
                        <a:rPr lang="en-US" sz="1100" b="0" baseline="0" dirty="0">
                          <a:solidFill>
                            <a:schemeClr val="tx1"/>
                          </a:solidFill>
                          <a:latin typeface="+mn-lt"/>
                        </a:rPr>
                        <a:t> capital</a:t>
                      </a:r>
                      <a:endParaRPr lang="en-US" sz="1100" b="0" dirty="0">
                        <a:solidFill>
                          <a:schemeClr val="tx1"/>
                        </a:solidFill>
                        <a:latin typeface="+mn-lt"/>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242418">
                <a:tc>
                  <a:txBody>
                    <a:bodyPr/>
                    <a:lstStyle/>
                    <a:p>
                      <a:pPr algn="l" fontAlgn="b"/>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Human</a:t>
                      </a:r>
                      <a:r>
                        <a:rPr lang="en-US" sz="1100" b="0" baseline="0" dirty="0">
                          <a:solidFill>
                            <a:schemeClr val="tx1"/>
                          </a:solidFill>
                          <a:latin typeface="+mn-lt"/>
                        </a:rPr>
                        <a:t> capital</a:t>
                      </a:r>
                      <a:endParaRPr lang="en-US" sz="1100" b="0" dirty="0">
                        <a:solidFill>
                          <a:schemeClr val="tx1"/>
                        </a:solidFill>
                        <a:latin typeface="+mn-lt"/>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242418">
                <a:tc>
                  <a:txBody>
                    <a:bodyPr/>
                    <a:lstStyle/>
                    <a:p>
                      <a:pPr algn="l" fontAlgn="b"/>
                      <a:r>
                        <a:rPr lang="pt-BR"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100" b="0" dirty="0">
                          <a:solidFill>
                            <a:schemeClr val="tx1"/>
                          </a:solidFill>
                          <a:latin typeface="+mn-lt"/>
                        </a:rPr>
                        <a:t>[ROLE]</a:t>
                      </a:r>
                    </a:p>
                  </a:txBody>
                  <a:tcPr marL="6350" marR="6350" marT="6350" marB="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Human</a:t>
                      </a:r>
                      <a:r>
                        <a:rPr lang="en-US" sz="1100" b="0" baseline="0" dirty="0">
                          <a:solidFill>
                            <a:schemeClr val="tx1"/>
                          </a:solidFill>
                          <a:latin typeface="+mn-lt"/>
                        </a:rPr>
                        <a:t> capital</a:t>
                      </a:r>
                      <a:endParaRPr lang="en-US" sz="1100" b="0" dirty="0">
                        <a:solidFill>
                          <a:schemeClr val="tx1"/>
                        </a:solidFill>
                        <a:latin typeface="+mn-lt"/>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bl>
          </a:graphicData>
        </a:graphic>
      </p:graphicFrame>
      <p:sp>
        <p:nvSpPr>
          <p:cNvPr id="19" name="Rectangle 18"/>
          <p:cNvSpPr/>
          <p:nvPr/>
        </p:nvSpPr>
        <p:spPr>
          <a:xfrm>
            <a:off x="394676" y="1105765"/>
            <a:ext cx="10498028" cy="2640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1" dirty="0">
                <a:solidFill>
                  <a:prstClr val="white"/>
                </a:solidFill>
              </a:rPr>
              <a:t>IT Department Stakeholders</a:t>
            </a:r>
          </a:p>
        </p:txBody>
      </p:sp>
    </p:spTree>
    <p:extLst>
      <p:ext uri="{BB962C8B-B14F-4D97-AF65-F5344CB8AC3E}">
        <p14:creationId xmlns:p14="http://schemas.microsoft.com/office/powerpoint/2010/main" val="1026642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Stakeholders Engaged (3/3)</a:t>
            </a:r>
          </a:p>
        </p:txBody>
      </p:sp>
      <p:graphicFrame>
        <p:nvGraphicFramePr>
          <p:cNvPr id="18" name="Table 17"/>
          <p:cNvGraphicFramePr>
            <a:graphicFrameLocks noGrp="1"/>
          </p:cNvGraphicFramePr>
          <p:nvPr>
            <p:extLst>
              <p:ext uri="{D42A27DB-BD31-4B8C-83A1-F6EECF244321}">
                <p14:modId xmlns:p14="http://schemas.microsoft.com/office/powerpoint/2010/main" val="3821817782"/>
              </p:ext>
            </p:extLst>
          </p:nvPr>
        </p:nvGraphicFramePr>
        <p:xfrm>
          <a:off x="756183" y="2488837"/>
          <a:ext cx="10498028" cy="2315161"/>
        </p:xfrm>
        <a:graphic>
          <a:graphicData uri="http://schemas.openxmlformats.org/drawingml/2006/table">
            <a:tbl>
              <a:tblPr firstRow="1" bandRow="1">
                <a:tableStyleId>{7E9639D4-E3E2-4D34-9284-5A2195B3D0D7}</a:tableStyleId>
              </a:tblPr>
              <a:tblGrid>
                <a:gridCol w="3952977">
                  <a:extLst>
                    <a:ext uri="{9D8B030D-6E8A-4147-A177-3AD203B41FA5}">
                      <a16:colId xmlns:a16="http://schemas.microsoft.com/office/drawing/2014/main" val="20000"/>
                    </a:ext>
                  </a:extLst>
                </a:gridCol>
                <a:gridCol w="3669526">
                  <a:extLst>
                    <a:ext uri="{9D8B030D-6E8A-4147-A177-3AD203B41FA5}">
                      <a16:colId xmlns:a16="http://schemas.microsoft.com/office/drawing/2014/main" val="20001"/>
                    </a:ext>
                  </a:extLst>
                </a:gridCol>
                <a:gridCol w="2875525">
                  <a:extLst>
                    <a:ext uri="{9D8B030D-6E8A-4147-A177-3AD203B41FA5}">
                      <a16:colId xmlns:a16="http://schemas.microsoft.com/office/drawing/2014/main" val="20002"/>
                    </a:ext>
                  </a:extLst>
                </a:gridCol>
              </a:tblGrid>
              <a:tr h="242418">
                <a:tc>
                  <a:txBody>
                    <a:bodyPr/>
                    <a:lstStyle/>
                    <a:p>
                      <a:pPr algn="ctr"/>
                      <a:r>
                        <a:rPr lang="en-US" sz="1100" dirty="0">
                          <a:latin typeface="+mn-lt"/>
                        </a:rPr>
                        <a:t>Stakeholders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mn-lt"/>
                        </a:rPr>
                        <a:t>Role / Organization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mn-lt"/>
                        </a:rPr>
                        <a:t>Business Division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0000"/>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l"/>
                      <a:r>
                        <a:rPr lang="en-US" sz="1100" b="0" dirty="0">
                          <a:solidFill>
                            <a:schemeClr val="tx1"/>
                          </a:solidFill>
                          <a:latin typeface="+mn-lt"/>
                        </a:rPr>
                        <a:t>General</a:t>
                      </a:r>
                      <a:r>
                        <a:rPr lang="en-US" sz="1100" b="0" baseline="0" dirty="0">
                          <a:solidFill>
                            <a:schemeClr val="tx1"/>
                          </a:solidFill>
                          <a:latin typeface="+mn-lt"/>
                        </a:rPr>
                        <a:t> Services</a:t>
                      </a:r>
                      <a:endParaRPr lang="en-US" sz="1100" b="0" dirty="0">
                        <a:solidFill>
                          <a:schemeClr val="tx1"/>
                        </a:solidFill>
                        <a:latin typeface="+mn-lt"/>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1543">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US" sz="1100" b="0" kern="1200" dirty="0">
                          <a:solidFill>
                            <a:schemeClr val="tx1"/>
                          </a:solidFill>
                          <a:latin typeface="+mn-lt"/>
                          <a:ea typeface="+mn-ea"/>
                          <a:cs typeface="+mn-cs"/>
                        </a:rPr>
                        <a:t>  Procurement</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2800">
                <a:tc>
                  <a:txBody>
                    <a:bodyPr/>
                    <a:lstStyle/>
                    <a:p>
                      <a:pPr marL="0" algn="l" defTabSz="914400" rtl="0" eaLnBrk="1" fontAlgn="b" latinLnBrk="0" hangingPunct="1"/>
                      <a:r>
                        <a:rPr lang="en-US" sz="1100" b="1" kern="1200" dirty="0">
                          <a:solidFill>
                            <a:schemeClr val="tx1"/>
                          </a:solidFill>
                          <a:latin typeface="+mn-lt"/>
                          <a:ea typeface="+mn-ea"/>
                          <a:cs typeface="+mn-cs"/>
                        </a:rPr>
                        <a:t>  [NAME] </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US" sz="1100" b="0" kern="1200" dirty="0">
                          <a:solidFill>
                            <a:schemeClr val="tx1"/>
                          </a:solidFill>
                          <a:latin typeface="+mn-lt"/>
                          <a:ea typeface="+mn-ea"/>
                          <a:cs typeface="+mn-cs"/>
                        </a:rPr>
                        <a:t>  Engineering &amp; Projects </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9659">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US" sz="1100" b="0" kern="1200" dirty="0">
                          <a:solidFill>
                            <a:schemeClr val="tx1"/>
                          </a:solidFill>
                          <a:latin typeface="+mn-lt"/>
                          <a:ea typeface="+mn-ea"/>
                          <a:cs typeface="+mn-cs"/>
                        </a:rPr>
                        <a:t>  Enterprise Risk &amp; Quality Management</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9659">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US" sz="1100" b="0" kern="1200" dirty="0">
                          <a:solidFill>
                            <a:schemeClr val="tx1"/>
                          </a:solidFill>
                          <a:latin typeface="+mn-lt"/>
                          <a:ea typeface="+mn-ea"/>
                          <a:cs typeface="+mn-cs"/>
                        </a:rPr>
                        <a:t>  Health, Safety, Security &amp; Environment</a:t>
                      </a:r>
                      <a:endParaRPr lang="nn-NO" sz="1100" b="0" kern="1200" dirty="0">
                        <a:solidFill>
                          <a:schemeClr val="tx1"/>
                        </a:solidFill>
                        <a:latin typeface="+mn-lt"/>
                        <a:ea typeface="+mn-ea"/>
                        <a:cs typeface="+mn-cs"/>
                      </a:endParaRP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2800">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mn-ea"/>
                          <a:cs typeface="+mn-cs"/>
                        </a:rPr>
                        <a:t>  Health, Safety, Security &amp; Environment</a:t>
                      </a:r>
                      <a:endParaRPr lang="nn-NO" sz="1100" b="0" kern="1200" dirty="0">
                        <a:solidFill>
                          <a:schemeClr val="tx1"/>
                        </a:solidFill>
                        <a:latin typeface="+mn-lt"/>
                        <a:ea typeface="+mn-ea"/>
                        <a:cs typeface="+mn-cs"/>
                      </a:endParaRP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mn-ea"/>
                          <a:cs typeface="+mn-cs"/>
                        </a:rPr>
                        <a:t>Health, Safety, Security &amp; Environment</a:t>
                      </a:r>
                      <a:endParaRPr lang="nn-NO" sz="1100" b="0" kern="1200" dirty="0">
                        <a:solidFill>
                          <a:schemeClr val="tx1"/>
                        </a:solidFill>
                        <a:latin typeface="+mn-lt"/>
                        <a:ea typeface="+mn-ea"/>
                        <a:cs typeface="+mn-cs"/>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42418">
                <a:tc>
                  <a:txBody>
                    <a:bodyPr/>
                    <a:lstStyle/>
                    <a:p>
                      <a:pPr marL="0" algn="l" defTabSz="914400" rtl="0" eaLnBrk="1" fontAlgn="b" latinLnBrk="0" hangingPunct="1"/>
                      <a:r>
                        <a:rPr lang="en-US" sz="1100" b="1" kern="1200" dirty="0">
                          <a:solidFill>
                            <a:schemeClr val="tx1"/>
                          </a:solidFill>
                          <a:latin typeface="+mn-lt"/>
                          <a:ea typeface="+mn-ea"/>
                          <a:cs typeface="+mn-cs"/>
                        </a:rPr>
                        <a:t>  [NAME]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r>
                        <a:rPr lang="en-US" sz="1000" b="0" dirty="0">
                          <a:solidFill>
                            <a:schemeClr val="tx1"/>
                          </a:solidFill>
                          <a:latin typeface="+mn-lt"/>
                        </a:rPr>
                        <a:t>[ROLE]</a:t>
                      </a:r>
                    </a:p>
                  </a:txBody>
                  <a:tcPr marL="6350" marR="6350" marT="635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mn-ea"/>
                          <a:cs typeface="+mn-cs"/>
                        </a:rPr>
                        <a:t>Health, Safety, Security &amp; Environment</a:t>
                      </a:r>
                      <a:endParaRPr lang="nn-NO" sz="1100" b="0" kern="1200" dirty="0">
                        <a:solidFill>
                          <a:schemeClr val="tx1"/>
                        </a:solidFill>
                        <a:latin typeface="+mn-lt"/>
                        <a:ea typeface="+mn-ea"/>
                        <a:cs typeface="+mn-cs"/>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9" name="Rectangle 18"/>
          <p:cNvSpPr/>
          <p:nvPr/>
        </p:nvSpPr>
        <p:spPr>
          <a:xfrm>
            <a:off x="756183" y="2214623"/>
            <a:ext cx="10498028" cy="2640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1" dirty="0">
                <a:solidFill>
                  <a:prstClr val="white"/>
                </a:solidFill>
              </a:rPr>
              <a:t>IT Department Stakeholders</a:t>
            </a:r>
          </a:p>
        </p:txBody>
      </p:sp>
    </p:spTree>
    <p:extLst>
      <p:ext uri="{BB962C8B-B14F-4D97-AF65-F5344CB8AC3E}">
        <p14:creationId xmlns:p14="http://schemas.microsoft.com/office/powerpoint/2010/main" val="3006618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ITD Satisfaction survey results (1/4)</a:t>
            </a:r>
            <a:endParaRPr lang="en-GB" sz="3200" dirty="0"/>
          </a:p>
        </p:txBody>
      </p:sp>
      <p:graphicFrame>
        <p:nvGraphicFramePr>
          <p:cNvPr id="10" name="Chart 9"/>
          <p:cNvGraphicFramePr>
            <a:graphicFrameLocks/>
          </p:cNvGraphicFramePr>
          <p:nvPr>
            <p:extLst>
              <p:ext uri="{D42A27DB-BD31-4B8C-83A1-F6EECF244321}">
                <p14:modId xmlns:p14="http://schemas.microsoft.com/office/powerpoint/2010/main" val="2679429701"/>
              </p:ext>
            </p:extLst>
          </p:nvPr>
        </p:nvGraphicFramePr>
        <p:xfrm>
          <a:off x="348343" y="1913705"/>
          <a:ext cx="6781799" cy="4506686"/>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p:cNvSpPr/>
          <p:nvPr/>
        </p:nvSpPr>
        <p:spPr>
          <a:xfrm>
            <a:off x="517047" y="1053727"/>
            <a:ext cx="10081144"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Aft>
                <a:spcPts val="600"/>
              </a:spcAft>
            </a:pPr>
            <a:r>
              <a:rPr lang="en-US">
                <a:solidFill>
                  <a:schemeClr val="tx1">
                    <a:lumMod val="85000"/>
                    <a:lumOff val="15000"/>
                  </a:schemeClr>
                </a:solidFill>
              </a:rPr>
              <a:t>Business Divisions recognize that IT Divison is providing a </a:t>
            </a:r>
            <a:r>
              <a:rPr lang="en-US" b="1">
                <a:solidFill>
                  <a:schemeClr val="tx1">
                    <a:lumMod val="85000"/>
                    <a:lumOff val="15000"/>
                  </a:schemeClr>
                </a:solidFill>
              </a:rPr>
              <a:t>very good technical service &amp; support:</a:t>
            </a:r>
            <a:endParaRPr lang="en-GB" dirty="0">
              <a:solidFill>
                <a:schemeClr val="tx1">
                  <a:lumMod val="85000"/>
                  <a:lumOff val="15000"/>
                </a:schemeClr>
              </a:solidFill>
            </a:endParaRPr>
          </a:p>
        </p:txBody>
      </p:sp>
      <p:graphicFrame>
        <p:nvGraphicFramePr>
          <p:cNvPr id="7" name="Chart 6"/>
          <p:cNvGraphicFramePr>
            <a:graphicFrameLocks/>
          </p:cNvGraphicFramePr>
          <p:nvPr>
            <p:extLst>
              <p:ext uri="{D42A27DB-BD31-4B8C-83A1-F6EECF244321}">
                <p14:modId xmlns:p14="http://schemas.microsoft.com/office/powerpoint/2010/main" val="2291259664"/>
              </p:ext>
            </p:extLst>
          </p:nvPr>
        </p:nvGraphicFramePr>
        <p:xfrm>
          <a:off x="5874223" y="2217227"/>
          <a:ext cx="5944607" cy="46407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92278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ITD Satisfaction survey results (2/4)</a:t>
            </a:r>
            <a:endParaRPr lang="en-GB" sz="3200" dirty="0"/>
          </a:p>
        </p:txBody>
      </p:sp>
      <p:sp>
        <p:nvSpPr>
          <p:cNvPr id="12" name="Rechteck 13"/>
          <p:cNvSpPr/>
          <p:nvPr/>
        </p:nvSpPr>
        <p:spPr bwMode="auto">
          <a:xfrm>
            <a:off x="517048" y="933612"/>
            <a:ext cx="3657600" cy="344020"/>
          </a:xfrm>
          <a:prstGeom prst="rect">
            <a:avLst/>
          </a:prstGeom>
          <a:noFill/>
          <a:ln w="9525">
            <a:noFill/>
            <a:miter lim="800000"/>
            <a:headEnd/>
            <a:tailEnd/>
          </a:ln>
          <a:effectLst/>
        </p:spPr>
        <p:txBody>
          <a:bodyPr wrap="none" anchor="ctr" anchorCtr="1"/>
          <a:lstStyle/>
          <a:p>
            <a:pPr>
              <a:spcAft>
                <a:spcPts val="600"/>
              </a:spcAft>
            </a:pPr>
            <a:r>
              <a:rPr lang="en-US" sz="2000" b="1">
                <a:solidFill>
                  <a:schemeClr val="accent2"/>
                </a:solidFill>
              </a:rPr>
              <a:t>1. Technology Services:</a:t>
            </a:r>
            <a:endParaRPr lang="en-GB" sz="2000" b="1" dirty="0">
              <a:solidFill>
                <a:schemeClr val="accent2"/>
              </a:solidFill>
            </a:endParaRPr>
          </a:p>
        </p:txBody>
      </p:sp>
      <p:graphicFrame>
        <p:nvGraphicFramePr>
          <p:cNvPr id="19" name="Chart 18"/>
          <p:cNvGraphicFramePr>
            <a:graphicFrameLocks/>
          </p:cNvGraphicFramePr>
          <p:nvPr>
            <p:extLst>
              <p:ext uri="{D42A27DB-BD31-4B8C-83A1-F6EECF244321}">
                <p14:modId xmlns:p14="http://schemas.microsoft.com/office/powerpoint/2010/main" val="4191407401"/>
              </p:ext>
            </p:extLst>
          </p:nvPr>
        </p:nvGraphicFramePr>
        <p:xfrm>
          <a:off x="6920236" y="3490101"/>
          <a:ext cx="4803678"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p:cNvGraphicFramePr>
            <a:graphicFrameLocks/>
          </p:cNvGraphicFramePr>
          <p:nvPr>
            <p:extLst>
              <p:ext uri="{D42A27DB-BD31-4B8C-83A1-F6EECF244321}">
                <p14:modId xmlns:p14="http://schemas.microsoft.com/office/powerpoint/2010/main" val="1865566344"/>
              </p:ext>
            </p:extLst>
          </p:nvPr>
        </p:nvGraphicFramePr>
        <p:xfrm>
          <a:off x="326571" y="1692303"/>
          <a:ext cx="8312150" cy="50995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665463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ITD Satisfaction survey results (3/4)</a:t>
            </a:r>
            <a:endParaRPr lang="en-GB" sz="3200" dirty="0"/>
          </a:p>
        </p:txBody>
      </p:sp>
      <p:sp>
        <p:nvSpPr>
          <p:cNvPr id="12" name="Rechteck 13"/>
          <p:cNvSpPr/>
          <p:nvPr/>
        </p:nvSpPr>
        <p:spPr bwMode="auto">
          <a:xfrm>
            <a:off x="517048" y="933612"/>
            <a:ext cx="3657600" cy="344020"/>
          </a:xfrm>
          <a:prstGeom prst="rect">
            <a:avLst/>
          </a:prstGeom>
          <a:noFill/>
          <a:ln w="9525">
            <a:noFill/>
            <a:miter lim="800000"/>
            <a:headEnd/>
            <a:tailEnd/>
          </a:ln>
          <a:effectLst/>
        </p:spPr>
        <p:txBody>
          <a:bodyPr wrap="none" anchor="ctr" anchorCtr="1"/>
          <a:lstStyle/>
          <a:p>
            <a:pPr>
              <a:spcAft>
                <a:spcPts val="600"/>
              </a:spcAft>
            </a:pPr>
            <a:r>
              <a:rPr lang="en-US" sz="2000" b="1">
                <a:solidFill>
                  <a:schemeClr val="accent2"/>
                </a:solidFill>
              </a:rPr>
              <a:t>2. Technology Operations:</a:t>
            </a:r>
            <a:endParaRPr lang="en-GB" sz="2000" b="1" dirty="0">
              <a:solidFill>
                <a:schemeClr val="accent2"/>
              </a:solidFill>
            </a:endParaRPr>
          </a:p>
        </p:txBody>
      </p:sp>
      <p:graphicFrame>
        <p:nvGraphicFramePr>
          <p:cNvPr id="6" name="Chart 5"/>
          <p:cNvGraphicFramePr>
            <a:graphicFrameLocks/>
          </p:cNvGraphicFramePr>
          <p:nvPr>
            <p:extLst>
              <p:ext uri="{D42A27DB-BD31-4B8C-83A1-F6EECF244321}">
                <p14:modId xmlns:p14="http://schemas.microsoft.com/office/powerpoint/2010/main" val="1551355074"/>
              </p:ext>
            </p:extLst>
          </p:nvPr>
        </p:nvGraphicFramePr>
        <p:xfrm>
          <a:off x="0" y="2144485"/>
          <a:ext cx="6411686" cy="369025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p:cNvGraphicFramePr>
            <a:graphicFrameLocks/>
          </p:cNvGraphicFramePr>
          <p:nvPr>
            <p:extLst>
              <p:ext uri="{D42A27DB-BD31-4B8C-83A1-F6EECF244321}">
                <p14:modId xmlns:p14="http://schemas.microsoft.com/office/powerpoint/2010/main" val="3835595192"/>
              </p:ext>
            </p:extLst>
          </p:nvPr>
        </p:nvGraphicFramePr>
        <p:xfrm>
          <a:off x="5277756" y="2144485"/>
          <a:ext cx="6086929" cy="37827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70688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14"/>
          <p:cNvSpPr txBox="1">
            <a:spLocks/>
          </p:cNvSpPr>
          <p:nvPr/>
        </p:nvSpPr>
        <p:spPr>
          <a:xfrm>
            <a:off x="517048" y="346931"/>
            <a:ext cx="10282131" cy="758691"/>
          </a:xfrm>
          <a:prstGeom prst="rect">
            <a:avLst/>
          </a:prstGeom>
        </p:spPr>
        <p:txBody>
          <a:bodyPr vert="horz" rIns="0" anchor="t">
            <a:noAutofit/>
          </a:bodyPr>
          <a:lstStyle>
            <a:defPPr>
              <a:defRPr lang="en-US"/>
            </a:defPPr>
            <a:lvl1pPr indent="0">
              <a:lnSpc>
                <a:spcPct val="80000"/>
              </a:lnSpc>
              <a:spcBef>
                <a:spcPct val="0"/>
              </a:spcBef>
              <a:buFont typeface="Arial" panose="020B0604020202020204" pitchFamily="34" charset="0"/>
              <a:buNone/>
              <a:defRPr sz="4000" b="1" i="0" cap="all" baseline="0">
                <a:solidFill>
                  <a:schemeClr val="tx2"/>
                </a:solidFill>
                <a:latin typeface="Arial"/>
                <a:cs typeface="Arial"/>
              </a:defRPr>
            </a:lvl1pPr>
            <a:lvl2pPr marL="544247" indent="0">
              <a:lnSpc>
                <a:spcPct val="90000"/>
              </a:lnSpc>
              <a:spcBef>
                <a:spcPts val="500"/>
              </a:spcBef>
              <a:buFont typeface="Arial" panose="020B0604020202020204" pitchFamily="34" charset="0"/>
              <a:buNone/>
              <a:defRPr sz="3000" b="1" i="0">
                <a:latin typeface="Arial"/>
                <a:cs typeface="Arial"/>
              </a:defRPr>
            </a:lvl2pPr>
            <a:lvl3pPr marL="1088493" indent="0">
              <a:lnSpc>
                <a:spcPct val="90000"/>
              </a:lnSpc>
              <a:spcBef>
                <a:spcPts val="500"/>
              </a:spcBef>
              <a:buFont typeface="Arial" panose="020B0604020202020204" pitchFamily="34" charset="0"/>
              <a:buNone/>
              <a:defRPr sz="3000" b="1" i="0">
                <a:latin typeface="Arial"/>
                <a:cs typeface="Arial"/>
              </a:defRPr>
            </a:lvl3pPr>
            <a:lvl4pPr marL="1632740" indent="0">
              <a:lnSpc>
                <a:spcPct val="90000"/>
              </a:lnSpc>
              <a:spcBef>
                <a:spcPts val="500"/>
              </a:spcBef>
              <a:buFont typeface="Arial" panose="020B0604020202020204" pitchFamily="34" charset="0"/>
              <a:buNone/>
              <a:defRPr sz="3000" b="1" i="0">
                <a:latin typeface="Arial"/>
                <a:cs typeface="Arial"/>
              </a:defRPr>
            </a:lvl4pPr>
            <a:lvl5pPr marL="2176987" indent="0">
              <a:lnSpc>
                <a:spcPct val="90000"/>
              </a:lnSpc>
              <a:spcBef>
                <a:spcPts val="500"/>
              </a:spcBef>
              <a:buFont typeface="Arial" panose="020B0604020202020204" pitchFamily="34" charset="0"/>
              <a:buNone/>
              <a:defRPr sz="3000" b="1" i="0">
                <a:latin typeface="Arial"/>
                <a:cs typeface="Aria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200" dirty="0"/>
              <a:t>ITD Satisfaction survey results (4/4)</a:t>
            </a:r>
            <a:endParaRPr lang="en-GB" sz="3200" dirty="0"/>
          </a:p>
        </p:txBody>
      </p:sp>
      <p:sp>
        <p:nvSpPr>
          <p:cNvPr id="12" name="Rechteck 13"/>
          <p:cNvSpPr/>
          <p:nvPr/>
        </p:nvSpPr>
        <p:spPr bwMode="auto">
          <a:xfrm>
            <a:off x="517048" y="933612"/>
            <a:ext cx="3657600" cy="344020"/>
          </a:xfrm>
          <a:prstGeom prst="rect">
            <a:avLst/>
          </a:prstGeom>
          <a:noFill/>
          <a:ln w="9525">
            <a:noFill/>
            <a:miter lim="800000"/>
            <a:headEnd/>
            <a:tailEnd/>
          </a:ln>
          <a:effectLst/>
        </p:spPr>
        <p:txBody>
          <a:bodyPr wrap="none" anchor="ctr" anchorCtr="1"/>
          <a:lstStyle/>
          <a:p>
            <a:pPr>
              <a:spcAft>
                <a:spcPts val="600"/>
              </a:spcAft>
            </a:pPr>
            <a:r>
              <a:rPr lang="en-US" sz="2000" b="1">
                <a:solidFill>
                  <a:schemeClr val="accent2"/>
                </a:solidFill>
              </a:rPr>
              <a:t>3. Technology Solutions:</a:t>
            </a:r>
            <a:endParaRPr lang="en-GB" sz="2000" b="1" dirty="0">
              <a:solidFill>
                <a:schemeClr val="accent2"/>
              </a:solidFill>
            </a:endParaRPr>
          </a:p>
        </p:txBody>
      </p:sp>
      <p:graphicFrame>
        <p:nvGraphicFramePr>
          <p:cNvPr id="5" name="Chart 4"/>
          <p:cNvGraphicFramePr>
            <a:graphicFrameLocks/>
          </p:cNvGraphicFramePr>
          <p:nvPr>
            <p:extLst>
              <p:ext uri="{D42A27DB-BD31-4B8C-83A1-F6EECF244321}">
                <p14:modId xmlns:p14="http://schemas.microsoft.com/office/powerpoint/2010/main" val="2495146132"/>
              </p:ext>
            </p:extLst>
          </p:nvPr>
        </p:nvGraphicFramePr>
        <p:xfrm>
          <a:off x="-759733" y="2095953"/>
          <a:ext cx="8312150" cy="29273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a:graphicFrameLocks/>
          </p:cNvGraphicFramePr>
          <p:nvPr>
            <p:extLst>
              <p:ext uri="{D42A27DB-BD31-4B8C-83A1-F6EECF244321}">
                <p14:modId xmlns:p14="http://schemas.microsoft.com/office/powerpoint/2010/main" val="1484288978"/>
              </p:ext>
            </p:extLst>
          </p:nvPr>
        </p:nvGraphicFramePr>
        <p:xfrm>
          <a:off x="5312229" y="3181122"/>
          <a:ext cx="5390242" cy="368436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82176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CUSTOMLAYOUT" val="F"/>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4LS0Gzx5iUyFFeFHEh24a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_.AwHeACjEevGRc4Xh1H6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UXdI74q1i0OvbYo6P2Voe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mURUvuu2Rf.7GA5As7keYA"/>
</p:tagLst>
</file>

<file path=ppt/tags/tag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Un3sU6PJyEWsrT7rIHSCl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hyyKqm54ok2tN7qj7KaNs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Fs3qDE6rEKPDFcFo.wYX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UKu2h1yatEaxI2j9KsQ1h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msj7yBGZ3kyb8nE4jUj.z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ThkfjYUzdUO4r19Ebvmf4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ruKiGVs44EWwpPRvXweLt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J0yGjDOgK0SzSBi4T_2yj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4LS0Gzx5iUyFFeFHEh24a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_.AwHeACjEevGRc4Xh1H6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UXdI74q1i0OvbYo6P2Voe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Ir6VUUO28E.VAeoU8YXip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g0bYUk7dnEWC9Mal3qibF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2.Ueda8CpUmQM8DYHfNVV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7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8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DNOC Theme">
  <a:themeElements>
    <a:clrScheme name="ADNOC Color theme">
      <a:dk1>
        <a:sysClr val="windowText" lastClr="000000"/>
      </a:dk1>
      <a:lt1>
        <a:sysClr val="window" lastClr="FFFFFF"/>
      </a:lt1>
      <a:dk2>
        <a:srgbClr val="1859A9"/>
      </a:dk2>
      <a:lt2>
        <a:srgbClr val="E9E8E6"/>
      </a:lt2>
      <a:accent1>
        <a:srgbClr val="1E3B6B"/>
      </a:accent1>
      <a:accent2>
        <a:srgbClr val="1859A9"/>
      </a:accent2>
      <a:accent3>
        <a:srgbClr val="0773D7"/>
      </a:accent3>
      <a:accent4>
        <a:srgbClr val="4D5156"/>
      </a:accent4>
      <a:accent5>
        <a:srgbClr val="9D9FA0"/>
      </a:accent5>
      <a:accent6>
        <a:srgbClr val="D4D2CF"/>
      </a:accent6>
      <a:hlink>
        <a:srgbClr val="1E3B6B"/>
      </a:hlink>
      <a:folHlink>
        <a:srgbClr val="9D9FA0"/>
      </a:folHlink>
    </a:clrScheme>
    <a:fontScheme name="ADNOC font theme">
      <a:majorFont>
        <a:latin typeface="Arial"/>
        <a:ea typeface="SimHei"/>
        <a:cs typeface="Arial Unicode MS"/>
      </a:majorFont>
      <a:minorFont>
        <a:latin typeface="Arial"/>
        <a:ea typeface="SimHei"/>
        <a:cs typeface="Arial Unicode M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spcBef>
            <a:spcPts val="800"/>
          </a:spcBef>
          <a:defRPr sz="1600" dirty="0" err="1" smtClean="0">
            <a:solidFill>
              <a:schemeClr val="accent4"/>
            </a:solidFill>
          </a:defRPr>
        </a:defPPr>
      </a:lstStyle>
    </a:txDef>
  </a:objectDefaults>
  <a:extraClrSchemeLst/>
  <a:custClrLst>
    <a:custClr name="Alert Green">
      <a:srgbClr val="109647"/>
    </a:custClr>
    <a:custClr name="Green">
      <a:srgbClr val="00754A"/>
    </a:custClr>
    <a:custClr name="Dark Turquoise">
      <a:srgbClr val="005871"/>
    </a:custClr>
    <a:custClr name="Purple">
      <a:srgbClr val="291446"/>
    </a:custClr>
    <a:custClr name="Bright Orange">
      <a:srgbClr val="FAA22C"/>
    </a:custClr>
    <a:custClr name="Orange">
      <a:srgbClr val="EE7623"/>
    </a:custClr>
    <a:custClr name="Bright Yellow">
      <a:srgbClr val="FCE300"/>
    </a:custClr>
    <a:custClr name="Yellow">
      <a:srgbClr val="FED10A"/>
    </a:custClr>
    <a:custClr name="Bright Red">
      <a:srgbClr val="E32726"/>
    </a:custClr>
    <a:custClr name="Red">
      <a:srgbClr val="A9343A"/>
    </a:custClr>
  </a:custClrLst>
  <a:extLst>
    <a:ext uri="{05A4C25C-085E-4340-85A3-A5531E510DB2}">
      <thm15:themeFamily xmlns:thm15="http://schemas.microsoft.com/office/thememl/2012/main" name="ADNOC PowerPoint template.potx" id="{A63E13D5-D98E-48BC-AE9B-176188817045}" vid="{AD06FCF1-D3D5-4D4E-9C8F-8675E131B3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Y light print">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Custom 1">
    <a:majorFont>
      <a:latin typeface="EYInterstate"/>
      <a:ea typeface=""/>
      <a:cs typeface=""/>
    </a:majorFont>
    <a:minorFont>
      <a:latin typeface="EYInterstat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EY light print">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Custom 1">
    <a:majorFont>
      <a:latin typeface="EYInterstate"/>
      <a:ea typeface=""/>
      <a:cs typeface=""/>
    </a:majorFont>
    <a:minorFont>
      <a:latin typeface="EYInterstat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EY light print">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Custom 1">
    <a:majorFont>
      <a:latin typeface="EYInterstate"/>
      <a:ea typeface=""/>
      <a:cs typeface=""/>
    </a:majorFont>
    <a:minorFont>
      <a:latin typeface="EYInterstat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2432CD3F16D5A4EBFE45CD3A0C7345B" ma:contentTypeVersion="4" ma:contentTypeDescription="Create a new document." ma:contentTypeScope="" ma:versionID="3e3d1ebe2f83c81f9f61d6055c7aaafe">
  <xsd:schema xmlns:xsd="http://www.w3.org/2001/XMLSchema" xmlns:xs="http://www.w3.org/2001/XMLSchema" xmlns:p="http://schemas.microsoft.com/office/2006/metadata/properties" xmlns:ns2="9a470b6d-df15-4a84-8fd9-88645cdbb463" targetNamespace="http://schemas.microsoft.com/office/2006/metadata/properties" ma:root="true" ma:fieldsID="bb418b75bbe8f7709f364e404fc34abd" ns2:_="">
    <xsd:import namespace="9a470b6d-df15-4a84-8fd9-88645cdbb4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470b6d-df15-4a84-8fd9-88645cdbb4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0FD9D2-0C7B-4263-AB96-296077E0F498}">
  <ds:schemaRefs>
    <ds:schemaRef ds:uri="http://schemas.microsoft.com/office/2006/metadata/properties"/>
    <ds:schemaRef ds:uri="http://schemas.microsoft.com/office/infopath/2007/PartnerControls"/>
    <ds:schemaRef ds:uri="dfa7a12e-72ae-44ac-bcfc-b9a95562133d"/>
    <ds:schemaRef ds:uri="74c7ded8-e392-4a1b-adf9-534ab32d6623"/>
  </ds:schemaRefs>
</ds:datastoreItem>
</file>

<file path=customXml/itemProps2.xml><?xml version="1.0" encoding="utf-8"?>
<ds:datastoreItem xmlns:ds="http://schemas.openxmlformats.org/officeDocument/2006/customXml" ds:itemID="{9CDAB6EB-597A-4708-93C5-5B53881163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470b6d-df15-4a84-8fd9-88645cdbb4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885CB9-C5E6-4F55-B29C-7529FAF9E50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36624</TotalTime>
  <Words>6435</Words>
  <Application>Microsoft Office PowerPoint</Application>
  <PresentationFormat>Widescreen</PresentationFormat>
  <Paragraphs>1223</Paragraphs>
  <Slides>46</Slides>
  <Notes>15</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ADNOC Theme</vt:lpstr>
      <vt:lpstr>Client distribution – IT Division  technology strategy (2019-2020)</vt:lpstr>
      <vt:lpstr>PowerPoint Presentation</vt:lpstr>
      <vt:lpstr>PowerPoint Presentation</vt:lpstr>
      <vt:lpstr>PowerPoint Presentation</vt:lpstr>
      <vt:lpstr>Client Distribution Focus Areas for 2019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Dragos Petre</dc:creator>
  <cp:lastModifiedBy>Thomas Sabu</cp:lastModifiedBy>
  <cp:revision>3606</cp:revision>
  <cp:lastPrinted>2018-11-20T09:04:27Z</cp:lastPrinted>
  <dcterms:created xsi:type="dcterms:W3CDTF">2018-01-09T07:31:45Z</dcterms:created>
  <dcterms:modified xsi:type="dcterms:W3CDTF">2026-02-26T17:26:33Z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ppReportDate">
    <vt:lpwstr/>
  </property>
  <property fmtid="{D5CDD505-2E9C-101B-9397-08002B2CF9AE}" pid="3" name="WppReportVersion">
    <vt:lpwstr>Version 1.0</vt:lpwstr>
  </property>
  <property fmtid="{D5CDD505-2E9C-101B-9397-08002B2CF9AE}" pid="4" name="WppReportDraft">
    <vt:lpwstr>(Draft)</vt:lpwstr>
  </property>
  <property fmtid="{D5CDD505-2E9C-101B-9397-08002B2CF9AE}" pid="5" name="WppReportCurrencySymbol">
    <vt:lpwstr>₦</vt:lpwstr>
  </property>
  <property fmtid="{D5CDD505-2E9C-101B-9397-08002B2CF9AE}" pid="6" name="WppReportDashboardTitleText">
    <vt:lpwstr>Dashboard</vt:lpwstr>
  </property>
  <property fmtid="{D5CDD505-2E9C-101B-9397-08002B2CF9AE}" pid="7" name="WppReportShortPageNumberFormat">
    <vt:lpwstr>Page &lt;#&gt;</vt:lpwstr>
  </property>
  <property fmtid="{D5CDD505-2E9C-101B-9397-08002B2CF9AE}" pid="8" name="WppReportLongPageNumberFormat">
    <vt:lpwstr>Page &lt;#&gt; of &lt;PageCount&gt;</vt:lpwstr>
  </property>
  <property fmtid="{D5CDD505-2E9C-101B-9397-08002B2CF9AE}" pid="9" name="WppReportTocTitleText">
    <vt:lpwstr>Table of contents</vt:lpwstr>
  </property>
  <property fmtid="{D5CDD505-2E9C-101B-9397-08002B2CF9AE}" pid="10" name="WppReportIsTocUpdateRecommended">
    <vt:bool>true</vt:bool>
  </property>
  <property fmtid="{D5CDD505-2E9C-101B-9397-08002B2CF9AE}" pid="11" name="WppReportPropertiesLastWrittenToDocument">
    <vt:filetime>2018-01-09T09:29:00Z</vt:filetime>
  </property>
  <property fmtid="{D5CDD505-2E9C-101B-9397-08002B2CF9AE}" pid="12" name="ContentTypeId">
    <vt:lpwstr>0x010100B2432CD3F16D5A4EBFE45CD3A0C7345B</vt:lpwstr>
  </property>
</Properties>
</file>